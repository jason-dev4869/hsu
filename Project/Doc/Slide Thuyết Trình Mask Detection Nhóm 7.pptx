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5765800" cy="3244850"/>
  <p:notesSz cx="5765800" cy="324485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71" d="100"/>
          <a:sy n="171" d="100"/>
        </p:scale>
        <p:origin x="725" y="106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749785-72EC-6841-706A-2063DB2F9B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C9CC73-0BA5-40F4-C201-74F1613BAD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08BCFD-F98E-6669-D22F-B7FD6F861B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D9CDC3-5B5C-0F18-ED21-E30F5BB4A9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A97445-82B9-4135-DE6D-EAB9E2C096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5C0FDE-55F3-C07A-47F8-80EE2F7FBB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C1FF6-D45C-C61F-D130-4B33ACFB7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4B1B59-70B7-D577-E9CA-A67546D2C9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6E08B-47AC-12B4-3BC3-1656B998E3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5F9A0-5439-8033-6127-A577777D60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7FCBD5-B846-399D-145B-C6448E9DF5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3D58C-A063-C660-CBD8-A9E8003967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3D8CE-63FA-9CB7-8C32-713F3D492D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6709E9-2F5F-DD1B-5006-7439B90852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D8885-4F2F-8E05-BD1F-27D3F38CC7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650976" name="Title 1"/>
          <p:cNvSpPr>
            <a:spLocks noGrp="1"/>
          </p:cNvSpPr>
          <p:nvPr>
            <p:ph type="ctrTitle"/>
          </p:nvPr>
        </p:nvSpPr>
        <p:spPr bwMode="auto">
          <a:xfrm>
            <a:off x="1224482" y="1189778"/>
            <a:ext cx="4216241" cy="1070631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6738907" name="Subtitle 2"/>
          <p:cNvSpPr>
            <a:spLocks noGrp="1"/>
          </p:cNvSpPr>
          <p:nvPr>
            <p:ph type="subTitle" idx="1"/>
          </p:nvPr>
        </p:nvSpPr>
        <p:spPr bwMode="auto">
          <a:xfrm>
            <a:off x="1224482" y="2260408"/>
            <a:ext cx="4216241" cy="532899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16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1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7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3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9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024135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8313219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940256855" name="Freeform 6"/>
          <p:cNvSpPr/>
          <p:nvPr/>
        </p:nvSpPr>
        <p:spPr bwMode="auto">
          <a:xfrm>
            <a:off x="0" y="2045803"/>
            <a:ext cx="825075" cy="368388"/>
          </a:xfrm>
          <a:custGeom>
            <a:avLst/>
            <a:gdLst/>
            <a:ahLst/>
            <a:cxnLst/>
            <a:rect l="0" t="0" r="r" b="b"/>
            <a:pathLst>
              <a:path w="372" h="166" fill="norm" stroke="1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318769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2143144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329167" name="Title 1"/>
          <p:cNvSpPr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60605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0489726" name="Content Placeholder 2"/>
          <p:cNvSpPr>
            <a:spLocks noGrp="1"/>
          </p:cNvSpPr>
          <p:nvPr>
            <p:ph idx="1"/>
          </p:nvPr>
        </p:nvSpPr>
        <p:spPr bwMode="auto">
          <a:xfrm>
            <a:off x="1224482" y="1009509"/>
            <a:ext cx="4216241" cy="1787375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65414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0976019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253749249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233849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86240" name="Title 1"/>
          <p:cNvSpPr>
            <a:spLocks noGrp="1"/>
          </p:cNvSpPr>
          <p:nvPr>
            <p:ph type="title"/>
          </p:nvPr>
        </p:nvSpPr>
        <p:spPr bwMode="auto">
          <a:xfrm>
            <a:off x="1224482" y="974093"/>
            <a:ext cx="4216241" cy="694960"/>
          </a:xfrm>
        </p:spPr>
        <p:txBody>
          <a:bodyPr anchor="b"/>
          <a:lstStyle>
            <a:lvl1pPr algn="l">
              <a:defRPr sz="19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69889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24482" y="1670274"/>
            <a:ext cx="4216241" cy="407097"/>
          </a:xfrm>
        </p:spPr>
        <p:txBody>
          <a:bodyPr anchor="t"/>
          <a:lstStyle>
            <a:lvl1pPr marL="0" indent="0" algn="l">
              <a:buNone/>
              <a:defRPr sz="9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1621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64862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5633517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334929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650837394" name="Freeform 11"/>
          <p:cNvSpPr/>
          <p:nvPr/>
        </p:nvSpPr>
        <p:spPr bwMode="auto">
          <a:xfrm flipV="1">
            <a:off x="-1981" y="1503748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8181728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153495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764884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718295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24482" y="1009509"/>
            <a:ext cx="2040098" cy="178737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4325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3400624" y="1006018"/>
            <a:ext cx="2040098" cy="178737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31872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2039837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767657155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1020826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372738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611397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17352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90078" y="933381"/>
            <a:ext cx="1888230" cy="272657"/>
          </a:xfrm>
        </p:spPr>
        <p:txBody>
          <a:bodyPr anchor="b">
            <a:noAutofit/>
          </a:bodyPr>
          <a:lstStyle>
            <a:lvl1pPr marL="0" indent="0">
              <a:buNone/>
              <a:defRPr sz="1150" b="0"/>
            </a:lvl1pPr>
            <a:lvl2pPr marL="216210" indent="0">
              <a:buNone/>
              <a:defRPr sz="950" b="1"/>
            </a:lvl2pPr>
            <a:lvl3pPr marL="432420" indent="0">
              <a:buNone/>
              <a:defRPr sz="850" b="1"/>
            </a:lvl3pPr>
            <a:lvl4pPr marL="648629" indent="0">
              <a:buNone/>
              <a:defRPr sz="750" b="1"/>
            </a:lvl4pPr>
            <a:lvl5pPr marL="864840" indent="0">
              <a:buNone/>
              <a:defRPr sz="750" b="1"/>
            </a:lvl5pPr>
            <a:lvl6pPr marL="1081049" indent="0">
              <a:buNone/>
              <a:defRPr sz="750" b="1"/>
            </a:lvl6pPr>
            <a:lvl7pPr marL="1297259" indent="0">
              <a:buNone/>
              <a:defRPr sz="750" b="1"/>
            </a:lvl7pPr>
            <a:lvl8pPr marL="1513469" indent="0">
              <a:buNone/>
              <a:defRPr sz="750" b="1"/>
            </a:lvl8pPr>
            <a:lvl9pPr marL="1729679" indent="0">
              <a:buNone/>
              <a:defRPr sz="75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265689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224482" y="1206039"/>
            <a:ext cx="2053826" cy="15869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255468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550009" y="931854"/>
            <a:ext cx="1891194" cy="272657"/>
          </a:xfrm>
        </p:spPr>
        <p:txBody>
          <a:bodyPr anchor="b">
            <a:noAutofit/>
          </a:bodyPr>
          <a:lstStyle>
            <a:lvl1pPr marL="0" indent="0">
              <a:buNone/>
              <a:defRPr sz="1150" b="0"/>
            </a:lvl1pPr>
            <a:lvl2pPr marL="216210" indent="0">
              <a:buNone/>
              <a:defRPr sz="950" b="1"/>
            </a:lvl2pPr>
            <a:lvl3pPr marL="432420" indent="0">
              <a:buNone/>
              <a:defRPr sz="850" b="1"/>
            </a:lvl3pPr>
            <a:lvl4pPr marL="648629" indent="0">
              <a:buNone/>
              <a:defRPr sz="750" b="1"/>
            </a:lvl4pPr>
            <a:lvl5pPr marL="864840" indent="0">
              <a:buNone/>
              <a:defRPr sz="750" b="1"/>
            </a:lvl5pPr>
            <a:lvl6pPr marL="1081049" indent="0">
              <a:buNone/>
              <a:defRPr sz="750" b="1"/>
            </a:lvl6pPr>
            <a:lvl7pPr marL="1297259" indent="0">
              <a:buNone/>
              <a:defRPr sz="750" b="1"/>
            </a:lvl7pPr>
            <a:lvl8pPr marL="1513469" indent="0">
              <a:buNone/>
              <a:defRPr sz="750" b="1"/>
            </a:lvl8pPr>
            <a:lvl9pPr marL="1729679" indent="0">
              <a:buNone/>
              <a:defRPr sz="75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713266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3389374" y="1204511"/>
            <a:ext cx="2051831" cy="15869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405282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2447075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770660494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1915931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372738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9385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2471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80961802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856792972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2385700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31595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15793115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751996524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29790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481748" name="Title 1"/>
          <p:cNvSpPr>
            <a:spLocks noGrp="1"/>
          </p:cNvSpPr>
          <p:nvPr>
            <p:ph type="title"/>
          </p:nvPr>
        </p:nvSpPr>
        <p:spPr bwMode="auto">
          <a:xfrm>
            <a:off x="1224482" y="211066"/>
            <a:ext cx="1657667" cy="461940"/>
          </a:xfrm>
        </p:spPr>
        <p:txBody>
          <a:bodyPr anchor="b"/>
          <a:lstStyle>
            <a:lvl1pPr algn="l">
              <a:defRPr sz="95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4107353" name="Content Placeholder 2"/>
          <p:cNvSpPr>
            <a:spLocks noGrp="1"/>
          </p:cNvSpPr>
          <p:nvPr>
            <p:ph idx="1"/>
          </p:nvPr>
        </p:nvSpPr>
        <p:spPr bwMode="auto">
          <a:xfrm>
            <a:off x="2990258" y="211066"/>
            <a:ext cx="2450465" cy="256208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398163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24482" y="756381"/>
            <a:ext cx="1657667" cy="2016764"/>
          </a:xfrm>
        </p:spPr>
        <p:txBody>
          <a:bodyPr/>
          <a:lstStyle>
            <a:lvl1pPr marL="0" indent="0">
              <a:buNone/>
              <a:defRPr sz="650"/>
            </a:lvl1pPr>
            <a:lvl2pPr marL="216210" indent="0">
              <a:buNone/>
              <a:defRPr sz="550"/>
            </a:lvl2pPr>
            <a:lvl3pPr marL="432420" indent="0">
              <a:buNone/>
              <a:defRPr sz="450"/>
            </a:lvl3pPr>
            <a:lvl4pPr marL="648629" indent="0">
              <a:buNone/>
              <a:defRPr sz="450"/>
            </a:lvl4pPr>
            <a:lvl5pPr marL="864840" indent="0">
              <a:buNone/>
              <a:defRPr sz="450"/>
            </a:lvl5pPr>
            <a:lvl6pPr marL="1081049" indent="0">
              <a:buNone/>
              <a:defRPr sz="450"/>
            </a:lvl6pPr>
            <a:lvl7pPr marL="1297259" indent="0">
              <a:buNone/>
              <a:defRPr sz="450"/>
            </a:lvl7pPr>
            <a:lvl8pPr marL="1513469" indent="0">
              <a:buNone/>
              <a:defRPr sz="450"/>
            </a:lvl8pPr>
            <a:lvl9pPr marL="1729679" indent="0">
              <a:buNone/>
              <a:defRPr sz="45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160314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2965378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87567768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026050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993614" name="Title 1"/>
          <p:cNvSpPr>
            <a:spLocks noGrp="1"/>
          </p:cNvSpPr>
          <p:nvPr>
            <p:ph type="title"/>
          </p:nvPr>
        </p:nvSpPr>
        <p:spPr bwMode="auto">
          <a:xfrm>
            <a:off x="1224482" y="2271395"/>
            <a:ext cx="4216241" cy="268151"/>
          </a:xfrm>
        </p:spPr>
        <p:txBody>
          <a:bodyPr anchor="b">
            <a:normAutofit/>
          </a:bodyPr>
          <a:lstStyle>
            <a:lvl1pPr algn="l">
              <a:defRPr sz="115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168073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224482" y="300432"/>
            <a:ext cx="4216241" cy="1823972"/>
          </a:xfrm>
        </p:spPr>
        <p:txBody>
          <a:bodyPr anchor="t">
            <a:normAutofit/>
          </a:bodyPr>
          <a:lstStyle>
            <a:lvl1pPr marL="0" indent="0" algn="ctr">
              <a:buNone/>
              <a:defRPr sz="750"/>
            </a:lvl1pPr>
            <a:lvl2pPr marL="216210" indent="0">
              <a:buNone/>
              <a:defRPr sz="750"/>
            </a:lvl2pPr>
            <a:lvl3pPr marL="432420" indent="0">
              <a:buNone/>
              <a:defRPr sz="750"/>
            </a:lvl3pPr>
            <a:lvl4pPr marL="648629" indent="0">
              <a:buNone/>
              <a:defRPr sz="750"/>
            </a:lvl4pPr>
            <a:lvl5pPr marL="864840" indent="0">
              <a:buNone/>
              <a:defRPr sz="750"/>
            </a:lvl5pPr>
            <a:lvl6pPr marL="1081049" indent="0">
              <a:buNone/>
              <a:defRPr sz="750"/>
            </a:lvl6pPr>
            <a:lvl7pPr marL="1297259" indent="0">
              <a:buNone/>
              <a:defRPr sz="750"/>
            </a:lvl7pPr>
            <a:lvl8pPr marL="1513469" indent="0">
              <a:buNone/>
              <a:defRPr sz="750"/>
            </a:lvl8pPr>
            <a:lvl9pPr marL="1729679" indent="0">
              <a:buNone/>
              <a:defRPr sz="75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7288740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24482" y="2539546"/>
            <a:ext cx="4216241" cy="233599"/>
          </a:xfrm>
        </p:spPr>
        <p:txBody>
          <a:bodyPr>
            <a:normAutofit/>
          </a:bodyPr>
          <a:lstStyle>
            <a:lvl1pPr marL="0" indent="0">
              <a:buNone/>
              <a:defRPr sz="550"/>
            </a:lvl1pPr>
            <a:lvl2pPr marL="216210" indent="0">
              <a:buNone/>
              <a:defRPr sz="550"/>
            </a:lvl2pPr>
            <a:lvl3pPr marL="432420" indent="0">
              <a:buNone/>
              <a:defRPr sz="450"/>
            </a:lvl3pPr>
            <a:lvl4pPr marL="648629" indent="0">
              <a:buNone/>
              <a:defRPr sz="450"/>
            </a:lvl4pPr>
            <a:lvl5pPr marL="864840" indent="0">
              <a:buNone/>
              <a:defRPr sz="450"/>
            </a:lvl5pPr>
            <a:lvl6pPr marL="1081049" indent="0">
              <a:buNone/>
              <a:defRPr sz="450"/>
            </a:lvl6pPr>
            <a:lvl7pPr marL="1297259" indent="0">
              <a:buNone/>
              <a:defRPr sz="450"/>
            </a:lvl7pPr>
            <a:lvl8pPr marL="1513469" indent="0">
              <a:buNone/>
              <a:defRPr sz="450"/>
            </a:lvl8pPr>
            <a:lvl9pPr marL="1729679" indent="0">
              <a:buNone/>
              <a:defRPr sz="45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3040174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3320864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393246206" name="Freeform 11"/>
          <p:cNvSpPr/>
          <p:nvPr/>
        </p:nvSpPr>
        <p:spPr bwMode="auto">
          <a:xfrm flipV="1">
            <a:off x="-1981" y="2323974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8313011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235773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323629" name="Title 1"/>
          <p:cNvSpPr>
            <a:spLocks noGrp="1"/>
          </p:cNvSpPr>
          <p:nvPr>
            <p:ph type="title"/>
          </p:nvPr>
        </p:nvSpPr>
        <p:spPr bwMode="auto">
          <a:xfrm>
            <a:off x="1224482" y="288431"/>
            <a:ext cx="4216241" cy="1474822"/>
          </a:xfrm>
        </p:spPr>
        <p:txBody>
          <a:bodyPr anchor="ctr">
            <a:normAutofit/>
          </a:bodyPr>
          <a:lstStyle>
            <a:lvl1pPr algn="l">
              <a:defRPr sz="225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45952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24482" y="2060109"/>
            <a:ext cx="4216241" cy="736154"/>
          </a:xfrm>
        </p:spPr>
        <p:txBody>
          <a:bodyPr anchor="ctr">
            <a:normAutofit/>
          </a:bodyPr>
          <a:lstStyle>
            <a:lvl1pPr marL="0" indent="0" algn="l">
              <a:buNone/>
              <a:defRPr sz="8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1621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64862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179387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2595000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342051568" name="Freeform 11"/>
          <p:cNvSpPr/>
          <p:nvPr/>
        </p:nvSpPr>
        <p:spPr bwMode="auto">
          <a:xfrm flipV="1">
            <a:off x="-1981" y="1503748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7218657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153495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769691" name="Title 1"/>
          <p:cNvSpPr>
            <a:spLocks noGrp="1"/>
          </p:cNvSpPr>
          <p:nvPr>
            <p:ph type="title"/>
          </p:nvPr>
        </p:nvSpPr>
        <p:spPr bwMode="auto">
          <a:xfrm>
            <a:off x="1347788" y="288431"/>
            <a:ext cx="3969628" cy="1370048"/>
          </a:xfrm>
        </p:spPr>
        <p:txBody>
          <a:bodyPr anchor="ctr">
            <a:normAutofit/>
          </a:bodyPr>
          <a:lstStyle>
            <a:lvl1pPr algn="l">
              <a:defRPr sz="225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82656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548808" y="1658479"/>
            <a:ext cx="3564161" cy="180269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6210" indent="0">
              <a:buFontTx/>
              <a:buNone/>
              <a:defRPr/>
            </a:lvl2pPr>
            <a:lvl3pPr marL="432420" indent="0">
              <a:buFontTx/>
              <a:buNone/>
              <a:defRPr/>
            </a:lvl3pPr>
            <a:lvl4pPr marL="648629" indent="0">
              <a:buFontTx/>
              <a:buNone/>
              <a:defRPr/>
            </a:lvl4pPr>
            <a:lvl5pPr marL="86484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8604042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24482" y="2060109"/>
            <a:ext cx="4216241" cy="736154"/>
          </a:xfrm>
        </p:spPr>
        <p:txBody>
          <a:bodyPr anchor="ctr">
            <a:normAutofit/>
          </a:bodyPr>
          <a:lstStyle>
            <a:lvl1pPr marL="0" indent="0" algn="l">
              <a:buNone/>
              <a:defRPr sz="8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1621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64862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143786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20627565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64270439" name="Freeform 11"/>
          <p:cNvSpPr/>
          <p:nvPr/>
        </p:nvSpPr>
        <p:spPr bwMode="auto">
          <a:xfrm flipV="1">
            <a:off x="-1981" y="1503748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960014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153495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  <p:sp>
        <p:nvSpPr>
          <p:cNvPr id="176817909" name="TextBox 13"/>
          <p:cNvSpPr txBox="1"/>
          <p:nvPr/>
        </p:nvSpPr>
        <p:spPr bwMode="auto">
          <a:xfrm>
            <a:off x="1166994" y="306602"/>
            <a:ext cx="288290" cy="276686"/>
          </a:xfrm>
          <a:prstGeom prst="rect">
            <a:avLst/>
          </a:prstGeom>
        </p:spPr>
        <p:txBody>
          <a:bodyPr vert="horz" lIns="43244" tIns="21622" rIns="43244" bIns="21622" rtlCol="0" anchor="ctr">
            <a:noAutofit/>
          </a:bodyPr>
          <a:lstStyle/>
          <a:p>
            <a:pPr lvl="0">
              <a:defRPr/>
            </a:pPr>
            <a:r>
              <a:rPr lang="en-US" sz="38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277149554" name="TextBox 14"/>
          <p:cNvSpPr txBox="1"/>
          <p:nvPr/>
        </p:nvSpPr>
        <p:spPr bwMode="auto">
          <a:xfrm>
            <a:off x="5256399" y="1374640"/>
            <a:ext cx="288290" cy="276686"/>
          </a:xfrm>
          <a:prstGeom prst="rect">
            <a:avLst/>
          </a:prstGeom>
        </p:spPr>
        <p:txBody>
          <a:bodyPr vert="horz" lIns="43244" tIns="21622" rIns="43244" bIns="21622" rtlCol="0" anchor="ctr">
            <a:noAutofit/>
          </a:bodyPr>
          <a:lstStyle/>
          <a:p>
            <a:pPr lvl="0">
              <a:defRPr/>
            </a:pPr>
            <a:r>
              <a:rPr lang="en-US" sz="38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29240" name="Title 1"/>
          <p:cNvSpPr>
            <a:spLocks noGrp="1"/>
          </p:cNvSpPr>
          <p:nvPr>
            <p:ph type="title"/>
          </p:nvPr>
        </p:nvSpPr>
        <p:spPr bwMode="auto">
          <a:xfrm>
            <a:off x="1224482" y="1153725"/>
            <a:ext cx="4216241" cy="1289255"/>
          </a:xfrm>
        </p:spPr>
        <p:txBody>
          <a:bodyPr anchor="b">
            <a:normAutofit/>
          </a:bodyPr>
          <a:lstStyle>
            <a:lvl1pPr algn="l">
              <a:defRPr sz="225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12627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24482" y="2451665"/>
            <a:ext cx="4216241" cy="34521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0067636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8944200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503697235" name="Freeform 11"/>
          <p:cNvSpPr/>
          <p:nvPr/>
        </p:nvSpPr>
        <p:spPr bwMode="auto">
          <a:xfrm flipV="1">
            <a:off x="-1981" y="2323974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0410752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235773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823557" name="Title 1"/>
          <p:cNvSpPr>
            <a:spLocks noGrp="1"/>
          </p:cNvSpPr>
          <p:nvPr>
            <p:ph type="title"/>
          </p:nvPr>
        </p:nvSpPr>
        <p:spPr bwMode="auto">
          <a:xfrm>
            <a:off x="1347788" y="288431"/>
            <a:ext cx="3969628" cy="1370048"/>
          </a:xfrm>
        </p:spPr>
        <p:txBody>
          <a:bodyPr anchor="ctr">
            <a:normAutofit/>
          </a:bodyPr>
          <a:lstStyle>
            <a:lvl1pPr algn="l">
              <a:defRPr sz="225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1076149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224482" y="2055072"/>
            <a:ext cx="4216241" cy="39659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0">
                <a:solidFill>
                  <a:schemeClr val="accent1"/>
                </a:solidFill>
              </a:defRPr>
            </a:lvl1pPr>
            <a:lvl2pPr marL="216210" indent="0">
              <a:buFontTx/>
              <a:buNone/>
              <a:defRPr/>
            </a:lvl2pPr>
            <a:lvl3pPr marL="432420" indent="0">
              <a:buFontTx/>
              <a:buNone/>
              <a:defRPr/>
            </a:lvl3pPr>
            <a:lvl4pPr marL="648629" indent="0">
              <a:buFontTx/>
              <a:buNone/>
              <a:defRPr/>
            </a:lvl4pPr>
            <a:lvl5pPr marL="86484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704475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24482" y="2451665"/>
            <a:ext cx="4216241" cy="34521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8542120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6322888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512921495" name="Freeform 11"/>
          <p:cNvSpPr/>
          <p:nvPr/>
        </p:nvSpPr>
        <p:spPr bwMode="auto">
          <a:xfrm flipV="1">
            <a:off x="-1981" y="2323974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4080919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235773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  <p:sp>
        <p:nvSpPr>
          <p:cNvPr id="1275683392" name="TextBox 16"/>
          <p:cNvSpPr txBox="1"/>
          <p:nvPr/>
        </p:nvSpPr>
        <p:spPr bwMode="auto">
          <a:xfrm>
            <a:off x="1166994" y="306602"/>
            <a:ext cx="288290" cy="276686"/>
          </a:xfrm>
          <a:prstGeom prst="rect">
            <a:avLst/>
          </a:prstGeom>
        </p:spPr>
        <p:txBody>
          <a:bodyPr vert="horz" lIns="43244" tIns="21622" rIns="43244" bIns="21622" rtlCol="0" anchor="ctr">
            <a:noAutofit/>
          </a:bodyPr>
          <a:lstStyle/>
          <a:p>
            <a:pPr lvl="0">
              <a:defRPr/>
            </a:pPr>
            <a:r>
              <a:rPr lang="en-US" sz="38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561240108" name="TextBox 17"/>
          <p:cNvSpPr txBox="1"/>
          <p:nvPr/>
        </p:nvSpPr>
        <p:spPr bwMode="auto">
          <a:xfrm>
            <a:off x="5256399" y="1374640"/>
            <a:ext cx="288290" cy="276686"/>
          </a:xfrm>
          <a:prstGeom prst="rect">
            <a:avLst/>
          </a:prstGeom>
        </p:spPr>
        <p:txBody>
          <a:bodyPr vert="horz" lIns="43244" tIns="21622" rIns="43244" bIns="21622" rtlCol="0" anchor="ctr">
            <a:noAutofit/>
          </a:bodyPr>
          <a:lstStyle/>
          <a:p>
            <a:pPr lvl="0">
              <a:defRPr/>
            </a:pPr>
            <a:r>
              <a:rPr lang="en-US" sz="38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359538" name="Title 1"/>
          <p:cNvSpPr>
            <a:spLocks noGrp="1"/>
          </p:cNvSpPr>
          <p:nvPr>
            <p:ph type="title"/>
          </p:nvPr>
        </p:nvSpPr>
        <p:spPr bwMode="auto">
          <a:xfrm>
            <a:off x="1224482" y="296857"/>
            <a:ext cx="4216241" cy="1362676"/>
          </a:xfrm>
        </p:spPr>
        <p:txBody>
          <a:bodyPr anchor="ctr">
            <a:normAutofit/>
          </a:bodyPr>
          <a:lstStyle>
            <a:lvl1pPr algn="l">
              <a:defRPr sz="225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9760959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224482" y="2055072"/>
            <a:ext cx="4216241" cy="39659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0">
                <a:solidFill>
                  <a:schemeClr val="accent1"/>
                </a:solidFill>
              </a:defRPr>
            </a:lvl1pPr>
            <a:lvl2pPr marL="216210" indent="0">
              <a:buFontTx/>
              <a:buNone/>
              <a:defRPr/>
            </a:lvl2pPr>
            <a:lvl3pPr marL="432420" indent="0">
              <a:buFontTx/>
              <a:buNone/>
              <a:defRPr/>
            </a:lvl3pPr>
            <a:lvl4pPr marL="648629" indent="0">
              <a:buFontTx/>
              <a:buNone/>
              <a:defRPr/>
            </a:lvl4pPr>
            <a:lvl5pPr marL="86484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674379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24482" y="2451665"/>
            <a:ext cx="4216241" cy="34521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8219864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6450101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459642597" name="Freeform 11"/>
          <p:cNvSpPr/>
          <p:nvPr/>
        </p:nvSpPr>
        <p:spPr bwMode="auto">
          <a:xfrm flipV="1">
            <a:off x="-1981" y="2323974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895361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251503" y="2357739"/>
            <a:ext cx="368765" cy="1727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834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100659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5190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21078504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79304745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91002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1771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4395672" y="296856"/>
            <a:ext cx="1044011" cy="2500028"/>
          </a:xfrm>
        </p:spPr>
        <p:txBody>
          <a:bodyPr vert="eaVert" anchor="ctr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640529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224482" y="296856"/>
            <a:ext cx="3063081" cy="250002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91881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3877613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629781266" name="Freeform 11"/>
          <p:cNvSpPr/>
          <p:nvPr/>
        </p:nvSpPr>
        <p:spPr bwMode="auto">
          <a:xfrm flipV="1">
            <a:off x="-1981" y="338005"/>
            <a:ext cx="751241" cy="240027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30250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2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8656577" name="Group 22"/>
          <p:cNvGrpSpPr/>
          <p:nvPr/>
        </p:nvGrpSpPr>
        <p:grpSpPr bwMode="auto">
          <a:xfrm>
            <a:off x="1" y="108161"/>
            <a:ext cx="1348529" cy="3141055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 fill="norm" stroke="1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 fill="norm" stroke="1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 fill="norm" stroke="1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 fill="norm" stroke="1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 fill="norm" stroke="1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 fill="norm" stroke="1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 fill="norm" stroke="1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 fill="norm" stroke="1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 fill="norm" stroke="1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 fill="norm" stroke="1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 fill="norm" stroke="1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 fill="norm" stroke="1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377693834" name="Group 9"/>
          <p:cNvGrpSpPr/>
          <p:nvPr/>
        </p:nvGrpSpPr>
        <p:grpSpPr bwMode="auto">
          <a:xfrm>
            <a:off x="12873" y="74"/>
            <a:ext cx="1114510" cy="3242530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 fill="norm" stroke="1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 fill="norm" stroke="1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 fill="norm" stroke="1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 fill="norm" stroke="1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 fill="norm" stroke="1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 fill="norm" stroke="1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 fill="norm" stroke="1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 fill="norm" stroke="1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 fill="norm" stroke="1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 fill="norm" stroke="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 fill="norm" stroke="1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 fill="norm" stroke="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239524003" name="Rectangle 6"/>
          <p:cNvSpPr/>
          <p:nvPr/>
        </p:nvSpPr>
        <p:spPr bwMode="auto">
          <a:xfrm>
            <a:off x="0" y="0"/>
            <a:ext cx="86487" cy="3244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72940477" name="Title Placeholder 1"/>
          <p:cNvSpPr>
            <a:spLocks noGrp="1"/>
          </p:cNvSpPr>
          <p:nvPr>
            <p:ph type="title"/>
          </p:nvPr>
        </p:nvSpPr>
        <p:spPr bwMode="auto">
          <a:xfrm>
            <a:off x="1226237" y="295296"/>
            <a:ext cx="4214485" cy="6060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9315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24482" y="1009509"/>
            <a:ext cx="4216241" cy="1838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50333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900179" y="2900605"/>
            <a:ext cx="542096" cy="175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Đăng, Phát, Châu</a:t>
            </a:r>
            <a:r>
              <a:rPr lang="en-US" spc="165"/>
              <a:t> </a:t>
            </a:r>
            <a:r>
              <a:rPr lang="en-US"/>
              <a:t>(ĐH Hoa </a:t>
            </a:r>
            <a:r>
              <a:rPr lang="en-US" spc="-20"/>
              <a:t>Sen)</a:t>
            </a:r>
            <a:endParaRPr lang="en-US" spc="-20"/>
          </a:p>
        </p:txBody>
      </p:sp>
      <p:sp>
        <p:nvSpPr>
          <p:cNvPr id="19766581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224482" y="2903147"/>
            <a:ext cx="360362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r>
              <a:rPr lang="en-US"/>
              <a:t>Năm</a:t>
            </a:r>
            <a:r>
              <a:rPr lang="en-US" spc="5"/>
              <a:t> </a:t>
            </a:r>
            <a:r>
              <a:rPr lang="en-US"/>
              <a:t>Học</a:t>
            </a:r>
            <a:r>
              <a:rPr lang="en-US" spc="5"/>
              <a:t> </a:t>
            </a:r>
            <a:r>
              <a:rPr lang="en-US"/>
              <a:t>2025</a:t>
            </a:r>
            <a:r>
              <a:rPr lang="en-US" spc="5"/>
              <a:t> </a:t>
            </a:r>
            <a:r>
              <a:rPr lang="en-US"/>
              <a:t>-</a:t>
            </a:r>
            <a:r>
              <a:rPr lang="en-US" spc="5"/>
              <a:t> </a:t>
            </a:r>
            <a:r>
              <a:rPr lang="en-US" spc="-20"/>
              <a:t>2026</a:t>
            </a:r>
            <a:endParaRPr lang="en-US" spc="-20"/>
          </a:p>
        </p:txBody>
      </p:sp>
      <p:sp>
        <p:nvSpPr>
          <p:cNvPr id="1515106250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251503" y="372738"/>
            <a:ext cx="36876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0">
                <a:solidFill>
                  <a:srgbClr val="FEFFFF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defRPr/>
            </a:pPr>
            <a:fld id="{81D60167-4931-47E6-BA6A-407CBD079E47}" type="slidenum">
              <a:rPr lang="en-US"/>
              <a:t>‹#›</a:t>
            </a:fld>
            <a:r>
              <a:rPr lang="en-US" spc="-65"/>
              <a:t> </a:t>
            </a:r>
            <a:r>
              <a:rPr lang="en-US" spc="55"/>
              <a:t>/</a:t>
            </a:r>
            <a:r>
              <a:rPr lang="en-US" spc="-65"/>
              <a:t> </a:t>
            </a:r>
            <a:r>
              <a:rPr lang="en-US" spc="-25"/>
              <a:t>13</a:t>
            </a:r>
            <a:endParaRPr lang="en-US"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216210" rtl="0">
        <a:spcBef>
          <a:spcPts val="0"/>
        </a:spcBef>
        <a:buNone/>
        <a:defRPr sz="17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162157" indent="-162157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8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51341" indent="-135131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7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0525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6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56735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5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72944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5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89154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5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05364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5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21574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5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37784" indent="-108105" algn="l" defTabSz="216210" rtl="0">
        <a:spcBef>
          <a:spcPts val="473"/>
        </a:spcBef>
        <a:spcAft>
          <a:spcPts val="0"/>
        </a:spcAft>
        <a:buClr>
          <a:schemeClr val="accent1"/>
        </a:buClr>
        <a:buFont typeface="Wingdings 3"/>
        <a:buChar char=""/>
        <a:defRPr sz="5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1pPr>
      <a:lvl2pPr marL="216210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2pPr>
      <a:lvl3pPr marL="432420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3pPr>
      <a:lvl4pPr marL="648629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4pPr>
      <a:lvl5pPr marL="864840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5pPr>
      <a:lvl6pPr marL="1081049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6pPr>
      <a:lvl7pPr marL="1297259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7pPr>
      <a:lvl8pPr marL="1513469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8pPr>
      <a:lvl9pPr marL="1729679" algn="l" defTabSz="216210" rtl="0">
        <a:defRPr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765056" name="object 6"/>
          <p:cNvSpPr txBox="1"/>
          <p:nvPr/>
        </p:nvSpPr>
        <p:spPr bwMode="auto">
          <a:xfrm>
            <a:off x="87806" y="98425"/>
            <a:ext cx="5584825" cy="866263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695"/>
              </a:spcBef>
              <a:defRPr/>
            </a:pPr>
            <a:r>
              <a:rPr sz="2400" b="1" spc="50">
                <a:solidFill>
                  <a:schemeClr val="tx1"/>
                </a:solidFill>
                <a:latin typeface="Calibri"/>
                <a:cs typeface="Calibri"/>
              </a:rPr>
              <a:t>Phát</a:t>
            </a:r>
            <a:r>
              <a:rPr sz="2400" b="1" spc="9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55">
                <a:solidFill>
                  <a:schemeClr val="tx1"/>
                </a:solidFill>
                <a:latin typeface="Calibri"/>
                <a:cs typeface="Calibri"/>
              </a:rPr>
              <a:t>Hiện</a:t>
            </a:r>
            <a:r>
              <a:rPr sz="2400" b="1" spc="9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Khẩu</a:t>
            </a:r>
            <a:r>
              <a:rPr sz="2400" b="1" spc="9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Trang</a:t>
            </a:r>
            <a:r>
              <a:rPr sz="2400" b="1" spc="95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(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Mask</a:t>
            </a:r>
            <a:r>
              <a:rPr sz="2400" b="1" spc="9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45">
                <a:solidFill>
                  <a:schemeClr val="tx1"/>
                </a:solidFill>
                <a:latin typeface="Calibri"/>
                <a:cs typeface="Calibri"/>
              </a:rPr>
              <a:t>Detection</a:t>
            </a:r>
            <a:r>
              <a:rPr sz="2400" b="1" spc="45">
                <a:solidFill>
                  <a:schemeClr val="tx1"/>
                </a:solidFill>
                <a:latin typeface="Calibri"/>
                <a:cs typeface="Calibri"/>
              </a:rPr>
              <a:t>)</a:t>
            </a:r>
            <a:endParaRPr sz="2400" b="1">
              <a:solidFill>
                <a:schemeClr val="tx1"/>
              </a:solidFill>
              <a:latin typeface="Calibri"/>
              <a:cs typeface="Calibri"/>
            </a:endParaRPr>
          </a:p>
          <a:p>
            <a:pPr marR="93980" algn="ctr">
              <a:lnSpc>
                <a:spcPct val="100000"/>
              </a:lnSpc>
              <a:spcBef>
                <a:spcPts val="335"/>
              </a:spcBef>
              <a:defRPr/>
            </a:pP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Đồ</a:t>
            </a:r>
            <a:r>
              <a:rPr sz="2400" b="1" spc="15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án</a:t>
            </a:r>
            <a:r>
              <a:rPr sz="2400" b="1" spc="2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70">
                <a:solidFill>
                  <a:schemeClr val="tx1"/>
                </a:solidFill>
                <a:latin typeface="Calibri"/>
                <a:cs typeface="Calibri"/>
              </a:rPr>
              <a:t>môn</a:t>
            </a:r>
            <a:r>
              <a:rPr sz="2400" b="1" spc="2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học</a:t>
            </a:r>
            <a:r>
              <a:rPr sz="2400" b="1" spc="2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chemeClr val="tx1"/>
                </a:solidFill>
                <a:latin typeface="Calibri"/>
                <a:cs typeface="Calibri"/>
              </a:rPr>
              <a:t>Deep</a:t>
            </a:r>
            <a:r>
              <a:rPr sz="2400" b="1" spc="15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10">
                <a:solidFill>
                  <a:schemeClr val="tx1"/>
                </a:solidFill>
                <a:latin typeface="Calibri"/>
                <a:cs typeface="Calibri"/>
              </a:rPr>
              <a:t>Learning</a:t>
            </a:r>
            <a:endParaRPr sz="24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66915115" name="object 7"/>
          <p:cNvSpPr txBox="1"/>
          <p:nvPr/>
        </p:nvSpPr>
        <p:spPr bwMode="auto">
          <a:xfrm>
            <a:off x="1408834" y="2079625"/>
            <a:ext cx="2942765" cy="6527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630" marR="80010" indent="26034" algn="ctr">
              <a:lnSpc>
                <a:spcPts val="950"/>
              </a:lnSpc>
              <a:defRPr/>
            </a:pPr>
            <a:endParaRPr lang="en-US">
              <a:solidFill>
                <a:schemeClr val="tx1"/>
              </a:solidFill>
              <a:latin typeface="Calibri"/>
              <a:cs typeface="Calibri"/>
            </a:endParaRPr>
          </a:p>
          <a:p>
            <a:pPr marL="87630" marR="80010" indent="26034" algn="ctr">
              <a:lnSpc>
                <a:spcPts val="950"/>
              </a:lnSpc>
              <a:defRPr/>
            </a:pPr>
            <a:endParaRPr lang="en-US">
              <a:solidFill>
                <a:schemeClr val="tx1"/>
              </a:solidFill>
              <a:latin typeface="Calibri"/>
              <a:cs typeface="Calibri"/>
            </a:endParaRPr>
          </a:p>
          <a:p>
            <a:pPr marL="87630" marR="80010" indent="26034" algn="ctr">
              <a:lnSpc>
                <a:spcPts val="950"/>
              </a:lnSpc>
              <a:defRPr/>
            </a:pPr>
            <a:r>
              <a:rPr>
                <a:solidFill>
                  <a:schemeClr val="tx1"/>
                </a:solidFill>
                <a:latin typeface="Calibri"/>
                <a:cs typeface="Calibri"/>
              </a:rPr>
              <a:t>Giảng</a:t>
            </a:r>
            <a:r>
              <a:rPr spc="25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>
                <a:solidFill>
                  <a:schemeClr val="tx1"/>
                </a:solidFill>
                <a:latin typeface="Calibri"/>
                <a:cs typeface="Calibri"/>
              </a:rPr>
              <a:t>Viên</a:t>
            </a:r>
            <a:r>
              <a:rPr spc="3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>
                <a:solidFill>
                  <a:schemeClr val="tx1"/>
                </a:solidFill>
                <a:latin typeface="Calibri"/>
                <a:cs typeface="Calibri"/>
              </a:rPr>
              <a:t>Hướng</a:t>
            </a:r>
            <a:r>
              <a:rPr spc="3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>
                <a:solidFill>
                  <a:schemeClr val="tx1"/>
                </a:solidFill>
                <a:latin typeface="Calibri"/>
                <a:cs typeface="Calibri"/>
              </a:rPr>
              <a:t>Dẫn:</a:t>
            </a:r>
            <a:r>
              <a:rPr spc="25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endParaRPr lang="en-US" spc="25">
              <a:solidFill>
                <a:schemeClr val="tx1"/>
              </a:solidFill>
              <a:latin typeface="Calibri"/>
              <a:cs typeface="Calibri"/>
            </a:endParaRPr>
          </a:p>
          <a:p>
            <a:pPr marL="87630" marR="80010" indent="26034" algn="ctr">
              <a:lnSpc>
                <a:spcPts val="950"/>
              </a:lnSpc>
              <a:defRPr/>
            </a:pPr>
            <a:endParaRPr lang="en-US" spc="-35">
              <a:solidFill>
                <a:schemeClr val="tx1"/>
              </a:solidFill>
              <a:latin typeface="Calibri"/>
              <a:cs typeface="Calibri"/>
            </a:endParaRPr>
          </a:p>
          <a:p>
            <a:pPr marL="87630" marR="80010" indent="26034" algn="ctr">
              <a:lnSpc>
                <a:spcPts val="950"/>
              </a:lnSpc>
              <a:defRPr/>
            </a:pPr>
            <a:r>
              <a:rPr spc="-35">
                <a:solidFill>
                  <a:schemeClr val="tx1"/>
                </a:solidFill>
                <a:latin typeface="Calibri"/>
                <a:cs typeface="Calibri"/>
              </a:rPr>
              <a:t>ThS</a:t>
            </a:r>
            <a:r>
              <a:rPr spc="-35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spc="3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>
                <a:solidFill>
                  <a:schemeClr val="tx1"/>
                </a:solidFill>
                <a:latin typeface="Calibri"/>
                <a:cs typeface="Calibri"/>
              </a:rPr>
              <a:t>Phan</a:t>
            </a:r>
            <a:r>
              <a:rPr spc="3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>
                <a:solidFill>
                  <a:schemeClr val="tx1"/>
                </a:solidFill>
                <a:latin typeface="Calibri"/>
                <a:cs typeface="Calibri"/>
              </a:rPr>
              <a:t>Hồng</a:t>
            </a:r>
            <a:r>
              <a:rPr spc="25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pc="-10">
                <a:solidFill>
                  <a:schemeClr val="tx1"/>
                </a:solidFill>
                <a:latin typeface="Calibri"/>
                <a:cs typeface="Calibri"/>
              </a:rPr>
              <a:t>Trung</a:t>
            </a:r>
            <a:endParaRPr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13844449" name="TextBox 15"/>
          <p:cNvSpPr txBox="1"/>
          <p:nvPr/>
        </p:nvSpPr>
        <p:spPr bwMode="auto">
          <a:xfrm>
            <a:off x="1432415" y="1317624"/>
            <a:ext cx="2896319" cy="35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/>
              <a:t>Trường</a:t>
            </a:r>
            <a:r>
              <a:rPr lang="en-US" b="1"/>
              <a:t> </a:t>
            </a:r>
            <a:r>
              <a:rPr lang="en-US" b="1"/>
              <a:t>Đại</a:t>
            </a:r>
            <a:r>
              <a:rPr lang="en-US" b="1"/>
              <a:t> </a:t>
            </a:r>
            <a:r>
              <a:rPr lang="en-US" b="1"/>
              <a:t>học</a:t>
            </a:r>
            <a:r>
              <a:rPr lang="en-US" b="1"/>
              <a:t> </a:t>
            </a:r>
            <a:r>
              <a:rPr lang="en-US" b="1"/>
              <a:t>Hoa</a:t>
            </a:r>
            <a:r>
              <a:rPr lang="en-US" b="1"/>
              <a:t> Sen</a:t>
            </a:r>
            <a:endParaRPr/>
          </a:p>
          <a:p>
            <a:pPr algn="ctr">
              <a:defRPr/>
            </a:pPr>
            <a:r>
              <a:rPr lang="en-US" b="1" spc="-20">
                <a:solidFill>
                  <a:schemeClr val="tx1"/>
                </a:solidFill>
                <a:latin typeface="Calibri"/>
                <a:cs typeface="Calibri"/>
              </a:rPr>
              <a:t>Nhóm</a:t>
            </a:r>
            <a:r>
              <a:rPr lang="en-US" b="1" spc="-20">
                <a:solidFill>
                  <a:schemeClr val="tx1"/>
                </a:solidFill>
                <a:latin typeface="Calibri"/>
                <a:cs typeface="Calibri"/>
              </a:rPr>
              <a:t>: 7</a:t>
            </a:r>
            <a:endParaRPr lang="en-US" b="1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76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276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276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91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6915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6915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4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3844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3844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2765056" grpId="0"/>
      <p:bldP spid="666915115" grpId="0"/>
      <p:bldP spid="9138444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838259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Lời</a:t>
            </a:r>
            <a:r>
              <a:rPr spc="1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M</a:t>
            </a:r>
            <a:r>
              <a:rPr cap="small">
                <a:latin typeface="Calibri"/>
                <a:cs typeface="Calibri"/>
              </a:rPr>
              <a:t>ở</a:t>
            </a:r>
            <a:r>
              <a:rPr spc="10">
                <a:latin typeface="Calibri"/>
                <a:cs typeface="Calibri"/>
              </a:rPr>
              <a:t> </a:t>
            </a:r>
            <a:r>
              <a:rPr spc="5">
                <a:latin typeface="Calibri"/>
                <a:cs typeface="Calibri"/>
              </a:rPr>
              <a:t>Đầu</a:t>
            </a:r>
            <a:endParaRPr/>
          </a:p>
        </p:txBody>
      </p:sp>
      <p:pic>
        <p:nvPicPr>
          <p:cNvPr id="264463706" name="object 3"/>
          <p:cNvPicPr/>
          <p:nvPr/>
        </p:nvPicPr>
        <p:blipFill rotWithShape="1">
          <a:blip r:embed="rId3"/>
          <a:stretch/>
        </p:blipFill>
        <p:spPr bwMode="auto">
          <a:xfrm>
            <a:off x="267652" y="931468"/>
            <a:ext cx="78714" cy="78714"/>
          </a:xfrm>
          <a:prstGeom prst="rect">
            <a:avLst/>
          </a:prstGeom>
        </p:spPr>
      </p:pic>
      <p:sp>
        <p:nvSpPr>
          <p:cNvPr id="1659654293" name="object 4"/>
          <p:cNvSpPr txBox="1"/>
          <p:nvPr/>
        </p:nvSpPr>
        <p:spPr bwMode="auto">
          <a:xfrm>
            <a:off x="402932" y="861465"/>
            <a:ext cx="5151755" cy="15136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1910">
              <a:lnSpc>
                <a:spcPct val="102600"/>
              </a:lnSpc>
              <a:spcBef>
                <a:spcPts val="55"/>
              </a:spcBef>
              <a:defRPr/>
            </a:pPr>
            <a:r>
              <a:rPr sz="1100" b="1">
                <a:latin typeface="Calibri"/>
                <a:cs typeface="Calibri"/>
              </a:rPr>
              <a:t>Xu</a:t>
            </a:r>
            <a:r>
              <a:rPr sz="1100" b="1" spc="1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hướng</a:t>
            </a:r>
            <a:r>
              <a:rPr sz="1100" b="1" spc="2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công</a:t>
            </a:r>
            <a:r>
              <a:rPr sz="1100" b="1" spc="2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nghệ:</a:t>
            </a:r>
            <a:r>
              <a:rPr sz="1100" b="1" spc="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Trí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tuệ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Nhân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tạo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đặc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biệt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là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Học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sâu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(Deep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Learning) </a:t>
            </a:r>
            <a:r>
              <a:rPr sz="1100">
                <a:latin typeface="Calibri"/>
                <a:cs typeface="Calibri"/>
              </a:rPr>
              <a:t>đang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thay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đổi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cách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giải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quyết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các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vấn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đề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trong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thực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tế.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defRPr/>
            </a:pPr>
            <a:endParaRPr sz="1100">
              <a:latin typeface="Calibri"/>
              <a:cs typeface="Calibri"/>
            </a:endParaRPr>
          </a:p>
          <a:p>
            <a:pPr marL="12700" marR="32384">
              <a:lnSpc>
                <a:spcPct val="102600"/>
              </a:lnSpc>
              <a:defRPr/>
            </a:pPr>
            <a:r>
              <a:rPr sz="1100" b="1">
                <a:latin typeface="Calibri"/>
                <a:cs typeface="Calibri"/>
              </a:rPr>
              <a:t>Mục</a:t>
            </a:r>
            <a:r>
              <a:rPr sz="1100" b="1" spc="25">
                <a:latin typeface="Calibri"/>
                <a:cs typeface="Calibri"/>
              </a:rPr>
              <a:t> </a:t>
            </a:r>
            <a:r>
              <a:rPr sz="1100" b="1" spc="50">
                <a:latin typeface="Calibri"/>
                <a:cs typeface="Calibri"/>
              </a:rPr>
              <a:t>tiêu</a:t>
            </a:r>
            <a:r>
              <a:rPr sz="1100" b="1" spc="3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đồ</a:t>
            </a:r>
            <a:r>
              <a:rPr sz="1100" b="1" spc="2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án:</a:t>
            </a:r>
            <a:r>
              <a:rPr sz="1100" b="1" spc="30">
                <a:latin typeface="Calibri"/>
                <a:cs typeface="Calibri"/>
              </a:rPr>
              <a:t> </a:t>
            </a:r>
            <a:r>
              <a:rPr sz="1100" spc="-40">
                <a:latin typeface="Calibri"/>
                <a:cs typeface="Calibri"/>
              </a:rPr>
              <a:t>Tập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70">
                <a:latin typeface="Calibri"/>
                <a:cs typeface="Calibri"/>
              </a:rPr>
              <a:t>trung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ứng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dụng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mạng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nơ-ron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tích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chập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(CNN)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kết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hợp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với </a:t>
            </a:r>
            <a:r>
              <a:rPr sz="1100">
                <a:latin typeface="Calibri"/>
                <a:cs typeface="Calibri"/>
              </a:rPr>
              <a:t>kỹ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thuật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Transfer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Learning.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defRPr/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defRPr/>
            </a:pPr>
            <a:r>
              <a:rPr sz="1100" b="1">
                <a:latin typeface="Calibri"/>
                <a:cs typeface="Calibri"/>
              </a:rPr>
              <a:t>Ứng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dụng</a:t>
            </a:r>
            <a:r>
              <a:rPr sz="1100" b="1" spc="85">
                <a:latin typeface="Calibri"/>
                <a:cs typeface="Calibri"/>
              </a:rPr>
              <a:t> </a:t>
            </a:r>
            <a:r>
              <a:rPr sz="1100" b="1" spc="60">
                <a:latin typeface="Calibri"/>
                <a:cs typeface="Calibri"/>
              </a:rPr>
              <a:t>thiết</a:t>
            </a:r>
            <a:r>
              <a:rPr sz="1100" b="1" spc="8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thực:</a:t>
            </a:r>
            <a:r>
              <a:rPr sz="1100" b="1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Giải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quyết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bài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toán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nhận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diện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trạng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thái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đeo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khẩu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 spc="40">
                <a:latin typeface="Calibri"/>
                <a:cs typeface="Calibri"/>
              </a:rPr>
              <a:t>trang </a:t>
            </a:r>
            <a:r>
              <a:rPr sz="1100">
                <a:latin typeface="Calibri"/>
                <a:cs typeface="Calibri"/>
              </a:rPr>
              <a:t>qua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hình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ảnh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camera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một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cách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động,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chính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xác.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13330289" name="object 5"/>
          <p:cNvPicPr/>
          <p:nvPr/>
        </p:nvPicPr>
        <p:blipFill rotWithShape="1">
          <a:blip r:embed="rId4"/>
          <a:stretch/>
        </p:blipFill>
        <p:spPr bwMode="auto">
          <a:xfrm>
            <a:off x="267652" y="1493570"/>
            <a:ext cx="78714" cy="78714"/>
          </a:xfrm>
          <a:prstGeom prst="rect">
            <a:avLst/>
          </a:prstGeom>
        </p:spPr>
      </p:pic>
      <p:pic>
        <p:nvPicPr>
          <p:cNvPr id="1830482092" name="object 6"/>
          <p:cNvPicPr/>
          <p:nvPr/>
        </p:nvPicPr>
        <p:blipFill rotWithShape="1">
          <a:blip r:embed="rId5"/>
          <a:stretch/>
        </p:blipFill>
        <p:spPr bwMode="auto">
          <a:xfrm>
            <a:off x="267652" y="2055685"/>
            <a:ext cx="78714" cy="787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8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268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6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446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6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596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33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1333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48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3048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6838259" grpId="0"/>
      <p:bldP spid="165965429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672070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Khái</a:t>
            </a:r>
            <a:r>
              <a:rPr spc="35">
                <a:latin typeface="Calibri"/>
                <a:cs typeface="Calibri"/>
              </a:rPr>
              <a:t> </a:t>
            </a:r>
            <a:r>
              <a:rPr spc="75">
                <a:latin typeface="Calibri"/>
                <a:cs typeface="Calibri"/>
              </a:rPr>
              <a:t>Quát</a:t>
            </a:r>
            <a:r>
              <a:rPr spc="3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Vấn</a:t>
            </a:r>
            <a:r>
              <a:rPr spc="35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Đề</a:t>
            </a:r>
            <a:endParaRPr/>
          </a:p>
        </p:txBody>
      </p:sp>
      <p:sp>
        <p:nvSpPr>
          <p:cNvPr id="1656278060" name="object 3"/>
          <p:cNvSpPr/>
          <p:nvPr/>
        </p:nvSpPr>
        <p:spPr bwMode="auto">
          <a:xfrm>
            <a:off x="87743" y="772515"/>
            <a:ext cx="5584825" cy="216535"/>
          </a:xfrm>
          <a:custGeom>
            <a:avLst/>
            <a:gdLst/>
            <a:ahLst/>
            <a:cxnLst/>
            <a:rect l="l" t="t" r="r" b="b"/>
            <a:pathLst>
              <a:path w="5584825" h="216534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6149"/>
                </a:lnTo>
                <a:lnTo>
                  <a:pt x="5584584" y="216149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081360969" name="object 4"/>
          <p:cNvSpPr txBox="1"/>
          <p:nvPr/>
        </p:nvSpPr>
        <p:spPr bwMode="auto">
          <a:xfrm>
            <a:off x="138544" y="764602"/>
            <a:ext cx="1308735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Tình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55">
                <a:solidFill>
                  <a:srgbClr val="FFFFFF"/>
                </a:solidFill>
                <a:latin typeface="Calibri"/>
                <a:cs typeface="Calibri"/>
              </a:rPr>
              <a:t>trạng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50">
                <a:solidFill>
                  <a:srgbClr val="FFFFFF"/>
                </a:solidFill>
                <a:latin typeface="Calibri"/>
                <a:cs typeface="Calibri"/>
              </a:rPr>
              <a:t>hiện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tại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3966276" name="object 9"/>
          <p:cNvSpPr txBox="1"/>
          <p:nvPr/>
        </p:nvSpPr>
        <p:spPr bwMode="auto">
          <a:xfrm>
            <a:off x="138544" y="1008099"/>
            <a:ext cx="5584825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93980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20">
                <a:latin typeface="Calibri"/>
                <a:cs typeface="Calibri"/>
              </a:rPr>
              <a:t>Việc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giám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sát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70">
                <a:latin typeface="Calibri"/>
                <a:cs typeface="Calibri"/>
              </a:rPr>
              <a:t>thủ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công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tại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các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khu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vực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công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cộng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như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bệnh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viện,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trường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học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hay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sân </a:t>
            </a:r>
            <a:r>
              <a:rPr sz="1100">
                <a:latin typeface="Calibri"/>
                <a:cs typeface="Calibri"/>
              </a:rPr>
              <a:t>bay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65">
                <a:latin typeface="Calibri"/>
                <a:cs typeface="Calibri"/>
              </a:rPr>
              <a:t>tốn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rất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nhiều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nhân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lực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không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đảm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bảo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tính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liên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tục.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93940588" name="object 10"/>
          <p:cNvSpPr/>
          <p:nvPr/>
        </p:nvSpPr>
        <p:spPr bwMode="auto">
          <a:xfrm>
            <a:off x="87743" y="1741017"/>
            <a:ext cx="5584825" cy="224790"/>
          </a:xfrm>
          <a:custGeom>
            <a:avLst/>
            <a:gdLst/>
            <a:ahLst/>
            <a:cxnLst/>
            <a:rect l="l" t="t" r="r" b="b"/>
            <a:pathLst>
              <a:path w="5584825" h="224789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4499"/>
                </a:lnTo>
                <a:lnTo>
                  <a:pt x="5584584" y="224499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464766732" name="object 11"/>
          <p:cNvSpPr txBox="1"/>
          <p:nvPr/>
        </p:nvSpPr>
        <p:spPr bwMode="auto">
          <a:xfrm>
            <a:off x="138544" y="1741460"/>
            <a:ext cx="1252220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Giải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50">
                <a:solidFill>
                  <a:srgbClr val="FFFFFF"/>
                </a:solidFill>
                <a:latin typeface="Calibri"/>
                <a:cs typeface="Calibri"/>
              </a:rPr>
              <a:t>pháp</a:t>
            </a:r>
            <a:r>
              <a:rPr sz="12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đề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xuất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3423662" name="object 16"/>
          <p:cNvSpPr txBox="1"/>
          <p:nvPr/>
        </p:nvSpPr>
        <p:spPr bwMode="auto">
          <a:xfrm>
            <a:off x="138544" y="1984945"/>
            <a:ext cx="5584825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99390" algn="just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25">
                <a:latin typeface="Calibri"/>
                <a:cs typeface="Calibri"/>
              </a:rPr>
              <a:t>Xây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dựng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một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hệ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thống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động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phát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hiện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cảnh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báo.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Đây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là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một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giải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pháp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công </a:t>
            </a:r>
            <a:r>
              <a:rPr sz="1100">
                <a:latin typeface="Calibri"/>
                <a:cs typeface="Calibri"/>
              </a:rPr>
              <a:t>nghệ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thiết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yếu,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giúp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kiểm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soát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an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toàn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một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cách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nhanh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chóng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tối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ưu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chi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phí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vận </a:t>
            </a:r>
            <a:r>
              <a:rPr sz="1100" spc="-10">
                <a:latin typeface="Calibri"/>
                <a:cs typeface="Calibri"/>
              </a:rPr>
              <a:t>hành.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6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436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27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56278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966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53966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94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9394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42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7342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672070" grpId="0"/>
      <p:bldP spid="1656278060" grpId="0" animBg="1"/>
      <p:bldP spid="693940588" grpId="0" animBg="1"/>
      <p:bldP spid="3734236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178359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105">
                <a:latin typeface="Calibri"/>
                <a:cs typeface="Calibri"/>
              </a:rPr>
              <a:t>Mô</a:t>
            </a:r>
            <a:r>
              <a:rPr spc="70">
                <a:latin typeface="Calibri"/>
                <a:cs typeface="Calibri"/>
              </a:rPr>
              <a:t> </a:t>
            </a:r>
            <a:r>
              <a:rPr spc="-80">
                <a:latin typeface="Calibri"/>
                <a:cs typeface="Calibri"/>
              </a:rPr>
              <a:t>Tả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Bài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Toán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(Phân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Loại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Trạng</a:t>
            </a:r>
            <a:r>
              <a:rPr spc="70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Thái)</a:t>
            </a:r>
            <a:endParaRPr/>
          </a:p>
        </p:txBody>
      </p:sp>
      <p:sp>
        <p:nvSpPr>
          <p:cNvPr id="245458553" name="object 3"/>
          <p:cNvSpPr txBox="1"/>
          <p:nvPr/>
        </p:nvSpPr>
        <p:spPr bwMode="auto">
          <a:xfrm>
            <a:off x="125844" y="674406"/>
            <a:ext cx="51015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>
                <a:latin typeface="Calibri"/>
                <a:cs typeface="Calibri"/>
              </a:rPr>
              <a:t>Hệ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thống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được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thiết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kế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để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phân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loại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đối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tượng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thành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3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65">
                <a:latin typeface="Calibri"/>
                <a:cs typeface="Calibri"/>
              </a:rPr>
              <a:t>nhóm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trạng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thái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chính: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90326493" name="object 4"/>
          <p:cNvPicPr/>
          <p:nvPr/>
        </p:nvPicPr>
        <p:blipFill rotWithShape="1">
          <a:blip r:embed="rId3"/>
          <a:stretch/>
        </p:blipFill>
        <p:spPr bwMode="auto">
          <a:xfrm>
            <a:off x="203225" y="1022902"/>
            <a:ext cx="137750" cy="137750"/>
          </a:xfrm>
          <a:prstGeom prst="rect">
            <a:avLst/>
          </a:prstGeom>
        </p:spPr>
      </p:pic>
      <p:sp>
        <p:nvSpPr>
          <p:cNvPr id="1338078607" name="object 5"/>
          <p:cNvSpPr txBox="1"/>
          <p:nvPr/>
        </p:nvSpPr>
        <p:spPr bwMode="auto">
          <a:xfrm>
            <a:off x="237693" y="1023942"/>
            <a:ext cx="6921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1524555067" name="object 6"/>
          <p:cNvPicPr/>
          <p:nvPr/>
        </p:nvPicPr>
        <p:blipFill rotWithShape="1">
          <a:blip r:embed="rId4"/>
          <a:stretch/>
        </p:blipFill>
        <p:spPr bwMode="auto">
          <a:xfrm>
            <a:off x="560031" y="1251229"/>
            <a:ext cx="63423" cy="63423"/>
          </a:xfrm>
          <a:prstGeom prst="rect">
            <a:avLst/>
          </a:prstGeom>
        </p:spPr>
      </p:pic>
      <p:pic>
        <p:nvPicPr>
          <p:cNvPr id="1372118153" name="object 7"/>
          <p:cNvPicPr/>
          <p:nvPr/>
        </p:nvPicPr>
        <p:blipFill rotWithShape="1">
          <a:blip r:embed="rId5"/>
          <a:stretch/>
        </p:blipFill>
        <p:spPr bwMode="auto">
          <a:xfrm>
            <a:off x="560031" y="1403057"/>
            <a:ext cx="63423" cy="63423"/>
          </a:xfrm>
          <a:prstGeom prst="rect">
            <a:avLst/>
          </a:prstGeom>
        </p:spPr>
      </p:pic>
      <p:sp>
        <p:nvSpPr>
          <p:cNvPr id="35554694" name="object 8"/>
          <p:cNvSpPr txBox="1"/>
          <p:nvPr/>
        </p:nvSpPr>
        <p:spPr bwMode="auto">
          <a:xfrm>
            <a:off x="402932" y="963740"/>
            <a:ext cx="3362324" cy="5435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  <a:defRPr/>
            </a:pPr>
            <a:r>
              <a:rPr sz="1100" b="1">
                <a:latin typeface="Calibri"/>
                <a:cs typeface="Calibri"/>
              </a:rPr>
              <a:t>With</a:t>
            </a:r>
            <a:r>
              <a:rPr sz="1100" b="1" spc="10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Mask</a:t>
            </a:r>
            <a:r>
              <a:rPr sz="1100" b="1" spc="11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(Đeo</a:t>
            </a:r>
            <a:r>
              <a:rPr sz="1100" b="1" spc="10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khẩu</a:t>
            </a:r>
            <a:r>
              <a:rPr sz="1100" b="1" spc="11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trang):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  <a:defRPr/>
            </a:pPr>
            <a:r>
              <a:rPr sz="1000" spc="10">
                <a:latin typeface="Calibri"/>
                <a:cs typeface="Calibri"/>
              </a:rPr>
              <a:t>Simple: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 spc="10">
                <a:latin typeface="Calibri"/>
                <a:cs typeface="Calibri"/>
              </a:rPr>
              <a:t>Nhìn</a:t>
            </a:r>
            <a:r>
              <a:rPr sz="1000" spc="65">
                <a:latin typeface="Calibri"/>
                <a:cs typeface="Calibri"/>
              </a:rPr>
              <a:t> </a:t>
            </a:r>
            <a:r>
              <a:rPr sz="1000" spc="10">
                <a:latin typeface="Calibri"/>
                <a:cs typeface="Calibri"/>
              </a:rPr>
              <a:t>thẳng,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 spc="50">
                <a:latin typeface="Calibri"/>
                <a:cs typeface="Calibri"/>
              </a:rPr>
              <a:t>rõ</a:t>
            </a:r>
            <a:r>
              <a:rPr sz="1000" spc="6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nét.</a:t>
            </a:r>
            <a:endParaRPr sz="10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  <a:defRPr/>
            </a:pPr>
            <a:r>
              <a:rPr sz="1000">
                <a:latin typeface="Calibri"/>
                <a:cs typeface="Calibri"/>
              </a:rPr>
              <a:t>Complex: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Bị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che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khuất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 spc="70">
                <a:latin typeface="Calibri"/>
                <a:cs typeface="Calibri"/>
              </a:rPr>
              <a:t>một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phần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hoặc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góc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nghiêng.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67595102" name="object 9"/>
          <p:cNvPicPr/>
          <p:nvPr/>
        </p:nvPicPr>
        <p:blipFill rotWithShape="1">
          <a:blip r:embed="rId6"/>
          <a:stretch/>
        </p:blipFill>
        <p:spPr bwMode="auto">
          <a:xfrm>
            <a:off x="203225" y="1659210"/>
            <a:ext cx="137750" cy="137750"/>
          </a:xfrm>
          <a:prstGeom prst="rect">
            <a:avLst/>
          </a:prstGeom>
        </p:spPr>
      </p:pic>
      <p:sp>
        <p:nvSpPr>
          <p:cNvPr id="382490726" name="object 10"/>
          <p:cNvSpPr txBox="1"/>
          <p:nvPr/>
        </p:nvSpPr>
        <p:spPr bwMode="auto">
          <a:xfrm>
            <a:off x="237693" y="1660619"/>
            <a:ext cx="6921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720526873" name="object 11"/>
          <p:cNvPicPr/>
          <p:nvPr/>
        </p:nvPicPr>
        <p:blipFill rotWithShape="1">
          <a:blip r:embed="rId7"/>
          <a:stretch/>
        </p:blipFill>
        <p:spPr bwMode="auto">
          <a:xfrm>
            <a:off x="203225" y="1937594"/>
            <a:ext cx="137750" cy="137750"/>
          </a:xfrm>
          <a:prstGeom prst="rect">
            <a:avLst/>
          </a:prstGeom>
        </p:spPr>
      </p:pic>
      <p:sp>
        <p:nvSpPr>
          <p:cNvPr id="636788916" name="object 12"/>
          <p:cNvSpPr txBox="1"/>
          <p:nvPr/>
        </p:nvSpPr>
        <p:spPr bwMode="auto">
          <a:xfrm>
            <a:off x="237693" y="1938634"/>
            <a:ext cx="6921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1288142591" name="object 13"/>
          <p:cNvPicPr/>
          <p:nvPr/>
        </p:nvPicPr>
        <p:blipFill rotWithShape="1">
          <a:blip r:embed="rId8"/>
          <a:stretch/>
        </p:blipFill>
        <p:spPr bwMode="auto">
          <a:xfrm>
            <a:off x="560031" y="2165921"/>
            <a:ext cx="63423" cy="63423"/>
          </a:xfrm>
          <a:prstGeom prst="rect">
            <a:avLst/>
          </a:prstGeom>
        </p:spPr>
      </p:pic>
      <p:pic>
        <p:nvPicPr>
          <p:cNvPr id="338121437" name="object 14"/>
          <p:cNvPicPr/>
          <p:nvPr/>
        </p:nvPicPr>
        <p:blipFill rotWithShape="1">
          <a:blip r:embed="rId9"/>
          <a:stretch/>
        </p:blipFill>
        <p:spPr bwMode="auto">
          <a:xfrm>
            <a:off x="560031" y="2317750"/>
            <a:ext cx="63423" cy="63423"/>
          </a:xfrm>
          <a:prstGeom prst="rect">
            <a:avLst/>
          </a:prstGeom>
        </p:spPr>
      </p:pic>
      <p:pic>
        <p:nvPicPr>
          <p:cNvPr id="147854354" name="object 15"/>
          <p:cNvPicPr/>
          <p:nvPr/>
        </p:nvPicPr>
        <p:blipFill rotWithShape="1">
          <a:blip r:embed="rId10"/>
          <a:stretch/>
        </p:blipFill>
        <p:spPr bwMode="auto">
          <a:xfrm>
            <a:off x="560031" y="2469577"/>
            <a:ext cx="63423" cy="63423"/>
          </a:xfrm>
          <a:prstGeom prst="rect">
            <a:avLst/>
          </a:prstGeom>
        </p:spPr>
      </p:pic>
      <p:sp>
        <p:nvSpPr>
          <p:cNvPr id="28370257" name="object 16"/>
          <p:cNvSpPr txBox="1"/>
          <p:nvPr/>
        </p:nvSpPr>
        <p:spPr bwMode="auto">
          <a:xfrm>
            <a:off x="402932" y="1625103"/>
            <a:ext cx="4904105" cy="948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 spc="10">
                <a:latin typeface="Calibri"/>
                <a:cs typeface="Calibri"/>
              </a:rPr>
              <a:t>Without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Mask</a:t>
            </a:r>
            <a:r>
              <a:rPr sz="1100" b="1" spc="5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(Không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đeo):</a:t>
            </a:r>
            <a:r>
              <a:rPr sz="1100" b="1" spc="5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Khuôn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65">
                <a:latin typeface="Calibri"/>
                <a:cs typeface="Calibri"/>
              </a:rPr>
              <a:t>mặt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lộ</a:t>
            </a:r>
            <a:r>
              <a:rPr sz="1100" spc="50">
                <a:latin typeface="Calibri"/>
                <a:cs typeface="Calibri"/>
              </a:rPr>
              <a:t> rõ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hoàn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toàn,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không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có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vật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cản.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  <a:defRPr/>
            </a:pPr>
            <a:r>
              <a:rPr sz="1100" b="1" spc="10">
                <a:latin typeface="Calibri"/>
                <a:cs typeface="Calibri"/>
              </a:rPr>
              <a:t>Incorrect</a:t>
            </a:r>
            <a:r>
              <a:rPr sz="1100" b="1" spc="30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Mask</a:t>
            </a:r>
            <a:r>
              <a:rPr sz="1100" b="1" spc="3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(Đeo</a:t>
            </a:r>
            <a:r>
              <a:rPr sz="1100" b="1" spc="3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sai</a:t>
            </a:r>
            <a:r>
              <a:rPr sz="1100" b="1" spc="3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quy</a:t>
            </a:r>
            <a:r>
              <a:rPr sz="1100" b="1" spc="3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cách):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  <a:defRPr/>
            </a:pPr>
            <a:r>
              <a:rPr sz="1000">
                <a:latin typeface="Calibri"/>
                <a:cs typeface="Calibri"/>
              </a:rPr>
              <a:t>Chỉ</a:t>
            </a:r>
            <a:r>
              <a:rPr sz="1000" spc="7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che</a:t>
            </a:r>
            <a:r>
              <a:rPr sz="1000" spc="7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miệng</a:t>
            </a:r>
            <a:r>
              <a:rPr sz="1000" spc="8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(MC).</a:t>
            </a:r>
            <a:endParaRPr sz="1000">
              <a:latin typeface="Calibri"/>
              <a:cs typeface="Calibri"/>
            </a:endParaRPr>
          </a:p>
          <a:p>
            <a:pPr marL="289560">
              <a:lnSpc>
                <a:spcPts val="1195"/>
              </a:lnSpc>
              <a:defRPr/>
            </a:pPr>
            <a:r>
              <a:rPr sz="1000">
                <a:latin typeface="Calibri"/>
                <a:cs typeface="Calibri"/>
              </a:rPr>
              <a:t>Lệch</a:t>
            </a:r>
            <a:r>
              <a:rPr sz="1000" spc="6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mũi,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lệch</a:t>
            </a:r>
            <a:r>
              <a:rPr sz="1000" spc="6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cằm</a:t>
            </a:r>
            <a:r>
              <a:rPr sz="1000" spc="6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(MMC).</a:t>
            </a:r>
            <a:endParaRPr sz="10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  <a:defRPr/>
            </a:pPr>
            <a:r>
              <a:rPr sz="1000">
                <a:latin typeface="Calibri"/>
                <a:cs typeface="Calibri"/>
              </a:rPr>
              <a:t>Hệ</a:t>
            </a:r>
            <a:r>
              <a:rPr sz="1000" spc="60">
                <a:latin typeface="Calibri"/>
                <a:cs typeface="Calibri"/>
              </a:rPr>
              <a:t> thống </a:t>
            </a:r>
            <a:r>
              <a:rPr sz="1000">
                <a:latin typeface="Calibri"/>
                <a:cs typeface="Calibri"/>
              </a:rPr>
              <a:t>sẽ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nhận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diện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để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đưa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ra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cảnh</a:t>
            </a:r>
            <a:r>
              <a:rPr sz="1000" spc="6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báo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nhắc</a:t>
            </a:r>
            <a:r>
              <a:rPr sz="1000" spc="60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nh</a:t>
            </a:r>
            <a:r>
              <a:rPr sz="1000" cap="small" spc="-20">
                <a:latin typeface="Calibri"/>
                <a:cs typeface="Calibri"/>
              </a:rPr>
              <a:t>ở</a:t>
            </a:r>
            <a:r>
              <a:rPr sz="1000" spc="-2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7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82317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5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24545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32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9032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7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133807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55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152455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500"/>
                                        <p:tgtEl>
                                          <p:spTgt spid="13721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355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6759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49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38249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2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500"/>
                                        <p:tgtEl>
                                          <p:spTgt spid="72052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78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500"/>
                                        <p:tgtEl>
                                          <p:spTgt spid="63678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14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500"/>
                                        <p:tgtEl>
                                          <p:spTgt spid="128814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500"/>
                                        <p:tgtEl>
                                          <p:spTgt spid="33812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5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500"/>
                                        <p:tgtEl>
                                          <p:spTgt spid="14785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500"/>
                                        <p:tgtEl>
                                          <p:spTgt spid="2837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178359" grpId="0"/>
      <p:bldP spid="245458553" grpId="0"/>
      <p:bldP spid="1338078607" grpId="0"/>
      <p:bldP spid="35554694" grpId="0"/>
      <p:bldP spid="382490726" grpId="0"/>
      <p:bldP spid="636788916" grpId="0"/>
      <p:bldP spid="283702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863676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Tập</a:t>
            </a:r>
            <a:r>
              <a:rPr spc="3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Dữ</a:t>
            </a:r>
            <a:r>
              <a:rPr spc="3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Liệu</a:t>
            </a:r>
            <a:r>
              <a:rPr spc="35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(Dataset)</a:t>
            </a:r>
            <a:endParaRPr/>
          </a:p>
        </p:txBody>
      </p:sp>
      <p:sp>
        <p:nvSpPr>
          <p:cNvPr id="1901193043" name="object 3"/>
          <p:cNvSpPr/>
          <p:nvPr/>
        </p:nvSpPr>
        <p:spPr bwMode="auto">
          <a:xfrm>
            <a:off x="31850" y="927879"/>
            <a:ext cx="2843530" cy="223520"/>
          </a:xfrm>
          <a:custGeom>
            <a:avLst/>
            <a:gdLst/>
            <a:ahLst/>
            <a:cxnLst/>
            <a:rect l="l" t="t" r="r" b="b"/>
            <a:pathLst>
              <a:path w="2843530" h="223519" fill="norm" stroke="1" extrusionOk="0">
                <a:moveTo>
                  <a:pt x="279228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3134"/>
                </a:lnTo>
                <a:lnTo>
                  <a:pt x="2843086" y="223134"/>
                </a:lnTo>
                <a:lnTo>
                  <a:pt x="2843086" y="50800"/>
                </a:lnTo>
                <a:lnTo>
                  <a:pt x="2839077" y="31075"/>
                </a:lnTo>
                <a:lnTo>
                  <a:pt x="2828163" y="14922"/>
                </a:lnTo>
                <a:lnTo>
                  <a:pt x="2812010" y="4008"/>
                </a:lnTo>
                <a:lnTo>
                  <a:pt x="279228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724677026" name="object 4"/>
          <p:cNvSpPr txBox="1"/>
          <p:nvPr/>
        </p:nvSpPr>
        <p:spPr bwMode="auto">
          <a:xfrm>
            <a:off x="139420" y="940343"/>
            <a:ext cx="1237615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 spc="60">
                <a:solidFill>
                  <a:srgbClr val="FFFFFF"/>
                </a:solidFill>
                <a:latin typeface="Calibri"/>
                <a:cs typeface="Calibri"/>
              </a:rPr>
              <a:t>Nguồn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7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Quy </a:t>
            </a: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Mô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23303423" name="object 12"/>
          <p:cNvSpPr txBox="1"/>
          <p:nvPr/>
        </p:nvSpPr>
        <p:spPr bwMode="auto">
          <a:xfrm>
            <a:off x="214730" y="1181627"/>
            <a:ext cx="2477770" cy="828040"/>
          </a:xfrm>
          <a:prstGeom prst="rect">
            <a:avLst/>
          </a:prstGeom>
        </p:spPr>
        <p:txBody>
          <a:bodyPr vert="horz" wrap="square" lIns="0" tIns="552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defRPr/>
            </a:pPr>
            <a:r>
              <a:rPr sz="1100">
                <a:latin typeface="Calibri"/>
                <a:cs typeface="Calibri"/>
              </a:rPr>
              <a:t>Nguồn:</a:t>
            </a:r>
            <a:r>
              <a:rPr sz="1100" spc="135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Face</a:t>
            </a:r>
            <a:r>
              <a:rPr sz="1100" b="1" spc="14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Mask</a:t>
            </a:r>
            <a:r>
              <a:rPr sz="1100" b="1" spc="14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Dataset</a:t>
            </a:r>
            <a:r>
              <a:rPr sz="1100" b="1" spc="13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(Kaggle).</a:t>
            </a:r>
            <a:endParaRPr sz="1100">
              <a:latin typeface="Calibri"/>
              <a:cs typeface="Calibri"/>
            </a:endParaRPr>
          </a:p>
          <a:p>
            <a:pPr marL="12700" marR="212090">
              <a:lnSpc>
                <a:spcPct val="102699"/>
              </a:lnSpc>
              <a:spcBef>
                <a:spcPts val="295"/>
              </a:spcBef>
              <a:defRPr/>
            </a:pPr>
            <a:r>
              <a:rPr sz="1100">
                <a:latin typeface="Calibri"/>
                <a:cs typeface="Calibri"/>
              </a:rPr>
              <a:t>Quy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mô: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14,535</a:t>
            </a:r>
            <a:r>
              <a:rPr sz="1100" b="1" spc="7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hình</a:t>
            </a:r>
            <a:r>
              <a:rPr sz="1100" b="1" spc="7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ảnh</a:t>
            </a:r>
            <a:r>
              <a:rPr sz="1100" b="1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đa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dạng </a:t>
            </a:r>
            <a:r>
              <a:rPr sz="1100">
                <a:latin typeface="Calibri"/>
                <a:cs typeface="Calibri"/>
              </a:rPr>
              <a:t>bối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cảnh.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defRPr/>
            </a:pPr>
            <a:r>
              <a:rPr sz="1100">
                <a:latin typeface="Calibri"/>
                <a:cs typeface="Calibri"/>
              </a:rPr>
              <a:t>Phân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chia: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80%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Train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-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20%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Validation.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85029229" name="object 13"/>
          <p:cNvSpPr/>
          <p:nvPr/>
        </p:nvSpPr>
        <p:spPr bwMode="auto">
          <a:xfrm>
            <a:off x="2880207" y="925802"/>
            <a:ext cx="2843530" cy="224790"/>
          </a:xfrm>
          <a:custGeom>
            <a:avLst/>
            <a:gdLst/>
            <a:ahLst/>
            <a:cxnLst/>
            <a:rect l="l" t="t" r="r" b="b"/>
            <a:pathLst>
              <a:path w="2843529" h="224790" fill="norm" stroke="1" extrusionOk="0">
                <a:moveTo>
                  <a:pt x="279228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4499"/>
                </a:lnTo>
                <a:lnTo>
                  <a:pt x="2843086" y="224499"/>
                </a:lnTo>
                <a:lnTo>
                  <a:pt x="2843086" y="50800"/>
                </a:lnTo>
                <a:lnTo>
                  <a:pt x="2839077" y="31075"/>
                </a:lnTo>
                <a:lnTo>
                  <a:pt x="2828163" y="14922"/>
                </a:lnTo>
                <a:lnTo>
                  <a:pt x="2812010" y="4008"/>
                </a:lnTo>
                <a:lnTo>
                  <a:pt x="279228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73059633" name="object 14"/>
          <p:cNvSpPr txBox="1"/>
          <p:nvPr/>
        </p:nvSpPr>
        <p:spPr bwMode="auto">
          <a:xfrm>
            <a:off x="2926181" y="940343"/>
            <a:ext cx="1248409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Cấu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Trúc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Quản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Lý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6111315" name="object 22"/>
          <p:cNvSpPr txBox="1"/>
          <p:nvPr/>
        </p:nvSpPr>
        <p:spPr bwMode="auto">
          <a:xfrm>
            <a:off x="3190570" y="1132456"/>
            <a:ext cx="2342515" cy="1172210"/>
          </a:xfrm>
          <a:prstGeom prst="rect">
            <a:avLst/>
          </a:prstGeom>
        </p:spPr>
        <p:txBody>
          <a:bodyPr vert="horz" wrap="square" lIns="0" tIns="552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defRPr/>
            </a:pPr>
            <a:r>
              <a:rPr sz="1100">
                <a:latin typeface="Calibri"/>
                <a:cs typeface="Calibri"/>
              </a:rPr>
              <a:t>Phương</a:t>
            </a:r>
            <a:r>
              <a:rPr sz="1100" spc="1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pháp:</a:t>
            </a:r>
            <a:r>
              <a:rPr sz="1100" spc="13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Folder-as-</a:t>
            </a:r>
            <a:r>
              <a:rPr sz="1100" b="1" spc="-10">
                <a:latin typeface="Calibri"/>
                <a:cs typeface="Calibri"/>
              </a:rPr>
              <a:t>label</a:t>
            </a:r>
            <a:r>
              <a:rPr sz="1100" spc="-1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  <a:defRPr/>
            </a:pPr>
            <a:r>
              <a:rPr sz="1100" spc="-30">
                <a:latin typeface="Calibri"/>
                <a:cs typeface="Calibri"/>
              </a:rPr>
              <a:t>Tên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thư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mục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chính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là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nhãn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của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ảnh, </a:t>
            </a:r>
            <a:r>
              <a:rPr sz="1100" spc="20">
                <a:latin typeface="Calibri"/>
                <a:cs typeface="Calibri"/>
              </a:rPr>
              <a:t>không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20">
                <a:latin typeface="Calibri"/>
                <a:cs typeface="Calibri"/>
              </a:rPr>
              <a:t>cần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20">
                <a:latin typeface="Calibri"/>
                <a:cs typeface="Calibri"/>
              </a:rPr>
              <a:t>file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20">
                <a:latin typeface="Calibri"/>
                <a:cs typeface="Calibri"/>
              </a:rPr>
              <a:t>annotation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30">
                <a:latin typeface="Calibri"/>
                <a:cs typeface="Calibri"/>
              </a:rPr>
              <a:t>phụ </a:t>
            </a:r>
            <a:r>
              <a:rPr sz="1100" spc="-10">
                <a:latin typeface="Calibri"/>
                <a:cs typeface="Calibri"/>
              </a:rPr>
              <a:t>(XML/JSON).</a:t>
            </a:r>
            <a:endParaRPr sz="1100">
              <a:latin typeface="Calibri"/>
              <a:cs typeface="Calibri"/>
            </a:endParaRPr>
          </a:p>
          <a:p>
            <a:pPr marL="12700" marR="14604">
              <a:lnSpc>
                <a:spcPct val="102600"/>
              </a:lnSpc>
              <a:spcBef>
                <a:spcPts val="300"/>
              </a:spcBef>
              <a:defRPr/>
            </a:pPr>
            <a:r>
              <a:rPr sz="1100">
                <a:latin typeface="Calibri"/>
                <a:cs typeface="Calibri"/>
              </a:rPr>
              <a:t>Dễ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dàng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động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hóa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luồng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đưa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dữ </a:t>
            </a:r>
            <a:r>
              <a:rPr sz="1100">
                <a:latin typeface="Calibri"/>
                <a:cs typeface="Calibri"/>
              </a:rPr>
              <a:t>liệu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vào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mô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hình.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6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83863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3863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38636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8386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19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0119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30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2330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85029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85029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1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611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611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863676" grpId="0"/>
      <p:bldP spid="1901193043" grpId="0" animBg="1"/>
      <p:bldP spid="1223303423" grpId="0"/>
      <p:bldP spid="1485029229" grpId="0" animBg="1"/>
      <p:bldP spid="5661113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526280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Tiền</a:t>
            </a:r>
            <a:r>
              <a:rPr spc="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Xử</a:t>
            </a:r>
            <a:r>
              <a:rPr spc="1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Lý</a:t>
            </a:r>
            <a:r>
              <a:rPr spc="1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Dữ</a:t>
            </a:r>
            <a:r>
              <a:rPr spc="10">
                <a:latin typeface="Calibri"/>
                <a:cs typeface="Calibri"/>
              </a:rPr>
              <a:t> </a:t>
            </a:r>
            <a:r>
              <a:rPr spc="-20">
                <a:latin typeface="Calibri"/>
                <a:cs typeface="Calibri"/>
              </a:rPr>
              <a:t>Liệu</a:t>
            </a:r>
            <a:endParaRPr/>
          </a:p>
        </p:txBody>
      </p:sp>
      <p:pic>
        <p:nvPicPr>
          <p:cNvPr id="1531453158" name="object 3"/>
          <p:cNvPicPr/>
          <p:nvPr/>
        </p:nvPicPr>
        <p:blipFill rotWithShape="1">
          <a:blip r:embed="rId3"/>
          <a:stretch/>
        </p:blipFill>
        <p:spPr bwMode="auto">
          <a:xfrm>
            <a:off x="267652" y="1389964"/>
            <a:ext cx="78714" cy="78714"/>
          </a:xfrm>
          <a:prstGeom prst="rect">
            <a:avLst/>
          </a:prstGeom>
        </p:spPr>
      </p:pic>
      <p:pic>
        <p:nvPicPr>
          <p:cNvPr id="884515021" name="object 4"/>
          <p:cNvPicPr/>
          <p:nvPr/>
        </p:nvPicPr>
        <p:blipFill rotWithShape="1">
          <a:blip r:embed="rId4"/>
          <a:stretch/>
        </p:blipFill>
        <p:spPr bwMode="auto">
          <a:xfrm>
            <a:off x="267652" y="1599984"/>
            <a:ext cx="78714" cy="78714"/>
          </a:xfrm>
          <a:prstGeom prst="rect">
            <a:avLst/>
          </a:prstGeom>
        </p:spPr>
      </p:pic>
      <p:pic>
        <p:nvPicPr>
          <p:cNvPr id="1932023669" name="object 5"/>
          <p:cNvPicPr/>
          <p:nvPr/>
        </p:nvPicPr>
        <p:blipFill rotWithShape="1">
          <a:blip r:embed="rId5"/>
          <a:stretch/>
        </p:blipFill>
        <p:spPr bwMode="auto">
          <a:xfrm>
            <a:off x="267652" y="1982101"/>
            <a:ext cx="78714" cy="78714"/>
          </a:xfrm>
          <a:prstGeom prst="rect">
            <a:avLst/>
          </a:prstGeom>
        </p:spPr>
      </p:pic>
      <p:sp>
        <p:nvSpPr>
          <p:cNvPr id="1918241893" name="object 6"/>
          <p:cNvSpPr txBox="1"/>
          <p:nvPr/>
        </p:nvSpPr>
        <p:spPr bwMode="auto">
          <a:xfrm>
            <a:off x="125844" y="757845"/>
            <a:ext cx="5508625" cy="1690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6530">
              <a:lnSpc>
                <a:spcPct val="102699"/>
              </a:lnSpc>
              <a:spcBef>
                <a:spcPts val="55"/>
              </a:spcBef>
              <a:defRPr/>
            </a:pPr>
            <a:r>
              <a:rPr sz="1100" spc="-50">
                <a:latin typeface="Calibri"/>
                <a:cs typeface="Calibri"/>
              </a:rPr>
              <a:t>Với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số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lượng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ảnh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lớn,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hệ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thống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áp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dụng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các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bước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tiền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xử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lý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nghiêm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ngặt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để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tối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ưu </a:t>
            </a:r>
            <a:r>
              <a:rPr sz="1100">
                <a:latin typeface="Calibri"/>
                <a:cs typeface="Calibri"/>
              </a:rPr>
              <a:t>phần</a:t>
            </a:r>
            <a:r>
              <a:rPr sz="1100" spc="14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cứng: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defRPr/>
            </a:pP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defRPr/>
            </a:pPr>
            <a:r>
              <a:rPr sz="1100" b="1">
                <a:latin typeface="Calibri"/>
                <a:cs typeface="Calibri"/>
              </a:rPr>
              <a:t>Load</a:t>
            </a:r>
            <a:r>
              <a:rPr sz="1100" b="1" spc="4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dữ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liệu: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Quét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thư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mục,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gán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nhãn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động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thành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mảng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số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nguyên.</a:t>
            </a:r>
            <a:endParaRPr sz="1100">
              <a:latin typeface="Calibri"/>
              <a:cs typeface="Calibri"/>
            </a:endParaRPr>
          </a:p>
          <a:p>
            <a:pPr marL="289560" marR="250825">
              <a:lnSpc>
                <a:spcPct val="102600"/>
              </a:lnSpc>
              <a:spcBef>
                <a:spcPts val="300"/>
              </a:spcBef>
              <a:defRPr/>
            </a:pPr>
            <a:r>
              <a:rPr sz="1100" b="1" spc="-25">
                <a:latin typeface="Calibri"/>
                <a:cs typeface="Calibri"/>
              </a:rPr>
              <a:t>Tối</a:t>
            </a:r>
            <a:r>
              <a:rPr sz="1100" b="1" spc="2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ưu</a:t>
            </a:r>
            <a:r>
              <a:rPr sz="1100" b="1" spc="20">
                <a:latin typeface="Calibri"/>
                <a:cs typeface="Calibri"/>
              </a:rPr>
              <a:t> </a:t>
            </a:r>
            <a:r>
              <a:rPr sz="1100" b="1" spc="-20">
                <a:latin typeface="Calibri"/>
                <a:cs typeface="Calibri"/>
              </a:rPr>
              <a:t>RAM:</a:t>
            </a:r>
            <a:r>
              <a:rPr sz="1100" b="1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Áp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dụng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-45">
                <a:latin typeface="Calibri"/>
                <a:cs typeface="Calibri"/>
              </a:rPr>
              <a:t>cơ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chế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Lazy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Loading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thông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qua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thư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viện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100">
                <a:latin typeface="Calibri"/>
                <a:cs typeface="Calibri"/>
              </a:rPr>
              <a:t>tf.data.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Hình </a:t>
            </a:r>
            <a:r>
              <a:rPr sz="1100">
                <a:latin typeface="Calibri"/>
                <a:cs typeface="Calibri"/>
              </a:rPr>
              <a:t>ảnh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được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đọc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song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song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bằng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hàm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decode_jpeg.</a:t>
            </a:r>
            <a:endParaRPr sz="1100">
              <a:latin typeface="Calibri"/>
              <a:cs typeface="Calibri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  <a:defRPr/>
            </a:pPr>
            <a:r>
              <a:rPr sz="1100" b="1">
                <a:latin typeface="Calibri"/>
                <a:cs typeface="Calibri"/>
              </a:rPr>
              <a:t>Chuẩn</a:t>
            </a:r>
            <a:r>
              <a:rPr sz="1100" b="1" spc="5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hóa</a:t>
            </a:r>
            <a:r>
              <a:rPr sz="1100" b="1" spc="6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(Normalization):</a:t>
            </a:r>
            <a:r>
              <a:rPr sz="1100" b="1" spc="5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Resize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ảnh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về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kích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thước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chuẩn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đưa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giá</a:t>
            </a:r>
            <a:r>
              <a:rPr sz="1100" spc="55">
                <a:latin typeface="Calibri"/>
                <a:cs typeface="Calibri"/>
              </a:rPr>
              <a:t> </a:t>
            </a:r>
            <a:r>
              <a:rPr sz="1100" spc="70">
                <a:latin typeface="Calibri"/>
                <a:cs typeface="Calibri"/>
              </a:rPr>
              <a:t>trị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pixel </a:t>
            </a:r>
            <a:r>
              <a:rPr sz="1100">
                <a:latin typeface="Calibri"/>
                <a:cs typeface="Calibri"/>
              </a:rPr>
              <a:t>về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khoảng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[-1,</a:t>
            </a:r>
            <a:r>
              <a:rPr sz="1100" b="1" spc="4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1]</a:t>
            </a:r>
            <a:r>
              <a:rPr sz="1100">
                <a:latin typeface="Calibri"/>
                <a:cs typeface="Calibri"/>
              </a:rPr>
              <a:t>.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Bước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này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cực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kỳ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quan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trọng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để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dữ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liệu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đầu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vào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tương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thích </a:t>
            </a:r>
            <a:r>
              <a:rPr sz="1100">
                <a:latin typeface="Calibri"/>
                <a:cs typeface="Calibri"/>
              </a:rPr>
              <a:t>hoàn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toàn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với</a:t>
            </a:r>
            <a:r>
              <a:rPr sz="1100" spc="55">
                <a:latin typeface="Calibri"/>
                <a:cs typeface="Calibri"/>
              </a:rPr>
              <a:t> mạng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MobileNetV2.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2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85152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24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91824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526280" grpId="0"/>
      <p:bldP spid="19182418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956808" name="object 2"/>
          <p:cNvSpPr txBox="1">
            <a:spLocks noGrp="1"/>
          </p:cNvSpPr>
          <p:nvPr>
            <p:ph type="title"/>
          </p:nvPr>
        </p:nvSpPr>
        <p:spPr bwMode="auto">
          <a:xfrm>
            <a:off x="977900" y="93233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Kiến</a:t>
            </a:r>
            <a:r>
              <a:rPr spc="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Trúc</a:t>
            </a:r>
            <a:r>
              <a:rPr spc="50">
                <a:latin typeface="Calibri"/>
                <a:cs typeface="Calibri"/>
              </a:rPr>
              <a:t> </a:t>
            </a:r>
            <a:r>
              <a:rPr spc="105">
                <a:latin typeface="Calibri"/>
                <a:cs typeface="Calibri"/>
              </a:rPr>
              <a:t>Mô</a:t>
            </a:r>
            <a:r>
              <a:rPr spc="55">
                <a:latin typeface="Calibri"/>
                <a:cs typeface="Calibri"/>
              </a:rPr>
              <a:t> Hình</a:t>
            </a:r>
            <a:r>
              <a:rPr spc="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Học</a:t>
            </a:r>
            <a:r>
              <a:rPr spc="55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Sâu</a:t>
            </a:r>
            <a:endParaRPr/>
          </a:p>
        </p:txBody>
      </p:sp>
      <p:sp>
        <p:nvSpPr>
          <p:cNvPr id="877192479" name="object 3"/>
          <p:cNvSpPr/>
          <p:nvPr/>
        </p:nvSpPr>
        <p:spPr bwMode="auto">
          <a:xfrm>
            <a:off x="87743" y="494334"/>
            <a:ext cx="5584825" cy="198120"/>
          </a:xfrm>
          <a:custGeom>
            <a:avLst/>
            <a:gdLst/>
            <a:ahLst/>
            <a:cxnLst/>
            <a:rect l="l" t="t" r="r" b="b"/>
            <a:pathLst>
              <a:path w="5584825" h="198120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7777"/>
                </a:lnTo>
                <a:lnTo>
                  <a:pt x="5584584" y="197777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302819190" name="object 4"/>
          <p:cNvSpPr txBox="1"/>
          <p:nvPr/>
        </p:nvSpPr>
        <p:spPr bwMode="auto">
          <a:xfrm>
            <a:off x="138544" y="485519"/>
            <a:ext cx="1870710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2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Backbone:</a:t>
            </a:r>
            <a:r>
              <a:rPr sz="12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MobileNetV2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77706285" name="object 9"/>
          <p:cNvSpPr txBox="1"/>
          <p:nvPr/>
        </p:nvSpPr>
        <p:spPr bwMode="auto">
          <a:xfrm>
            <a:off x="87743" y="710309"/>
            <a:ext cx="5635625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34315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10">
                <a:latin typeface="Calibri"/>
                <a:cs typeface="Calibri"/>
              </a:rPr>
              <a:t>Lựa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chọn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mạng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nhẹ,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tốc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độ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cao,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phù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hợp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với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các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bài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toán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Real-time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trên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thiết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bị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có </a:t>
            </a:r>
            <a:r>
              <a:rPr sz="1100">
                <a:latin typeface="Calibri"/>
                <a:cs typeface="Calibri"/>
              </a:rPr>
              <a:t>tài</a:t>
            </a:r>
            <a:r>
              <a:rPr sz="1100" spc="1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nguyên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hạn</a:t>
            </a:r>
            <a:r>
              <a:rPr sz="1100" spc="12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chế.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044981031" name="Picture 3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3100" y="1241425"/>
            <a:ext cx="1721014" cy="1181901"/>
          </a:xfrm>
          <a:prstGeom prst="rect">
            <a:avLst/>
          </a:prstGeom>
        </p:spPr>
      </p:pic>
      <p:sp>
        <p:nvSpPr>
          <p:cNvPr id="452392562" name="TextBox 34"/>
          <p:cNvSpPr txBox="1"/>
          <p:nvPr/>
        </p:nvSpPr>
        <p:spPr bwMode="auto">
          <a:xfrm>
            <a:off x="673100" y="2456331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">
                <a:latin typeface="Calibri"/>
                <a:cs typeface="Calibri"/>
              </a:rPr>
              <a:t>Cấu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trúc</a:t>
            </a:r>
            <a:r>
              <a:rPr lang="en-US" sz="1000">
                <a:latin typeface="Calibri"/>
                <a:cs typeface="Calibri"/>
              </a:rPr>
              <a:t> chi </a:t>
            </a:r>
            <a:r>
              <a:rPr lang="en-US" sz="1000">
                <a:latin typeface="Calibri"/>
                <a:cs typeface="Calibri"/>
              </a:rPr>
              <a:t>tiết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các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tầng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của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mạng</a:t>
            </a:r>
            <a:r>
              <a:rPr lang="en-US" sz="1000">
                <a:latin typeface="Calibri"/>
                <a:cs typeface="Calibri"/>
              </a:rPr>
              <a:t> MobileNetV2</a:t>
            </a:r>
            <a:endParaRPr lang="en-US" sz="1000">
              <a:latin typeface="Calibri"/>
              <a:cs typeface="Calibri"/>
            </a:endParaRPr>
          </a:p>
        </p:txBody>
      </p:sp>
      <p:sp>
        <p:nvSpPr>
          <p:cNvPr id="1551833045" name="TextBox 35"/>
          <p:cNvSpPr txBox="1"/>
          <p:nvPr/>
        </p:nvSpPr>
        <p:spPr bwMode="auto">
          <a:xfrm>
            <a:off x="3263900" y="2459971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">
                <a:latin typeface="Calibri"/>
                <a:cs typeface="Calibri"/>
              </a:rPr>
              <a:t>Cấu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trúc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mô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hình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của</a:t>
            </a:r>
            <a:r>
              <a:rPr lang="en-US" sz="1000">
                <a:latin typeface="Calibri"/>
                <a:cs typeface="Calibri"/>
              </a:rPr>
              <a:t> MobileNetV2</a:t>
            </a:r>
            <a:endParaRPr lang="en-US" sz="1000">
              <a:latin typeface="Calibri"/>
              <a:cs typeface="Calibri"/>
            </a:endParaRPr>
          </a:p>
        </p:txBody>
      </p:sp>
      <p:pic>
        <p:nvPicPr>
          <p:cNvPr id="386913657" name="Picture 3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63900" y="1241425"/>
            <a:ext cx="1707986" cy="1213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95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2956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2956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19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7192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7192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1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2819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2819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70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77706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77706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98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498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498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239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239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3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155183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91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38691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956808" grpId="0"/>
      <p:bldP spid="877192479" grpId="0" animBg="1"/>
      <p:bldP spid="302819190" grpId="0"/>
      <p:bldP spid="2077706285" grpId="0"/>
      <p:bldP spid="452392562" grpId="0"/>
      <p:bldP spid="15518330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04281" name="object 2"/>
          <p:cNvSpPr txBox="1">
            <a:spLocks noGrp="1"/>
          </p:cNvSpPr>
          <p:nvPr>
            <p:ph type="title"/>
          </p:nvPr>
        </p:nvSpPr>
        <p:spPr bwMode="auto">
          <a:xfrm>
            <a:off x="977900" y="93233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Kiến</a:t>
            </a:r>
            <a:r>
              <a:rPr spc="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Trúc</a:t>
            </a:r>
            <a:r>
              <a:rPr spc="50">
                <a:latin typeface="Calibri"/>
                <a:cs typeface="Calibri"/>
              </a:rPr>
              <a:t> </a:t>
            </a:r>
            <a:r>
              <a:rPr spc="105">
                <a:latin typeface="Calibri"/>
                <a:cs typeface="Calibri"/>
              </a:rPr>
              <a:t>Mô</a:t>
            </a:r>
            <a:r>
              <a:rPr spc="55">
                <a:latin typeface="Calibri"/>
                <a:cs typeface="Calibri"/>
              </a:rPr>
              <a:t> Hình</a:t>
            </a:r>
            <a:r>
              <a:rPr spc="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Học</a:t>
            </a:r>
            <a:r>
              <a:rPr spc="55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Sâu</a:t>
            </a:r>
            <a:endParaRPr/>
          </a:p>
        </p:txBody>
      </p:sp>
      <p:sp>
        <p:nvSpPr>
          <p:cNvPr id="1656294424" name="object 10"/>
          <p:cNvSpPr/>
          <p:nvPr/>
        </p:nvSpPr>
        <p:spPr bwMode="auto">
          <a:xfrm>
            <a:off x="138544" y="655959"/>
            <a:ext cx="5584825" cy="216535"/>
          </a:xfrm>
          <a:custGeom>
            <a:avLst/>
            <a:gdLst/>
            <a:ahLst/>
            <a:cxnLst/>
            <a:rect l="l" t="t" r="r" b="b"/>
            <a:pathLst>
              <a:path w="5584825" h="216534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6149"/>
                </a:lnTo>
                <a:lnTo>
                  <a:pt x="5584584" y="216149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605062041" name="object 11"/>
          <p:cNvSpPr txBox="1"/>
          <p:nvPr/>
        </p:nvSpPr>
        <p:spPr bwMode="auto">
          <a:xfrm>
            <a:off x="189345" y="648059"/>
            <a:ext cx="2091055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2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Kỹ</a:t>
            </a:r>
            <a:r>
              <a:rPr sz="12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Thuật</a:t>
            </a:r>
            <a:r>
              <a:rPr sz="12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2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47152845" name="object 25"/>
          <p:cNvSpPr txBox="1"/>
          <p:nvPr/>
        </p:nvSpPr>
        <p:spPr bwMode="auto">
          <a:xfrm>
            <a:off x="189345" y="936625"/>
            <a:ext cx="5635625" cy="52501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21615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20">
                <a:latin typeface="Calibri"/>
                <a:cs typeface="Calibri"/>
              </a:rPr>
              <a:t>Kế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thừa</a:t>
            </a:r>
            <a:r>
              <a:rPr sz="1100" spc="60">
                <a:latin typeface="Calibri"/>
                <a:cs typeface="Calibri"/>
              </a:rPr>
              <a:t> trọng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số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đã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được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huấn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luyện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trên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tập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 b="1" spc="65">
                <a:latin typeface="Calibri"/>
                <a:cs typeface="Calibri"/>
              </a:rPr>
              <a:t>ImageNet</a:t>
            </a:r>
            <a:r>
              <a:rPr sz="1100" b="1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khổng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lồ.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Đóng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băng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các </a:t>
            </a:r>
            <a:r>
              <a:rPr sz="1100">
                <a:latin typeface="Calibri"/>
                <a:cs typeface="Calibri"/>
              </a:rPr>
              <a:t>lớp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trích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xuất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đặc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trưng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để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giữ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lại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các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70">
                <a:latin typeface="Calibri"/>
                <a:cs typeface="Calibri"/>
              </a:rPr>
              <a:t>tri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thức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thị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giác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đã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học.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defRPr/>
            </a:pPr>
            <a:endParaRPr sz="1100">
              <a:latin typeface="Calibri"/>
              <a:cs typeface="Calibri"/>
            </a:endParaRPr>
          </a:p>
        </p:txBody>
      </p:sp>
      <p:pic>
        <p:nvPicPr>
          <p:cNvPr id="136147384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30557" y="1393825"/>
            <a:ext cx="2600796" cy="1205852"/>
          </a:xfrm>
          <a:prstGeom prst="rect">
            <a:avLst/>
          </a:prstGeom>
        </p:spPr>
      </p:pic>
      <p:sp>
        <p:nvSpPr>
          <p:cNvPr id="1492113721" name="TextBox 11"/>
          <p:cNvSpPr txBox="1"/>
          <p:nvPr/>
        </p:nvSpPr>
        <p:spPr bwMode="auto">
          <a:xfrm>
            <a:off x="1711756" y="2629217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">
                <a:latin typeface="Calibri"/>
                <a:cs typeface="Calibri"/>
              </a:rPr>
              <a:t>Bảng</a:t>
            </a:r>
            <a:r>
              <a:rPr lang="en-US" sz="1000">
                <a:latin typeface="Calibri"/>
                <a:cs typeface="Calibri"/>
              </a:rPr>
              <a:t> so </a:t>
            </a:r>
            <a:r>
              <a:rPr lang="en-US" sz="1000">
                <a:latin typeface="Calibri"/>
                <a:cs typeface="Calibri"/>
              </a:rPr>
              <a:t>sánh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giữa</a:t>
            </a:r>
            <a:r>
              <a:rPr lang="en-US" sz="1000">
                <a:latin typeface="Calibri"/>
                <a:cs typeface="Calibri"/>
              </a:rPr>
              <a:t> Train </a:t>
            </a:r>
            <a:r>
              <a:rPr lang="en-US" sz="1000">
                <a:latin typeface="Calibri"/>
                <a:cs typeface="Calibri"/>
              </a:rPr>
              <a:t>mô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hình</a:t>
            </a:r>
            <a:r>
              <a:rPr lang="en-US" sz="1000">
                <a:latin typeface="Calibri"/>
                <a:cs typeface="Calibri"/>
              </a:rPr>
              <a:t> CNN </a:t>
            </a:r>
            <a:r>
              <a:rPr lang="en-US" sz="1000">
                <a:latin typeface="Calibri"/>
                <a:cs typeface="Calibri"/>
              </a:rPr>
              <a:t>từ</a:t>
            </a:r>
            <a:r>
              <a:rPr lang="en-US" sz="1000">
                <a:latin typeface="Calibri"/>
                <a:cs typeface="Calibri"/>
              </a:rPr>
              <a:t> Scratch </a:t>
            </a:r>
            <a:r>
              <a:rPr lang="en-US" sz="1000">
                <a:latin typeface="Calibri"/>
                <a:cs typeface="Calibri"/>
              </a:rPr>
              <a:t>và</a:t>
            </a:r>
            <a:r>
              <a:rPr lang="en-US" sz="1000">
                <a:latin typeface="Calibri"/>
                <a:cs typeface="Calibri"/>
              </a:rPr>
              <a:t> Transfer Learning</a:t>
            </a:r>
            <a:endParaRPr lang="en-US"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29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6294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6294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06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05062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05062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5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47152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47152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4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614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921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6294424" grpId="0" animBg="1"/>
      <p:bldP spid="1605062041" grpId="0"/>
      <p:bldP spid="1647152845" grpId="0"/>
      <p:bldP spid="14921137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315214" name="object 2"/>
          <p:cNvSpPr txBox="1">
            <a:spLocks noGrp="1"/>
          </p:cNvSpPr>
          <p:nvPr>
            <p:ph type="title"/>
          </p:nvPr>
        </p:nvSpPr>
        <p:spPr bwMode="auto">
          <a:xfrm>
            <a:off x="977900" y="93233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Kiến</a:t>
            </a:r>
            <a:r>
              <a:rPr spc="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Trúc</a:t>
            </a:r>
            <a:r>
              <a:rPr spc="50">
                <a:latin typeface="Calibri"/>
                <a:cs typeface="Calibri"/>
              </a:rPr>
              <a:t> </a:t>
            </a:r>
            <a:r>
              <a:rPr spc="105">
                <a:latin typeface="Calibri"/>
                <a:cs typeface="Calibri"/>
              </a:rPr>
              <a:t>Mô</a:t>
            </a:r>
            <a:r>
              <a:rPr spc="55">
                <a:latin typeface="Calibri"/>
                <a:cs typeface="Calibri"/>
              </a:rPr>
              <a:t> Hình</a:t>
            </a:r>
            <a:r>
              <a:rPr spc="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Học</a:t>
            </a:r>
            <a:r>
              <a:rPr spc="55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Sâu</a:t>
            </a:r>
            <a:endParaRPr/>
          </a:p>
        </p:txBody>
      </p:sp>
      <p:sp>
        <p:nvSpPr>
          <p:cNvPr id="1809864804" name="object 10"/>
          <p:cNvSpPr/>
          <p:nvPr/>
        </p:nvSpPr>
        <p:spPr bwMode="auto">
          <a:xfrm>
            <a:off x="138544" y="655959"/>
            <a:ext cx="5584825" cy="216535"/>
          </a:xfrm>
          <a:custGeom>
            <a:avLst/>
            <a:gdLst/>
            <a:ahLst/>
            <a:cxnLst/>
            <a:rect l="l" t="t" r="r" b="b"/>
            <a:pathLst>
              <a:path w="5584825" h="216534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6149"/>
                </a:lnTo>
                <a:lnTo>
                  <a:pt x="5584584" y="216149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884453785" name="object 11"/>
          <p:cNvSpPr txBox="1"/>
          <p:nvPr/>
        </p:nvSpPr>
        <p:spPr bwMode="auto">
          <a:xfrm>
            <a:off x="189345" y="648059"/>
            <a:ext cx="2312555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3. Custom Head (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Đầu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ra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tùy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chỉnh</a:t>
            </a:r>
            <a:r>
              <a:rPr lang="en-US" sz="120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95225425" name="object 25"/>
          <p:cNvSpPr txBox="1"/>
          <p:nvPr/>
        </p:nvSpPr>
        <p:spPr bwMode="auto">
          <a:xfrm>
            <a:off x="3134985" y="1193949"/>
            <a:ext cx="2057400" cy="125309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21615">
              <a:lnSpc>
                <a:spcPct val="102600"/>
              </a:lnSpc>
              <a:spcBef>
                <a:spcPts val="55"/>
              </a:spcBef>
              <a:defRPr/>
            </a:pPr>
            <a:r>
              <a:rPr lang="en-US" sz="1100"/>
              <a:t> </a:t>
            </a:r>
            <a:r>
              <a:rPr lang="en-US" sz="1100"/>
              <a:t> </a:t>
            </a:r>
            <a:r>
              <a:rPr lang="en-US" sz="1100"/>
              <a:t>Lớp</a:t>
            </a:r>
            <a:r>
              <a:rPr lang="en-US" sz="1100"/>
              <a:t> Global Average Pooling. </a:t>
            </a:r>
            <a:endParaRPr/>
          </a:p>
          <a:p>
            <a:pPr marL="50800" marR="221615">
              <a:lnSpc>
                <a:spcPct val="102600"/>
              </a:lnSpc>
              <a:spcBef>
                <a:spcPts val="55"/>
              </a:spcBef>
              <a:defRPr/>
            </a:pPr>
            <a:r>
              <a:rPr lang="en-US" sz="1100"/>
              <a:t> </a:t>
            </a:r>
            <a:r>
              <a:rPr lang="en-US" sz="1100"/>
              <a:t> </a:t>
            </a:r>
            <a:r>
              <a:rPr lang="en-US" sz="1100"/>
              <a:t>Kỹ</a:t>
            </a:r>
            <a:r>
              <a:rPr lang="en-US" sz="1100"/>
              <a:t> </a:t>
            </a:r>
            <a:r>
              <a:rPr lang="en-US" sz="1100"/>
              <a:t>thuật</a:t>
            </a:r>
            <a:r>
              <a:rPr lang="en-US" sz="1100"/>
              <a:t> Dropout (0.3) </a:t>
            </a:r>
            <a:r>
              <a:rPr lang="en-US" sz="1100"/>
              <a:t>để</a:t>
            </a:r>
            <a:r>
              <a:rPr lang="en-US" sz="1100"/>
              <a:t> </a:t>
            </a:r>
            <a:r>
              <a:rPr lang="en-US" sz="1100"/>
              <a:t>hạn</a:t>
            </a:r>
            <a:r>
              <a:rPr lang="en-US" sz="1100"/>
              <a:t> </a:t>
            </a:r>
            <a:r>
              <a:rPr lang="en-US" sz="1100"/>
              <a:t>chế</a:t>
            </a:r>
            <a:r>
              <a:rPr lang="en-US" sz="1100"/>
              <a:t> Overfitting. </a:t>
            </a:r>
            <a:endParaRPr/>
          </a:p>
          <a:p>
            <a:pPr marL="50800" marR="221615">
              <a:lnSpc>
                <a:spcPct val="102600"/>
              </a:lnSpc>
              <a:spcBef>
                <a:spcPts val="55"/>
              </a:spcBef>
              <a:defRPr/>
            </a:pPr>
            <a:r>
              <a:rPr lang="en-US" sz="1100"/>
              <a:t> </a:t>
            </a:r>
            <a:r>
              <a:rPr lang="en-US" sz="1100"/>
              <a:t> </a:t>
            </a:r>
            <a:r>
              <a:rPr lang="en-US" sz="1100"/>
              <a:t>Lớp</a:t>
            </a:r>
            <a:r>
              <a:rPr lang="en-US" sz="1100"/>
              <a:t> Dense </a:t>
            </a:r>
            <a:r>
              <a:rPr lang="en-US" sz="1100"/>
              <a:t>kết</a:t>
            </a:r>
            <a:r>
              <a:rPr lang="en-US" sz="1100"/>
              <a:t> </a:t>
            </a:r>
            <a:r>
              <a:rPr lang="en-US" sz="1100"/>
              <a:t>thúc</a:t>
            </a:r>
            <a:r>
              <a:rPr lang="en-US" sz="1100"/>
              <a:t> </a:t>
            </a:r>
            <a:r>
              <a:rPr lang="en-US" sz="1100"/>
              <a:t>bằng</a:t>
            </a:r>
            <a:r>
              <a:rPr lang="en-US" sz="1100"/>
              <a:t> </a:t>
            </a:r>
            <a:r>
              <a:rPr lang="en-US" sz="1100"/>
              <a:t>hàm</a:t>
            </a:r>
            <a:r>
              <a:rPr lang="en-US" sz="1100"/>
              <a:t> </a:t>
            </a:r>
            <a:r>
              <a:rPr lang="en-US" sz="1100"/>
              <a:t>Softmax</a:t>
            </a:r>
            <a:r>
              <a:rPr lang="en-US" sz="1100"/>
              <a:t> </a:t>
            </a:r>
            <a:r>
              <a:rPr lang="en-US" sz="1100"/>
              <a:t>phân</a:t>
            </a:r>
            <a:r>
              <a:rPr lang="en-US" sz="1100"/>
              <a:t> </a:t>
            </a:r>
            <a:r>
              <a:rPr lang="en-US" sz="1100"/>
              <a:t>loại</a:t>
            </a:r>
            <a:r>
              <a:rPr lang="en-US" sz="1100"/>
              <a:t> 6 </a:t>
            </a:r>
            <a:r>
              <a:rPr lang="en-US" sz="1100"/>
              <a:t>nhãn</a:t>
            </a:r>
            <a:r>
              <a:rPr lang="en-US" sz="1100"/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22667933" name="object 3"/>
          <p:cNvPicPr/>
          <p:nvPr/>
        </p:nvPicPr>
        <p:blipFill rotWithShape="1">
          <a:blip r:embed="rId3"/>
          <a:stretch/>
        </p:blipFill>
        <p:spPr bwMode="auto">
          <a:xfrm>
            <a:off x="2959100" y="1248636"/>
            <a:ext cx="78714" cy="78714"/>
          </a:xfrm>
          <a:prstGeom prst="rect">
            <a:avLst/>
          </a:prstGeom>
        </p:spPr>
      </p:pic>
      <p:pic>
        <p:nvPicPr>
          <p:cNvPr id="1207420165" name="object 3"/>
          <p:cNvPicPr/>
          <p:nvPr/>
        </p:nvPicPr>
        <p:blipFill rotWithShape="1">
          <a:blip r:embed="rId3"/>
          <a:stretch/>
        </p:blipFill>
        <p:spPr bwMode="auto">
          <a:xfrm>
            <a:off x="2954788" y="1586147"/>
            <a:ext cx="78714" cy="78714"/>
          </a:xfrm>
          <a:prstGeom prst="rect">
            <a:avLst/>
          </a:prstGeom>
        </p:spPr>
      </p:pic>
      <p:pic>
        <p:nvPicPr>
          <p:cNvPr id="1181266105" name="object 3"/>
          <p:cNvPicPr/>
          <p:nvPr/>
        </p:nvPicPr>
        <p:blipFill rotWithShape="1">
          <a:blip r:embed="rId3"/>
          <a:stretch/>
        </p:blipFill>
        <p:spPr bwMode="auto">
          <a:xfrm>
            <a:off x="2954788" y="1946959"/>
            <a:ext cx="78714" cy="78714"/>
          </a:xfrm>
          <a:prstGeom prst="rect">
            <a:avLst/>
          </a:prstGeom>
        </p:spPr>
      </p:pic>
      <p:pic>
        <p:nvPicPr>
          <p:cNvPr id="148263714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6142" y="1089025"/>
            <a:ext cx="2057400" cy="1192274"/>
          </a:xfrm>
          <a:prstGeom prst="rect">
            <a:avLst/>
          </a:prstGeom>
        </p:spPr>
      </p:pic>
      <p:sp>
        <p:nvSpPr>
          <p:cNvPr id="392659452" name="TextBox 13"/>
          <p:cNvSpPr txBox="1"/>
          <p:nvPr/>
        </p:nvSpPr>
        <p:spPr bwMode="auto">
          <a:xfrm>
            <a:off x="292100" y="2342125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00">
                <a:latin typeface="Calibri"/>
                <a:cs typeface="Calibri"/>
              </a:rPr>
              <a:t>Workflow </a:t>
            </a:r>
            <a:r>
              <a:rPr lang="en-US" sz="1000">
                <a:latin typeface="Calibri"/>
                <a:cs typeface="Calibri"/>
              </a:rPr>
              <a:t>của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Mô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Hình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Huấn</a:t>
            </a:r>
            <a:r>
              <a:rPr lang="en-US" sz="1000">
                <a:latin typeface="Calibri"/>
                <a:cs typeface="Calibri"/>
              </a:rPr>
              <a:t> </a:t>
            </a:r>
            <a:r>
              <a:rPr lang="en-US" sz="1000">
                <a:latin typeface="Calibri"/>
                <a:cs typeface="Calibri"/>
              </a:rPr>
              <a:t>Luyện</a:t>
            </a:r>
            <a:endParaRPr lang="en-US"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86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986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986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22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9522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2266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4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074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26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8126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63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8263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65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265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9864804" grpId="0" animBg="1"/>
      <p:bldP spid="1695225425" grpId="0"/>
      <p:bldP spid="3926594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760255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50">
                <a:latin typeface="Calibri"/>
                <a:cs typeface="Calibri"/>
              </a:rPr>
              <a:t>Quá</a:t>
            </a:r>
            <a:r>
              <a:rPr spc="8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Trình</a:t>
            </a:r>
            <a:r>
              <a:rPr spc="85">
                <a:latin typeface="Calibri"/>
                <a:cs typeface="Calibri"/>
              </a:rPr>
              <a:t> </a:t>
            </a:r>
            <a:r>
              <a:rPr spc="75">
                <a:latin typeface="Calibri"/>
                <a:cs typeface="Calibri"/>
              </a:rPr>
              <a:t>Huấn</a:t>
            </a:r>
            <a:r>
              <a:rPr spc="8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Luyện</a:t>
            </a:r>
            <a:r>
              <a:rPr spc="80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(Callbacks)</a:t>
            </a:r>
            <a:endParaRPr/>
          </a:p>
        </p:txBody>
      </p:sp>
      <p:pic>
        <p:nvPicPr>
          <p:cNvPr id="1835438801" name="object 3"/>
          <p:cNvPicPr/>
          <p:nvPr/>
        </p:nvPicPr>
        <p:blipFill rotWithShape="1">
          <a:blip r:embed="rId3"/>
          <a:stretch/>
        </p:blipFill>
        <p:spPr bwMode="auto">
          <a:xfrm>
            <a:off x="267652" y="1117079"/>
            <a:ext cx="78714" cy="78714"/>
          </a:xfrm>
          <a:prstGeom prst="rect">
            <a:avLst/>
          </a:prstGeom>
        </p:spPr>
      </p:pic>
      <p:pic>
        <p:nvPicPr>
          <p:cNvPr id="1988731299" name="object 4"/>
          <p:cNvPicPr/>
          <p:nvPr/>
        </p:nvPicPr>
        <p:blipFill rotWithShape="1">
          <a:blip r:embed="rId4"/>
          <a:stretch/>
        </p:blipFill>
        <p:spPr bwMode="auto">
          <a:xfrm>
            <a:off x="267652" y="1571193"/>
            <a:ext cx="78714" cy="78714"/>
          </a:xfrm>
          <a:prstGeom prst="rect">
            <a:avLst/>
          </a:prstGeom>
        </p:spPr>
      </p:pic>
      <p:pic>
        <p:nvPicPr>
          <p:cNvPr id="113685435" name="object 5"/>
          <p:cNvPicPr/>
          <p:nvPr/>
        </p:nvPicPr>
        <p:blipFill rotWithShape="1">
          <a:blip r:embed="rId5"/>
          <a:stretch/>
        </p:blipFill>
        <p:spPr bwMode="auto">
          <a:xfrm>
            <a:off x="267652" y="2025294"/>
            <a:ext cx="78714" cy="78714"/>
          </a:xfrm>
          <a:prstGeom prst="rect">
            <a:avLst/>
          </a:prstGeom>
        </p:spPr>
      </p:pic>
      <p:sp>
        <p:nvSpPr>
          <p:cNvPr id="2057872282" name="object 6"/>
          <p:cNvSpPr txBox="1"/>
          <p:nvPr/>
        </p:nvSpPr>
        <p:spPr bwMode="auto">
          <a:xfrm>
            <a:off x="125844" y="657045"/>
            <a:ext cx="5440680" cy="20142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spc="55">
                <a:latin typeface="Calibri"/>
                <a:cs typeface="Calibri"/>
              </a:rPr>
              <a:t>Nhóm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sử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dụng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bộ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3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Callbacks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để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động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điều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hướng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quá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trình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học: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defRPr/>
            </a:pPr>
            <a:endParaRPr sz="1100">
              <a:latin typeface="Calibri"/>
              <a:cs typeface="Calibri"/>
            </a:endParaRPr>
          </a:p>
          <a:p>
            <a:pPr marL="289560" marR="86995">
              <a:lnSpc>
                <a:spcPct val="102600"/>
              </a:lnSpc>
              <a:defRPr/>
            </a:pPr>
            <a:r>
              <a:rPr sz="1100" b="1">
                <a:latin typeface="Calibri"/>
                <a:cs typeface="Calibri"/>
              </a:rPr>
              <a:t>EarlyStopping:</a:t>
            </a:r>
            <a:r>
              <a:rPr sz="1100" b="1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Dừng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sớm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huấn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luyện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nếu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80">
                <a:latin typeface="Calibri"/>
                <a:cs typeface="Calibri"/>
              </a:rPr>
              <a:t>val_loss</a:t>
            </a:r>
            <a:r>
              <a:rPr sz="1100" spc="10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không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giảm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sau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3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epoch, </a:t>
            </a:r>
            <a:r>
              <a:rPr sz="1100">
                <a:latin typeface="Calibri"/>
                <a:cs typeface="Calibri"/>
              </a:rPr>
              <a:t>phục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hồi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trọng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số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tốt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nhất.</a:t>
            </a:r>
            <a:endParaRPr sz="1100">
              <a:latin typeface="Calibri"/>
              <a:cs typeface="Calibri"/>
            </a:endParaRPr>
          </a:p>
          <a:p>
            <a:pPr marL="289560" marR="36830">
              <a:lnSpc>
                <a:spcPct val="102600"/>
              </a:lnSpc>
              <a:spcBef>
                <a:spcPts val="869"/>
              </a:spcBef>
              <a:defRPr/>
            </a:pPr>
            <a:r>
              <a:rPr sz="1100" b="1" spc="10">
                <a:latin typeface="Calibri"/>
                <a:cs typeface="Calibri"/>
              </a:rPr>
              <a:t>ModelCheckpoint:</a:t>
            </a:r>
            <a:r>
              <a:rPr sz="1100" b="1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Liên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tục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theo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dõi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và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lưu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lại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cấu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trúc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mô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hình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có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kết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10">
                <a:latin typeface="Calibri"/>
                <a:cs typeface="Calibri"/>
              </a:rPr>
              <a:t>quả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cao </a:t>
            </a:r>
            <a:r>
              <a:rPr sz="1100" spc="50">
                <a:latin typeface="Calibri"/>
                <a:cs typeface="Calibri"/>
              </a:rPr>
              <a:t>nhất</a:t>
            </a:r>
            <a:r>
              <a:rPr sz="1100" spc="1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trong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quá</a:t>
            </a:r>
            <a:r>
              <a:rPr sz="1100" spc="1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trình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chạy.</a:t>
            </a:r>
            <a:endParaRPr sz="1100">
              <a:latin typeface="Calibri"/>
              <a:cs typeface="Calibri"/>
            </a:endParaRPr>
          </a:p>
          <a:p>
            <a:pPr marL="289560" marR="5080">
              <a:lnSpc>
                <a:spcPct val="102699"/>
              </a:lnSpc>
              <a:spcBef>
                <a:spcPts val="865"/>
              </a:spcBef>
              <a:defRPr/>
            </a:pPr>
            <a:r>
              <a:rPr sz="1100" b="1">
                <a:latin typeface="Calibri"/>
                <a:cs typeface="Calibri"/>
              </a:rPr>
              <a:t>ReduceLROnPlateau:</a:t>
            </a:r>
            <a:r>
              <a:rPr sz="1100" b="1" spc="75">
                <a:latin typeface="Calibri"/>
                <a:cs typeface="Calibri"/>
              </a:rPr>
              <a:t> </a:t>
            </a:r>
            <a:r>
              <a:rPr sz="1100" spc="-70">
                <a:latin typeface="Calibri"/>
                <a:cs typeface="Calibri"/>
              </a:rPr>
              <a:t>Tự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động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giảm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Learning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rate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khi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mô </a:t>
            </a:r>
            <a:r>
              <a:rPr sz="1100">
                <a:latin typeface="Calibri"/>
                <a:cs typeface="Calibri"/>
              </a:rPr>
              <a:t>hình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có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dấu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hiệu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hội </a:t>
            </a:r>
            <a:r>
              <a:rPr sz="1100" spc="75">
                <a:latin typeface="Calibri"/>
                <a:cs typeface="Calibri"/>
              </a:rPr>
              <a:t>tụ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chậm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(loss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bão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hòa).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defRPr/>
            </a:pPr>
            <a:r>
              <a:rPr sz="1100" i="1">
                <a:latin typeface="Calibri"/>
                <a:cs typeface="Calibri"/>
              </a:rPr>
              <a:t>→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 spc="-45">
                <a:latin typeface="Calibri"/>
                <a:cs typeface="Calibri"/>
              </a:rPr>
              <a:t>Kết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quả: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Quá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trình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tối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ưu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thời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gian,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dừng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 spc="-20">
                <a:latin typeface="Calibri"/>
                <a:cs typeface="Calibri"/>
              </a:rPr>
              <a:t>sớm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ở</a:t>
            </a:r>
            <a:r>
              <a:rPr sz="1100" i="1" spc="-10">
                <a:latin typeface="Calibri"/>
                <a:cs typeface="Calibri"/>
              </a:rPr>
              <a:t> epoch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12</a:t>
            </a:r>
            <a:r>
              <a:rPr sz="1100" i="1" spc="-1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thay</a:t>
            </a:r>
            <a:r>
              <a:rPr sz="1100" i="1" spc="-15">
                <a:latin typeface="Calibri"/>
                <a:cs typeface="Calibri"/>
              </a:rPr>
              <a:t> </a:t>
            </a:r>
            <a:r>
              <a:rPr sz="1100" i="1" spc="-10">
                <a:latin typeface="Calibri"/>
                <a:cs typeface="Calibri"/>
              </a:rPr>
              <a:t>vì </a:t>
            </a:r>
            <a:r>
              <a:rPr sz="1100" i="1" spc="-25">
                <a:latin typeface="Calibri"/>
                <a:cs typeface="Calibri"/>
              </a:rPr>
              <a:t>50.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76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576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7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787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5760255" grpId="0"/>
      <p:bldP spid="20578722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843810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Kết</a:t>
            </a:r>
            <a:r>
              <a:rPr spc="40">
                <a:latin typeface="Calibri"/>
                <a:cs typeface="Calibri"/>
              </a:rPr>
              <a:t> </a:t>
            </a:r>
            <a:r>
              <a:rPr spc="50">
                <a:latin typeface="Calibri"/>
                <a:cs typeface="Calibri"/>
              </a:rPr>
              <a:t>Quả</a:t>
            </a:r>
            <a:r>
              <a:rPr spc="40">
                <a:latin typeface="Calibri"/>
                <a:cs typeface="Calibri"/>
              </a:rPr>
              <a:t> </a:t>
            </a:r>
            <a:r>
              <a:rPr spc="65">
                <a:latin typeface="Calibri"/>
                <a:cs typeface="Calibri"/>
              </a:rPr>
              <a:t>Đánh</a:t>
            </a:r>
            <a:r>
              <a:rPr spc="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Giá</a:t>
            </a:r>
            <a:r>
              <a:rPr spc="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Tổng</a:t>
            </a:r>
            <a:r>
              <a:rPr spc="40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Thể</a:t>
            </a:r>
            <a:endParaRPr/>
          </a:p>
        </p:txBody>
      </p:sp>
      <p:sp>
        <p:nvSpPr>
          <p:cNvPr id="307180943" name="object 5"/>
          <p:cNvSpPr txBox="1">
            <a:spLocks noGrp="1"/>
          </p:cNvSpPr>
          <p:nvPr>
            <p:ph idx="1"/>
          </p:nvPr>
        </p:nvSpPr>
        <p:spPr bwMode="auto">
          <a:xfrm>
            <a:off x="2654300" y="998110"/>
            <a:ext cx="2786423" cy="10279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0" marR="53340" indent="0">
              <a:lnSpc>
                <a:spcPct val="102699"/>
              </a:lnSpc>
              <a:spcBef>
                <a:spcPts val="55"/>
              </a:spcBef>
              <a:buNone/>
              <a:defRPr/>
            </a:pPr>
            <a:r>
              <a:rPr lang="en-US" b="1">
                <a:latin typeface="Calibri"/>
                <a:cs typeface="Calibri"/>
              </a:rPr>
              <a:t>	</a:t>
            </a:r>
            <a:r>
              <a:rPr b="1">
                <a:latin typeface="Calibri"/>
                <a:cs typeface="Calibri"/>
              </a:rPr>
              <a:t>Độ</a:t>
            </a:r>
            <a:r>
              <a:rPr b="1" spc="40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hội</a:t>
            </a:r>
            <a:r>
              <a:rPr b="1" spc="40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tụ:</a:t>
            </a:r>
            <a:r>
              <a:rPr b="1" spc="45">
                <a:latin typeface="Calibri"/>
                <a:cs typeface="Calibri"/>
              </a:rPr>
              <a:t> </a:t>
            </a:r>
            <a:r>
              <a:rPr spc="60">
                <a:latin typeface="Calibri"/>
                <a:cs typeface="Calibri"/>
              </a:rPr>
              <a:t>Mô</a:t>
            </a:r>
            <a:r>
              <a:rPr spc="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hình</a:t>
            </a:r>
            <a:r>
              <a:rPr spc="45">
                <a:latin typeface="Calibri"/>
                <a:cs typeface="Calibri"/>
              </a:rPr>
              <a:t> </a:t>
            </a:r>
            <a:r>
              <a:rPr spc="50">
                <a:latin typeface="Calibri"/>
                <a:cs typeface="Calibri"/>
              </a:rPr>
              <a:t>đạt</a:t>
            </a:r>
            <a:r>
              <a:rPr spc="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kết</a:t>
            </a:r>
            <a:r>
              <a:rPr spc="4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quả</a:t>
            </a:r>
            <a:r>
              <a:rPr spc="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xuất</a:t>
            </a:r>
            <a:r>
              <a:rPr spc="45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sắc</a:t>
            </a:r>
            <a:r>
              <a:rPr spc="40">
                <a:latin typeface="Calibri"/>
                <a:cs typeface="Calibri"/>
              </a:rPr>
              <a:t> </a:t>
            </a:r>
            <a:r>
              <a:rPr spc="30">
                <a:latin typeface="Calibri"/>
                <a:cs typeface="Calibri"/>
              </a:rPr>
              <a:t>trên </a:t>
            </a:r>
            <a:r>
              <a:rPr>
                <a:latin typeface="Calibri"/>
                <a:cs typeface="Calibri"/>
              </a:rPr>
              <a:t>tập</a:t>
            </a:r>
            <a:r>
              <a:rPr spc="12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kiểm</a:t>
            </a:r>
            <a:r>
              <a:rPr spc="12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thử</a:t>
            </a:r>
            <a:r>
              <a:rPr spc="125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tĩnh.</a:t>
            </a:r>
            <a:endParaRPr/>
          </a:p>
          <a:p>
            <a:pPr marL="0" marR="216535" indent="0">
              <a:lnSpc>
                <a:spcPct val="102600"/>
              </a:lnSpc>
              <a:spcBef>
                <a:spcPts val="300"/>
              </a:spcBef>
              <a:buNone/>
              <a:defRPr/>
            </a:pPr>
            <a:r>
              <a:rPr lang="en-US" b="1" spc="55">
                <a:latin typeface="Calibri"/>
                <a:cs typeface="Calibri"/>
              </a:rPr>
              <a:t>	</a:t>
            </a:r>
            <a:r>
              <a:rPr b="1" spc="55">
                <a:latin typeface="Calibri"/>
                <a:cs typeface="Calibri"/>
              </a:rPr>
              <a:t>Hàm</a:t>
            </a:r>
            <a:r>
              <a:rPr b="1" spc="20">
                <a:latin typeface="Calibri"/>
                <a:cs typeface="Calibri"/>
              </a:rPr>
              <a:t> </a:t>
            </a:r>
            <a:r>
              <a:rPr b="1" spc="80">
                <a:latin typeface="Calibri"/>
                <a:cs typeface="Calibri"/>
              </a:rPr>
              <a:t>mất</a:t>
            </a:r>
            <a:r>
              <a:rPr b="1" spc="20">
                <a:latin typeface="Calibri"/>
                <a:cs typeface="Calibri"/>
              </a:rPr>
              <a:t> </a:t>
            </a:r>
            <a:r>
              <a:rPr b="1" spc="80">
                <a:latin typeface="Calibri"/>
                <a:cs typeface="Calibri"/>
              </a:rPr>
              <a:t>mát</a:t>
            </a:r>
            <a:r>
              <a:rPr b="1" spc="25">
                <a:latin typeface="Calibri"/>
                <a:cs typeface="Calibri"/>
              </a:rPr>
              <a:t> </a:t>
            </a:r>
            <a:r>
              <a:rPr b="1" spc="-35">
                <a:latin typeface="Calibri"/>
                <a:cs typeface="Calibri"/>
              </a:rPr>
              <a:t>(Loss):</a:t>
            </a:r>
            <a:r>
              <a:rPr b="1" spc="20">
                <a:latin typeface="Calibri"/>
                <a:cs typeface="Calibri"/>
              </a:rPr>
              <a:t> </a:t>
            </a:r>
            <a:r>
              <a:rPr spc="-20">
                <a:latin typeface="Calibri"/>
                <a:cs typeface="Calibri"/>
              </a:rPr>
              <a:t>Tối</a:t>
            </a:r>
            <a:r>
              <a:rPr spc="2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thiểu</a:t>
            </a:r>
            <a:r>
              <a:rPr spc="2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hóa</a:t>
            </a:r>
            <a:r>
              <a:rPr spc="25">
                <a:latin typeface="Calibri"/>
                <a:cs typeface="Calibri"/>
              </a:rPr>
              <a:t> </a:t>
            </a:r>
            <a:r>
              <a:rPr spc="45">
                <a:latin typeface="Calibri"/>
                <a:cs typeface="Calibri"/>
              </a:rPr>
              <a:t>thành </a:t>
            </a:r>
            <a:r>
              <a:rPr>
                <a:latin typeface="Calibri"/>
                <a:cs typeface="Calibri"/>
              </a:rPr>
              <a:t>công,</a:t>
            </a:r>
            <a:r>
              <a:rPr spc="45">
                <a:latin typeface="Calibri"/>
                <a:cs typeface="Calibri"/>
              </a:rPr>
              <a:t> </a:t>
            </a:r>
            <a:r>
              <a:rPr spc="50">
                <a:latin typeface="Calibri"/>
                <a:cs typeface="Calibri"/>
              </a:rPr>
              <a:t>đạt </a:t>
            </a:r>
            <a:r>
              <a:rPr>
                <a:latin typeface="Calibri"/>
                <a:cs typeface="Calibri"/>
              </a:rPr>
              <a:t>mức</a:t>
            </a:r>
            <a:r>
              <a:rPr spc="50">
                <a:latin typeface="Calibri"/>
                <a:cs typeface="Calibri"/>
              </a:rPr>
              <a:t> rất </a:t>
            </a:r>
            <a:r>
              <a:rPr>
                <a:latin typeface="Calibri"/>
                <a:cs typeface="Calibri"/>
              </a:rPr>
              <a:t>thấp:</a:t>
            </a:r>
            <a:r>
              <a:rPr spc="50">
                <a:latin typeface="Calibri"/>
                <a:cs typeface="Calibri"/>
              </a:rPr>
              <a:t> </a:t>
            </a:r>
            <a:r>
              <a:rPr b="1" spc="-10">
                <a:latin typeface="Calibri"/>
                <a:cs typeface="Calibri"/>
              </a:rPr>
              <a:t>0.2080</a:t>
            </a:r>
            <a:r>
              <a:rPr spc="-10">
                <a:latin typeface="Calibri"/>
                <a:cs typeface="Calibri"/>
              </a:rPr>
              <a:t>.</a:t>
            </a:r>
            <a:endParaRPr/>
          </a:p>
          <a:p>
            <a:pPr marL="0" marR="5080" indent="0">
              <a:lnSpc>
                <a:spcPct val="102600"/>
              </a:lnSpc>
              <a:spcBef>
                <a:spcPts val="300"/>
              </a:spcBef>
              <a:buNone/>
              <a:defRPr/>
            </a:pPr>
            <a:r>
              <a:rPr lang="en-US" b="1" spc="-35">
                <a:latin typeface="Calibri"/>
                <a:cs typeface="Calibri"/>
              </a:rPr>
              <a:t>	</a:t>
            </a:r>
            <a:r>
              <a:rPr b="1" spc="-35">
                <a:latin typeface="Calibri"/>
                <a:cs typeface="Calibri"/>
              </a:rPr>
              <a:t>F1-</a:t>
            </a:r>
            <a:r>
              <a:rPr b="1" spc="-20">
                <a:latin typeface="Calibri"/>
                <a:cs typeface="Calibri"/>
              </a:rPr>
              <a:t>Score</a:t>
            </a:r>
            <a:r>
              <a:rPr b="1" spc="45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tổng</a:t>
            </a:r>
            <a:r>
              <a:rPr b="1" spc="45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thể:</a:t>
            </a:r>
            <a:r>
              <a:rPr b="1" spc="4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Đạt</a:t>
            </a:r>
            <a:r>
              <a:rPr spc="45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0.93</a:t>
            </a:r>
            <a:r>
              <a:rPr b="1" spc="45">
                <a:latin typeface="Calibri"/>
                <a:cs typeface="Calibri"/>
              </a:rPr>
              <a:t> </a:t>
            </a:r>
            <a:r>
              <a:rPr spc="50">
                <a:latin typeface="Calibri"/>
                <a:cs typeface="Calibri"/>
              </a:rPr>
              <a:t>trên</a:t>
            </a:r>
            <a:r>
              <a:rPr spc="4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quy</a:t>
            </a:r>
            <a:r>
              <a:rPr spc="45">
                <a:latin typeface="Calibri"/>
                <a:cs typeface="Calibri"/>
              </a:rPr>
              <a:t> </a:t>
            </a:r>
            <a:r>
              <a:rPr spc="75">
                <a:latin typeface="Calibri"/>
                <a:cs typeface="Calibri"/>
              </a:rPr>
              <a:t>mô</a:t>
            </a:r>
            <a:r>
              <a:rPr spc="45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gần </a:t>
            </a:r>
            <a:r>
              <a:rPr>
                <a:latin typeface="Calibri"/>
                <a:cs typeface="Calibri"/>
              </a:rPr>
              <a:t>3,000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ảnh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kiểm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thử,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chứng</a:t>
            </a:r>
            <a:r>
              <a:rPr spc="70">
                <a:latin typeface="Calibri"/>
                <a:cs typeface="Calibri"/>
              </a:rPr>
              <a:t> </a:t>
            </a:r>
            <a:r>
              <a:rPr spc="55">
                <a:latin typeface="Calibri"/>
                <a:cs typeface="Calibri"/>
              </a:rPr>
              <a:t>minh</a:t>
            </a:r>
            <a:r>
              <a:rPr spc="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khả</a:t>
            </a:r>
            <a:r>
              <a:rPr spc="70">
                <a:latin typeface="Calibri"/>
                <a:cs typeface="Calibri"/>
              </a:rPr>
              <a:t> </a:t>
            </a:r>
            <a:r>
              <a:rPr spc="-20">
                <a:latin typeface="Calibri"/>
                <a:cs typeface="Calibri"/>
              </a:rPr>
              <a:t>năng </a:t>
            </a:r>
            <a:r>
              <a:rPr>
                <a:latin typeface="Calibri"/>
                <a:cs typeface="Calibri"/>
              </a:rPr>
              <a:t>hoạt</a:t>
            </a:r>
            <a:r>
              <a:rPr spc="35">
                <a:latin typeface="Calibri"/>
                <a:cs typeface="Calibri"/>
              </a:rPr>
              <a:t> </a:t>
            </a:r>
            <a:r>
              <a:rPr spc="55">
                <a:latin typeface="Calibri"/>
                <a:cs typeface="Calibri"/>
              </a:rPr>
              <a:t>động</a:t>
            </a:r>
            <a:r>
              <a:rPr spc="40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cực</a:t>
            </a:r>
            <a:r>
              <a:rPr spc="3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kỳ</a:t>
            </a:r>
            <a:r>
              <a:rPr spc="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đáng</a:t>
            </a:r>
            <a:r>
              <a:rPr spc="40">
                <a:latin typeface="Calibri"/>
                <a:cs typeface="Calibri"/>
              </a:rPr>
              <a:t> </a:t>
            </a:r>
            <a:r>
              <a:rPr spc="60">
                <a:latin typeface="Calibri"/>
                <a:cs typeface="Calibri"/>
              </a:rPr>
              <a:t>tin</a:t>
            </a:r>
            <a:r>
              <a:rPr spc="35">
                <a:latin typeface="Calibri"/>
                <a:cs typeface="Calibri"/>
              </a:rPr>
              <a:t> </a:t>
            </a:r>
            <a:r>
              <a:rPr spc="-20">
                <a:latin typeface="Calibri"/>
                <a:cs typeface="Calibri"/>
              </a:rPr>
              <a:t>cậy.</a:t>
            </a:r>
            <a:endParaRPr/>
          </a:p>
        </p:txBody>
      </p:sp>
      <p:sp>
        <p:nvSpPr>
          <p:cNvPr id="1779905552" name="object 3"/>
          <p:cNvSpPr txBox="1"/>
          <p:nvPr/>
        </p:nvSpPr>
        <p:spPr bwMode="auto">
          <a:xfrm>
            <a:off x="749300" y="1068768"/>
            <a:ext cx="1406525" cy="6756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  <a:defRPr/>
            </a:pPr>
            <a:r>
              <a:rPr sz="2450" b="1" spc="-10">
                <a:solidFill>
                  <a:srgbClr val="0000FF"/>
                </a:solidFill>
                <a:latin typeface="Calibri"/>
                <a:cs typeface="Calibri"/>
              </a:rPr>
              <a:t>92.7%</a:t>
            </a:r>
            <a:endParaRPr sz="24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  <a:defRPr/>
            </a:pPr>
            <a:r>
              <a:rPr sz="1200" spc="10">
                <a:latin typeface="Calibri"/>
                <a:cs typeface="Calibri"/>
              </a:rPr>
              <a:t>Validation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36661820" name="object 4"/>
          <p:cNvPicPr/>
          <p:nvPr/>
        </p:nvPicPr>
        <p:blipFill rotWithShape="1">
          <a:blip r:embed="rId3"/>
          <a:stretch/>
        </p:blipFill>
        <p:spPr bwMode="auto">
          <a:xfrm>
            <a:off x="2506954" y="1029411"/>
            <a:ext cx="78714" cy="78714"/>
          </a:xfrm>
          <a:prstGeom prst="rect">
            <a:avLst/>
          </a:prstGeom>
        </p:spPr>
      </p:pic>
      <p:pic>
        <p:nvPicPr>
          <p:cNvPr id="119531089" name="object 6"/>
          <p:cNvPicPr/>
          <p:nvPr/>
        </p:nvPicPr>
        <p:blipFill rotWithShape="1">
          <a:blip r:embed="rId4"/>
          <a:stretch/>
        </p:blipFill>
        <p:spPr bwMode="auto">
          <a:xfrm>
            <a:off x="2501913" y="1337413"/>
            <a:ext cx="78714" cy="78714"/>
          </a:xfrm>
          <a:prstGeom prst="rect">
            <a:avLst/>
          </a:prstGeom>
        </p:spPr>
      </p:pic>
      <p:pic>
        <p:nvPicPr>
          <p:cNvPr id="503130973" name="object 7"/>
          <p:cNvPicPr/>
          <p:nvPr/>
        </p:nvPicPr>
        <p:blipFill rotWithShape="1">
          <a:blip r:embed="rId5"/>
          <a:stretch/>
        </p:blipFill>
        <p:spPr bwMode="auto">
          <a:xfrm>
            <a:off x="2506954" y="1645415"/>
            <a:ext cx="78714" cy="787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84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3684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80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7180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80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7180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80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7180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9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7990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666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95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13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0313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6843810" grpId="0"/>
      <p:bldP spid="307180943" grpId="0" build="p"/>
      <p:bldP spid="17799055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02079" name="object 2"/>
          <p:cNvSpPr txBox="1">
            <a:spLocks noGrp="1"/>
          </p:cNvSpPr>
          <p:nvPr>
            <p:ph type="title"/>
          </p:nvPr>
        </p:nvSpPr>
        <p:spPr bwMode="auto">
          <a:xfrm>
            <a:off x="1206500" y="12062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>
                <a:latin typeface="Calibri"/>
                <a:cs typeface="Calibri"/>
              </a:rPr>
              <a:t>Phân</a:t>
            </a:r>
            <a:r>
              <a:rPr spc="1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Tích</a:t>
            </a:r>
            <a:r>
              <a:rPr spc="1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Chỉ</a:t>
            </a:r>
            <a:r>
              <a:rPr spc="1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Số</a:t>
            </a:r>
            <a:r>
              <a:rPr spc="1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F1-Score</a:t>
            </a:r>
            <a:r>
              <a:rPr spc="1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(Chi</a:t>
            </a:r>
            <a:r>
              <a:rPr spc="15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Tiết)</a:t>
            </a:r>
            <a:endParaRPr/>
          </a:p>
        </p:txBody>
      </p:sp>
      <p:pic>
        <p:nvPicPr>
          <p:cNvPr id="2014593326" name="object 3"/>
          <p:cNvPicPr/>
          <p:nvPr/>
        </p:nvPicPr>
        <p:blipFill rotWithShape="1">
          <a:blip r:embed="rId3"/>
          <a:stretch/>
        </p:blipFill>
        <p:spPr bwMode="auto">
          <a:xfrm>
            <a:off x="825500" y="795806"/>
            <a:ext cx="78714" cy="78714"/>
          </a:xfrm>
          <a:prstGeom prst="rect">
            <a:avLst/>
          </a:prstGeom>
        </p:spPr>
      </p:pic>
      <p:pic>
        <p:nvPicPr>
          <p:cNvPr id="928016050" name="object 4"/>
          <p:cNvPicPr/>
          <p:nvPr/>
        </p:nvPicPr>
        <p:blipFill rotWithShape="1">
          <a:blip r:embed="rId4"/>
          <a:stretch/>
        </p:blipFill>
        <p:spPr bwMode="auto">
          <a:xfrm>
            <a:off x="825500" y="1005837"/>
            <a:ext cx="78714" cy="78714"/>
          </a:xfrm>
          <a:prstGeom prst="rect">
            <a:avLst/>
          </a:prstGeom>
        </p:spPr>
      </p:pic>
      <p:pic>
        <p:nvPicPr>
          <p:cNvPr id="712737557" name="object 5"/>
          <p:cNvPicPr/>
          <p:nvPr/>
        </p:nvPicPr>
        <p:blipFill rotWithShape="1">
          <a:blip r:embed="rId5"/>
          <a:stretch/>
        </p:blipFill>
        <p:spPr bwMode="auto">
          <a:xfrm>
            <a:off x="825500" y="1215871"/>
            <a:ext cx="78714" cy="78714"/>
          </a:xfrm>
          <a:prstGeom prst="rect">
            <a:avLst/>
          </a:prstGeom>
        </p:spPr>
      </p:pic>
      <p:pic>
        <p:nvPicPr>
          <p:cNvPr id="2105396245" name="object 6"/>
          <p:cNvPicPr/>
          <p:nvPr/>
        </p:nvPicPr>
        <p:blipFill rotWithShape="1">
          <a:blip r:embed="rId6"/>
          <a:stretch/>
        </p:blipFill>
        <p:spPr bwMode="auto">
          <a:xfrm>
            <a:off x="825500" y="1425902"/>
            <a:ext cx="78714" cy="78714"/>
          </a:xfrm>
          <a:prstGeom prst="rect">
            <a:avLst/>
          </a:prstGeom>
        </p:spPr>
      </p:pic>
      <p:pic>
        <p:nvPicPr>
          <p:cNvPr id="635613281" name="object 7"/>
          <p:cNvPicPr/>
          <p:nvPr/>
        </p:nvPicPr>
        <p:blipFill rotWithShape="1">
          <a:blip r:embed="rId7"/>
          <a:stretch/>
        </p:blipFill>
        <p:spPr bwMode="auto">
          <a:xfrm>
            <a:off x="825500" y="1635936"/>
            <a:ext cx="78714" cy="78714"/>
          </a:xfrm>
          <a:prstGeom prst="rect">
            <a:avLst/>
          </a:prstGeom>
        </p:spPr>
      </p:pic>
      <p:pic>
        <p:nvPicPr>
          <p:cNvPr id="1721763219" name="object 8"/>
          <p:cNvPicPr/>
          <p:nvPr/>
        </p:nvPicPr>
        <p:blipFill rotWithShape="1">
          <a:blip r:embed="rId8"/>
          <a:stretch/>
        </p:blipFill>
        <p:spPr bwMode="auto">
          <a:xfrm>
            <a:off x="825500" y="1845969"/>
            <a:ext cx="78714" cy="78714"/>
          </a:xfrm>
          <a:prstGeom prst="rect">
            <a:avLst/>
          </a:prstGeom>
        </p:spPr>
      </p:pic>
      <p:sp>
        <p:nvSpPr>
          <p:cNvPr id="1792444397" name="object 9"/>
          <p:cNvSpPr txBox="1"/>
          <p:nvPr/>
        </p:nvSpPr>
        <p:spPr bwMode="auto">
          <a:xfrm>
            <a:off x="749300" y="425740"/>
            <a:ext cx="4419600" cy="15619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>
                <a:latin typeface="Calibri"/>
                <a:cs typeface="Calibri"/>
              </a:rPr>
              <a:t>Đánh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giá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hiệu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năng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dự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đoán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chi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tiết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trên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từng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nhãn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phân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loại: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185"/>
              </a:spcBef>
              <a:defRPr/>
            </a:pPr>
            <a:r>
              <a:rPr sz="1100" b="1">
                <a:latin typeface="Calibri"/>
                <a:cs typeface="Calibri"/>
              </a:rPr>
              <a:t>Without</a:t>
            </a:r>
            <a:r>
              <a:rPr sz="1100" b="1" spc="10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Mask</a:t>
            </a:r>
            <a:r>
              <a:rPr sz="1100" b="1" spc="10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(Simple):</a:t>
            </a:r>
            <a:r>
              <a:rPr sz="1100" b="1" spc="10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97%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</a:t>
            </a:r>
            <a:r>
              <a:rPr sz="1100">
                <a:latin typeface="Calibri"/>
                <a:cs typeface="Calibri"/>
              </a:rPr>
              <a:t>Nhận</a:t>
            </a:r>
            <a:r>
              <a:rPr sz="1100" spc="10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diện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tuyệt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vời</a:t>
            </a:r>
            <a:r>
              <a:rPr sz="1100" spc="-2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289560" marR="1503680">
              <a:lnSpc>
                <a:spcPct val="125299"/>
              </a:lnSpc>
              <a:defRPr/>
            </a:pPr>
            <a:r>
              <a:rPr sz="1100" b="1">
                <a:latin typeface="Calibri"/>
                <a:cs typeface="Calibri"/>
              </a:rPr>
              <a:t>With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Mask</a:t>
            </a:r>
            <a:r>
              <a:rPr sz="1100" b="1" spc="8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(Simple):</a:t>
            </a:r>
            <a:r>
              <a:rPr sz="1100" b="1" spc="8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95% </a:t>
            </a:r>
            <a:endParaRPr lang="en-US" sz="1100" spc="-25">
              <a:latin typeface="Calibri"/>
              <a:cs typeface="Calibri"/>
            </a:endParaRPr>
          </a:p>
          <a:p>
            <a:pPr marL="289560" marR="1503680">
              <a:lnSpc>
                <a:spcPct val="125299"/>
              </a:lnSpc>
              <a:defRPr/>
            </a:pPr>
            <a:r>
              <a:rPr sz="1100" b="1" spc="10">
                <a:latin typeface="Calibri"/>
                <a:cs typeface="Calibri"/>
              </a:rPr>
              <a:t>Incorrect</a:t>
            </a:r>
            <a:r>
              <a:rPr sz="1100" b="1" spc="6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Mask</a:t>
            </a:r>
            <a:r>
              <a:rPr sz="1100" b="1" spc="7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</a:t>
            </a:r>
            <a:r>
              <a:rPr sz="1100" b="1">
                <a:latin typeface="Calibri"/>
                <a:cs typeface="Calibri"/>
              </a:rPr>
              <a:t>Che</a:t>
            </a:r>
            <a:r>
              <a:rPr sz="1100" b="1" spc="70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miệng</a:t>
            </a:r>
            <a:r>
              <a:rPr sz="1100" b="1" spc="10">
                <a:latin typeface="Calibri"/>
                <a:cs typeface="Calibri"/>
              </a:rPr>
              <a:t>):</a:t>
            </a:r>
            <a:r>
              <a:rPr sz="1100" b="1" spc="6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91% </a:t>
            </a:r>
            <a:endParaRPr lang="en-US" sz="1100" spc="-25">
              <a:latin typeface="Calibri"/>
              <a:cs typeface="Calibri"/>
            </a:endParaRPr>
          </a:p>
          <a:p>
            <a:pPr marL="289560" marR="1503680">
              <a:lnSpc>
                <a:spcPct val="125299"/>
              </a:lnSpc>
              <a:defRPr/>
            </a:pPr>
            <a:r>
              <a:rPr sz="1100" b="1" spc="10">
                <a:latin typeface="Calibri"/>
                <a:cs typeface="Calibri"/>
              </a:rPr>
              <a:t>Incorrect</a:t>
            </a:r>
            <a:r>
              <a:rPr sz="1100" b="1" spc="55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Mask</a:t>
            </a:r>
            <a:r>
              <a:rPr sz="1100" b="1" spc="6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</a:t>
            </a:r>
            <a:r>
              <a:rPr sz="1100" b="1">
                <a:latin typeface="Calibri"/>
                <a:cs typeface="Calibri"/>
              </a:rPr>
              <a:t>Lệch</a:t>
            </a:r>
            <a:r>
              <a:rPr sz="1100" b="1" spc="60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mũi</a:t>
            </a:r>
            <a:r>
              <a:rPr sz="1100" b="1" spc="10">
                <a:latin typeface="Calibri"/>
                <a:cs typeface="Calibri"/>
              </a:rPr>
              <a:t>):</a:t>
            </a:r>
            <a:r>
              <a:rPr sz="1100" b="1" spc="6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89% </a:t>
            </a:r>
            <a:endParaRPr lang="en-US" sz="1100" spc="-25">
              <a:latin typeface="Calibri"/>
              <a:cs typeface="Calibri"/>
            </a:endParaRPr>
          </a:p>
          <a:p>
            <a:pPr marL="289560" marR="1503680">
              <a:lnSpc>
                <a:spcPct val="125299"/>
              </a:lnSpc>
              <a:defRPr/>
            </a:pPr>
            <a:r>
              <a:rPr sz="1100" b="1" spc="10">
                <a:latin typeface="Calibri"/>
                <a:cs typeface="Calibri"/>
              </a:rPr>
              <a:t>Without</a:t>
            </a:r>
            <a:r>
              <a:rPr sz="1100" b="1" spc="90">
                <a:latin typeface="Calibri"/>
                <a:cs typeface="Calibri"/>
              </a:rPr>
              <a:t> </a:t>
            </a:r>
            <a:r>
              <a:rPr sz="1100" b="1" spc="10">
                <a:latin typeface="Calibri"/>
                <a:cs typeface="Calibri"/>
              </a:rPr>
              <a:t>Mask</a:t>
            </a:r>
            <a:r>
              <a:rPr sz="1100" b="1" spc="9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(Complex):</a:t>
            </a:r>
            <a:r>
              <a:rPr sz="1100" b="1" spc="9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83% </a:t>
            </a:r>
            <a:endParaRPr lang="en-US" sz="1100" spc="-25">
              <a:latin typeface="Calibri"/>
              <a:cs typeface="Calibri"/>
            </a:endParaRPr>
          </a:p>
          <a:p>
            <a:pPr marL="289560" marR="1503680">
              <a:lnSpc>
                <a:spcPct val="125299"/>
              </a:lnSpc>
              <a:defRPr/>
            </a:pPr>
            <a:r>
              <a:rPr sz="1100" b="1">
                <a:latin typeface="Calibri"/>
                <a:cs typeface="Calibri"/>
              </a:rPr>
              <a:t>With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Mask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(Complex):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81%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6693163" name="object 10"/>
          <p:cNvSpPr/>
          <p:nvPr/>
        </p:nvSpPr>
        <p:spPr bwMode="auto">
          <a:xfrm>
            <a:off x="87743" y="2273299"/>
            <a:ext cx="5584825" cy="207010"/>
          </a:xfrm>
          <a:custGeom>
            <a:avLst/>
            <a:gdLst/>
            <a:ahLst/>
            <a:cxnLst/>
            <a:rect l="l" t="t" r="r" b="b"/>
            <a:pathLst>
              <a:path w="5584825" h="207010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432"/>
                </a:lnTo>
                <a:lnTo>
                  <a:pt x="5584584" y="206432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71885273" name="object 11"/>
          <p:cNvSpPr txBox="1"/>
          <p:nvPr/>
        </p:nvSpPr>
        <p:spPr bwMode="auto">
          <a:xfrm>
            <a:off x="138544" y="2265386"/>
            <a:ext cx="645795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Nhận</a:t>
            </a:r>
            <a:r>
              <a:rPr sz="12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xét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5837220" name="object 16"/>
          <p:cNvSpPr txBox="1"/>
          <p:nvPr/>
        </p:nvSpPr>
        <p:spPr bwMode="auto">
          <a:xfrm>
            <a:off x="138544" y="2507753"/>
            <a:ext cx="5584825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295274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55">
                <a:latin typeface="Calibri"/>
                <a:cs typeface="Calibri"/>
              </a:rPr>
              <a:t>Các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65">
                <a:latin typeface="Calibri"/>
                <a:cs typeface="Calibri"/>
              </a:rPr>
              <a:t>nhóm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”Complex”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(Góc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nghiêng,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che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khuất)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có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giảm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nhẹ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do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nhiễu</a:t>
            </a:r>
            <a:r>
              <a:rPr sz="1100" spc="7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môi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trường, </a:t>
            </a:r>
            <a:r>
              <a:rPr sz="1100">
                <a:latin typeface="Calibri"/>
                <a:cs typeface="Calibri"/>
              </a:rPr>
              <a:t>nhưng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con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số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&gt;80%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vẫn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rất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khả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quan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đối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với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một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kiến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trúc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mạng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nhẹ.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00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2002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2002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92444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92444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69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4669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8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7188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8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358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2002079" grpId="0"/>
      <p:bldP spid="1792444397" grpId="0"/>
      <p:bldP spid="446693163" grpId="0" animBg="1"/>
      <p:bldP spid="171885273" grpId="0"/>
      <p:bldP spid="8358372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687767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65">
                <a:latin typeface="Calibri"/>
                <a:cs typeface="Calibri"/>
              </a:rPr>
              <a:t>Demo:</a:t>
            </a:r>
            <a:r>
              <a:rPr spc="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Phân</a:t>
            </a:r>
            <a:r>
              <a:rPr spc="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Loại</a:t>
            </a:r>
            <a:r>
              <a:rPr spc="55">
                <a:latin typeface="Calibri"/>
                <a:cs typeface="Calibri"/>
              </a:rPr>
              <a:t> </a:t>
            </a:r>
            <a:r>
              <a:rPr spc="65">
                <a:latin typeface="Calibri"/>
                <a:cs typeface="Calibri"/>
              </a:rPr>
              <a:t>Ảnh</a:t>
            </a:r>
            <a:r>
              <a:rPr spc="55">
                <a:latin typeface="Calibri"/>
                <a:cs typeface="Calibri"/>
              </a:rPr>
              <a:t> </a:t>
            </a:r>
            <a:r>
              <a:rPr spc="-20">
                <a:latin typeface="Calibri"/>
                <a:cs typeface="Calibri"/>
              </a:rPr>
              <a:t>Tĩnh</a:t>
            </a:r>
            <a:endParaRPr/>
          </a:p>
        </p:txBody>
      </p:sp>
      <p:pic>
        <p:nvPicPr>
          <p:cNvPr id="1826401647" name="object 3"/>
          <p:cNvPicPr/>
          <p:nvPr/>
        </p:nvPicPr>
        <p:blipFill rotWithShape="1">
          <a:blip r:embed="rId3"/>
          <a:stretch/>
        </p:blipFill>
        <p:spPr bwMode="auto">
          <a:xfrm>
            <a:off x="267652" y="960272"/>
            <a:ext cx="78714" cy="78714"/>
          </a:xfrm>
          <a:prstGeom prst="rect">
            <a:avLst/>
          </a:prstGeom>
        </p:spPr>
      </p:pic>
      <p:sp>
        <p:nvSpPr>
          <p:cNvPr id="738014561" name="object 4"/>
          <p:cNvSpPr txBox="1"/>
          <p:nvPr/>
        </p:nvSpPr>
        <p:spPr bwMode="auto">
          <a:xfrm>
            <a:off x="402932" y="890268"/>
            <a:ext cx="5168265" cy="14366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  <a:defRPr/>
            </a:pPr>
            <a:r>
              <a:rPr sz="1100" b="1" spc="-30">
                <a:latin typeface="Calibri"/>
                <a:cs typeface="Calibri"/>
              </a:rPr>
              <a:t>Tự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động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hóa</a:t>
            </a:r>
            <a:r>
              <a:rPr sz="1100" b="1" spc="8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hoàn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toàn:</a:t>
            </a:r>
            <a:r>
              <a:rPr sz="1100" b="1" spc="8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Xây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dựng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luồng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pipeline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động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chuyển</a:t>
            </a:r>
            <a:r>
              <a:rPr sz="1100" spc="8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đổi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ảnh</a:t>
            </a:r>
            <a:r>
              <a:rPr sz="1100" spc="8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đầu </a:t>
            </a:r>
            <a:r>
              <a:rPr sz="1100">
                <a:latin typeface="Calibri"/>
                <a:cs typeface="Calibri"/>
              </a:rPr>
              <a:t>vào,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dự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đoán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thực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hiện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Reverse</a:t>
            </a:r>
            <a:r>
              <a:rPr sz="1100" spc="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Mapping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từ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nhãn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số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ra</a:t>
            </a:r>
            <a:r>
              <a:rPr sz="1100" spc="7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defRPr/>
            </a:pPr>
            <a:endParaRPr sz="1100">
              <a:latin typeface="Calibri"/>
              <a:cs typeface="Calibri"/>
            </a:endParaRPr>
          </a:p>
          <a:p>
            <a:pPr marL="12700" marR="253365">
              <a:lnSpc>
                <a:spcPct val="102600"/>
              </a:lnSpc>
              <a:defRPr/>
            </a:pPr>
            <a:r>
              <a:rPr sz="1100" b="1">
                <a:latin typeface="Calibri"/>
                <a:cs typeface="Calibri"/>
              </a:rPr>
              <a:t>Thử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nghiệm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thực</a:t>
            </a:r>
            <a:r>
              <a:rPr sz="1100" b="1" spc="5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tế: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Khi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đưa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các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hình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ảnh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mới</a:t>
            </a:r>
            <a:r>
              <a:rPr sz="1100" spc="50">
                <a:latin typeface="Calibri"/>
                <a:cs typeface="Calibri"/>
              </a:rPr>
              <a:t> trên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mạng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vào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thử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nghiệm </a:t>
            </a:r>
            <a:r>
              <a:rPr sz="1100">
                <a:latin typeface="Calibri"/>
                <a:cs typeface="Calibri"/>
              </a:rPr>
              <a:t>(không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thuộc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tập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dữ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liệu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huấn</a:t>
            </a:r>
            <a:r>
              <a:rPr sz="1100" spc="1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luyện).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defRPr/>
            </a:pPr>
            <a:endParaRPr sz="1100">
              <a:latin typeface="Calibri"/>
              <a:cs typeface="Calibri"/>
            </a:endParaRPr>
          </a:p>
          <a:p>
            <a:pPr marL="12700" marR="205103">
              <a:lnSpc>
                <a:spcPct val="102600"/>
              </a:lnSpc>
              <a:defRPr/>
            </a:pPr>
            <a:r>
              <a:rPr sz="1100" b="1">
                <a:latin typeface="Calibri"/>
                <a:cs typeface="Calibri"/>
              </a:rPr>
              <a:t>Kết</a:t>
            </a:r>
            <a:r>
              <a:rPr sz="1100" b="1" spc="4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quả:</a:t>
            </a:r>
            <a:r>
              <a:rPr sz="1100" b="1" spc="5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Mô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hình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nhận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diện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chuẩn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xác.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Độ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tự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tin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(Confidence</a:t>
            </a:r>
            <a:r>
              <a:rPr sz="1100" spc="5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Score)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thường </a:t>
            </a:r>
            <a:r>
              <a:rPr sz="1100">
                <a:latin typeface="Calibri"/>
                <a:cs typeface="Calibri"/>
              </a:rPr>
              <a:t>xuyên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giữ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cap="small" spc="-110">
                <a:latin typeface="Calibri"/>
                <a:cs typeface="Calibri"/>
              </a:rPr>
              <a:t>ở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mức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80%</a:t>
            </a:r>
            <a:r>
              <a:rPr sz="1100" b="1" spc="2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-</a:t>
            </a:r>
            <a:r>
              <a:rPr sz="1100" b="1" spc="2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90%</a:t>
            </a:r>
            <a:r>
              <a:rPr sz="1100">
                <a:latin typeface="Calibri"/>
                <a:cs typeface="Calibri"/>
              </a:rPr>
              <a:t>,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bắt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dính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cả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các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lỗi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đeo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sai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tinh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vi.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447042153" name="object 5"/>
          <p:cNvPicPr/>
          <p:nvPr/>
        </p:nvPicPr>
        <p:blipFill rotWithShape="1">
          <a:blip r:embed="rId4"/>
          <a:stretch/>
        </p:blipFill>
        <p:spPr bwMode="auto">
          <a:xfrm>
            <a:off x="267652" y="1486369"/>
            <a:ext cx="78714" cy="78714"/>
          </a:xfrm>
          <a:prstGeom prst="rect">
            <a:avLst/>
          </a:prstGeom>
        </p:spPr>
      </p:pic>
      <p:pic>
        <p:nvPicPr>
          <p:cNvPr id="2094446641" name="object 6"/>
          <p:cNvPicPr/>
          <p:nvPr/>
        </p:nvPicPr>
        <p:blipFill rotWithShape="1">
          <a:blip r:embed="rId5"/>
          <a:stretch/>
        </p:blipFill>
        <p:spPr bwMode="auto">
          <a:xfrm>
            <a:off x="267652" y="2012480"/>
            <a:ext cx="78714" cy="787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6687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6687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40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640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640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1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8014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8014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04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47042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47042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44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4446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94446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687767" grpId="0"/>
      <p:bldP spid="7380145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504829" name="object 2"/>
          <p:cNvSpPr txBox="1">
            <a:spLocks noGrp="1"/>
          </p:cNvSpPr>
          <p:nvPr>
            <p:ph type="title"/>
          </p:nvPr>
        </p:nvSpPr>
        <p:spPr bwMode="auto">
          <a:xfrm>
            <a:off x="1226238" y="295296"/>
            <a:ext cx="4214485" cy="2792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65">
                <a:latin typeface="Calibri"/>
                <a:cs typeface="Calibri"/>
              </a:rPr>
              <a:t>Demo:</a:t>
            </a:r>
            <a:r>
              <a:rPr spc="9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Camera</a:t>
            </a:r>
            <a:r>
              <a:rPr spc="9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Thực</a:t>
            </a:r>
            <a:r>
              <a:rPr spc="90">
                <a:latin typeface="Calibri"/>
                <a:cs typeface="Calibri"/>
              </a:rPr>
              <a:t> </a:t>
            </a:r>
            <a:r>
              <a:rPr spc="-60">
                <a:latin typeface="Calibri"/>
                <a:cs typeface="Calibri"/>
              </a:rPr>
              <a:t>Tế</a:t>
            </a:r>
            <a:r>
              <a:rPr spc="9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(Real-</a:t>
            </a:r>
            <a:r>
              <a:rPr spc="-10">
                <a:latin typeface="Calibri"/>
                <a:cs typeface="Calibri"/>
              </a:rPr>
              <a:t>time)</a:t>
            </a:r>
            <a:endParaRPr/>
          </a:p>
        </p:txBody>
      </p:sp>
      <p:sp>
        <p:nvSpPr>
          <p:cNvPr id="141065919" name="object 3"/>
          <p:cNvSpPr/>
          <p:nvPr/>
        </p:nvSpPr>
        <p:spPr bwMode="auto">
          <a:xfrm>
            <a:off x="87743" y="788898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688"/>
                </a:lnTo>
                <a:lnTo>
                  <a:pt x="5584584" y="198688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009183683" name="object 4"/>
          <p:cNvSpPr txBox="1"/>
          <p:nvPr/>
        </p:nvSpPr>
        <p:spPr bwMode="auto">
          <a:xfrm>
            <a:off x="138544" y="780997"/>
            <a:ext cx="793750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Thách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thức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03716610" name="object 9"/>
          <p:cNvSpPr txBox="1"/>
          <p:nvPr/>
        </p:nvSpPr>
        <p:spPr bwMode="auto">
          <a:xfrm>
            <a:off x="138544" y="1015604"/>
            <a:ext cx="5584825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22555">
              <a:lnSpc>
                <a:spcPct val="102699"/>
              </a:lnSpc>
              <a:spcBef>
                <a:spcPts val="55"/>
              </a:spcBef>
              <a:defRPr/>
            </a:pPr>
            <a:r>
              <a:rPr sz="1100" spc="-10">
                <a:latin typeface="Calibri"/>
                <a:cs typeface="Calibri"/>
              </a:rPr>
              <a:t>Tích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hợp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với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luồng</a:t>
            </a:r>
            <a:r>
              <a:rPr sz="1100" spc="9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Camera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trực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tiếp</a:t>
            </a:r>
            <a:r>
              <a:rPr sz="1100" spc="9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gặp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nhiều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nhiễu</a:t>
            </a:r>
            <a:r>
              <a:rPr sz="1100" spc="9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hạt,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ánh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sáng</a:t>
            </a:r>
            <a:r>
              <a:rPr sz="1100" spc="9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thay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đổi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liên</a:t>
            </a:r>
            <a:r>
              <a:rPr sz="1100" spc="9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tục,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hiện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tượng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trễ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khung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hình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90">
                <a:latin typeface="Calibri"/>
                <a:cs typeface="Calibri"/>
              </a:rPr>
              <a:t>(FPS)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55">
                <a:latin typeface="Calibri"/>
                <a:cs typeface="Calibri"/>
              </a:rPr>
              <a:t>phụ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thuộc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vào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phần</a:t>
            </a:r>
            <a:r>
              <a:rPr sz="1100" spc="6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cứng.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9749096" name="object 10"/>
          <p:cNvSpPr/>
          <p:nvPr/>
        </p:nvSpPr>
        <p:spPr bwMode="auto">
          <a:xfrm>
            <a:off x="87743" y="1676539"/>
            <a:ext cx="5584825" cy="224790"/>
          </a:xfrm>
          <a:custGeom>
            <a:avLst/>
            <a:gdLst/>
            <a:ahLst/>
            <a:cxnLst/>
            <a:rect l="l" t="t" r="r" b="b"/>
            <a:pathLst>
              <a:path w="5584825" h="224789" fill="norm" stroke="1" extrusionOk="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4499"/>
                </a:lnTo>
                <a:lnTo>
                  <a:pt x="5584584" y="224499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522509343" name="object 11"/>
          <p:cNvSpPr txBox="1"/>
          <p:nvPr/>
        </p:nvSpPr>
        <p:spPr bwMode="auto">
          <a:xfrm>
            <a:off x="138544" y="1676982"/>
            <a:ext cx="1221740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Kết</a:t>
            </a:r>
            <a:r>
              <a:rPr sz="12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quả</a:t>
            </a:r>
            <a:r>
              <a:rPr sz="12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55">
                <a:solidFill>
                  <a:srgbClr val="FFFFFF"/>
                </a:solidFill>
                <a:latin typeface="Calibri"/>
                <a:cs typeface="Calibri"/>
              </a:rPr>
              <a:t>đạt</a:t>
            </a:r>
            <a:r>
              <a:rPr sz="12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được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7990562" name="object 16"/>
          <p:cNvSpPr txBox="1"/>
          <p:nvPr/>
        </p:nvSpPr>
        <p:spPr bwMode="auto">
          <a:xfrm>
            <a:off x="138544" y="1929052"/>
            <a:ext cx="558482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93980">
              <a:lnSpc>
                <a:spcPct val="102600"/>
              </a:lnSpc>
              <a:spcBef>
                <a:spcPts val="55"/>
              </a:spcBef>
              <a:defRPr/>
            </a:pPr>
            <a:r>
              <a:rPr sz="1100">
                <a:latin typeface="Calibri"/>
                <a:cs typeface="Calibri"/>
              </a:rPr>
              <a:t>Hệ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60">
                <a:latin typeface="Calibri"/>
                <a:cs typeface="Calibri"/>
              </a:rPr>
              <a:t>thống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vẫn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bắt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dính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khuôn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65">
                <a:latin typeface="Calibri"/>
                <a:cs typeface="Calibri"/>
              </a:rPr>
              <a:t>mặt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30">
                <a:latin typeface="Calibri"/>
                <a:cs typeface="Calibri"/>
              </a:rPr>
              <a:t>(Face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Tracking)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và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duy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trì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ổn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định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việc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nhận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diện </a:t>
            </a:r>
            <a:r>
              <a:rPr sz="1100" spc="50">
                <a:latin typeface="Calibri"/>
                <a:cs typeface="Calibri"/>
              </a:rPr>
              <a:t>trạng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thái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khẩu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trang.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 spc="-60">
                <a:latin typeface="Calibri"/>
                <a:cs typeface="Calibri"/>
              </a:rPr>
              <a:t>Các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trường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hợp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quay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góc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nghiêng</a:t>
            </a:r>
            <a:r>
              <a:rPr sz="1100" spc="10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hoặc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xuất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hiện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nhiều</a:t>
            </a:r>
            <a:r>
              <a:rPr sz="1100" spc="11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người </a:t>
            </a:r>
            <a:r>
              <a:rPr sz="1100" spc="60">
                <a:latin typeface="Calibri"/>
                <a:cs typeface="Calibri"/>
              </a:rPr>
              <a:t>trong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75">
                <a:latin typeface="Calibri"/>
                <a:cs typeface="Calibri"/>
              </a:rPr>
              <a:t>một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50">
                <a:latin typeface="Calibri"/>
                <a:cs typeface="Calibri"/>
              </a:rPr>
              <a:t>khung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hình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vẫn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được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xử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lý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mượt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mà.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5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58504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8504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585048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5850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6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1065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1065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10659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106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18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09183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09183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091836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918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71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03716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03716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037166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0371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4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9749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9749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97490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974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509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509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25093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250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9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7990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7990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79905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2799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504829" grpId="0"/>
      <p:bldP spid="141065919" grpId="0" animBg="1"/>
      <p:bldP spid="1009183683" grpId="0"/>
      <p:bldP spid="1303716610" grpId="0"/>
      <p:bldP spid="229749096" grpId="0" animBg="1"/>
      <p:bldP spid="522509343" grpId="0"/>
      <p:bldP spid="8279905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063276" name="object 2"/>
          <p:cNvSpPr txBox="1"/>
          <p:nvPr/>
        </p:nvSpPr>
        <p:spPr bwMode="auto">
          <a:xfrm>
            <a:off x="978738" y="535724"/>
            <a:ext cx="3803015" cy="1652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  <a:defRPr/>
            </a:pPr>
            <a:r>
              <a:rPr sz="2450" b="1" spc="-25">
                <a:latin typeface="Calibri"/>
                <a:cs typeface="Calibri"/>
              </a:rPr>
              <a:t>Q&amp;A</a:t>
            </a:r>
            <a:endParaRPr sz="24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680"/>
              </a:spcBef>
              <a:defRPr/>
            </a:pPr>
            <a:r>
              <a:rPr sz="1400">
                <a:latin typeface="Calibri"/>
                <a:cs typeface="Calibri"/>
              </a:rPr>
              <a:t>Cảm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ơn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Thầy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và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các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75">
                <a:latin typeface="Calibri"/>
                <a:cs typeface="Calibri"/>
              </a:rPr>
              <a:t>bạn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65">
                <a:latin typeface="Calibri"/>
                <a:cs typeface="Calibri"/>
              </a:rPr>
              <a:t>đã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65">
                <a:latin typeface="Calibri"/>
                <a:cs typeface="Calibri"/>
              </a:rPr>
              <a:t>chú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ý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70">
                <a:latin typeface="Calibri"/>
                <a:cs typeface="Calibri"/>
              </a:rPr>
              <a:t>lắng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 spc="55">
                <a:latin typeface="Calibri"/>
                <a:cs typeface="Calibri"/>
              </a:rPr>
              <a:t>nghe!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  <a:defRPr/>
            </a:pPr>
            <a:endParaRPr sz="1400">
              <a:latin typeface="Calibri"/>
              <a:cs typeface="Calibri"/>
            </a:endParaRPr>
          </a:p>
          <a:p>
            <a:pPr marL="648335" marR="640715" algn="ctr">
              <a:lnSpc>
                <a:spcPct val="102600"/>
              </a:lnSpc>
              <a:defRPr/>
            </a:pPr>
            <a:r>
              <a:rPr sz="1100" i="1">
                <a:latin typeface="Calibri"/>
                <a:cs typeface="Calibri"/>
              </a:rPr>
              <a:t>Nhóm</a:t>
            </a:r>
            <a:r>
              <a:rPr sz="1100" i="1" spc="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rất</a:t>
            </a:r>
            <a:r>
              <a:rPr sz="1100" i="1" spc="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mong</a:t>
            </a:r>
            <a:r>
              <a:rPr sz="1100" i="1" spc="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nhận</a:t>
            </a:r>
            <a:r>
              <a:rPr sz="1100" i="1" spc="15">
                <a:latin typeface="Calibri"/>
                <a:cs typeface="Calibri"/>
              </a:rPr>
              <a:t> </a:t>
            </a:r>
            <a:r>
              <a:rPr sz="1100" i="1" spc="-20">
                <a:latin typeface="Calibri"/>
                <a:cs typeface="Calibri"/>
              </a:rPr>
              <a:t>được</a:t>
            </a:r>
            <a:r>
              <a:rPr sz="1100" i="1" spc="2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những</a:t>
            </a:r>
            <a:r>
              <a:rPr sz="1100" i="1" spc="15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góp</a:t>
            </a:r>
            <a:r>
              <a:rPr sz="1100" i="1" spc="15">
                <a:latin typeface="Calibri"/>
                <a:cs typeface="Calibri"/>
              </a:rPr>
              <a:t> </a:t>
            </a:r>
            <a:r>
              <a:rPr sz="1100" i="1" spc="-50">
                <a:latin typeface="Calibri"/>
                <a:cs typeface="Calibri"/>
              </a:rPr>
              <a:t>ý </a:t>
            </a:r>
            <a:r>
              <a:rPr sz="1100" i="1">
                <a:latin typeface="Calibri"/>
                <a:cs typeface="Calibri"/>
              </a:rPr>
              <a:t>và</a:t>
            </a:r>
            <a:r>
              <a:rPr sz="1100" i="1" spc="-2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câu</a:t>
            </a:r>
            <a:r>
              <a:rPr sz="1100" i="1" spc="-2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hỏi</a:t>
            </a:r>
            <a:r>
              <a:rPr sz="1100" i="1" spc="-20">
                <a:latin typeface="Calibri"/>
                <a:cs typeface="Calibri"/>
              </a:rPr>
              <a:t> </a:t>
            </a:r>
            <a:r>
              <a:rPr sz="1100" i="1">
                <a:latin typeface="Calibri"/>
                <a:cs typeface="Calibri"/>
              </a:rPr>
              <a:t>từ</a:t>
            </a:r>
            <a:r>
              <a:rPr sz="1100" i="1" spc="-20">
                <a:latin typeface="Calibri"/>
                <a:cs typeface="Calibri"/>
              </a:rPr>
              <a:t> </a:t>
            </a:r>
            <a:r>
              <a:rPr sz="1100" i="1" spc="-40">
                <a:latin typeface="Calibri"/>
                <a:cs typeface="Calibri"/>
              </a:rPr>
              <a:t>Thầy</a:t>
            </a:r>
            <a:r>
              <a:rPr sz="1100" i="1" spc="-20">
                <a:latin typeface="Calibri"/>
                <a:cs typeface="Calibri"/>
              </a:rPr>
              <a:t> </a:t>
            </a:r>
            <a:r>
              <a:rPr sz="1100" i="1" spc="-25">
                <a:latin typeface="Calibri"/>
                <a:cs typeface="Calibri"/>
              </a:rPr>
              <a:t>ạ!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cut thruBlk="0"/>
      </p:transition>
    </mc:Choice>
    <mc:Fallback>
      <p:transition spd="fast" advClick="1">
        <p:cut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Hiện Khẩu Trang (Mask Detection) - Đồ án môn học Deep Learning</dc:title>
  <dc:creator>Hồng Đăng, Tấn Phát, Minh Châu</dc:creator>
  <cp:lastModifiedBy/>
  <cp:revision>8</cp:revision>
  <dcterms:created xsi:type="dcterms:W3CDTF">2026-06-24T09:04:00Z</dcterms:created>
  <dcterms:modified xsi:type="dcterms:W3CDTF">2026-06-25T06:45:14Z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2026-06-24T00:00:00Z</vt:filetime>
  </property>
  <property fmtid="{D5CDD505-2E9C-101B-9397-08002B2CF9AE}" pid="5" name="PTEX.FullBanner">
    <vt:lpwstr>This is LuaHBTeX, Version 1.22.0 (TeX Live 2025)</vt:lpwstr>
  </property>
  <property fmtid="{D5CDD505-2E9C-101B-9397-08002B2CF9AE}" pid="6" name="Producer">
    <vt:lpwstr>3-Heights(TM) PDF Security Shell 4.8.25.2 (http://www.pdf-tools.com)</vt:lpwstr>
  </property>
</Properties>
</file>