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3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9" d="100"/>
          <a:sy n="69" d="100"/>
        </p:scale>
        <p:origin x="1620" y="92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 /><Relationship Id="rId34" Type="http://schemas.openxmlformats.org/officeDocument/2006/relationships/tableStyles" Target="tableStyles.xml" /><Relationship Id="rId35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eval_f1</c:v>
                </c:pt>
              </c:strCache>
            </c:strRef>
          </c:tx>
          <c:spPr bwMode="auto">
            <a:prstGeom prst="rect">
              <a:avLst/>
            </a:prstGeom>
            <a:solidFill>
              <a:srgbClr val="4A5FA8"/>
            </a:solidFill>
            <a:ln w="31750" cap="flat">
              <a:solidFill>
                <a:srgbClr val="4A5FA8"/>
              </a:solidFill>
              <a:prstDash val="solid"/>
              <a:round/>
            </a:ln>
            <a:effectLst/>
          </c:spPr>
          <c:marker>
            <c:symbol val="circle"/>
            <c:size val="6"/>
            <c:spPr bwMode="auto">
              <a:prstGeom prst="rect">
                <a:avLst/>
              </a:prstGeom>
              <a:solidFill>
                <a:srgbClr val="4A5FA8"/>
              </a:solidFill>
              <a:ln/>
            </c:spPr>
          </c:marker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Sheet1!$A$2:$A$11</c:f>
              <c:multiLvlStrCache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0.7629</c:v>
                </c:pt>
                <c:pt idx="1">
                  <c:v>0.8227</c:v>
                </c:pt>
                <c:pt idx="2">
                  <c:v>0.8248</c:v>
                </c:pt>
                <c:pt idx="3">
                  <c:v>0.8357</c:v>
                </c:pt>
                <c:pt idx="4">
                  <c:v>0.8289</c:v>
                </c:pt>
                <c:pt idx="5">
                  <c:v>0.8379</c:v>
                </c:pt>
                <c:pt idx="6">
                  <c:v>0.8416</c:v>
                </c:pt>
                <c:pt idx="7">
                  <c:v>0.8435</c:v>
                </c:pt>
                <c:pt idx="8">
                  <c:v>0.8452</c:v>
                </c:pt>
                <c:pt idx="9">
                  <c:v>0.8466</c:v>
                </c:pt>
              </c:numCache>
            </c:numRef>
          </c:val>
          <c:smooth val="0"/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lstStyle/>
            <a:p>
              <a:pPr>
                <a:defRPr sz="12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marker val="1"/>
        <c:smooth val="0"/>
        <c:axId val="2094734555"/>
        <c:axId val="2094734556"/>
      </c:lineChart>
      <c:catAx>
        <c:axId val="20947345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6"/>
        <c:crosses val="autoZero"/>
        <c:auto val="1"/>
        <c:lblAlgn val="ctr"/>
        <c:noMultiLvlLbl val="1"/>
      </c:catAx>
      <c:valAx>
        <c:axId val="2094734556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5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640080" y="1920240"/>
      <a:ext cx="6093561" cy="2743200"/>
    </a:xfrm>
    <a:prstGeom prst="rect">
      <a:avLst/>
    </a:prstGeom>
    <a:solidFill>
      <a:srgbClr val="FFFFFF"/>
    </a:solidFill>
    <a:ln>
      <a:noFill/>
    </a:ln>
    <a:effectLst/>
  </c:spPr>
  <c:externalData r:id="rId1"/>
</c:chartSpace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04152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98247175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33520749" name="Google Shape;5;n"/>
          <p:cNvSpPr>
            <a:spLocks noChangeAspect="1" noGrp="1" noRot="1"/>
          </p:cNvSpPr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9040845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87328425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32807922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156626" name="Google Shape;85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45191663" name="Google Shape;86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139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4220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2542728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019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6744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7618076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183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6410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056666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266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28704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2149443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12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0130933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96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70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4116896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85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8206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4099757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996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5562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4469200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0913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7995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229916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444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0001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2060552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4452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103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2333903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4575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9451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1318192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760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2020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2618821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638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2953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9208233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3196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16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271239" name="Slide Number Placeholder 3"/>
          <p:cNvSpPr>
            <a:spLocks noGrp="1"/>
          </p:cNvSpPr>
          <p:nvPr>
            <p:ph type="sldNum" idx="10"/>
          </p:nvPr>
        </p:nvSpPr>
        <p:spPr bwMode="auto"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974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1406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774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D1E645-B7D9-F424-D908-E188B9978318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69877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7868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1389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0F049C-34F2-D829-B846-87076CAB21A8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910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2437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9675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B7DF2E-689C-3656-37C2-F2765B6BB813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2061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2259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43449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C2EF6-D094-8E91-063F-3B8B7E8A83D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0640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2108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5563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5EFA95-62C3-14F0-A8CF-C41BA9048BA9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611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3481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8460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965071-F418-6460-108D-0170DF6094BE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9120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2043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4716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CCD5D8-C250-2FC2-EB37-137D0F2013FA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2031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790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6241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BA276-2E77-7768-9777-2D3072D2FBA0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430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2423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0335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E03762-A5CC-64E8-BFD2-CE45752E0E2E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012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9790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4156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BFCD39-FDF3-F3A1-5E3D-5BAA04C71F25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059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967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2671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BAD406-CD9F-B633-8809-CADFDCD67E4B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498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8369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7791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BDC6FB-BBA3-3F9F-C507-3F20BE234F0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bg>
      <p:bgPr shadeToTitle="0">
        <a:blipFill rotWithShape="1"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827806" name="Google Shape;17;p2"/>
          <p:cNvSpPr txBox="1">
            <a:spLocks noGrp="1"/>
          </p:cNvSpPr>
          <p:nvPr>
            <p:ph type="ctrTitle"/>
          </p:nvPr>
        </p:nvSpPr>
        <p:spPr bwMode="auto">
          <a:xfrm>
            <a:off x="501445" y="2052133"/>
            <a:ext cx="11120283" cy="1841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Open Sans"/>
              <a:buNone/>
              <a:defRPr sz="4000">
                <a:solidFill>
                  <a:srgbClr val="0070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849903" name="Google Shape;18;p2"/>
          <p:cNvSpPr txBox="1">
            <a:spLocks noGrp="1"/>
          </p:cNvSpPr>
          <p:nvPr>
            <p:ph type="subTitle" idx="1"/>
          </p:nvPr>
        </p:nvSpPr>
        <p:spPr bwMode="auto">
          <a:xfrm>
            <a:off x="501445" y="3960996"/>
            <a:ext cx="11120283" cy="129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800">
                <a:solidFill>
                  <a:srgbClr val="7F7F7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33318252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7433187" y="5395599"/>
            <a:ext cx="4434803" cy="436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928172" name="Google Shape;27;p4"/>
          <p:cNvSpPr txBox="1">
            <a:spLocks noGrp="1"/>
          </p:cNvSpPr>
          <p:nvPr>
            <p:ph type="title"/>
          </p:nvPr>
        </p:nvSpPr>
        <p:spPr bwMode="auto">
          <a:xfrm>
            <a:off x="627859" y="1"/>
            <a:ext cx="11199992" cy="513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39826882" name="Google Shape;28;p4"/>
          <p:cNvSpPr txBox="1">
            <a:spLocks noGrp="1"/>
          </p:cNvSpPr>
          <p:nvPr>
            <p:ph type="body" idx="1"/>
          </p:nvPr>
        </p:nvSpPr>
        <p:spPr bwMode="auto">
          <a:xfrm>
            <a:off x="627859" y="1079607"/>
            <a:ext cx="11199992" cy="5097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6381602" name="Google Shape;30;p4"/>
          <p:cNvSpPr txBox="1">
            <a:spLocks noGrp="1"/>
          </p:cNvSpPr>
          <p:nvPr>
            <p:ph type="ftr" idx="11"/>
          </p:nvPr>
        </p:nvSpPr>
        <p:spPr bwMode="auto">
          <a:xfrm>
            <a:off x="1000431" y="6440627"/>
            <a:ext cx="8164637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4434338" name="Google Shape;31;p4"/>
          <p:cNvSpPr txBox="1">
            <a:spLocks noGrp="1"/>
          </p:cNvSpPr>
          <p:nvPr>
            <p:ph type="sldNum" idx="12"/>
          </p:nvPr>
        </p:nvSpPr>
        <p:spPr bwMode="auto">
          <a:xfrm>
            <a:off x="541125" y="6440627"/>
            <a:ext cx="459306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133309" name="Google Shape;33;p5"/>
          <p:cNvSpPr txBox="1">
            <a:spLocks noGrp="1"/>
          </p:cNvSpPr>
          <p:nvPr>
            <p:ph type="title"/>
          </p:nvPr>
        </p:nvSpPr>
        <p:spPr bwMode="auto">
          <a:xfrm>
            <a:off x="627859" y="1"/>
            <a:ext cx="111999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3776845" name="Google Shape;34;p5"/>
          <p:cNvSpPr txBox="1">
            <a:spLocks noGrp="1"/>
          </p:cNvSpPr>
          <p:nvPr>
            <p:ph type="body" idx="1"/>
          </p:nvPr>
        </p:nvSpPr>
        <p:spPr bwMode="auto">
          <a:xfrm>
            <a:off x="627859" y="1210235"/>
            <a:ext cx="5391941" cy="496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3446403" name="Google Shape;35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210235"/>
            <a:ext cx="5655652" cy="496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1524810" name="Google Shape;37;p5"/>
          <p:cNvSpPr txBox="1">
            <a:spLocks noGrp="1"/>
          </p:cNvSpPr>
          <p:nvPr>
            <p:ph type="ftr" idx="11"/>
          </p:nvPr>
        </p:nvSpPr>
        <p:spPr bwMode="auto">
          <a:xfrm>
            <a:off x="1000431" y="6440627"/>
            <a:ext cx="8164637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045309" name="Google Shape;38;p5"/>
          <p:cNvSpPr txBox="1">
            <a:spLocks noGrp="1"/>
          </p:cNvSpPr>
          <p:nvPr>
            <p:ph type="sldNum" idx="12"/>
          </p:nvPr>
        </p:nvSpPr>
        <p:spPr bwMode="auto">
          <a:xfrm>
            <a:off x="541125" y="6440627"/>
            <a:ext cx="459306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3478005" name="Google Shape;39;p5"/>
          <p:cNvSpPr/>
          <p:nvPr/>
        </p:nvSpPr>
        <p:spPr bwMode="auto">
          <a:xfrm>
            <a:off x="0" y="0"/>
            <a:ext cx="541125" cy="548640"/>
          </a:xfrm>
          <a:prstGeom prst="rect">
            <a:avLst/>
          </a:prstGeom>
          <a:solidFill>
            <a:srgbClr val="009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6252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627860" y="-10918"/>
            <a:ext cx="11199994" cy="54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4710930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627860" y="1213537"/>
            <a:ext cx="5369715" cy="54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2400" b="1">
                <a:latin typeface="+mj-l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847479715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627860" y="1859536"/>
            <a:ext cx="5369715" cy="433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6758127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213537"/>
            <a:ext cx="5655654" cy="54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2400" b="1">
                <a:latin typeface="+mj-l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8972384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6172199" y="1859536"/>
            <a:ext cx="5655653" cy="433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24707776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1000431" y="6440627"/>
            <a:ext cx="8164637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803912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534040" y="6440627"/>
            <a:ext cx="466391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5835289" name="Google Shape;49;p6"/>
          <p:cNvSpPr/>
          <p:nvPr/>
        </p:nvSpPr>
        <p:spPr bwMode="auto">
          <a:xfrm>
            <a:off x="0" y="0"/>
            <a:ext cx="541125" cy="548640"/>
          </a:xfrm>
          <a:prstGeom prst="rect">
            <a:avLst/>
          </a:prstGeom>
          <a:solidFill>
            <a:srgbClr val="009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481011" name="Google Shape;51;p7"/>
          <p:cNvSpPr txBox="1">
            <a:spLocks noGrp="1"/>
          </p:cNvSpPr>
          <p:nvPr>
            <p:ph type="title"/>
          </p:nvPr>
        </p:nvSpPr>
        <p:spPr bwMode="auto">
          <a:xfrm>
            <a:off x="641506" y="98927"/>
            <a:ext cx="11199992" cy="417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16673830" name="Google Shape;53;p7"/>
          <p:cNvSpPr txBox="1">
            <a:spLocks noGrp="1"/>
          </p:cNvSpPr>
          <p:nvPr>
            <p:ph type="ftr" idx="11"/>
          </p:nvPr>
        </p:nvSpPr>
        <p:spPr bwMode="auto">
          <a:xfrm>
            <a:off x="1000431" y="6440627"/>
            <a:ext cx="8164637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5271411" name="Google Shape;54;p7"/>
          <p:cNvSpPr txBox="1">
            <a:spLocks noGrp="1"/>
          </p:cNvSpPr>
          <p:nvPr>
            <p:ph type="sldNum" idx="12"/>
          </p:nvPr>
        </p:nvSpPr>
        <p:spPr bwMode="auto">
          <a:xfrm>
            <a:off x="541125" y="6440627"/>
            <a:ext cx="459306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9210093" name="Google Shape;55;p7"/>
          <p:cNvSpPr/>
          <p:nvPr/>
        </p:nvSpPr>
        <p:spPr bwMode="auto">
          <a:xfrm>
            <a:off x="0" y="0"/>
            <a:ext cx="541125" cy="548640"/>
          </a:xfrm>
          <a:prstGeom prst="rect">
            <a:avLst/>
          </a:prstGeom>
          <a:solidFill>
            <a:srgbClr val="009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175214" name="Google Shape;58;p8"/>
          <p:cNvSpPr txBox="1">
            <a:spLocks noGrp="1"/>
          </p:cNvSpPr>
          <p:nvPr>
            <p:ph type="ftr" idx="11"/>
          </p:nvPr>
        </p:nvSpPr>
        <p:spPr bwMode="auto">
          <a:xfrm>
            <a:off x="1000431" y="6440627"/>
            <a:ext cx="8164637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5203609" name="Google Shape;59;p8"/>
          <p:cNvSpPr txBox="1">
            <a:spLocks noGrp="1"/>
          </p:cNvSpPr>
          <p:nvPr>
            <p:ph type="sldNum" idx="12"/>
          </p:nvPr>
        </p:nvSpPr>
        <p:spPr bwMode="auto">
          <a:xfrm>
            <a:off x="541125" y="6440627"/>
            <a:ext cx="459306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7167367" name="Google Shape;60;p8"/>
          <p:cNvSpPr/>
          <p:nvPr/>
        </p:nvSpPr>
        <p:spPr bwMode="auto">
          <a:xfrm>
            <a:off x="0" y="0"/>
            <a:ext cx="541125" cy="548640"/>
          </a:xfrm>
          <a:prstGeom prst="rect">
            <a:avLst/>
          </a:prstGeom>
          <a:solidFill>
            <a:srgbClr val="009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92833" name="Google Shape;62;p9"/>
          <p:cNvSpPr txBox="1">
            <a:spLocks noGrp="1"/>
          </p:cNvSpPr>
          <p:nvPr>
            <p:ph type="title"/>
          </p:nvPr>
        </p:nvSpPr>
        <p:spPr bwMode="auto">
          <a:xfrm>
            <a:off x="627859" y="619432"/>
            <a:ext cx="4951243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89470081" name="Google Shape;63;p9"/>
          <p:cNvSpPr txBox="1">
            <a:spLocks noGrp="1"/>
          </p:cNvSpPr>
          <p:nvPr>
            <p:ph type="body" idx="1"/>
          </p:nvPr>
        </p:nvSpPr>
        <p:spPr bwMode="auto">
          <a:xfrm>
            <a:off x="5722374" y="619433"/>
            <a:ext cx="6105480" cy="570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851143502" name="Google Shape;64;p9"/>
          <p:cNvSpPr txBox="1">
            <a:spLocks noGrp="1"/>
          </p:cNvSpPr>
          <p:nvPr>
            <p:ph type="body" idx="2"/>
          </p:nvPr>
        </p:nvSpPr>
        <p:spPr bwMode="auto">
          <a:xfrm>
            <a:off x="627860" y="1152481"/>
            <a:ext cx="4951244" cy="517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513513336" name="Google Shape;66;p9"/>
          <p:cNvSpPr txBox="1">
            <a:spLocks noGrp="1"/>
          </p:cNvSpPr>
          <p:nvPr>
            <p:ph type="ftr" idx="11"/>
          </p:nvPr>
        </p:nvSpPr>
        <p:spPr bwMode="auto">
          <a:xfrm>
            <a:off x="1000431" y="6440627"/>
            <a:ext cx="8164637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22189267" name="Google Shape;67;p9"/>
          <p:cNvSpPr txBox="1">
            <a:spLocks noGrp="1"/>
          </p:cNvSpPr>
          <p:nvPr>
            <p:ph type="sldNum" idx="12"/>
          </p:nvPr>
        </p:nvSpPr>
        <p:spPr bwMode="auto">
          <a:xfrm>
            <a:off x="541125" y="6440627"/>
            <a:ext cx="459306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1278249" name="Google Shape;68;p9"/>
          <p:cNvSpPr/>
          <p:nvPr/>
        </p:nvSpPr>
        <p:spPr bwMode="auto">
          <a:xfrm>
            <a:off x="0" y="0"/>
            <a:ext cx="541125" cy="548640"/>
          </a:xfrm>
          <a:prstGeom prst="rect">
            <a:avLst/>
          </a:prstGeom>
          <a:solidFill>
            <a:srgbClr val="009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998269" name="Google Shape;70;p10"/>
          <p:cNvSpPr txBox="1">
            <a:spLocks noGrp="1"/>
          </p:cNvSpPr>
          <p:nvPr>
            <p:ph type="title"/>
          </p:nvPr>
        </p:nvSpPr>
        <p:spPr bwMode="auto">
          <a:xfrm>
            <a:off x="627860" y="632075"/>
            <a:ext cx="4938603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5999448" name="Google Shape;71;p10"/>
          <p:cNvSpPr>
            <a:spLocks noGrp="1"/>
          </p:cNvSpPr>
          <p:nvPr>
            <p:ph type="pic" idx="2"/>
          </p:nvPr>
        </p:nvSpPr>
        <p:spPr bwMode="auto">
          <a:xfrm>
            <a:off x="5655654" y="632074"/>
            <a:ext cx="6172200" cy="5680235"/>
          </a:xfrm>
          <a:prstGeom prst="rect">
            <a:avLst/>
          </a:prstGeom>
          <a:noFill/>
          <a:ln>
            <a:noFill/>
          </a:ln>
        </p:spPr>
      </p:sp>
      <p:sp>
        <p:nvSpPr>
          <p:cNvPr id="1029958004" name="Google Shape;72;p10"/>
          <p:cNvSpPr txBox="1">
            <a:spLocks noGrp="1"/>
          </p:cNvSpPr>
          <p:nvPr>
            <p:ph type="body" idx="1"/>
          </p:nvPr>
        </p:nvSpPr>
        <p:spPr bwMode="auto">
          <a:xfrm>
            <a:off x="627860" y="1125519"/>
            <a:ext cx="4938603" cy="518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432247560" name="Google Shape;73;p10"/>
          <p:cNvSpPr txBox="1">
            <a:spLocks noGrp="1"/>
          </p:cNvSpPr>
          <p:nvPr>
            <p:ph type="dt" idx="10"/>
          </p:nvPr>
        </p:nvSpPr>
        <p:spPr bwMode="auto">
          <a:xfrm>
            <a:off x="627860" y="136525"/>
            <a:ext cx="111999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1056534" name="Google Shape;74;p10"/>
          <p:cNvSpPr txBox="1">
            <a:spLocks noGrp="1"/>
          </p:cNvSpPr>
          <p:nvPr>
            <p:ph type="ftr" idx="11"/>
          </p:nvPr>
        </p:nvSpPr>
        <p:spPr bwMode="auto">
          <a:xfrm>
            <a:off x="1000431" y="6440627"/>
            <a:ext cx="8164637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0332724" name="Google Shape;75;p10"/>
          <p:cNvSpPr txBox="1">
            <a:spLocks noGrp="1"/>
          </p:cNvSpPr>
          <p:nvPr>
            <p:ph type="sldNum" idx="12"/>
          </p:nvPr>
        </p:nvSpPr>
        <p:spPr bwMode="auto">
          <a:xfrm>
            <a:off x="541125" y="6440627"/>
            <a:ext cx="459306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7168882" name="Google Shape;76;p10"/>
          <p:cNvSpPr/>
          <p:nvPr/>
        </p:nvSpPr>
        <p:spPr bwMode="auto">
          <a:xfrm>
            <a:off x="0" y="0"/>
            <a:ext cx="541125" cy="548640"/>
          </a:xfrm>
          <a:prstGeom prst="rect">
            <a:avLst/>
          </a:prstGeom>
          <a:solidFill>
            <a:srgbClr val="009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_Picture with Caption" preserve="0" showMasterPhAnim="0" showMasterSp="1" userDrawn="1">
  <p:cSld name="1_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450932" name="Google Shape;78;p11"/>
          <p:cNvSpPr>
            <a:spLocks noGrp="1"/>
          </p:cNvSpPr>
          <p:nvPr>
            <p:ph type="pic" idx="2"/>
          </p:nvPr>
        </p:nvSpPr>
        <p:spPr bwMode="auto">
          <a:xfrm>
            <a:off x="627860" y="632074"/>
            <a:ext cx="11199994" cy="5418979"/>
          </a:xfrm>
          <a:prstGeom prst="rect">
            <a:avLst/>
          </a:prstGeom>
          <a:noFill/>
          <a:ln>
            <a:noFill/>
          </a:ln>
        </p:spPr>
      </p:sp>
      <p:sp>
        <p:nvSpPr>
          <p:cNvPr id="991339877" name="Google Shape;79;p11"/>
          <p:cNvSpPr txBox="1">
            <a:spLocks noGrp="1"/>
          </p:cNvSpPr>
          <p:nvPr>
            <p:ph type="dt" idx="10"/>
          </p:nvPr>
        </p:nvSpPr>
        <p:spPr bwMode="auto">
          <a:xfrm>
            <a:off x="627860" y="136525"/>
            <a:ext cx="111999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4339800" name="Google Shape;80;p11"/>
          <p:cNvSpPr txBox="1">
            <a:spLocks noGrp="1"/>
          </p:cNvSpPr>
          <p:nvPr>
            <p:ph type="ftr" idx="11"/>
          </p:nvPr>
        </p:nvSpPr>
        <p:spPr bwMode="auto">
          <a:xfrm>
            <a:off x="1000431" y="6440627"/>
            <a:ext cx="8164637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2043535" name="Google Shape;81;p11"/>
          <p:cNvSpPr txBox="1">
            <a:spLocks noGrp="1"/>
          </p:cNvSpPr>
          <p:nvPr>
            <p:ph type="sldNum" idx="12"/>
          </p:nvPr>
        </p:nvSpPr>
        <p:spPr bwMode="auto">
          <a:xfrm>
            <a:off x="541125" y="6440627"/>
            <a:ext cx="459306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3073630" name="Google Shape;82;p11"/>
          <p:cNvSpPr txBox="1">
            <a:spLocks noGrp="1"/>
          </p:cNvSpPr>
          <p:nvPr>
            <p:ph type="body" idx="1"/>
          </p:nvPr>
        </p:nvSpPr>
        <p:spPr bwMode="auto">
          <a:xfrm>
            <a:off x="628650" y="6130925"/>
            <a:ext cx="11199813" cy="236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3586988" name="Google Shape;83;p11"/>
          <p:cNvSpPr/>
          <p:nvPr/>
        </p:nvSpPr>
        <p:spPr bwMode="auto">
          <a:xfrm>
            <a:off x="0" y="0"/>
            <a:ext cx="541125" cy="548640"/>
          </a:xfrm>
          <a:prstGeom prst="rect">
            <a:avLst/>
          </a:prstGeom>
          <a:solidFill>
            <a:srgbClr val="009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1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333589" name="Google Shape;15;p1"/>
          <p:cNvSpPr/>
          <p:nvPr/>
        </p:nvSpPr>
        <p:spPr bwMode="auto">
          <a:xfrm>
            <a:off x="0" y="0"/>
            <a:ext cx="541125" cy="548640"/>
          </a:xfrm>
          <a:prstGeom prst="rect">
            <a:avLst/>
          </a:prstGeom>
          <a:solidFill>
            <a:srgbClr val="009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72020697" name="Google Shape;24;p3"/>
          <p:cNvSpPr txBox="1">
            <a:spLocks noGrp="1"/>
          </p:cNvSpPr>
          <p:nvPr>
            <p:ph type="sldNum" idx="4"/>
          </p:nvPr>
        </p:nvSpPr>
        <p:spPr bwMode="auto">
          <a:xfrm>
            <a:off x="536535" y="6440627"/>
            <a:ext cx="459306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324035703" name="Google Shape;23;p3"/>
          <p:cNvSpPr txBox="1">
            <a:spLocks noGrp="1"/>
          </p:cNvSpPr>
          <p:nvPr>
            <p:ph type="ftr" idx="3"/>
          </p:nvPr>
        </p:nvSpPr>
        <p:spPr bwMode="auto">
          <a:xfrm>
            <a:off x="886657" y="6440627"/>
            <a:ext cx="8164637" cy="417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533590455" name="Text Placeholder 1"/>
          <p:cNvSpPr>
            <a:spLocks noGrp="1"/>
          </p:cNvSpPr>
          <p:nvPr>
            <p:ph type="body" idx="1"/>
          </p:nvPr>
        </p:nvSpPr>
        <p:spPr bwMode="auto">
          <a:xfrm>
            <a:off x="541125" y="1318965"/>
            <a:ext cx="11315872" cy="5074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02291271" name="Title Placeholder 2"/>
          <p:cNvSpPr>
            <a:spLocks noGrp="1"/>
          </p:cNvSpPr>
          <p:nvPr>
            <p:ph type="title"/>
          </p:nvPr>
        </p:nvSpPr>
        <p:spPr bwMode="auto">
          <a:xfrm>
            <a:off x="668741" y="1"/>
            <a:ext cx="11188256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000" b="0" i="0" u="none" strike="noStrike" cap="none">
          <a:solidFill>
            <a:srgbClr val="0070C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42900" marR="0" lvl="0" indent="-3429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Char char="•"/>
        <a:defRPr sz="2400" b="0" i="0" u="none" strike="noStrike" cap="none">
          <a:solidFill>
            <a:schemeClr val="tx1"/>
          </a:solidFill>
          <a:latin typeface="Open Sans"/>
          <a:ea typeface="Open Sans"/>
          <a:cs typeface="Open Sans"/>
        </a:defRPr>
      </a:lvl1pPr>
      <a:lvl2pPr marL="736600" marR="0" lvl="1" indent="-28575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Char char="•"/>
        <a:defRPr sz="2400" b="0" i="0" u="none" strike="noStrike" cap="none">
          <a:solidFill>
            <a:schemeClr val="tx1"/>
          </a:solidFill>
          <a:latin typeface="Open Sans"/>
          <a:ea typeface="Open Sans"/>
          <a:cs typeface="Open Sans"/>
        </a:defRPr>
      </a:lvl2pPr>
      <a:lvl3pPr marL="736600" marR="0" lvl="2" indent="-28575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Char char="•"/>
        <a:defRPr sz="2400" b="0" i="0" u="none" strike="noStrike" cap="none">
          <a:solidFill>
            <a:schemeClr val="tx1"/>
          </a:solidFill>
          <a:latin typeface="Open Sans"/>
          <a:ea typeface="Open Sans"/>
          <a:cs typeface="Open Sans"/>
        </a:defRPr>
      </a:lvl3pPr>
      <a:lvl4pPr marL="736600" marR="0" lvl="3" indent="-28575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Char char="•"/>
        <a:defRPr sz="2400" b="0" i="0" u="none" strike="noStrike" cap="none">
          <a:solidFill>
            <a:schemeClr val="tx1"/>
          </a:solidFill>
          <a:latin typeface="Open Sans"/>
          <a:ea typeface="Open Sans"/>
          <a:cs typeface="Open Sans"/>
        </a:defRPr>
      </a:lvl4pPr>
      <a:lvl5pPr marL="736600" marR="0" lvl="4" indent="-28575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Char char="•"/>
        <a:defRPr sz="2400" b="0" i="0" u="none" strike="noStrike" cap="none">
          <a:solidFill>
            <a:schemeClr val="tx1"/>
          </a:solidFill>
          <a:latin typeface="Open Sans"/>
          <a:ea typeface="Open Sans"/>
          <a:cs typeface="Open Sans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79365" name="Google Shape;88;p12"/>
          <p:cNvSpPr txBox="1">
            <a:spLocks noGrp="1"/>
          </p:cNvSpPr>
          <p:nvPr>
            <p:ph type="ctrTitle"/>
          </p:nvPr>
        </p:nvSpPr>
        <p:spPr bwMode="auto">
          <a:xfrm>
            <a:off x="501445" y="917528"/>
            <a:ext cx="11120283" cy="1782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 algn="ctr">
              <a:defRPr/>
            </a:pPr>
            <a:r>
              <a:rPr lang="en-US" sz="3600"/>
              <a:t>Multilingual Named Entity Recognition</a:t>
            </a:r>
            <a:endParaRPr sz="3600" b="1"/>
          </a:p>
        </p:txBody>
      </p:sp>
      <p:sp>
        <p:nvSpPr>
          <p:cNvPr id="1111614811" name="Google Shape;89;p12"/>
          <p:cNvSpPr txBox="1">
            <a:spLocks noGrp="1"/>
          </p:cNvSpPr>
          <p:nvPr>
            <p:ph type="subTitle" idx="1"/>
          </p:nvPr>
        </p:nvSpPr>
        <p:spPr bwMode="auto">
          <a:xfrm>
            <a:off x="958645" y="3322003"/>
            <a:ext cx="10769936" cy="2081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pPr>
            <a:r>
              <a:rPr lang="en-US" sz="2400" b="1"/>
              <a:t>		                 </a:t>
            </a:r>
            <a:r>
              <a:rPr lang="en-US" sz="2400" b="1"/>
              <a:t>Giảng</a:t>
            </a:r>
            <a:r>
              <a:rPr lang="en-US" sz="2400" b="1"/>
              <a:t> </a:t>
            </a:r>
            <a:r>
              <a:rPr lang="en-US" sz="2400" b="1"/>
              <a:t>viên</a:t>
            </a:r>
            <a:r>
              <a:rPr lang="en-US" sz="2400" b="1"/>
              <a:t>  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pPr>
            <a:r>
              <a:rPr lang="en-US" sz="2400" b="1"/>
              <a:t>			      Môn </a:t>
            </a:r>
            <a:r>
              <a:rPr lang="en-US" sz="2400" b="1"/>
              <a:t>học</a:t>
            </a:r>
            <a:r>
              <a:rPr lang="en-US" sz="2400" b="1"/>
              <a:t>     : </a:t>
            </a:r>
            <a:r>
              <a:rPr lang="en-US" sz="2400" b="1"/>
              <a:t>Xử</a:t>
            </a:r>
            <a:r>
              <a:rPr lang="en-US" sz="2400" b="1"/>
              <a:t> </a:t>
            </a:r>
            <a:r>
              <a:rPr lang="en-US" sz="2400" b="1"/>
              <a:t>lý</a:t>
            </a:r>
            <a:r>
              <a:rPr lang="en-US" sz="2400" b="1"/>
              <a:t> </a:t>
            </a:r>
            <a:r>
              <a:rPr lang="en-US" sz="2400" b="1"/>
              <a:t>ngôn</a:t>
            </a:r>
            <a:r>
              <a:rPr lang="en-US" sz="2400" b="1"/>
              <a:t> </a:t>
            </a:r>
            <a:r>
              <a:rPr lang="en-US" sz="2400" b="1"/>
              <a:t>ngữ</a:t>
            </a:r>
            <a:r>
              <a:rPr lang="en-US" sz="2400" b="1"/>
              <a:t> </a:t>
            </a:r>
            <a:r>
              <a:rPr lang="en-US" sz="2400" b="1"/>
              <a:t>tự</a:t>
            </a:r>
            <a:r>
              <a:rPr lang="en-US" sz="2400" b="1"/>
              <a:t> </a:t>
            </a:r>
            <a:r>
              <a:rPr lang="en-US" sz="2400" b="1"/>
              <a:t>nhiên</a:t>
            </a:r>
            <a:endParaRPr lang="en-US" sz="2400" b="1"/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pPr>
            <a:r>
              <a:rPr lang="en-US" sz="2400" b="1"/>
              <a:t>Thành </a:t>
            </a:r>
            <a:r>
              <a:rPr lang="en-US" sz="2400" b="1"/>
              <a:t>viên</a:t>
            </a:r>
            <a:r>
              <a:rPr lang="en-US" sz="2400" b="1"/>
              <a:t> : Nguyễn Quang Hoàng Vũ – 22303698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pPr>
            <a:r>
              <a:rPr lang="en-US" sz="2400" b="1"/>
              <a:t>				         	       </a:t>
            </a:r>
            <a:r>
              <a:rPr lang="en-US" sz="2400" b="1"/>
              <a:t>Trần</a:t>
            </a:r>
            <a:r>
              <a:rPr lang="en-US" sz="2400" b="1"/>
              <a:t> </a:t>
            </a:r>
            <a:r>
              <a:rPr lang="en-US" sz="2400" b="1"/>
              <a:t>Kỳ</a:t>
            </a:r>
            <a:r>
              <a:rPr lang="en-US" sz="2400" b="1"/>
              <a:t> </a:t>
            </a:r>
            <a:r>
              <a:rPr lang="en-US" sz="2400" b="1"/>
              <a:t>Nhân</a:t>
            </a:r>
            <a:r>
              <a:rPr lang="en-US" sz="2400" b="1"/>
              <a:t> – 22302550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pPr>
            <a:r>
              <a:rPr lang="en-US" sz="2400" b="1"/>
              <a:t>				                   Nguyễn Phúc Minh Châu - 22302421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519591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2000" b="0">
                <a:latin typeface="Arial"/>
              </a:rPr>
              <a:t> </a:t>
            </a:r>
            <a:endParaRPr sz="3200" b="0">
              <a:latin typeface="Arial"/>
            </a:endParaRPr>
          </a:p>
        </p:txBody>
      </p:sp>
      <p:sp>
        <p:nvSpPr>
          <p:cNvPr id="490996374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114300" indent="0">
              <a:buNone/>
              <a:defRPr/>
            </a:pPr>
            <a:r>
              <a:rPr lang="en-US" sz="2800"/>
              <a:t>- Trong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tế</a:t>
            </a:r>
            <a:r>
              <a:rPr lang="en-US" sz="2800"/>
              <a:t>, </a:t>
            </a:r>
            <a:r>
              <a:rPr lang="en-US" sz="2800"/>
              <a:t>dữ</a:t>
            </a:r>
            <a:r>
              <a:rPr lang="en-US" sz="2800"/>
              <a:t> </a:t>
            </a:r>
            <a:r>
              <a:rPr lang="en-US" sz="2800"/>
              <a:t>liệu</a:t>
            </a:r>
            <a:r>
              <a:rPr lang="en-US" sz="2800"/>
              <a:t> </a:t>
            </a:r>
            <a:r>
              <a:rPr lang="en-US" sz="2800"/>
              <a:t>văn</a:t>
            </a:r>
            <a:r>
              <a:rPr lang="en-US" sz="2800"/>
              <a:t> </a:t>
            </a:r>
            <a:r>
              <a:rPr lang="en-US" sz="2800"/>
              <a:t>bản</a:t>
            </a:r>
            <a:r>
              <a:rPr lang="en-US" sz="2800"/>
              <a:t> </a:t>
            </a:r>
            <a:r>
              <a:rPr lang="en-US" sz="2800"/>
              <a:t>không</a:t>
            </a:r>
            <a:r>
              <a:rPr lang="en-US" sz="2800"/>
              <a:t> </a:t>
            </a:r>
            <a:r>
              <a:rPr lang="en-US" sz="2800"/>
              <a:t>chỉ</a:t>
            </a:r>
            <a:r>
              <a:rPr lang="en-US" sz="2800"/>
              <a:t> </a:t>
            </a:r>
            <a:r>
              <a:rPr lang="en-US" sz="2800"/>
              <a:t>xuất</a:t>
            </a:r>
            <a:r>
              <a:rPr lang="en-US" sz="2800"/>
              <a:t> </a:t>
            </a:r>
            <a:r>
              <a:rPr lang="en-US" sz="2800"/>
              <a:t>hiện</a:t>
            </a:r>
            <a:r>
              <a:rPr lang="en-US" sz="2800"/>
              <a:t> </a:t>
            </a:r>
            <a:r>
              <a:rPr lang="en-US" sz="2800"/>
              <a:t>bằng</a:t>
            </a:r>
            <a:r>
              <a:rPr lang="en-US" sz="2800"/>
              <a:t> </a:t>
            </a:r>
            <a:r>
              <a:rPr lang="en-US" sz="2800"/>
              <a:t>tiếng</a:t>
            </a:r>
            <a:r>
              <a:rPr lang="en-US" sz="2800"/>
              <a:t> Anh </a:t>
            </a:r>
            <a:r>
              <a:rPr lang="en-US" sz="2800"/>
              <a:t>mà</a:t>
            </a:r>
            <a:r>
              <a:rPr lang="en-US" sz="2800"/>
              <a:t> </a:t>
            </a:r>
            <a:r>
              <a:rPr lang="en-US" sz="2800"/>
              <a:t>còn</a:t>
            </a:r>
            <a:r>
              <a:rPr lang="en-US" sz="2800"/>
              <a:t> </a:t>
            </a:r>
            <a:r>
              <a:rPr lang="en-US" sz="2800"/>
              <a:t>có</a:t>
            </a:r>
            <a:r>
              <a:rPr lang="en-US" sz="2800"/>
              <a:t>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khác</a:t>
            </a:r>
            <a:r>
              <a:rPr lang="en-US" sz="2800"/>
              <a:t> </a:t>
            </a:r>
            <a:r>
              <a:rPr lang="en-US" sz="2800"/>
              <a:t>như</a:t>
            </a:r>
            <a:r>
              <a:rPr lang="en-US" sz="2800"/>
              <a:t> </a:t>
            </a:r>
            <a:r>
              <a:rPr lang="en-US" sz="2800"/>
              <a:t>tiếng</a:t>
            </a:r>
            <a:r>
              <a:rPr lang="en-US" sz="2800"/>
              <a:t> Đức, Pháp, Ý, Việt Nam…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Vấn</a:t>
            </a:r>
            <a:r>
              <a:rPr lang="en-US" sz="2800"/>
              <a:t> </a:t>
            </a:r>
            <a:r>
              <a:rPr lang="en-US" sz="2800"/>
              <a:t>đề</a:t>
            </a:r>
            <a:r>
              <a:rPr lang="en-US" sz="2800"/>
              <a:t> </a:t>
            </a:r>
            <a:r>
              <a:rPr lang="en-US" sz="2800"/>
              <a:t>đặt</a:t>
            </a:r>
            <a:r>
              <a:rPr lang="en-US" sz="2800"/>
              <a:t> </a:t>
            </a:r>
            <a:r>
              <a:rPr lang="en-US" sz="2800"/>
              <a:t>ra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/>
              <a:t>Làm </a:t>
            </a:r>
            <a:r>
              <a:rPr lang="en-US" sz="2800"/>
              <a:t>sao</a:t>
            </a:r>
            <a:r>
              <a:rPr lang="en-US" sz="2800"/>
              <a:t> </a:t>
            </a:r>
            <a:r>
              <a:rPr lang="en-US" sz="2800"/>
              <a:t>để</a:t>
            </a:r>
            <a:r>
              <a:rPr lang="en-US" sz="2800"/>
              <a:t> </a:t>
            </a:r>
            <a:r>
              <a:rPr lang="en-US" sz="2800"/>
              <a:t>hệ</a:t>
            </a:r>
            <a:r>
              <a:rPr lang="en-US" sz="2800"/>
              <a:t> </a:t>
            </a:r>
            <a:r>
              <a:rPr lang="en-US" sz="2800"/>
              <a:t>thống</a:t>
            </a:r>
            <a:r>
              <a:rPr lang="en-US" sz="2800"/>
              <a:t> </a:t>
            </a:r>
            <a:r>
              <a:rPr lang="en-US" sz="2800"/>
              <a:t>hiểu</a:t>
            </a:r>
            <a:r>
              <a:rPr lang="en-US" sz="2800"/>
              <a:t> </a:t>
            </a:r>
            <a:r>
              <a:rPr lang="en-US" sz="2800"/>
              <a:t>văn</a:t>
            </a:r>
            <a:r>
              <a:rPr lang="en-US" sz="2800"/>
              <a:t> </a:t>
            </a:r>
            <a:r>
              <a:rPr lang="en-US" sz="2800"/>
              <a:t>bản</a:t>
            </a:r>
            <a:r>
              <a:rPr lang="en-US" sz="2800"/>
              <a:t> ở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? </a:t>
            </a:r>
            <a:endParaRPr/>
          </a:p>
          <a:p>
            <a:pPr>
              <a:defRPr/>
            </a:pPr>
            <a:r>
              <a:rPr lang="en-US" sz="2800"/>
              <a:t>Làm </a:t>
            </a:r>
            <a:r>
              <a:rPr lang="en-US" sz="2800"/>
              <a:t>sao</a:t>
            </a:r>
            <a:r>
              <a:rPr lang="en-US" sz="2800"/>
              <a:t> </a:t>
            </a:r>
            <a:r>
              <a:rPr lang="en-US" sz="2800"/>
              <a:t>để</a:t>
            </a:r>
            <a:r>
              <a:rPr lang="en-US" sz="2800"/>
              <a:t> </a:t>
            </a:r>
            <a:r>
              <a:rPr lang="en-US" sz="2800"/>
              <a:t>nhận</a:t>
            </a:r>
            <a:r>
              <a:rPr lang="en-US" sz="2800"/>
              <a:t> </a:t>
            </a:r>
            <a:r>
              <a:rPr lang="en-US" sz="2800"/>
              <a:t>diện</a:t>
            </a:r>
            <a:r>
              <a:rPr lang="en-US" sz="2800"/>
              <a:t> </a:t>
            </a:r>
            <a:r>
              <a:rPr lang="en-US" sz="2800"/>
              <a:t>tên</a:t>
            </a:r>
            <a:r>
              <a:rPr lang="en-US" sz="2800"/>
              <a:t> </a:t>
            </a:r>
            <a:r>
              <a:rPr lang="en-US" sz="2800"/>
              <a:t>người</a:t>
            </a:r>
            <a:r>
              <a:rPr lang="en-US" sz="2800"/>
              <a:t>, </a:t>
            </a:r>
            <a:r>
              <a:rPr lang="en-US" sz="2800"/>
              <a:t>tổ</a:t>
            </a:r>
            <a:r>
              <a:rPr lang="en-US" sz="2800"/>
              <a:t> </a:t>
            </a:r>
            <a:r>
              <a:rPr lang="en-US" sz="2800"/>
              <a:t>chức</a:t>
            </a:r>
            <a:r>
              <a:rPr lang="en-US" sz="2800"/>
              <a:t>, </a:t>
            </a:r>
            <a:r>
              <a:rPr lang="en-US" sz="2800"/>
              <a:t>địa</a:t>
            </a:r>
            <a:r>
              <a:rPr lang="en-US" sz="2800"/>
              <a:t> </a:t>
            </a:r>
            <a:r>
              <a:rPr lang="en-US" sz="2800"/>
              <a:t>điểm</a:t>
            </a:r>
            <a:r>
              <a:rPr lang="en-US" sz="2800"/>
              <a:t> </a:t>
            </a:r>
            <a:r>
              <a:rPr lang="en-US" sz="2800"/>
              <a:t>trong</a:t>
            </a:r>
            <a:r>
              <a:rPr lang="en-US" sz="2800"/>
              <a:t> </a:t>
            </a:r>
            <a:r>
              <a:rPr lang="en-US" sz="2800"/>
              <a:t>các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khác</a:t>
            </a:r>
            <a:r>
              <a:rPr lang="en-US" sz="2800"/>
              <a:t> </a:t>
            </a:r>
            <a:r>
              <a:rPr lang="en-US" sz="2800"/>
              <a:t>nhau</a:t>
            </a:r>
            <a:r>
              <a:rPr lang="en-US" sz="2800"/>
              <a:t>? </a:t>
            </a:r>
            <a:endParaRPr/>
          </a:p>
          <a:p>
            <a:pPr>
              <a:defRPr/>
            </a:pPr>
            <a:r>
              <a:rPr lang="en-US" sz="2800"/>
              <a:t>Có</a:t>
            </a:r>
            <a:r>
              <a:rPr lang="en-US" sz="2800"/>
              <a:t> </a:t>
            </a:r>
            <a:r>
              <a:rPr lang="en-US" sz="2800"/>
              <a:t>cần</a:t>
            </a:r>
            <a:r>
              <a:rPr lang="en-US" sz="2800"/>
              <a:t> </a:t>
            </a:r>
            <a:r>
              <a:rPr lang="en-US" sz="2800"/>
              <a:t>xây</a:t>
            </a:r>
            <a:r>
              <a:rPr lang="en-US" sz="2800"/>
              <a:t> </a:t>
            </a:r>
            <a:r>
              <a:rPr lang="en-US" sz="2800"/>
              <a:t>dựng</a:t>
            </a:r>
            <a:r>
              <a:rPr lang="en-US" sz="2800"/>
              <a:t>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riêng</a:t>
            </a:r>
            <a:r>
              <a:rPr lang="en-US" sz="2800"/>
              <a:t> </a:t>
            </a:r>
            <a:r>
              <a:rPr lang="en-US" sz="2800"/>
              <a:t>cho</a:t>
            </a:r>
            <a:r>
              <a:rPr lang="en-US" sz="2800"/>
              <a:t> </a:t>
            </a:r>
            <a:r>
              <a:rPr lang="en-US" sz="2800"/>
              <a:t>từng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không</a:t>
            </a:r>
            <a:r>
              <a:rPr lang="en-US" sz="2800"/>
              <a:t>?</a:t>
            </a:r>
            <a:endParaRPr/>
          </a:p>
          <a:p>
            <a:pPr>
              <a:lnSpc>
                <a:spcPct val="150000"/>
              </a:lnSpc>
              <a:defRPr/>
            </a:pPr>
            <a:endParaRPr lang="en-US" sz="2800">
              <a:latin typeface="Open Sans"/>
              <a:cs typeface="Times New Roman"/>
            </a:endParaRPr>
          </a:p>
        </p:txBody>
      </p:sp>
      <p:sp>
        <p:nvSpPr>
          <p:cNvPr id="2095470731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 b="0">
                <a:latin typeface="Arial"/>
              </a:rPr>
              <a:t>1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996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0996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996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0996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996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0996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996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0996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996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0996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99637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603352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Named Entity Recognition </a:t>
            </a:r>
            <a:r>
              <a:rPr lang="en-US" sz="3200"/>
              <a:t>là</a:t>
            </a:r>
            <a:r>
              <a:rPr lang="en-US" sz="3200"/>
              <a:t> </a:t>
            </a:r>
            <a:r>
              <a:rPr lang="en-US" sz="3200"/>
              <a:t>gì</a:t>
            </a:r>
            <a:r>
              <a:rPr lang="en-US" sz="3200"/>
              <a:t>?</a:t>
            </a:r>
            <a:endParaRPr sz="3200" b="0">
              <a:latin typeface="Arial"/>
            </a:endParaRPr>
          </a:p>
        </p:txBody>
      </p:sp>
      <p:sp>
        <p:nvSpPr>
          <p:cNvPr id="1048592020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114300" indent="0">
              <a:buNone/>
              <a:defRPr/>
            </a:pPr>
            <a:r>
              <a:rPr lang="en-US" sz="2800"/>
              <a:t>-</a:t>
            </a:r>
            <a:r>
              <a:rPr lang="en-US" sz="2800" b="1"/>
              <a:t> Named Entity Recognition — NER</a:t>
            </a:r>
            <a:r>
              <a:rPr lang="en-US" sz="2800"/>
              <a:t> </a:t>
            </a:r>
            <a:r>
              <a:rPr lang="en-US" sz="2800"/>
              <a:t>là</a:t>
            </a:r>
            <a:r>
              <a:rPr lang="en-US" sz="2800"/>
              <a:t> </a:t>
            </a:r>
            <a:r>
              <a:rPr lang="en-US" sz="2800"/>
              <a:t>bài</a:t>
            </a:r>
            <a:r>
              <a:rPr lang="en-US" sz="2800"/>
              <a:t> </a:t>
            </a:r>
            <a:r>
              <a:rPr lang="en-US" sz="2800"/>
              <a:t>toán</a:t>
            </a:r>
            <a:r>
              <a:rPr lang="en-US" sz="2800"/>
              <a:t> </a:t>
            </a:r>
            <a:r>
              <a:rPr lang="en-US" sz="2800"/>
              <a:t>nhận</a:t>
            </a:r>
            <a:r>
              <a:rPr lang="en-US" sz="2800"/>
              <a:t> </a:t>
            </a:r>
            <a:r>
              <a:rPr lang="en-US" sz="2800"/>
              <a:t>dạng</a:t>
            </a:r>
            <a:r>
              <a:rPr lang="en-US" sz="2800"/>
              <a:t> </a:t>
            </a:r>
            <a:r>
              <a:rPr lang="en-US" sz="2800"/>
              <a:t>các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quan</a:t>
            </a:r>
            <a:r>
              <a:rPr lang="en-US" sz="2800"/>
              <a:t> </a:t>
            </a:r>
            <a:r>
              <a:rPr lang="en-US" sz="2800"/>
              <a:t>trọng</a:t>
            </a:r>
            <a:r>
              <a:rPr lang="en-US" sz="2800"/>
              <a:t> </a:t>
            </a:r>
            <a:r>
              <a:rPr lang="en-US" sz="2800"/>
              <a:t>trong</a:t>
            </a:r>
            <a:r>
              <a:rPr lang="en-US" sz="2800"/>
              <a:t> </a:t>
            </a:r>
            <a:r>
              <a:rPr lang="en-US" sz="2800"/>
              <a:t>văn</a:t>
            </a:r>
            <a:r>
              <a:rPr lang="en-US" sz="2800"/>
              <a:t> </a:t>
            </a:r>
            <a:r>
              <a:rPr lang="en-US" sz="2800"/>
              <a:t>bản</a:t>
            </a:r>
            <a:r>
              <a:rPr lang="en-US" sz="2800"/>
              <a:t>.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NER </a:t>
            </a:r>
            <a:r>
              <a:rPr lang="en-US" sz="2800"/>
              <a:t>thường</a:t>
            </a:r>
            <a:r>
              <a:rPr lang="en-US" sz="2800"/>
              <a:t> </a:t>
            </a:r>
            <a:r>
              <a:rPr lang="en-US" sz="2800"/>
              <a:t>nhận</a:t>
            </a:r>
            <a:r>
              <a:rPr lang="en-US" sz="2800"/>
              <a:t> </a:t>
            </a:r>
            <a:r>
              <a:rPr lang="en-US" sz="2800"/>
              <a:t>dạng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 b="1"/>
              <a:t>PER</a:t>
            </a:r>
            <a:r>
              <a:rPr lang="en-US" sz="2800"/>
              <a:t>: </a:t>
            </a:r>
            <a:r>
              <a:rPr lang="en-US" sz="2800"/>
              <a:t>Người</a:t>
            </a:r>
            <a:r>
              <a:rPr lang="en-US" sz="2800"/>
              <a:t> </a:t>
            </a:r>
            <a:endParaRPr/>
          </a:p>
          <a:p>
            <a:pPr>
              <a:defRPr/>
            </a:pPr>
            <a:r>
              <a:rPr lang="en-US" sz="2800" b="1"/>
              <a:t>ORG</a:t>
            </a:r>
            <a:r>
              <a:rPr lang="en-US" sz="2800"/>
              <a:t>: </a:t>
            </a:r>
            <a:r>
              <a:rPr lang="en-US" sz="2800"/>
              <a:t>Tổ</a:t>
            </a:r>
            <a:r>
              <a:rPr lang="en-US" sz="2800"/>
              <a:t> </a:t>
            </a:r>
            <a:r>
              <a:rPr lang="en-US" sz="2800"/>
              <a:t>chức</a:t>
            </a:r>
            <a:r>
              <a:rPr lang="en-US" sz="2800"/>
              <a:t> </a:t>
            </a:r>
            <a:endParaRPr/>
          </a:p>
          <a:p>
            <a:pPr>
              <a:defRPr/>
            </a:pPr>
            <a:r>
              <a:rPr lang="en-US" sz="2800" b="1"/>
              <a:t>LOC</a:t>
            </a:r>
            <a:r>
              <a:rPr lang="en-US" sz="2800"/>
              <a:t>: </a:t>
            </a:r>
            <a:r>
              <a:rPr lang="en-US" sz="2800"/>
              <a:t>Địa</a:t>
            </a:r>
            <a:r>
              <a:rPr lang="en-US" sz="2800"/>
              <a:t> </a:t>
            </a:r>
            <a:r>
              <a:rPr lang="en-US" sz="2800"/>
              <a:t>điểm</a:t>
            </a:r>
            <a:r>
              <a:rPr lang="en-US" sz="2800"/>
              <a:t> </a:t>
            </a:r>
            <a:endParaRPr/>
          </a:p>
          <a:p>
            <a:pPr>
              <a:buFontTx/>
              <a:buChar char="-"/>
              <a:defRPr/>
            </a:pPr>
            <a:endParaRPr lang="en-US" sz="2800">
              <a:latin typeface="Open Sans"/>
              <a:cs typeface="Times New Roman"/>
            </a:endParaRPr>
          </a:p>
        </p:txBody>
      </p:sp>
      <p:sp>
        <p:nvSpPr>
          <p:cNvPr id="1843461176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 b="0">
                <a:latin typeface="Arial"/>
              </a:rPr>
              <a:t>2</a:t>
            </a:r>
            <a:endParaRPr lang="en-US"/>
          </a:p>
        </p:txBody>
      </p:sp>
      <p:pic>
        <p:nvPicPr>
          <p:cNvPr id="646989207" name="Picture 1" descr="A Beginner’s Guide to NLP Token Classification Tasks | by Laharivungarala | Apr, 2026 | Medium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104767" y="2004084"/>
            <a:ext cx="6459374" cy="43047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2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592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20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5920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20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85920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20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85920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20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85920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98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646989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202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256840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Multilingual NER </a:t>
            </a:r>
            <a:r>
              <a:rPr lang="en-US" sz="3200"/>
              <a:t>là</a:t>
            </a:r>
            <a:r>
              <a:rPr lang="en-US" sz="3200"/>
              <a:t> </a:t>
            </a:r>
            <a:r>
              <a:rPr lang="en-US" sz="3200"/>
              <a:t>gì</a:t>
            </a:r>
            <a:r>
              <a:rPr lang="en-US" sz="3200"/>
              <a:t>?</a:t>
            </a:r>
            <a:endParaRPr sz="3200" b="0">
              <a:latin typeface="Arial"/>
            </a:endParaRPr>
          </a:p>
        </p:txBody>
      </p:sp>
      <p:sp>
        <p:nvSpPr>
          <p:cNvPr id="1809707438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114300" indent="0">
              <a:buNone/>
              <a:defRPr/>
            </a:pPr>
            <a:r>
              <a:rPr lang="en-US" sz="2800"/>
              <a:t>-</a:t>
            </a:r>
            <a:r>
              <a:rPr lang="en-US" sz="2800" b="1"/>
              <a:t> Multilingual Named Entity Recognition</a:t>
            </a:r>
            <a:r>
              <a:rPr lang="en-US" sz="2800"/>
              <a:t> </a:t>
            </a:r>
            <a:r>
              <a:rPr lang="en-US" sz="2800"/>
              <a:t>là</a:t>
            </a:r>
            <a:r>
              <a:rPr lang="en-US" sz="2800"/>
              <a:t> </a:t>
            </a:r>
            <a:r>
              <a:rPr lang="en-US" sz="2800"/>
              <a:t>bài</a:t>
            </a:r>
            <a:r>
              <a:rPr lang="en-US" sz="2800"/>
              <a:t> </a:t>
            </a:r>
            <a:r>
              <a:rPr lang="en-US" sz="2800"/>
              <a:t>toán</a:t>
            </a:r>
            <a:r>
              <a:rPr lang="en-US" sz="2800"/>
              <a:t> </a:t>
            </a:r>
            <a:r>
              <a:rPr lang="en-US" sz="2800"/>
              <a:t>nhận</a:t>
            </a:r>
            <a:r>
              <a:rPr lang="en-US" sz="2800"/>
              <a:t> </a:t>
            </a:r>
            <a:r>
              <a:rPr lang="en-US" sz="2800"/>
              <a:t>dạng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trong</a:t>
            </a:r>
            <a:r>
              <a:rPr lang="en-US" sz="2800"/>
              <a:t>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khác</a:t>
            </a:r>
            <a:r>
              <a:rPr lang="en-US" sz="2800"/>
              <a:t> </a:t>
            </a:r>
            <a:r>
              <a:rPr lang="en-US" sz="2800"/>
              <a:t>nhau</a:t>
            </a:r>
            <a:r>
              <a:rPr lang="en-US" sz="2800"/>
              <a:t>.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Ví</a:t>
            </a:r>
            <a:r>
              <a:rPr lang="en-US" sz="2800"/>
              <a:t> </a:t>
            </a:r>
            <a:r>
              <a:rPr lang="en-US" sz="2800"/>
              <a:t>dụ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/>
              <a:t>English: </a:t>
            </a:r>
            <a:r>
              <a:rPr lang="en-US" sz="2800" i="1"/>
              <a:t>Jeff Dean works at Google in California.</a:t>
            </a:r>
            <a:r>
              <a:rPr lang="en-US" sz="2800"/>
              <a:t> </a:t>
            </a:r>
            <a:endParaRPr/>
          </a:p>
          <a:p>
            <a:pPr>
              <a:defRPr/>
            </a:pPr>
            <a:r>
              <a:rPr lang="en-US" sz="2800"/>
              <a:t>French: </a:t>
            </a:r>
            <a:r>
              <a:rPr lang="en-US" sz="2800" i="1"/>
              <a:t>Jeff Dean </a:t>
            </a:r>
            <a:r>
              <a:rPr lang="en-US" sz="2800" i="1"/>
              <a:t>travaille</a:t>
            </a:r>
            <a:r>
              <a:rPr lang="en-US" sz="2800" i="1"/>
              <a:t> chez Google </a:t>
            </a:r>
            <a:r>
              <a:rPr lang="en-US" sz="2800" i="1"/>
              <a:t>en</a:t>
            </a:r>
            <a:r>
              <a:rPr lang="en-US" sz="2800" i="1"/>
              <a:t> </a:t>
            </a:r>
            <a:r>
              <a:rPr lang="en-US" sz="2800" i="1"/>
              <a:t>Californie</a:t>
            </a:r>
            <a:r>
              <a:rPr lang="en-US" sz="2800" i="1"/>
              <a:t>.</a:t>
            </a:r>
            <a:r>
              <a:rPr lang="en-US" sz="2800"/>
              <a:t> </a:t>
            </a:r>
            <a:endParaRPr/>
          </a:p>
          <a:p>
            <a:pPr>
              <a:defRPr/>
            </a:pPr>
            <a:r>
              <a:rPr lang="en-US" sz="2800"/>
              <a:t>German: </a:t>
            </a:r>
            <a:r>
              <a:rPr lang="en-US" sz="2800" i="1"/>
              <a:t>Jeff Dean </a:t>
            </a:r>
            <a:r>
              <a:rPr lang="en-US" sz="2800" i="1"/>
              <a:t>arbeitet</a:t>
            </a:r>
            <a:r>
              <a:rPr lang="en-US" sz="2800" i="1"/>
              <a:t> </a:t>
            </a:r>
            <a:r>
              <a:rPr lang="en-US" sz="2800" i="1"/>
              <a:t>bei</a:t>
            </a:r>
            <a:r>
              <a:rPr lang="en-US" sz="2800" i="1"/>
              <a:t> Google in </a:t>
            </a:r>
            <a:r>
              <a:rPr lang="en-US" sz="2800" i="1"/>
              <a:t>Kalifornien</a:t>
            </a:r>
            <a:r>
              <a:rPr lang="en-US" sz="2800" i="1"/>
              <a:t>.</a:t>
            </a:r>
            <a:r>
              <a:rPr lang="en-US" sz="2800"/>
              <a:t> 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Mục</a:t>
            </a:r>
            <a:r>
              <a:rPr lang="en-US" sz="2800"/>
              <a:t> </a:t>
            </a:r>
            <a:r>
              <a:rPr lang="en-US" sz="2800"/>
              <a:t>tiêu</a:t>
            </a:r>
            <a:r>
              <a:rPr lang="en-US" sz="2800"/>
              <a:t> </a:t>
            </a:r>
            <a:r>
              <a:rPr lang="en-US" sz="2800"/>
              <a:t>là</a:t>
            </a:r>
            <a:r>
              <a:rPr lang="en-US" sz="2800"/>
              <a:t> </a:t>
            </a:r>
            <a:r>
              <a:rPr lang="en-US" sz="2800"/>
              <a:t>dùng</a:t>
            </a:r>
            <a:r>
              <a:rPr lang="en-US" sz="2800"/>
              <a:t>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có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xử</a:t>
            </a:r>
            <a:r>
              <a:rPr lang="en-US" sz="2800"/>
              <a:t> </a:t>
            </a:r>
            <a:r>
              <a:rPr lang="en-US" sz="2800"/>
              <a:t>lý</a:t>
            </a:r>
            <a:r>
              <a:rPr lang="en-US" sz="2800"/>
              <a:t>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thay</a:t>
            </a:r>
            <a:r>
              <a:rPr lang="en-US" sz="2800"/>
              <a:t> </a:t>
            </a:r>
            <a:r>
              <a:rPr lang="en-US" sz="2800"/>
              <a:t>vì</a:t>
            </a:r>
            <a:r>
              <a:rPr lang="en-US" sz="2800"/>
              <a:t> </a:t>
            </a:r>
            <a:r>
              <a:rPr lang="en-US" sz="2800"/>
              <a:t>phải</a:t>
            </a:r>
            <a:r>
              <a:rPr lang="en-US" sz="2800"/>
              <a:t> </a:t>
            </a:r>
            <a:r>
              <a:rPr lang="en-US" sz="2800"/>
              <a:t>huấn</a:t>
            </a:r>
            <a:r>
              <a:rPr lang="en-US" sz="2800"/>
              <a:t> </a:t>
            </a:r>
            <a:r>
              <a:rPr lang="en-US" sz="2800"/>
              <a:t>luyện</a:t>
            </a:r>
            <a:r>
              <a:rPr lang="en-US" sz="2800"/>
              <a:t>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riêng</a:t>
            </a:r>
            <a:r>
              <a:rPr lang="en-US" sz="2800"/>
              <a:t> </a:t>
            </a:r>
            <a:r>
              <a:rPr lang="en-US" sz="2800"/>
              <a:t>biệt</a:t>
            </a:r>
            <a:r>
              <a:rPr lang="en-US" sz="2800"/>
              <a:t>.</a:t>
            </a:r>
            <a:endParaRPr/>
          </a:p>
        </p:txBody>
      </p:sp>
      <p:sp>
        <p:nvSpPr>
          <p:cNvPr id="232009153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/>
              <a:t>3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707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09707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707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9707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707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09707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707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09707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707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09707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7074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097074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970743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200612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Khó</a:t>
            </a:r>
            <a:r>
              <a:rPr lang="en-US" sz="3200"/>
              <a:t> </a:t>
            </a:r>
            <a:r>
              <a:rPr lang="en-US" sz="3200"/>
              <a:t>khăn</a:t>
            </a:r>
            <a:r>
              <a:rPr lang="en-US" sz="3200"/>
              <a:t> </a:t>
            </a:r>
            <a:r>
              <a:rPr lang="en-US" sz="3200"/>
              <a:t>của</a:t>
            </a:r>
            <a:r>
              <a:rPr lang="en-US" sz="3200"/>
              <a:t> </a:t>
            </a:r>
            <a:r>
              <a:rPr lang="en-US" sz="3200"/>
              <a:t>bài</a:t>
            </a:r>
            <a:r>
              <a:rPr lang="en-US" sz="3200"/>
              <a:t> </a:t>
            </a:r>
            <a:r>
              <a:rPr lang="en-US" sz="3200"/>
              <a:t>toán</a:t>
            </a:r>
            <a:endParaRPr sz="3200" b="0">
              <a:latin typeface="Arial"/>
            </a:endParaRPr>
          </a:p>
        </p:txBody>
      </p:sp>
      <p:sp>
        <p:nvSpPr>
          <p:cNvPr id="1893628041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số</a:t>
            </a:r>
            <a:r>
              <a:rPr lang="en-US" sz="2800"/>
              <a:t> </a:t>
            </a:r>
            <a:r>
              <a:rPr lang="en-US" sz="2800"/>
              <a:t>khó</a:t>
            </a:r>
            <a:r>
              <a:rPr lang="en-US" sz="2800"/>
              <a:t> </a:t>
            </a:r>
            <a:r>
              <a:rPr lang="en-US" sz="2800"/>
              <a:t>khăn</a:t>
            </a:r>
            <a:r>
              <a:rPr lang="en-US" sz="2800"/>
              <a:t> </a:t>
            </a:r>
            <a:r>
              <a:rPr lang="en-US" sz="2800"/>
              <a:t>chính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/>
              <a:t>Không</a:t>
            </a:r>
            <a:r>
              <a:rPr lang="en-US" sz="2800"/>
              <a:t> </a:t>
            </a:r>
            <a:r>
              <a:rPr lang="en-US" sz="2800"/>
              <a:t>phải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nào</a:t>
            </a:r>
            <a:r>
              <a:rPr lang="en-US" sz="2800"/>
              <a:t> </a:t>
            </a:r>
            <a:r>
              <a:rPr lang="en-US" sz="2800"/>
              <a:t>cũng</a:t>
            </a:r>
            <a:r>
              <a:rPr lang="en-US" sz="2800"/>
              <a:t> </a:t>
            </a:r>
            <a:r>
              <a:rPr lang="en-US" sz="2800"/>
              <a:t>có</a:t>
            </a:r>
            <a:r>
              <a:rPr lang="en-US" sz="2800"/>
              <a:t>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dữ</a:t>
            </a:r>
            <a:r>
              <a:rPr lang="en-US" sz="2800"/>
              <a:t> </a:t>
            </a:r>
            <a:r>
              <a:rPr lang="en-US" sz="2800"/>
              <a:t>liệu</a:t>
            </a:r>
            <a:r>
              <a:rPr lang="en-US" sz="2800"/>
              <a:t> </a:t>
            </a:r>
            <a:r>
              <a:rPr lang="en-US" sz="2800"/>
              <a:t>huấn</a:t>
            </a:r>
            <a:r>
              <a:rPr lang="en-US" sz="2800"/>
              <a:t> </a:t>
            </a:r>
            <a:r>
              <a:rPr lang="en-US" sz="2800"/>
              <a:t>luyện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Mỗi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có</a:t>
            </a:r>
            <a:r>
              <a:rPr lang="en-US" sz="2800"/>
              <a:t> </a:t>
            </a:r>
            <a:r>
              <a:rPr lang="en-US" sz="2800"/>
              <a:t>cấu</a:t>
            </a:r>
            <a:r>
              <a:rPr lang="en-US" sz="2800"/>
              <a:t> </a:t>
            </a:r>
            <a:r>
              <a:rPr lang="en-US" sz="2800"/>
              <a:t>trúc</a:t>
            </a:r>
            <a:r>
              <a:rPr lang="en-US" sz="2800"/>
              <a:t> </a:t>
            </a:r>
            <a:r>
              <a:rPr lang="en-US" sz="2800"/>
              <a:t>câu</a:t>
            </a:r>
            <a:r>
              <a:rPr lang="en-US" sz="2800"/>
              <a:t> </a:t>
            </a:r>
            <a:r>
              <a:rPr lang="en-US" sz="2800"/>
              <a:t>và</a:t>
            </a:r>
            <a:r>
              <a:rPr lang="en-US" sz="2800"/>
              <a:t> </a:t>
            </a:r>
            <a:r>
              <a:rPr lang="en-US" sz="2800"/>
              <a:t>cách</a:t>
            </a:r>
            <a:r>
              <a:rPr lang="en-US" sz="2800"/>
              <a:t> </a:t>
            </a:r>
            <a:r>
              <a:rPr lang="en-US" sz="2800"/>
              <a:t>viết</a:t>
            </a:r>
            <a:r>
              <a:rPr lang="en-US" sz="2800"/>
              <a:t> </a:t>
            </a:r>
            <a:r>
              <a:rPr lang="en-US" sz="2800"/>
              <a:t>khác</a:t>
            </a:r>
            <a:r>
              <a:rPr lang="en-US" sz="2800"/>
              <a:t> </a:t>
            </a:r>
            <a:r>
              <a:rPr lang="en-US" sz="2800"/>
              <a:t>nhau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Tên</a:t>
            </a:r>
            <a:r>
              <a:rPr lang="en-US" sz="2800"/>
              <a:t> </a:t>
            </a:r>
            <a:r>
              <a:rPr lang="en-US" sz="2800"/>
              <a:t>riêng</a:t>
            </a:r>
            <a:r>
              <a:rPr lang="en-US" sz="2800"/>
              <a:t> </a:t>
            </a:r>
            <a:r>
              <a:rPr lang="en-US" sz="2800"/>
              <a:t>có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được</a:t>
            </a:r>
            <a:r>
              <a:rPr lang="en-US" sz="2800"/>
              <a:t> </a:t>
            </a:r>
            <a:r>
              <a:rPr lang="en-US" sz="2800"/>
              <a:t>viết</a:t>
            </a:r>
            <a:r>
              <a:rPr lang="en-US" sz="2800"/>
              <a:t> </a:t>
            </a:r>
            <a:r>
              <a:rPr lang="en-US" sz="2800"/>
              <a:t>khác</a:t>
            </a:r>
            <a:r>
              <a:rPr lang="en-US" sz="2800"/>
              <a:t> </a:t>
            </a:r>
            <a:r>
              <a:rPr lang="en-US" sz="2800"/>
              <a:t>nhau</a:t>
            </a:r>
            <a:r>
              <a:rPr lang="en-US" sz="2800"/>
              <a:t> </a:t>
            </a:r>
            <a:r>
              <a:rPr lang="en-US" sz="2800"/>
              <a:t>giữa</a:t>
            </a:r>
            <a:r>
              <a:rPr lang="en-US" sz="2800"/>
              <a:t> </a:t>
            </a:r>
            <a:r>
              <a:rPr lang="en-US" sz="2800"/>
              <a:t>các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Việc</a:t>
            </a:r>
            <a:r>
              <a:rPr lang="en-US" sz="2800"/>
              <a:t> </a:t>
            </a:r>
            <a:r>
              <a:rPr lang="en-US" sz="2800"/>
              <a:t>duy</a:t>
            </a:r>
            <a:r>
              <a:rPr lang="en-US" sz="2800"/>
              <a:t> </a:t>
            </a:r>
            <a:r>
              <a:rPr lang="en-US" sz="2800"/>
              <a:t>trì</a:t>
            </a:r>
            <a:r>
              <a:rPr lang="en-US" sz="2800"/>
              <a:t>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đơn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trong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tế</a:t>
            </a:r>
            <a:r>
              <a:rPr lang="en-US" sz="2800"/>
              <a:t> </a:t>
            </a:r>
            <a:r>
              <a:rPr lang="en-US" sz="2800"/>
              <a:t>rất</a:t>
            </a:r>
            <a:r>
              <a:rPr lang="en-US" sz="2800"/>
              <a:t> </a:t>
            </a:r>
            <a:r>
              <a:rPr lang="en-US" sz="2800"/>
              <a:t>phức</a:t>
            </a:r>
            <a:r>
              <a:rPr lang="en-US" sz="2800"/>
              <a:t> </a:t>
            </a:r>
            <a:r>
              <a:rPr lang="en-US" sz="2800"/>
              <a:t>tạp</a:t>
            </a:r>
            <a:r>
              <a:rPr lang="en-US" sz="2800"/>
              <a:t>. 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Vì</a:t>
            </a:r>
            <a:r>
              <a:rPr lang="en-US" sz="2800"/>
              <a:t> </a:t>
            </a:r>
            <a:r>
              <a:rPr lang="en-US" sz="2800"/>
              <a:t>vậy</a:t>
            </a:r>
            <a:r>
              <a:rPr lang="en-US" sz="2800"/>
              <a:t>, </a:t>
            </a:r>
            <a:r>
              <a:rPr lang="en-US" sz="2800"/>
              <a:t>cần</a:t>
            </a:r>
            <a:r>
              <a:rPr lang="en-US" sz="2800"/>
              <a:t>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đa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có</a:t>
            </a:r>
            <a:r>
              <a:rPr lang="en-US" sz="2800"/>
              <a:t> </a:t>
            </a:r>
            <a:r>
              <a:rPr lang="en-US" sz="2800"/>
              <a:t>khả</a:t>
            </a:r>
            <a:r>
              <a:rPr lang="en-US" sz="2800"/>
              <a:t> </a:t>
            </a:r>
            <a:r>
              <a:rPr lang="en-US" sz="2800"/>
              <a:t>năng</a:t>
            </a:r>
            <a:r>
              <a:rPr lang="en-US" sz="2800"/>
              <a:t> </a:t>
            </a:r>
            <a:r>
              <a:rPr lang="en-US" sz="2800"/>
              <a:t>học</a:t>
            </a:r>
            <a:r>
              <a:rPr lang="en-US" sz="2800"/>
              <a:t> </a:t>
            </a:r>
            <a:r>
              <a:rPr lang="en-US" sz="2800"/>
              <a:t>và</a:t>
            </a:r>
            <a:r>
              <a:rPr lang="en-US" sz="2800"/>
              <a:t> </a:t>
            </a:r>
            <a:r>
              <a:rPr lang="en-US" sz="2800"/>
              <a:t>chuyển</a:t>
            </a:r>
            <a:r>
              <a:rPr lang="en-US" sz="2800"/>
              <a:t> </a:t>
            </a:r>
            <a:r>
              <a:rPr lang="en-US" sz="2800"/>
              <a:t>giao</a:t>
            </a:r>
            <a:r>
              <a:rPr lang="en-US" sz="2800"/>
              <a:t> </a:t>
            </a:r>
            <a:r>
              <a:rPr lang="en-US" sz="2800"/>
              <a:t>giữa</a:t>
            </a:r>
            <a:r>
              <a:rPr lang="en-US" sz="2800"/>
              <a:t> </a:t>
            </a:r>
            <a:r>
              <a:rPr lang="en-US" sz="2800"/>
              <a:t>các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.</a:t>
            </a:r>
            <a:endParaRPr/>
          </a:p>
        </p:txBody>
      </p:sp>
      <p:sp>
        <p:nvSpPr>
          <p:cNvPr id="1870818519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sz="2000" b="0">
                <a:latin typeface="Arial"/>
              </a:rPr>
              <a:t>4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628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93628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628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93628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628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93628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6280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936280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6280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936280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6280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936280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362804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958549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Mô</a:t>
            </a:r>
            <a:r>
              <a:rPr lang="en-US" sz="3200"/>
              <a:t> </a:t>
            </a:r>
            <a:r>
              <a:rPr lang="en-US" sz="3200"/>
              <a:t>hình</a:t>
            </a:r>
            <a:r>
              <a:rPr lang="en-US" sz="3200"/>
              <a:t> Transformer </a:t>
            </a:r>
            <a:r>
              <a:rPr lang="en-US" sz="3200"/>
              <a:t>đa</a:t>
            </a:r>
            <a:r>
              <a:rPr lang="en-US" sz="3200"/>
              <a:t> </a:t>
            </a:r>
            <a:r>
              <a:rPr lang="en-US" sz="3200"/>
              <a:t>ngôn</a:t>
            </a:r>
            <a:r>
              <a:rPr lang="en-US" sz="3200"/>
              <a:t> </a:t>
            </a:r>
            <a:r>
              <a:rPr lang="en-US" sz="3200"/>
              <a:t>ngữ</a:t>
            </a:r>
            <a:endParaRPr sz="3200" b="0">
              <a:latin typeface="Arial"/>
            </a:endParaRPr>
          </a:p>
        </p:txBody>
      </p:sp>
      <p:sp>
        <p:nvSpPr>
          <p:cNvPr id="310837525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114300" indent="0">
              <a:buNone/>
              <a:defRPr/>
            </a:pPr>
            <a:r>
              <a:rPr lang="en-US" sz="2800"/>
              <a:t>- Các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Transformer </a:t>
            </a:r>
            <a:r>
              <a:rPr lang="en-US" sz="2800"/>
              <a:t>đa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được</a:t>
            </a:r>
            <a:r>
              <a:rPr lang="en-US" sz="2800"/>
              <a:t> </a:t>
            </a:r>
            <a:r>
              <a:rPr lang="en-US" sz="2800"/>
              <a:t>huấn</a:t>
            </a:r>
            <a:r>
              <a:rPr lang="en-US" sz="2800"/>
              <a:t> </a:t>
            </a:r>
            <a:r>
              <a:rPr lang="en-US" sz="2800"/>
              <a:t>luyện</a:t>
            </a:r>
            <a:r>
              <a:rPr lang="en-US" sz="2800"/>
              <a:t> </a:t>
            </a:r>
            <a:r>
              <a:rPr lang="en-US" sz="2800"/>
              <a:t>trên</a:t>
            </a:r>
            <a:r>
              <a:rPr lang="en-US" sz="2800"/>
              <a:t> </a:t>
            </a:r>
            <a:r>
              <a:rPr lang="en-US" sz="2800"/>
              <a:t>dữ</a:t>
            </a:r>
            <a:r>
              <a:rPr lang="en-US" sz="2800"/>
              <a:t> </a:t>
            </a:r>
            <a:r>
              <a:rPr lang="en-US" sz="2800"/>
              <a:t>liệu</a:t>
            </a:r>
            <a:r>
              <a:rPr lang="en-US" sz="2800"/>
              <a:t> </a:t>
            </a:r>
            <a:r>
              <a:rPr lang="en-US" sz="2800"/>
              <a:t>của</a:t>
            </a:r>
            <a:r>
              <a:rPr lang="en-US" sz="2800"/>
              <a:t>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khác</a:t>
            </a:r>
            <a:r>
              <a:rPr lang="en-US" sz="2800"/>
              <a:t> </a:t>
            </a:r>
            <a:r>
              <a:rPr lang="en-US" sz="2800"/>
              <a:t>nhau</a:t>
            </a:r>
            <a:r>
              <a:rPr lang="en-US" sz="2800"/>
              <a:t>.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Trong Chapter 4,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chính</a:t>
            </a:r>
            <a:r>
              <a:rPr lang="en-US" sz="2800"/>
              <a:t> </a:t>
            </a:r>
            <a:r>
              <a:rPr lang="en-US" sz="2800"/>
              <a:t>được</a:t>
            </a:r>
            <a:r>
              <a:rPr lang="en-US" sz="2800"/>
              <a:t> </a:t>
            </a:r>
            <a:r>
              <a:rPr lang="en-US" sz="2800"/>
              <a:t>sử</a:t>
            </a:r>
            <a:r>
              <a:rPr lang="en-US" sz="2800"/>
              <a:t> </a:t>
            </a:r>
            <a:r>
              <a:rPr lang="en-US" sz="2800"/>
              <a:t>dụng</a:t>
            </a:r>
            <a:r>
              <a:rPr lang="en-US" sz="2800"/>
              <a:t> </a:t>
            </a:r>
            <a:r>
              <a:rPr lang="en-US" sz="2800"/>
              <a:t>là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 b="1"/>
              <a:t>XLM-</a:t>
            </a:r>
            <a:r>
              <a:rPr lang="en-US" sz="2800" b="1"/>
              <a:t>RoBERTa</a:t>
            </a:r>
            <a:endParaRPr lang="en-US" sz="2800"/>
          </a:p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Đặc</a:t>
            </a:r>
            <a:r>
              <a:rPr lang="en-US" sz="2800"/>
              <a:t> </a:t>
            </a:r>
            <a:r>
              <a:rPr lang="en-US" sz="2800"/>
              <a:t>điểm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/>
              <a:t>Được</a:t>
            </a:r>
            <a:r>
              <a:rPr lang="en-US" sz="2800"/>
              <a:t> </a:t>
            </a:r>
            <a:r>
              <a:rPr lang="en-US" sz="2800"/>
              <a:t>huấn</a:t>
            </a:r>
            <a:r>
              <a:rPr lang="en-US" sz="2800"/>
              <a:t> </a:t>
            </a:r>
            <a:r>
              <a:rPr lang="en-US" sz="2800"/>
              <a:t>luyện</a:t>
            </a:r>
            <a:r>
              <a:rPr lang="en-US" sz="2800"/>
              <a:t> </a:t>
            </a:r>
            <a:r>
              <a:rPr lang="en-US" sz="2800"/>
              <a:t>trên</a:t>
            </a:r>
            <a:r>
              <a:rPr lang="en-US" sz="2800"/>
              <a:t> </a:t>
            </a:r>
            <a:r>
              <a:rPr lang="en-US" sz="2800"/>
              <a:t>hơn</a:t>
            </a:r>
            <a:r>
              <a:rPr lang="en-US" sz="2800"/>
              <a:t> 100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Có</a:t>
            </a:r>
            <a:r>
              <a:rPr lang="en-US" sz="2800"/>
              <a:t> </a:t>
            </a:r>
            <a:r>
              <a:rPr lang="en-US" sz="2800"/>
              <a:t>khả</a:t>
            </a:r>
            <a:r>
              <a:rPr lang="en-US" sz="2800"/>
              <a:t> </a:t>
            </a:r>
            <a:r>
              <a:rPr lang="en-US" sz="2800"/>
              <a:t>năng</a:t>
            </a:r>
            <a:r>
              <a:rPr lang="en-US" sz="2800"/>
              <a:t> </a:t>
            </a:r>
            <a:r>
              <a:rPr lang="en-US" sz="2800"/>
              <a:t>hiểu</a:t>
            </a:r>
            <a:r>
              <a:rPr lang="en-US" sz="2800"/>
              <a:t> </a:t>
            </a:r>
            <a:r>
              <a:rPr lang="en-US" sz="2800"/>
              <a:t>biểu</a:t>
            </a:r>
            <a:r>
              <a:rPr lang="en-US" sz="2800"/>
              <a:t> </a:t>
            </a:r>
            <a:r>
              <a:rPr lang="en-US" sz="2800"/>
              <a:t>diễn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chung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Có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áp</a:t>
            </a:r>
            <a:r>
              <a:rPr lang="en-US" sz="2800"/>
              <a:t> </a:t>
            </a:r>
            <a:r>
              <a:rPr lang="en-US" sz="2800"/>
              <a:t>dụng</a:t>
            </a:r>
            <a:r>
              <a:rPr lang="en-US" sz="2800"/>
              <a:t> </a:t>
            </a:r>
            <a:r>
              <a:rPr lang="en-US" sz="2800"/>
              <a:t>cho</a:t>
            </a:r>
            <a:r>
              <a:rPr lang="en-US" sz="2800"/>
              <a:t>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tác</a:t>
            </a:r>
            <a:r>
              <a:rPr lang="en-US" sz="2800"/>
              <a:t> </a:t>
            </a:r>
            <a:r>
              <a:rPr lang="en-US" sz="2800"/>
              <a:t>vụ</a:t>
            </a:r>
            <a:r>
              <a:rPr lang="en-US" sz="2800"/>
              <a:t> NLP, </a:t>
            </a:r>
            <a:r>
              <a:rPr lang="en-US" sz="2800"/>
              <a:t>trong</a:t>
            </a:r>
            <a:r>
              <a:rPr lang="en-US" sz="2800"/>
              <a:t> </a:t>
            </a:r>
            <a:r>
              <a:rPr lang="en-US" sz="2800"/>
              <a:t>đó</a:t>
            </a:r>
            <a:r>
              <a:rPr lang="en-US" sz="2800"/>
              <a:t> </a:t>
            </a:r>
            <a:r>
              <a:rPr lang="en-US" sz="2800"/>
              <a:t>có</a:t>
            </a:r>
            <a:r>
              <a:rPr lang="en-US" sz="2800"/>
              <a:t> NER. </a:t>
            </a:r>
            <a:endParaRPr/>
          </a:p>
          <a:p>
            <a:pPr>
              <a:defRPr/>
            </a:pPr>
            <a:r>
              <a:rPr lang="en-US" sz="2800"/>
              <a:t>Hỗ</a:t>
            </a:r>
            <a:r>
              <a:rPr lang="en-US" sz="2800"/>
              <a:t> </a:t>
            </a:r>
            <a:r>
              <a:rPr lang="en-US" sz="2800"/>
              <a:t>trợ</a:t>
            </a:r>
            <a:r>
              <a:rPr lang="en-US" sz="2800"/>
              <a:t> </a:t>
            </a:r>
            <a:r>
              <a:rPr lang="en-US" sz="2800"/>
              <a:t>chuyển</a:t>
            </a:r>
            <a:r>
              <a:rPr lang="en-US" sz="2800"/>
              <a:t> </a:t>
            </a:r>
            <a:r>
              <a:rPr lang="en-US" sz="2800"/>
              <a:t>giao</a:t>
            </a:r>
            <a:r>
              <a:rPr lang="en-US" sz="2800"/>
              <a:t> </a:t>
            </a:r>
            <a:r>
              <a:rPr lang="en-US" sz="2800"/>
              <a:t>xuyên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.</a:t>
            </a:r>
            <a:endParaRPr/>
          </a:p>
        </p:txBody>
      </p:sp>
      <p:sp>
        <p:nvSpPr>
          <p:cNvPr id="1566492837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 b="0">
                <a:latin typeface="Arial"/>
              </a:rPr>
              <a:t>5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3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083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37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0837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37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0837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37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0837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37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0837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37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0837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375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08375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375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08375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83752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222883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Zero-shot Cross-lingual Transfer</a:t>
            </a:r>
            <a:endParaRPr sz="3200" b="0">
              <a:latin typeface="Arial"/>
            </a:endParaRPr>
          </a:p>
        </p:txBody>
      </p:sp>
      <p:sp>
        <p:nvSpPr>
          <p:cNvPr id="2094946574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114300" indent="0">
              <a:buNone/>
              <a:defRPr/>
            </a:pPr>
            <a:r>
              <a:rPr lang="en-US" sz="2800" b="1"/>
              <a:t>- Zero-shot cross-lingual transfer</a:t>
            </a:r>
            <a:r>
              <a:rPr lang="en-US" sz="2800"/>
              <a:t> </a:t>
            </a:r>
            <a:r>
              <a:rPr lang="en-US" sz="2800"/>
              <a:t>nghĩa</a:t>
            </a:r>
            <a:r>
              <a:rPr lang="en-US" sz="2800"/>
              <a:t> </a:t>
            </a:r>
            <a:r>
              <a:rPr lang="en-US" sz="2800"/>
              <a:t>là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được</a:t>
            </a:r>
            <a:r>
              <a:rPr lang="en-US" sz="2800"/>
              <a:t> </a:t>
            </a:r>
            <a:r>
              <a:rPr lang="en-US" sz="2800"/>
              <a:t>tinh</a:t>
            </a:r>
            <a:r>
              <a:rPr lang="en-US" sz="2800"/>
              <a:t> </a:t>
            </a:r>
            <a:r>
              <a:rPr lang="en-US" sz="2800"/>
              <a:t>chỉnh</a:t>
            </a:r>
            <a:r>
              <a:rPr lang="en-US" sz="2800"/>
              <a:t> </a:t>
            </a:r>
            <a:r>
              <a:rPr lang="en-US" sz="2800"/>
              <a:t>trên</a:t>
            </a:r>
            <a:r>
              <a:rPr lang="en-US" sz="2800"/>
              <a:t>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, </a:t>
            </a:r>
            <a:r>
              <a:rPr lang="en-US" sz="2800"/>
              <a:t>nhưng</a:t>
            </a:r>
            <a:r>
              <a:rPr lang="en-US" sz="2800"/>
              <a:t> </a:t>
            </a:r>
            <a:r>
              <a:rPr lang="en-US" sz="2800"/>
              <a:t>có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áp</a:t>
            </a:r>
            <a:r>
              <a:rPr lang="en-US" sz="2800"/>
              <a:t> </a:t>
            </a:r>
            <a:r>
              <a:rPr lang="en-US" sz="2800"/>
              <a:t>dụng</a:t>
            </a:r>
            <a:r>
              <a:rPr lang="en-US" sz="2800"/>
              <a:t> </a:t>
            </a:r>
            <a:r>
              <a:rPr lang="en-US" sz="2800"/>
              <a:t>cho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khác</a:t>
            </a:r>
            <a:r>
              <a:rPr lang="en-US" sz="2800"/>
              <a:t> </a:t>
            </a:r>
            <a:r>
              <a:rPr lang="en-US" sz="2800"/>
              <a:t>mà</a:t>
            </a:r>
            <a:r>
              <a:rPr lang="en-US" sz="2800"/>
              <a:t> </a:t>
            </a:r>
            <a:r>
              <a:rPr lang="en-US" sz="2800"/>
              <a:t>không</a:t>
            </a:r>
            <a:r>
              <a:rPr lang="en-US" sz="2800"/>
              <a:t> </a:t>
            </a:r>
            <a:r>
              <a:rPr lang="en-US" sz="2800"/>
              <a:t>cần</a:t>
            </a:r>
            <a:r>
              <a:rPr lang="en-US" sz="2800"/>
              <a:t> </a:t>
            </a:r>
            <a:r>
              <a:rPr lang="en-US" sz="2800"/>
              <a:t>huấn</a:t>
            </a:r>
            <a:r>
              <a:rPr lang="en-US" sz="2800"/>
              <a:t> </a:t>
            </a:r>
            <a:r>
              <a:rPr lang="en-US" sz="2800"/>
              <a:t>luyện</a:t>
            </a:r>
            <a:r>
              <a:rPr lang="en-US" sz="2800"/>
              <a:t> </a:t>
            </a:r>
            <a:r>
              <a:rPr lang="en-US" sz="2800"/>
              <a:t>lại</a:t>
            </a:r>
            <a:r>
              <a:rPr lang="en-US" sz="2800"/>
              <a:t>.</a:t>
            </a:r>
            <a:endParaRPr/>
          </a:p>
          <a:p>
            <a:pPr>
              <a:defRPr/>
            </a:pPr>
            <a:r>
              <a:rPr lang="en-US" sz="2800"/>
              <a:t>Ví</a:t>
            </a:r>
            <a:r>
              <a:rPr lang="en-US" sz="2800"/>
              <a:t> </a:t>
            </a:r>
            <a:r>
              <a:rPr lang="en-US" sz="2800"/>
              <a:t>dụ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/>
              <a:t>Huấn</a:t>
            </a:r>
            <a:r>
              <a:rPr lang="en-US" sz="2800"/>
              <a:t> </a:t>
            </a:r>
            <a:r>
              <a:rPr lang="en-US" sz="2800"/>
              <a:t>luyện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trên</a:t>
            </a:r>
            <a:r>
              <a:rPr lang="en-US" sz="2800"/>
              <a:t> </a:t>
            </a:r>
            <a:r>
              <a:rPr lang="en-US" sz="2800"/>
              <a:t>tiếng</a:t>
            </a:r>
            <a:r>
              <a:rPr lang="en-US" sz="2800"/>
              <a:t> Đức. </a:t>
            </a:r>
            <a:endParaRPr/>
          </a:p>
          <a:p>
            <a:pPr>
              <a:defRPr/>
            </a:pPr>
            <a:r>
              <a:rPr lang="en-US" sz="2800"/>
              <a:t>Sau </a:t>
            </a:r>
            <a:r>
              <a:rPr lang="en-US" sz="2800"/>
              <a:t>đó</a:t>
            </a:r>
            <a:r>
              <a:rPr lang="en-US" sz="2800"/>
              <a:t> </a:t>
            </a:r>
            <a:r>
              <a:rPr lang="en-US" sz="2800"/>
              <a:t>dùng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để</a:t>
            </a:r>
            <a:r>
              <a:rPr lang="en-US" sz="2800"/>
              <a:t> </a:t>
            </a:r>
            <a:r>
              <a:rPr lang="en-US" sz="2800"/>
              <a:t>nhận</a:t>
            </a:r>
            <a:r>
              <a:rPr lang="en-US" sz="2800"/>
              <a:t> </a:t>
            </a:r>
            <a:r>
              <a:rPr lang="en-US" sz="2800"/>
              <a:t>dạng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trong</a:t>
            </a:r>
            <a:r>
              <a:rPr lang="en-US" sz="2800"/>
              <a:t> </a:t>
            </a:r>
            <a:r>
              <a:rPr lang="en-US" sz="2800"/>
              <a:t>tiếng</a:t>
            </a:r>
            <a:r>
              <a:rPr lang="en-US" sz="2800"/>
              <a:t> Pháp, Ý </a:t>
            </a:r>
            <a:r>
              <a:rPr lang="en-US" sz="2800"/>
              <a:t>hoặc</a:t>
            </a:r>
            <a:r>
              <a:rPr lang="en-US" sz="2800"/>
              <a:t> Anh. 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Đây</a:t>
            </a:r>
            <a:r>
              <a:rPr lang="en-US" sz="2800"/>
              <a:t> </a:t>
            </a:r>
            <a:r>
              <a:rPr lang="en-US" sz="2800"/>
              <a:t>là</a:t>
            </a:r>
            <a:r>
              <a:rPr lang="en-US" sz="2800"/>
              <a:t> </a:t>
            </a:r>
            <a:r>
              <a:rPr lang="en-US" sz="2800"/>
              <a:t>điểm</a:t>
            </a:r>
            <a:r>
              <a:rPr lang="en-US" sz="2800"/>
              <a:t> </a:t>
            </a:r>
            <a:r>
              <a:rPr lang="en-US" sz="2800"/>
              <a:t>mạnh</a:t>
            </a:r>
            <a:r>
              <a:rPr lang="en-US" sz="2800"/>
              <a:t> </a:t>
            </a:r>
            <a:r>
              <a:rPr lang="en-US" sz="2800"/>
              <a:t>quan</a:t>
            </a:r>
            <a:r>
              <a:rPr lang="en-US" sz="2800"/>
              <a:t> </a:t>
            </a:r>
            <a:r>
              <a:rPr lang="en-US" sz="2800"/>
              <a:t>trọng</a:t>
            </a:r>
            <a:r>
              <a:rPr lang="en-US" sz="2800"/>
              <a:t> </a:t>
            </a:r>
            <a:r>
              <a:rPr lang="en-US" sz="2800"/>
              <a:t>của</a:t>
            </a:r>
            <a:r>
              <a:rPr lang="en-US" sz="2800"/>
              <a:t> </a:t>
            </a:r>
            <a:r>
              <a:rPr lang="en-US" sz="2800"/>
              <a:t>các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Transformer </a:t>
            </a:r>
            <a:r>
              <a:rPr lang="en-US" sz="2800"/>
              <a:t>đa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.</a:t>
            </a:r>
            <a:endParaRPr/>
          </a:p>
        </p:txBody>
      </p:sp>
      <p:sp>
        <p:nvSpPr>
          <p:cNvPr id="766076809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 b="0">
                <a:latin typeface="Arial"/>
              </a:rPr>
              <a:t>6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946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4946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946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94946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9465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949465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9465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949465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9465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949465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9465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949465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494657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471368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Tập</a:t>
            </a:r>
            <a:r>
              <a:rPr lang="en-US" sz="3200"/>
              <a:t> </a:t>
            </a:r>
            <a:r>
              <a:rPr lang="en-US" sz="3200"/>
              <a:t>dữ</a:t>
            </a:r>
            <a:r>
              <a:rPr lang="en-US" sz="3200"/>
              <a:t> </a:t>
            </a:r>
            <a:r>
              <a:rPr lang="en-US" sz="3200"/>
              <a:t>liệu</a:t>
            </a:r>
            <a:r>
              <a:rPr lang="en-US" sz="3200"/>
              <a:t> </a:t>
            </a:r>
            <a:r>
              <a:rPr lang="en-US" sz="3200"/>
              <a:t>sử</a:t>
            </a:r>
            <a:r>
              <a:rPr lang="en-US" sz="3200"/>
              <a:t> </a:t>
            </a:r>
            <a:r>
              <a:rPr lang="en-US" sz="3200"/>
              <a:t>dụng</a:t>
            </a:r>
            <a:endParaRPr sz="3200" b="0">
              <a:latin typeface="Arial"/>
            </a:endParaRPr>
          </a:p>
        </p:txBody>
      </p:sp>
      <p:sp>
        <p:nvSpPr>
          <p:cNvPr id="587534675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114300" indent="0">
              <a:buNone/>
              <a:defRPr/>
            </a:pPr>
            <a:r>
              <a:rPr lang="en-US" sz="2800"/>
              <a:t>- Chapter 4 </a:t>
            </a:r>
            <a:r>
              <a:rPr lang="en-US" sz="2800"/>
              <a:t>sử</a:t>
            </a:r>
            <a:r>
              <a:rPr lang="en-US" sz="2800"/>
              <a:t> </a:t>
            </a:r>
            <a:r>
              <a:rPr lang="en-US" sz="2800"/>
              <a:t>dụng</a:t>
            </a:r>
            <a:r>
              <a:rPr lang="en-US" sz="2800"/>
              <a:t> </a:t>
            </a:r>
            <a:r>
              <a:rPr lang="en-US" sz="2800"/>
              <a:t>tập</a:t>
            </a:r>
            <a:r>
              <a:rPr lang="en-US" sz="2800"/>
              <a:t> </a:t>
            </a:r>
            <a:r>
              <a:rPr lang="en-US" sz="2800"/>
              <a:t>dữ</a:t>
            </a:r>
            <a:r>
              <a:rPr lang="en-US" sz="2800"/>
              <a:t> </a:t>
            </a:r>
            <a:r>
              <a:rPr lang="en-US" sz="2800"/>
              <a:t>liệu</a:t>
            </a:r>
            <a:r>
              <a:rPr lang="en-US" sz="2800"/>
              <a:t>: </a:t>
            </a:r>
            <a:r>
              <a:rPr lang="en-US" sz="2800" b="1"/>
              <a:t>WikiANN</a:t>
            </a:r>
            <a:r>
              <a:rPr lang="en-US" sz="2800" b="1"/>
              <a:t> / PAN-X</a:t>
            </a:r>
            <a:endParaRPr lang="en-US" sz="2800"/>
          </a:p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Đây</a:t>
            </a:r>
            <a:r>
              <a:rPr lang="en-US" sz="2800"/>
              <a:t> </a:t>
            </a:r>
            <a:r>
              <a:rPr lang="en-US" sz="2800"/>
              <a:t>là</a:t>
            </a:r>
            <a:r>
              <a:rPr lang="en-US" sz="2800"/>
              <a:t>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phần</a:t>
            </a:r>
            <a:r>
              <a:rPr lang="en-US" sz="2800"/>
              <a:t> </a:t>
            </a:r>
            <a:r>
              <a:rPr lang="en-US" sz="2800"/>
              <a:t>của</a:t>
            </a:r>
            <a:r>
              <a:rPr lang="en-US" sz="2800"/>
              <a:t> benchmark </a:t>
            </a:r>
            <a:r>
              <a:rPr lang="en-US" sz="2800" b="1"/>
              <a:t>XTREME</a:t>
            </a:r>
            <a:r>
              <a:rPr lang="en-US" sz="2800"/>
              <a:t>.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Tập</a:t>
            </a:r>
            <a:r>
              <a:rPr lang="en-US" sz="2800"/>
              <a:t> </a:t>
            </a:r>
            <a:r>
              <a:rPr lang="en-US" sz="2800"/>
              <a:t>dữ</a:t>
            </a:r>
            <a:r>
              <a:rPr lang="en-US" sz="2800"/>
              <a:t> </a:t>
            </a:r>
            <a:r>
              <a:rPr lang="en-US" sz="2800"/>
              <a:t>liệu</a:t>
            </a:r>
            <a:r>
              <a:rPr lang="en-US" sz="2800"/>
              <a:t> </a:t>
            </a:r>
            <a:r>
              <a:rPr lang="en-US" sz="2800"/>
              <a:t>gồm</a:t>
            </a:r>
            <a:r>
              <a:rPr lang="en-US" sz="2800"/>
              <a:t> </a:t>
            </a:r>
            <a:r>
              <a:rPr lang="en-US" sz="2800"/>
              <a:t>các</a:t>
            </a:r>
            <a:r>
              <a:rPr lang="en-US" sz="2800"/>
              <a:t> </a:t>
            </a:r>
            <a:r>
              <a:rPr lang="en-US" sz="2800"/>
              <a:t>bài</a:t>
            </a:r>
            <a:r>
              <a:rPr lang="en-US" sz="2800"/>
              <a:t> </a:t>
            </a:r>
            <a:r>
              <a:rPr lang="en-US" sz="2800"/>
              <a:t>viết</a:t>
            </a:r>
            <a:r>
              <a:rPr lang="en-US" sz="2800"/>
              <a:t> Wikipedia ở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.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Trong </a:t>
            </a:r>
            <a:r>
              <a:rPr lang="en-US" sz="2800"/>
              <a:t>chương</a:t>
            </a:r>
            <a:r>
              <a:rPr lang="en-US" sz="2800"/>
              <a:t> </a:t>
            </a:r>
            <a:r>
              <a:rPr lang="en-US" sz="2800"/>
              <a:t>này</a:t>
            </a:r>
            <a:r>
              <a:rPr lang="en-US" sz="2800"/>
              <a:t> </a:t>
            </a:r>
            <a:r>
              <a:rPr lang="en-US" sz="2800"/>
              <a:t>tập</a:t>
            </a:r>
            <a:r>
              <a:rPr lang="en-US" sz="2800"/>
              <a:t> </a:t>
            </a:r>
            <a:r>
              <a:rPr lang="en-US" sz="2800"/>
              <a:t>trung</a:t>
            </a:r>
            <a:r>
              <a:rPr lang="en-US" sz="2800"/>
              <a:t> </a:t>
            </a:r>
            <a:r>
              <a:rPr lang="en-US" sz="2800"/>
              <a:t>vào</a:t>
            </a:r>
            <a:r>
              <a:rPr lang="en-US" sz="2800"/>
              <a:t> </a:t>
            </a:r>
            <a:r>
              <a:rPr lang="en-US" sz="2800"/>
              <a:t>các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phổ</a:t>
            </a:r>
            <a:r>
              <a:rPr lang="en-US" sz="2800"/>
              <a:t> </a:t>
            </a:r>
            <a:r>
              <a:rPr lang="en-US" sz="2800"/>
              <a:t>biến</a:t>
            </a:r>
            <a:r>
              <a:rPr lang="en-US" sz="2800"/>
              <a:t> ở </a:t>
            </a:r>
            <a:r>
              <a:rPr lang="en-US" sz="2800"/>
              <a:t>Thụy</a:t>
            </a:r>
            <a:r>
              <a:rPr lang="en-US" sz="2800"/>
              <a:t> </a:t>
            </a:r>
            <a:r>
              <a:rPr lang="en-US" sz="2800"/>
              <a:t>Sĩ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/>
              <a:t>German </a:t>
            </a:r>
            <a:endParaRPr/>
          </a:p>
          <a:p>
            <a:pPr>
              <a:defRPr/>
            </a:pPr>
            <a:r>
              <a:rPr lang="en-US" sz="2800"/>
              <a:t>French </a:t>
            </a:r>
            <a:endParaRPr/>
          </a:p>
          <a:p>
            <a:pPr>
              <a:defRPr/>
            </a:pPr>
            <a:r>
              <a:rPr lang="en-US" sz="2800"/>
              <a:t>Italian </a:t>
            </a:r>
            <a:endParaRPr/>
          </a:p>
          <a:p>
            <a:pPr>
              <a:defRPr/>
            </a:pPr>
            <a:r>
              <a:rPr lang="en-US" sz="2800"/>
              <a:t>English</a:t>
            </a:r>
            <a:endParaRPr/>
          </a:p>
        </p:txBody>
      </p:sp>
      <p:sp>
        <p:nvSpPr>
          <p:cNvPr id="772068566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/>
              <a:t>7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53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753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53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753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53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753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53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753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53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753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53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753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53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8753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53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753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753467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674822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Định </a:t>
            </a:r>
            <a:r>
              <a:rPr lang="en-US" sz="3200"/>
              <a:t>dạng</a:t>
            </a:r>
            <a:r>
              <a:rPr lang="en-US" sz="3200"/>
              <a:t> </a:t>
            </a:r>
            <a:r>
              <a:rPr lang="en-US" sz="3200"/>
              <a:t>nhãn</a:t>
            </a:r>
            <a:r>
              <a:rPr lang="en-US" sz="3200"/>
              <a:t> IOB2</a:t>
            </a:r>
            <a:endParaRPr sz="3200" b="0">
              <a:latin typeface="Arial"/>
            </a:endParaRPr>
          </a:p>
        </p:txBody>
      </p:sp>
      <p:sp>
        <p:nvSpPr>
          <p:cNvPr id="298142032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Dữ</a:t>
            </a:r>
            <a:r>
              <a:rPr lang="en-US" sz="2800"/>
              <a:t> </a:t>
            </a:r>
            <a:r>
              <a:rPr lang="en-US" sz="2800"/>
              <a:t>liệu</a:t>
            </a:r>
            <a:r>
              <a:rPr lang="en-US" sz="2800"/>
              <a:t> NER </a:t>
            </a:r>
            <a:r>
              <a:rPr lang="en-US" sz="2800"/>
              <a:t>thường</a:t>
            </a:r>
            <a:r>
              <a:rPr lang="en-US" sz="2800"/>
              <a:t> </a:t>
            </a:r>
            <a:r>
              <a:rPr lang="en-US" sz="2800"/>
              <a:t>dùng</a:t>
            </a:r>
            <a:r>
              <a:rPr lang="en-US" sz="2800"/>
              <a:t> </a:t>
            </a:r>
            <a:r>
              <a:rPr lang="en-US" sz="2800"/>
              <a:t>định</a:t>
            </a:r>
            <a:r>
              <a:rPr lang="en-US" sz="2800"/>
              <a:t> </a:t>
            </a:r>
            <a:r>
              <a:rPr lang="en-US" sz="2800"/>
              <a:t>dạng</a:t>
            </a:r>
            <a:r>
              <a:rPr lang="en-US" sz="2800"/>
              <a:t> </a:t>
            </a:r>
            <a:r>
              <a:rPr lang="en-US" sz="2800" b="1"/>
              <a:t>IOB2</a:t>
            </a:r>
            <a:r>
              <a:rPr lang="en-US" sz="2800"/>
              <a:t>.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Ý </a:t>
            </a:r>
            <a:r>
              <a:rPr lang="en-US" sz="2800"/>
              <a:t>nghĩa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 b="1"/>
              <a:t>B-</a:t>
            </a:r>
            <a:r>
              <a:rPr lang="en-US" sz="2800"/>
              <a:t>: </a:t>
            </a:r>
            <a:r>
              <a:rPr lang="en-US" sz="2800"/>
              <a:t>Bắt</a:t>
            </a:r>
            <a:r>
              <a:rPr lang="en-US" sz="2800"/>
              <a:t> </a:t>
            </a:r>
            <a:r>
              <a:rPr lang="en-US" sz="2800"/>
              <a:t>đầu</a:t>
            </a:r>
            <a:r>
              <a:rPr lang="en-US" sz="2800"/>
              <a:t>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endParaRPr/>
          </a:p>
          <a:p>
            <a:pPr>
              <a:defRPr/>
            </a:pPr>
            <a:r>
              <a:rPr lang="en-US" sz="2800" b="1"/>
              <a:t>I-</a:t>
            </a:r>
            <a:r>
              <a:rPr lang="en-US" sz="2800"/>
              <a:t>: </a:t>
            </a:r>
            <a:r>
              <a:rPr lang="en-US" sz="2800"/>
              <a:t>Bên</a:t>
            </a:r>
            <a:r>
              <a:rPr lang="en-US" sz="2800"/>
              <a:t> </a:t>
            </a:r>
            <a:r>
              <a:rPr lang="en-US" sz="2800"/>
              <a:t>trong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endParaRPr/>
          </a:p>
          <a:p>
            <a:pPr>
              <a:defRPr/>
            </a:pPr>
            <a:r>
              <a:rPr lang="en-US" sz="2800" b="1"/>
              <a:t>O</a:t>
            </a:r>
            <a:r>
              <a:rPr lang="en-US" sz="2800"/>
              <a:t>: </a:t>
            </a:r>
            <a:r>
              <a:rPr lang="en-US" sz="2800"/>
              <a:t>Không</a:t>
            </a:r>
            <a:r>
              <a:rPr lang="en-US" sz="2800"/>
              <a:t> </a:t>
            </a:r>
            <a:r>
              <a:rPr lang="en-US" sz="2800"/>
              <a:t>thuộc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nào</a:t>
            </a:r>
            <a:endParaRPr lang="en-US" sz="2800"/>
          </a:p>
          <a:p>
            <a:pPr>
              <a:buFontTx/>
              <a:buChar char="-"/>
              <a:defRPr/>
            </a:pPr>
            <a:r>
              <a:rPr lang="en-US" sz="2800"/>
              <a:t>Nhờ</a:t>
            </a:r>
            <a:r>
              <a:rPr lang="en-US" sz="2800"/>
              <a:t> </a:t>
            </a:r>
            <a:r>
              <a:rPr lang="en-US" sz="2800"/>
              <a:t>định</a:t>
            </a:r>
            <a:r>
              <a:rPr lang="en-US" sz="2800"/>
              <a:t> </a:t>
            </a:r>
            <a:r>
              <a:rPr lang="en-US" sz="2800"/>
              <a:t>dạng</a:t>
            </a:r>
            <a:r>
              <a:rPr lang="en-US" sz="2800"/>
              <a:t> </a:t>
            </a:r>
            <a:r>
              <a:rPr lang="en-US" sz="2800"/>
              <a:t>này</a:t>
            </a:r>
            <a:r>
              <a:rPr lang="en-US" sz="2800"/>
              <a:t>,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biết</a:t>
            </a:r>
            <a:r>
              <a:rPr lang="en-US" sz="2800"/>
              <a:t> </a:t>
            </a:r>
            <a:r>
              <a:rPr lang="en-US" sz="2800"/>
              <a:t>được</a:t>
            </a:r>
            <a:r>
              <a:rPr lang="en-US" sz="2800"/>
              <a:t> </a:t>
            </a:r>
            <a:r>
              <a:rPr lang="en-US" sz="2800"/>
              <a:t>vị</a:t>
            </a:r>
            <a:r>
              <a:rPr lang="en-US" sz="2800"/>
              <a:t> </a:t>
            </a:r>
            <a:r>
              <a:rPr lang="en-US" sz="2800"/>
              <a:t>trí</a:t>
            </a:r>
            <a:r>
              <a:rPr lang="en-US" sz="2800"/>
              <a:t> </a:t>
            </a:r>
            <a:r>
              <a:rPr lang="en-US" sz="2800"/>
              <a:t>bắt</a:t>
            </a:r>
            <a:r>
              <a:rPr lang="en-US" sz="2800"/>
              <a:t> </a:t>
            </a:r>
            <a:r>
              <a:rPr lang="en-US" sz="2800"/>
              <a:t>đầu</a:t>
            </a:r>
            <a:r>
              <a:rPr lang="en-US" sz="2800"/>
              <a:t> </a:t>
            </a:r>
            <a:r>
              <a:rPr lang="en-US" sz="2800"/>
              <a:t>và</a:t>
            </a:r>
            <a:r>
              <a:rPr lang="en-US" sz="2800"/>
              <a:t> </a:t>
            </a:r>
            <a:r>
              <a:rPr lang="en-US" sz="2800"/>
              <a:t>phần</a:t>
            </a:r>
            <a:r>
              <a:rPr lang="en-US" sz="2800"/>
              <a:t> </a:t>
            </a:r>
            <a:r>
              <a:rPr lang="en-US" sz="2800"/>
              <a:t>tiếp</a:t>
            </a:r>
            <a:r>
              <a:rPr lang="en-US" sz="2800"/>
              <a:t> </a:t>
            </a:r>
            <a:r>
              <a:rPr lang="en-US" sz="2800"/>
              <a:t>theo</a:t>
            </a:r>
            <a:r>
              <a:rPr lang="en-US" sz="2800"/>
              <a:t> </a:t>
            </a:r>
            <a:r>
              <a:rPr lang="en-US" sz="2800"/>
              <a:t>của</a:t>
            </a:r>
            <a:r>
              <a:rPr lang="en-US" sz="2800"/>
              <a:t>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.</a:t>
            </a:r>
            <a:endParaRPr/>
          </a:p>
          <a:p>
            <a:pPr>
              <a:buFontTx/>
              <a:buChar char="-"/>
              <a:defRPr/>
            </a:pPr>
            <a:endParaRPr lang="en-US" sz="2800"/>
          </a:p>
        </p:txBody>
      </p:sp>
      <p:sp>
        <p:nvSpPr>
          <p:cNvPr id="371465998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000"/>
              <a:t>8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42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81420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420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81420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420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81420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420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81420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420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81420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420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81420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14203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949908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Định </a:t>
            </a:r>
            <a:r>
              <a:rPr lang="en-US" sz="3200"/>
              <a:t>dạng</a:t>
            </a:r>
            <a:r>
              <a:rPr lang="en-US" sz="3200"/>
              <a:t> </a:t>
            </a:r>
            <a:r>
              <a:rPr lang="en-US" sz="3200"/>
              <a:t>nhãn</a:t>
            </a:r>
            <a:r>
              <a:rPr lang="en-US" sz="3200"/>
              <a:t> IOB2</a:t>
            </a:r>
            <a:endParaRPr sz="3200" b="0">
              <a:latin typeface="Arial"/>
            </a:endParaRPr>
          </a:p>
        </p:txBody>
      </p:sp>
      <p:sp>
        <p:nvSpPr>
          <p:cNvPr id="1085095979" name="Slide Number Placeholder 3"/>
          <p:cNvSpPr>
            <a:spLocks noGrp="1"/>
          </p:cNvSpPr>
          <p:nvPr>
            <p:ph type="sldNum" idx="12"/>
          </p:nvPr>
        </p:nvSpPr>
        <p:spPr bwMode="auto">
          <a:xfrm>
            <a:off x="541125" y="6440627"/>
            <a:ext cx="437930" cy="417373"/>
          </a:xfrm>
        </p:spPr>
        <p:txBody>
          <a:bodyPr/>
          <a:lstStyle/>
          <a:p>
            <a:pPr>
              <a:defRPr/>
            </a:pPr>
            <a:r>
              <a:rPr lang="en-US" sz="1800" b="0">
                <a:latin typeface="Arial"/>
              </a:rPr>
              <a:t>9</a:t>
            </a:r>
            <a:endParaRPr lang="en-US" sz="1400"/>
          </a:p>
        </p:txBody>
      </p:sp>
      <p:pic>
        <p:nvPicPr>
          <p:cNvPr id="1067201385" name="Picture 6" descr="NLP Token Classification: How Machines Understand Text Token by Token | by Divyashreens | Apr, 2026 | Medium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23454" y="858501"/>
            <a:ext cx="9625695" cy="53724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2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72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146049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Tokenization </a:t>
            </a:r>
            <a:r>
              <a:rPr lang="en-US" sz="3200"/>
              <a:t>trong</a:t>
            </a:r>
            <a:r>
              <a:rPr lang="en-US" sz="3200"/>
              <a:t> XLM-</a:t>
            </a:r>
            <a:r>
              <a:rPr lang="en-US" sz="3200"/>
              <a:t>RoBERTa</a:t>
            </a:r>
            <a:endParaRPr sz="3200" b="0">
              <a:latin typeface="Arial"/>
            </a:endParaRPr>
          </a:p>
        </p:txBody>
      </p:sp>
      <p:sp>
        <p:nvSpPr>
          <p:cNvPr id="679409251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Trước</a:t>
            </a:r>
            <a:r>
              <a:rPr lang="en-US" sz="2800"/>
              <a:t> </a:t>
            </a:r>
            <a:r>
              <a:rPr lang="en-US" sz="2800"/>
              <a:t>khi</a:t>
            </a:r>
            <a:r>
              <a:rPr lang="en-US" sz="2800"/>
              <a:t> </a:t>
            </a:r>
            <a:r>
              <a:rPr lang="en-US" sz="2800"/>
              <a:t>đưa</a:t>
            </a:r>
            <a:r>
              <a:rPr lang="en-US" sz="2800"/>
              <a:t> </a:t>
            </a:r>
            <a:r>
              <a:rPr lang="en-US" sz="2800"/>
              <a:t>văn</a:t>
            </a:r>
            <a:r>
              <a:rPr lang="en-US" sz="2800"/>
              <a:t> </a:t>
            </a:r>
            <a:r>
              <a:rPr lang="en-US" sz="2800"/>
              <a:t>bản</a:t>
            </a:r>
            <a:r>
              <a:rPr lang="en-US" sz="2800"/>
              <a:t> </a:t>
            </a:r>
            <a:r>
              <a:rPr lang="en-US" sz="2800"/>
              <a:t>vào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, </a:t>
            </a:r>
            <a:r>
              <a:rPr lang="en-US" sz="2800"/>
              <a:t>văn</a:t>
            </a:r>
            <a:r>
              <a:rPr lang="en-US" sz="2800"/>
              <a:t> </a:t>
            </a:r>
            <a:r>
              <a:rPr lang="en-US" sz="2800"/>
              <a:t>bản</a:t>
            </a:r>
            <a:r>
              <a:rPr lang="en-US" sz="2800"/>
              <a:t> </a:t>
            </a:r>
            <a:r>
              <a:rPr lang="en-US" sz="2800"/>
              <a:t>cần</a:t>
            </a:r>
            <a:r>
              <a:rPr lang="en-US" sz="2800"/>
              <a:t> </a:t>
            </a:r>
            <a:r>
              <a:rPr lang="en-US" sz="2800"/>
              <a:t>được</a:t>
            </a:r>
            <a:r>
              <a:rPr lang="en-US" sz="2800"/>
              <a:t> </a:t>
            </a:r>
            <a:r>
              <a:rPr lang="en-US" sz="2800"/>
              <a:t>tách</a:t>
            </a:r>
            <a:r>
              <a:rPr lang="en-US" sz="2800"/>
              <a:t> </a:t>
            </a:r>
            <a:r>
              <a:rPr lang="en-US" sz="2800"/>
              <a:t>thành</a:t>
            </a:r>
            <a:r>
              <a:rPr lang="en-US" sz="2800"/>
              <a:t> </a:t>
            </a:r>
            <a:r>
              <a:rPr lang="en-US" sz="2800"/>
              <a:t>các</a:t>
            </a:r>
            <a:r>
              <a:rPr lang="en-US" sz="2800"/>
              <a:t> token.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XLM-</a:t>
            </a:r>
            <a:r>
              <a:rPr lang="en-US" sz="2800"/>
              <a:t>RoBERTa</a:t>
            </a:r>
            <a:r>
              <a:rPr lang="en-US" sz="2800"/>
              <a:t> </a:t>
            </a:r>
            <a:r>
              <a:rPr lang="en-US" sz="2800"/>
              <a:t>sử</a:t>
            </a:r>
            <a:r>
              <a:rPr lang="en-US" sz="2800"/>
              <a:t> </a:t>
            </a:r>
            <a:r>
              <a:rPr lang="en-US" sz="2800"/>
              <a:t>dụng</a:t>
            </a:r>
            <a:r>
              <a:rPr lang="en-US" sz="2800"/>
              <a:t> tokenizer </a:t>
            </a:r>
            <a:r>
              <a:rPr lang="en-US" sz="2800"/>
              <a:t>tên</a:t>
            </a:r>
            <a:r>
              <a:rPr lang="en-US" sz="2800"/>
              <a:t> </a:t>
            </a:r>
            <a:r>
              <a:rPr lang="en-US" sz="2800"/>
              <a:t>là</a:t>
            </a:r>
            <a:r>
              <a:rPr lang="en-US" sz="2800"/>
              <a:t>: </a:t>
            </a:r>
            <a:r>
              <a:rPr lang="en-US" sz="2800" b="1"/>
              <a:t>SentencePiece</a:t>
            </a:r>
            <a:endParaRPr lang="en-US" sz="2800"/>
          </a:p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Đặc</a:t>
            </a:r>
            <a:r>
              <a:rPr lang="en-US" sz="2800"/>
              <a:t> </a:t>
            </a:r>
            <a:r>
              <a:rPr lang="en-US" sz="2800"/>
              <a:t>điểm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/>
              <a:t>Không</a:t>
            </a:r>
            <a:r>
              <a:rPr lang="en-US" sz="2800"/>
              <a:t> </a:t>
            </a:r>
            <a:r>
              <a:rPr lang="en-US" sz="2800"/>
              <a:t>phụ</a:t>
            </a:r>
            <a:r>
              <a:rPr lang="en-US" sz="2800"/>
              <a:t> </a:t>
            </a:r>
            <a:r>
              <a:rPr lang="en-US" sz="2800"/>
              <a:t>thuộc</a:t>
            </a:r>
            <a:r>
              <a:rPr lang="en-US" sz="2800"/>
              <a:t> </a:t>
            </a:r>
            <a:r>
              <a:rPr lang="en-US" sz="2800"/>
              <a:t>vào</a:t>
            </a:r>
            <a:r>
              <a:rPr lang="en-US" sz="2800"/>
              <a:t>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cụ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Có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xử</a:t>
            </a:r>
            <a:r>
              <a:rPr lang="en-US" sz="2800"/>
              <a:t> </a:t>
            </a:r>
            <a:r>
              <a:rPr lang="en-US" sz="2800"/>
              <a:t>lý</a:t>
            </a:r>
            <a:r>
              <a:rPr lang="en-US" sz="2800"/>
              <a:t>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Chia </a:t>
            </a:r>
            <a:r>
              <a:rPr lang="en-US" sz="2800"/>
              <a:t>từ</a:t>
            </a:r>
            <a:r>
              <a:rPr lang="en-US" sz="2800"/>
              <a:t> </a:t>
            </a:r>
            <a:r>
              <a:rPr lang="en-US" sz="2800"/>
              <a:t>thành</a:t>
            </a:r>
            <a:r>
              <a:rPr lang="en-US" sz="2800"/>
              <a:t> </a:t>
            </a:r>
            <a:r>
              <a:rPr lang="en-US" sz="2800"/>
              <a:t>các</a:t>
            </a:r>
            <a:r>
              <a:rPr lang="en-US" sz="2800"/>
              <a:t> </a:t>
            </a:r>
            <a:r>
              <a:rPr lang="en-US" sz="2800"/>
              <a:t>đơn</a:t>
            </a:r>
            <a:r>
              <a:rPr lang="en-US" sz="2800"/>
              <a:t> </a:t>
            </a:r>
            <a:r>
              <a:rPr lang="en-US" sz="2800"/>
              <a:t>vị</a:t>
            </a:r>
            <a:r>
              <a:rPr lang="en-US" sz="2800"/>
              <a:t> </a:t>
            </a:r>
            <a:r>
              <a:rPr lang="en-US" sz="2800"/>
              <a:t>nhỏ</a:t>
            </a:r>
            <a:r>
              <a:rPr lang="en-US" sz="2800"/>
              <a:t> </a:t>
            </a:r>
            <a:r>
              <a:rPr lang="en-US" sz="2800"/>
              <a:t>hơn</a:t>
            </a:r>
            <a:r>
              <a:rPr lang="en-US" sz="2800"/>
              <a:t> </a:t>
            </a:r>
            <a:r>
              <a:rPr lang="en-US" sz="2800"/>
              <a:t>gọi</a:t>
            </a:r>
            <a:r>
              <a:rPr lang="en-US" sz="2800"/>
              <a:t> </a:t>
            </a:r>
            <a:r>
              <a:rPr lang="en-US" sz="2800"/>
              <a:t>là</a:t>
            </a:r>
            <a:r>
              <a:rPr lang="en-US" sz="2800"/>
              <a:t> </a:t>
            </a:r>
            <a:r>
              <a:rPr lang="en-US" sz="2800"/>
              <a:t>subword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Phù</a:t>
            </a:r>
            <a:r>
              <a:rPr lang="en-US" sz="2800"/>
              <a:t> </a:t>
            </a:r>
            <a:r>
              <a:rPr lang="en-US" sz="2800"/>
              <a:t>hợp</a:t>
            </a:r>
            <a:r>
              <a:rPr lang="en-US" sz="2800"/>
              <a:t> </a:t>
            </a:r>
            <a:r>
              <a:rPr lang="en-US" sz="2800"/>
              <a:t>với</a:t>
            </a:r>
            <a:r>
              <a:rPr lang="en-US" sz="2800"/>
              <a:t> </a:t>
            </a:r>
            <a:r>
              <a:rPr lang="en-US" sz="2800"/>
              <a:t>các</a:t>
            </a:r>
            <a:r>
              <a:rPr lang="en-US" sz="2800"/>
              <a:t> </a:t>
            </a:r>
            <a:r>
              <a:rPr lang="en-US" sz="2800"/>
              <a:t>từ</a:t>
            </a:r>
            <a:r>
              <a:rPr lang="en-US" sz="2800"/>
              <a:t> </a:t>
            </a:r>
            <a:r>
              <a:rPr lang="en-US" sz="2800"/>
              <a:t>hiếm</a:t>
            </a:r>
            <a:r>
              <a:rPr lang="en-US" sz="2800"/>
              <a:t> </a:t>
            </a:r>
            <a:r>
              <a:rPr lang="en-US" sz="2800"/>
              <a:t>hoặc</a:t>
            </a:r>
            <a:r>
              <a:rPr lang="en-US" sz="2800"/>
              <a:t> </a:t>
            </a:r>
            <a:r>
              <a:rPr lang="en-US" sz="2800"/>
              <a:t>từ</a:t>
            </a:r>
            <a:r>
              <a:rPr lang="en-US" sz="2800"/>
              <a:t> ở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khác</a:t>
            </a:r>
            <a:r>
              <a:rPr lang="en-US" sz="2800"/>
              <a:t> </a:t>
            </a:r>
            <a:r>
              <a:rPr lang="en-US" sz="2800"/>
              <a:t>nhau</a:t>
            </a:r>
            <a:r>
              <a:rPr lang="en-US" sz="2800"/>
              <a:t>.</a:t>
            </a:r>
            <a:endParaRPr/>
          </a:p>
        </p:txBody>
      </p:sp>
      <p:sp>
        <p:nvSpPr>
          <p:cNvPr id="1464168105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/>
              <a:t>10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4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94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4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94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4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94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4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9409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4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79409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40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9409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409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9409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40925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643249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Transformer </a:t>
            </a:r>
            <a:r>
              <a:rPr lang="en-US" sz="3200"/>
              <a:t>cho</a:t>
            </a:r>
            <a:r>
              <a:rPr lang="en-US" sz="3200"/>
              <a:t> </a:t>
            </a:r>
            <a:r>
              <a:rPr lang="en-US" sz="3200"/>
              <a:t>bài</a:t>
            </a:r>
            <a:r>
              <a:rPr lang="en-US" sz="3200"/>
              <a:t> </a:t>
            </a:r>
            <a:r>
              <a:rPr lang="en-US" sz="3200"/>
              <a:t>toán</a:t>
            </a:r>
            <a:r>
              <a:rPr lang="en-US" sz="3200"/>
              <a:t> NER</a:t>
            </a:r>
            <a:endParaRPr sz="3200" b="0">
              <a:latin typeface="Arial"/>
            </a:endParaRPr>
          </a:p>
        </p:txBody>
      </p:sp>
      <p:sp>
        <p:nvSpPr>
          <p:cNvPr id="1127615521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114300" indent="0">
              <a:buNone/>
              <a:defRPr/>
            </a:pPr>
            <a:r>
              <a:rPr lang="en-US" sz="2800"/>
              <a:t>- NER </a:t>
            </a:r>
            <a:r>
              <a:rPr lang="en-US" sz="2800"/>
              <a:t>được</a:t>
            </a:r>
            <a:r>
              <a:rPr lang="en-US" sz="2800"/>
              <a:t> </a:t>
            </a:r>
            <a:r>
              <a:rPr lang="en-US" sz="2800"/>
              <a:t>xem</a:t>
            </a:r>
            <a:r>
              <a:rPr lang="en-US" sz="2800"/>
              <a:t> </a:t>
            </a:r>
            <a:r>
              <a:rPr lang="en-US" sz="2800"/>
              <a:t>là</a:t>
            </a:r>
            <a:r>
              <a:rPr lang="en-US" sz="2800"/>
              <a:t> </a:t>
            </a:r>
            <a:r>
              <a:rPr lang="en-US" sz="2800"/>
              <a:t>bài</a:t>
            </a:r>
            <a:r>
              <a:rPr lang="en-US" sz="2800"/>
              <a:t> </a:t>
            </a:r>
            <a:r>
              <a:rPr lang="en-US" sz="2800"/>
              <a:t>toán</a:t>
            </a:r>
            <a:r>
              <a:rPr lang="en-US" sz="2800"/>
              <a:t> </a:t>
            </a:r>
            <a:r>
              <a:rPr lang="en-US" sz="2800" b="1"/>
              <a:t>token classification</a:t>
            </a:r>
            <a:r>
              <a:rPr lang="en-US" sz="2800"/>
              <a:t>.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Quy </a:t>
            </a:r>
            <a:r>
              <a:rPr lang="en-US" sz="2800"/>
              <a:t>trình</a:t>
            </a:r>
            <a:r>
              <a:rPr lang="en-US" sz="2800"/>
              <a:t>:</a:t>
            </a:r>
            <a:endParaRPr/>
          </a:p>
          <a:p>
            <a:pPr marL="114300" indent="0">
              <a:buNone/>
              <a:defRPr/>
            </a:pPr>
            <a:r>
              <a:rPr lang="en-US"/>
              <a:t>	Văn </a:t>
            </a:r>
            <a:r>
              <a:rPr lang="en-US"/>
              <a:t>bản</a:t>
            </a:r>
            <a:r>
              <a:rPr lang="en-US"/>
              <a:t> </a:t>
            </a:r>
            <a:r>
              <a:rPr lang="en-US"/>
              <a:t>đầu</a:t>
            </a:r>
            <a:r>
              <a:rPr lang="en-US"/>
              <a:t> </a:t>
            </a:r>
            <a:r>
              <a:rPr lang="en-US"/>
              <a:t>vào</a:t>
            </a:r>
            <a:br>
              <a:rPr lang="en-US"/>
            </a:br>
            <a:r>
              <a:rPr lang="en-US"/>
              <a:t>	→ Tokenization</a:t>
            </a:r>
            <a:br>
              <a:rPr lang="en-US"/>
            </a:br>
            <a:r>
              <a:rPr lang="en-US"/>
              <a:t>	→ XLM-</a:t>
            </a:r>
            <a:r>
              <a:rPr lang="en-US"/>
              <a:t>RoBERTa</a:t>
            </a:r>
            <a:br>
              <a:rPr lang="en-US"/>
            </a:br>
            <a:r>
              <a:rPr lang="en-US"/>
              <a:t>	→ </a:t>
            </a:r>
            <a:r>
              <a:rPr lang="en-US"/>
              <a:t>Dự</a:t>
            </a:r>
            <a:r>
              <a:rPr lang="en-US"/>
              <a:t> </a:t>
            </a:r>
            <a:r>
              <a:rPr lang="en-US"/>
              <a:t>đoán</a:t>
            </a:r>
            <a:r>
              <a:rPr lang="en-US"/>
              <a:t> </a:t>
            </a:r>
            <a:r>
              <a:rPr lang="en-US"/>
              <a:t>nhãn</a:t>
            </a:r>
            <a:r>
              <a:rPr lang="en-US"/>
              <a:t> </a:t>
            </a:r>
            <a:r>
              <a:rPr lang="en-US"/>
              <a:t>cho</a:t>
            </a:r>
            <a:r>
              <a:rPr lang="en-US"/>
              <a:t> </a:t>
            </a:r>
            <a:r>
              <a:rPr lang="en-US"/>
              <a:t>từng</a:t>
            </a:r>
            <a:r>
              <a:rPr lang="en-US"/>
              <a:t> token</a:t>
            </a:r>
            <a:br>
              <a:rPr lang="en-US"/>
            </a:br>
            <a:r>
              <a:rPr lang="en-US"/>
              <a:t>	→ </a:t>
            </a:r>
            <a:r>
              <a:rPr lang="en-US"/>
              <a:t>Trích</a:t>
            </a:r>
            <a:r>
              <a:rPr lang="en-US"/>
              <a:t> </a:t>
            </a:r>
            <a:r>
              <a:rPr lang="en-US"/>
              <a:t>xuất</a:t>
            </a:r>
            <a:r>
              <a:rPr lang="en-US"/>
              <a:t> </a:t>
            </a:r>
            <a:r>
              <a:rPr lang="en-US"/>
              <a:t>thực</a:t>
            </a:r>
            <a:r>
              <a:rPr lang="en-US"/>
              <a:t> </a:t>
            </a:r>
            <a:r>
              <a:rPr lang="en-US"/>
              <a:t>thể</a:t>
            </a:r>
            <a:endParaRPr lang="en-US"/>
          </a:p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Khác</a:t>
            </a:r>
            <a:r>
              <a:rPr lang="en-US" sz="2800"/>
              <a:t> </a:t>
            </a:r>
            <a:r>
              <a:rPr lang="en-US" sz="2800"/>
              <a:t>với</a:t>
            </a:r>
            <a:r>
              <a:rPr lang="en-US" sz="2800"/>
              <a:t> </a:t>
            </a:r>
            <a:r>
              <a:rPr lang="en-US" sz="2800"/>
              <a:t>phân</a:t>
            </a:r>
            <a:r>
              <a:rPr lang="en-US" sz="2800"/>
              <a:t> </a:t>
            </a:r>
            <a:r>
              <a:rPr lang="en-US" sz="2800"/>
              <a:t>loại</a:t>
            </a:r>
            <a:r>
              <a:rPr lang="en-US" sz="2800"/>
              <a:t> </a:t>
            </a:r>
            <a:r>
              <a:rPr lang="en-US" sz="2800"/>
              <a:t>văn</a:t>
            </a:r>
            <a:r>
              <a:rPr lang="en-US" sz="2800"/>
              <a:t> </a:t>
            </a:r>
            <a:r>
              <a:rPr lang="en-US" sz="2800"/>
              <a:t>bản</a:t>
            </a:r>
            <a:r>
              <a:rPr lang="en-US" sz="2800"/>
              <a:t>, NER </a:t>
            </a:r>
            <a:r>
              <a:rPr lang="en-US" sz="2800"/>
              <a:t>không</a:t>
            </a:r>
            <a:r>
              <a:rPr lang="en-US" sz="2800"/>
              <a:t> </a:t>
            </a:r>
            <a:r>
              <a:rPr lang="en-US" sz="2800"/>
              <a:t>dự</a:t>
            </a:r>
            <a:r>
              <a:rPr lang="en-US" sz="2800"/>
              <a:t> </a:t>
            </a:r>
            <a:r>
              <a:rPr lang="en-US" sz="2800"/>
              <a:t>đoán</a:t>
            </a:r>
            <a:r>
              <a:rPr lang="en-US" sz="2800"/>
              <a:t>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nhãn</a:t>
            </a:r>
            <a:r>
              <a:rPr lang="en-US" sz="2800"/>
              <a:t> </a:t>
            </a:r>
            <a:r>
              <a:rPr lang="en-US" sz="2800"/>
              <a:t>cho</a:t>
            </a:r>
            <a:r>
              <a:rPr lang="en-US" sz="2800"/>
              <a:t> </a:t>
            </a:r>
            <a:r>
              <a:rPr lang="en-US" sz="2800"/>
              <a:t>cả</a:t>
            </a:r>
            <a:r>
              <a:rPr lang="en-US" sz="2800"/>
              <a:t> </a:t>
            </a:r>
            <a:r>
              <a:rPr lang="en-US" sz="2800"/>
              <a:t>câu</a:t>
            </a:r>
            <a:r>
              <a:rPr lang="en-US" sz="2800"/>
              <a:t> </a:t>
            </a:r>
            <a:r>
              <a:rPr lang="en-US" sz="2800"/>
              <a:t>mà</a:t>
            </a:r>
            <a:r>
              <a:rPr lang="en-US" sz="2800"/>
              <a:t> </a:t>
            </a:r>
            <a:r>
              <a:rPr lang="en-US" sz="2800"/>
              <a:t>dự</a:t>
            </a:r>
            <a:r>
              <a:rPr lang="en-US" sz="2800"/>
              <a:t> </a:t>
            </a:r>
            <a:r>
              <a:rPr lang="en-US" sz="2800"/>
              <a:t>đoán</a:t>
            </a:r>
            <a:r>
              <a:rPr lang="en-US" sz="2800"/>
              <a:t> </a:t>
            </a:r>
            <a:r>
              <a:rPr lang="en-US" sz="2800"/>
              <a:t>nhãn</a:t>
            </a:r>
            <a:r>
              <a:rPr lang="en-US" sz="2800"/>
              <a:t> </a:t>
            </a:r>
            <a:r>
              <a:rPr lang="en-US" sz="2800"/>
              <a:t>cho</a:t>
            </a:r>
            <a:r>
              <a:rPr lang="en-US" sz="2800"/>
              <a:t> </a:t>
            </a:r>
            <a:r>
              <a:rPr lang="en-US" sz="2800"/>
              <a:t>từng</a:t>
            </a:r>
            <a:r>
              <a:rPr lang="en-US" sz="2800"/>
              <a:t> token </a:t>
            </a:r>
            <a:r>
              <a:rPr lang="en-US" sz="2800"/>
              <a:t>trong</a:t>
            </a:r>
            <a:r>
              <a:rPr lang="en-US" sz="2800"/>
              <a:t> </a:t>
            </a:r>
            <a:r>
              <a:rPr lang="en-US" sz="2800"/>
              <a:t>câu</a:t>
            </a:r>
            <a:r>
              <a:rPr lang="en-US" sz="2800"/>
              <a:t>.</a:t>
            </a:r>
            <a:endParaRPr/>
          </a:p>
        </p:txBody>
      </p:sp>
      <p:sp>
        <p:nvSpPr>
          <p:cNvPr id="1829660430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/>
              <a:t>11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15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7615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155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76155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155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76155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155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76155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61552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619774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Đánh</a:t>
            </a:r>
            <a:r>
              <a:rPr lang="en-US" sz="3200"/>
              <a:t> </a:t>
            </a:r>
            <a:r>
              <a:rPr lang="en-US" sz="3200"/>
              <a:t>giá</a:t>
            </a:r>
            <a:r>
              <a:rPr lang="en-US" sz="3200"/>
              <a:t> </a:t>
            </a:r>
            <a:r>
              <a:rPr lang="en-US" sz="3200"/>
              <a:t>mô</a:t>
            </a:r>
            <a:r>
              <a:rPr lang="en-US" sz="3200"/>
              <a:t> </a:t>
            </a:r>
            <a:r>
              <a:rPr lang="en-US" sz="3200"/>
              <a:t>hình</a:t>
            </a:r>
            <a:endParaRPr sz="3200" b="0">
              <a:latin typeface="Arial"/>
            </a:endParaRPr>
          </a:p>
        </p:txBody>
      </p:sp>
      <p:sp>
        <p:nvSpPr>
          <p:cNvPr id="427747848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114300" indent="0">
              <a:buNone/>
              <a:defRPr/>
            </a:pPr>
            <a:r>
              <a:rPr lang="en-US" sz="2800"/>
              <a:t>- Các </a:t>
            </a:r>
            <a:r>
              <a:rPr lang="en-US" sz="2800"/>
              <a:t>chỉ</a:t>
            </a:r>
            <a:r>
              <a:rPr lang="en-US" sz="2800"/>
              <a:t> </a:t>
            </a:r>
            <a:r>
              <a:rPr lang="en-US" sz="2800"/>
              <a:t>số</a:t>
            </a:r>
            <a:r>
              <a:rPr lang="en-US" sz="2800"/>
              <a:t> </a:t>
            </a:r>
            <a:r>
              <a:rPr lang="en-US" sz="2800"/>
              <a:t>đánh</a:t>
            </a:r>
            <a:r>
              <a:rPr lang="en-US" sz="2800"/>
              <a:t> </a:t>
            </a:r>
            <a:r>
              <a:rPr lang="en-US" sz="2800"/>
              <a:t>giá</a:t>
            </a:r>
            <a:r>
              <a:rPr lang="en-US" sz="2800"/>
              <a:t> </a:t>
            </a:r>
            <a:r>
              <a:rPr lang="en-US" sz="2800"/>
              <a:t>thường</a:t>
            </a:r>
            <a:r>
              <a:rPr lang="en-US" sz="2800"/>
              <a:t> </a:t>
            </a:r>
            <a:r>
              <a:rPr lang="en-US" sz="2800"/>
              <a:t>dùng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 b="1"/>
              <a:t>Precision</a:t>
            </a:r>
            <a:r>
              <a:rPr lang="en-US" sz="2800"/>
              <a:t>: Trong </a:t>
            </a:r>
            <a:r>
              <a:rPr lang="en-US" sz="2800"/>
              <a:t>các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dự</a:t>
            </a:r>
            <a:r>
              <a:rPr lang="en-US" sz="2800"/>
              <a:t> </a:t>
            </a:r>
            <a:r>
              <a:rPr lang="en-US" sz="2800"/>
              <a:t>đoán</a:t>
            </a:r>
            <a:r>
              <a:rPr lang="en-US" sz="2800"/>
              <a:t>, </a:t>
            </a:r>
            <a:r>
              <a:rPr lang="en-US" sz="2800"/>
              <a:t>có</a:t>
            </a:r>
            <a:r>
              <a:rPr lang="en-US" sz="2800"/>
              <a:t> bao </a:t>
            </a:r>
            <a:r>
              <a:rPr lang="en-US" sz="2800"/>
              <a:t>nhiêu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đúng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 b="1"/>
              <a:t>Recall</a:t>
            </a:r>
            <a:r>
              <a:rPr lang="en-US" sz="2800"/>
              <a:t>: Trong </a:t>
            </a:r>
            <a:r>
              <a:rPr lang="en-US" sz="2800"/>
              <a:t>các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thật</a:t>
            </a:r>
            <a:r>
              <a:rPr lang="en-US" sz="2800"/>
              <a:t>,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tìm</a:t>
            </a:r>
            <a:r>
              <a:rPr lang="en-US" sz="2800"/>
              <a:t> </a:t>
            </a:r>
            <a:r>
              <a:rPr lang="en-US" sz="2800"/>
              <a:t>được</a:t>
            </a:r>
            <a:r>
              <a:rPr lang="en-US" sz="2800"/>
              <a:t> bao </a:t>
            </a:r>
            <a:r>
              <a:rPr lang="en-US" sz="2800"/>
              <a:t>nhiêu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 b="1"/>
              <a:t>F1-score</a:t>
            </a:r>
            <a:r>
              <a:rPr lang="en-US" sz="2800"/>
              <a:t>: Trung </a:t>
            </a:r>
            <a:r>
              <a:rPr lang="en-US" sz="2800"/>
              <a:t>bình</a:t>
            </a:r>
            <a:r>
              <a:rPr lang="en-US" sz="2800"/>
              <a:t> </a:t>
            </a:r>
            <a:r>
              <a:rPr lang="en-US" sz="2800"/>
              <a:t>điều</a:t>
            </a:r>
            <a:r>
              <a:rPr lang="en-US" sz="2800"/>
              <a:t> </a:t>
            </a:r>
            <a:r>
              <a:rPr lang="en-US" sz="2800"/>
              <a:t>hòa</a:t>
            </a:r>
            <a:r>
              <a:rPr lang="en-US" sz="2800"/>
              <a:t> </a:t>
            </a:r>
            <a:r>
              <a:rPr lang="en-US" sz="2800"/>
              <a:t>giữa</a:t>
            </a:r>
            <a:r>
              <a:rPr lang="en-US" sz="2800"/>
              <a:t> Precision </a:t>
            </a:r>
            <a:r>
              <a:rPr lang="en-US" sz="2800"/>
              <a:t>và</a:t>
            </a:r>
            <a:r>
              <a:rPr lang="en-US" sz="2800"/>
              <a:t> Recall. 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Trong NER,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chỉ</a:t>
            </a:r>
            <a:r>
              <a:rPr lang="en-US" sz="2800"/>
              <a:t> </a:t>
            </a:r>
            <a:r>
              <a:rPr lang="en-US" sz="2800"/>
              <a:t>được</a:t>
            </a:r>
            <a:r>
              <a:rPr lang="en-US" sz="2800"/>
              <a:t> </a:t>
            </a:r>
            <a:r>
              <a:rPr lang="en-US" sz="2800"/>
              <a:t>tính</a:t>
            </a:r>
            <a:r>
              <a:rPr lang="en-US" sz="2800"/>
              <a:t> </a:t>
            </a:r>
            <a:r>
              <a:rPr lang="en-US" sz="2800"/>
              <a:t>đúng</a:t>
            </a:r>
            <a:r>
              <a:rPr lang="en-US" sz="2800"/>
              <a:t> </a:t>
            </a:r>
            <a:r>
              <a:rPr lang="en-US" sz="2800"/>
              <a:t>khi</a:t>
            </a:r>
            <a:r>
              <a:rPr lang="en-US" sz="2800"/>
              <a:t> </a:t>
            </a:r>
            <a:r>
              <a:rPr lang="en-US" sz="2800"/>
              <a:t>toàn</a:t>
            </a:r>
            <a:r>
              <a:rPr lang="en-US" sz="2800"/>
              <a:t> </a:t>
            </a:r>
            <a:r>
              <a:rPr lang="en-US" sz="2800"/>
              <a:t>bộ</a:t>
            </a:r>
            <a:r>
              <a:rPr lang="en-US" sz="2800"/>
              <a:t> </a:t>
            </a:r>
            <a:r>
              <a:rPr lang="en-US" sz="2800"/>
              <a:t>các</a:t>
            </a:r>
            <a:r>
              <a:rPr lang="en-US" sz="2800"/>
              <a:t> token </a:t>
            </a:r>
            <a:r>
              <a:rPr lang="en-US" sz="2800"/>
              <a:t>của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đó</a:t>
            </a:r>
            <a:r>
              <a:rPr lang="en-US" sz="2800"/>
              <a:t> </a:t>
            </a:r>
            <a:r>
              <a:rPr lang="en-US" sz="2800"/>
              <a:t>được</a:t>
            </a:r>
            <a:r>
              <a:rPr lang="en-US" sz="2800"/>
              <a:t> </a:t>
            </a:r>
            <a:r>
              <a:rPr lang="en-US" sz="2800"/>
              <a:t>dự</a:t>
            </a:r>
            <a:r>
              <a:rPr lang="en-US" sz="2800"/>
              <a:t> </a:t>
            </a:r>
            <a:r>
              <a:rPr lang="en-US" sz="2800"/>
              <a:t>đoán</a:t>
            </a:r>
            <a:r>
              <a:rPr lang="en-US" sz="2800"/>
              <a:t> </a:t>
            </a:r>
            <a:r>
              <a:rPr lang="en-US" sz="2800"/>
              <a:t>chính</a:t>
            </a:r>
            <a:r>
              <a:rPr lang="en-US" sz="2800"/>
              <a:t> </a:t>
            </a:r>
            <a:r>
              <a:rPr lang="en-US" sz="2800"/>
              <a:t>xác</a:t>
            </a:r>
            <a:r>
              <a:rPr lang="en-US" sz="2800"/>
              <a:t>.</a:t>
            </a:r>
            <a:endParaRPr/>
          </a:p>
        </p:txBody>
      </p:sp>
      <p:sp>
        <p:nvSpPr>
          <p:cNvPr id="21002584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 b="0">
                <a:latin typeface="Arial"/>
              </a:rPr>
              <a:t>12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747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7747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747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7747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747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7747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7478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77478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7478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77478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74784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01877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Fine-tuning XLM-</a:t>
            </a:r>
            <a:r>
              <a:rPr lang="en-US" sz="3200"/>
              <a:t>RoBERTa</a:t>
            </a:r>
            <a:endParaRPr sz="3200" b="0">
              <a:latin typeface="Arial"/>
            </a:endParaRPr>
          </a:p>
        </p:txBody>
      </p:sp>
      <p:sp>
        <p:nvSpPr>
          <p:cNvPr id="894615751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114300" indent="0">
              <a:buNone/>
              <a:defRPr/>
            </a:pPr>
            <a:r>
              <a:rPr lang="en-US" sz="2800"/>
              <a:t>- Fine-tuning </a:t>
            </a:r>
            <a:r>
              <a:rPr lang="en-US" sz="2800"/>
              <a:t>là</a:t>
            </a:r>
            <a:r>
              <a:rPr lang="en-US" sz="2800"/>
              <a:t> </a:t>
            </a:r>
            <a:r>
              <a:rPr lang="en-US" sz="2800"/>
              <a:t>quá</a:t>
            </a:r>
            <a:r>
              <a:rPr lang="en-US" sz="2800"/>
              <a:t> </a:t>
            </a:r>
            <a:r>
              <a:rPr lang="en-US" sz="2800"/>
              <a:t>trình</a:t>
            </a:r>
            <a:r>
              <a:rPr lang="en-US" sz="2800"/>
              <a:t> </a:t>
            </a:r>
            <a:r>
              <a:rPr lang="en-US" sz="2800"/>
              <a:t>tinh</a:t>
            </a:r>
            <a:r>
              <a:rPr lang="en-US" sz="2800"/>
              <a:t> </a:t>
            </a:r>
            <a:r>
              <a:rPr lang="en-US" sz="2800"/>
              <a:t>chỉnh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đã</a:t>
            </a:r>
            <a:r>
              <a:rPr lang="en-US" sz="2800"/>
              <a:t> </a:t>
            </a:r>
            <a:r>
              <a:rPr lang="en-US" sz="2800"/>
              <a:t>được</a:t>
            </a:r>
            <a:r>
              <a:rPr lang="en-US" sz="2800"/>
              <a:t> </a:t>
            </a:r>
            <a:r>
              <a:rPr lang="en-US" sz="2800"/>
              <a:t>huấn</a:t>
            </a:r>
            <a:r>
              <a:rPr lang="en-US" sz="2800"/>
              <a:t> </a:t>
            </a:r>
            <a:r>
              <a:rPr lang="en-US" sz="2800"/>
              <a:t>luyện</a:t>
            </a:r>
            <a:r>
              <a:rPr lang="en-US" sz="2800"/>
              <a:t> </a:t>
            </a:r>
            <a:r>
              <a:rPr lang="en-US" sz="2800"/>
              <a:t>trước</a:t>
            </a:r>
            <a:r>
              <a:rPr lang="en-US" sz="2800"/>
              <a:t> </a:t>
            </a:r>
            <a:r>
              <a:rPr lang="en-US" sz="2800"/>
              <a:t>cho</a:t>
            </a:r>
            <a:r>
              <a:rPr lang="en-US" sz="2800"/>
              <a:t>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nhiệm</a:t>
            </a:r>
            <a:r>
              <a:rPr lang="en-US" sz="2800"/>
              <a:t> </a:t>
            </a:r>
            <a:r>
              <a:rPr lang="en-US" sz="2800"/>
              <a:t>vụ</a:t>
            </a:r>
            <a:r>
              <a:rPr lang="en-US" sz="2800"/>
              <a:t> </a:t>
            </a:r>
            <a:r>
              <a:rPr lang="en-US" sz="2800"/>
              <a:t>cụ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.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Trong Chapter 4:</a:t>
            </a:r>
            <a:endParaRPr/>
          </a:p>
          <a:p>
            <a:pPr>
              <a:defRPr/>
            </a:pPr>
            <a:r>
              <a:rPr lang="en-US" sz="2800"/>
              <a:t>Dùng</a:t>
            </a:r>
            <a:r>
              <a:rPr lang="en-US" sz="2800"/>
              <a:t> XLM-</a:t>
            </a:r>
            <a:r>
              <a:rPr lang="en-US" sz="2800"/>
              <a:t>RoBERTa</a:t>
            </a:r>
            <a:r>
              <a:rPr lang="en-US" sz="2800"/>
              <a:t> </a:t>
            </a:r>
            <a:r>
              <a:rPr lang="en-US" sz="2800"/>
              <a:t>làm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nền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Fine-tune </a:t>
            </a:r>
            <a:r>
              <a:rPr lang="en-US" sz="2800"/>
              <a:t>trên</a:t>
            </a:r>
            <a:r>
              <a:rPr lang="en-US" sz="2800"/>
              <a:t> </a:t>
            </a:r>
            <a:r>
              <a:rPr lang="en-US" sz="2800"/>
              <a:t>tập</a:t>
            </a:r>
            <a:r>
              <a:rPr lang="en-US" sz="2800"/>
              <a:t> </a:t>
            </a:r>
            <a:r>
              <a:rPr lang="en-US" sz="2800"/>
              <a:t>dữ</a:t>
            </a:r>
            <a:r>
              <a:rPr lang="en-US" sz="2800"/>
              <a:t> </a:t>
            </a:r>
            <a:r>
              <a:rPr lang="en-US" sz="2800"/>
              <a:t>liệu</a:t>
            </a:r>
            <a:r>
              <a:rPr lang="en-US" sz="2800"/>
              <a:t> PAN-X. </a:t>
            </a:r>
            <a:endParaRPr/>
          </a:p>
          <a:p>
            <a:pPr>
              <a:defRPr/>
            </a:pPr>
            <a:r>
              <a:rPr lang="en-US" sz="2800"/>
              <a:t>Bài</a:t>
            </a:r>
            <a:r>
              <a:rPr lang="en-US" sz="2800"/>
              <a:t> </a:t>
            </a:r>
            <a:r>
              <a:rPr lang="en-US" sz="2800"/>
              <a:t>toán</a:t>
            </a:r>
            <a:r>
              <a:rPr lang="en-US" sz="2800"/>
              <a:t> </a:t>
            </a:r>
            <a:r>
              <a:rPr lang="en-US" sz="2800"/>
              <a:t>là</a:t>
            </a:r>
            <a:r>
              <a:rPr lang="en-US" sz="2800"/>
              <a:t> </a:t>
            </a:r>
            <a:r>
              <a:rPr lang="en-US" sz="2800"/>
              <a:t>nhận</a:t>
            </a:r>
            <a:r>
              <a:rPr lang="en-US" sz="2800"/>
              <a:t> </a:t>
            </a:r>
            <a:r>
              <a:rPr lang="en-US" sz="2800"/>
              <a:t>dạng</a:t>
            </a:r>
            <a:r>
              <a:rPr lang="en-US" sz="2800"/>
              <a:t> PER, ORG, LOC. </a:t>
            </a:r>
            <a:endParaRPr/>
          </a:p>
          <a:p>
            <a:pPr>
              <a:defRPr/>
            </a:pPr>
            <a:r>
              <a:rPr lang="en-US" sz="2800"/>
              <a:t>Sau </a:t>
            </a:r>
            <a:r>
              <a:rPr lang="en-US" sz="2800"/>
              <a:t>khi</a:t>
            </a:r>
            <a:r>
              <a:rPr lang="en-US" sz="2800"/>
              <a:t> </a:t>
            </a:r>
            <a:r>
              <a:rPr lang="en-US" sz="2800"/>
              <a:t>huấn</a:t>
            </a:r>
            <a:r>
              <a:rPr lang="en-US" sz="2800"/>
              <a:t> </a:t>
            </a:r>
            <a:r>
              <a:rPr lang="en-US" sz="2800"/>
              <a:t>luyện</a:t>
            </a:r>
            <a:r>
              <a:rPr lang="en-US" sz="2800"/>
              <a:t>,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được</a:t>
            </a:r>
            <a:r>
              <a:rPr lang="en-US" sz="2800"/>
              <a:t> </a:t>
            </a:r>
            <a:r>
              <a:rPr lang="en-US" sz="2800"/>
              <a:t>đánh</a:t>
            </a:r>
            <a:r>
              <a:rPr lang="en-US" sz="2800"/>
              <a:t> </a:t>
            </a:r>
            <a:r>
              <a:rPr lang="en-US" sz="2800"/>
              <a:t>giá</a:t>
            </a:r>
            <a:r>
              <a:rPr lang="en-US" sz="2800"/>
              <a:t> </a:t>
            </a:r>
            <a:r>
              <a:rPr lang="en-US" sz="2800"/>
              <a:t>trên</a:t>
            </a:r>
            <a:r>
              <a:rPr lang="en-US" sz="2800"/>
              <a:t>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khác</a:t>
            </a:r>
            <a:r>
              <a:rPr lang="en-US" sz="2800"/>
              <a:t> </a:t>
            </a:r>
            <a:r>
              <a:rPr lang="en-US" sz="2800"/>
              <a:t>nhau</a:t>
            </a:r>
            <a:r>
              <a:rPr lang="en-US" sz="2800"/>
              <a:t>.</a:t>
            </a:r>
            <a:endParaRPr/>
          </a:p>
        </p:txBody>
      </p:sp>
      <p:sp>
        <p:nvSpPr>
          <p:cNvPr id="869552479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 b="0">
                <a:latin typeface="Arial"/>
              </a:rPr>
              <a:t>13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615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4615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6157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946157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6157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946157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6157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946157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6157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946157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6157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946157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461575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696620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Phân</a:t>
            </a:r>
            <a:r>
              <a:rPr lang="en-US" sz="3200"/>
              <a:t> </a:t>
            </a:r>
            <a:r>
              <a:rPr lang="en-US" sz="3200"/>
              <a:t>tích</a:t>
            </a:r>
            <a:r>
              <a:rPr lang="en-US" sz="3200"/>
              <a:t> </a:t>
            </a:r>
            <a:r>
              <a:rPr lang="en-US" sz="3200"/>
              <a:t>lỗi</a:t>
            </a:r>
            <a:endParaRPr sz="3200" b="0">
              <a:latin typeface="Arial"/>
            </a:endParaRPr>
          </a:p>
        </p:txBody>
      </p:sp>
      <p:sp>
        <p:nvSpPr>
          <p:cNvPr id="189918273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/>
          </a:bodyPr>
          <a:lstStyle/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Phân</a:t>
            </a:r>
            <a:r>
              <a:rPr lang="en-US" sz="2800"/>
              <a:t> </a:t>
            </a:r>
            <a:r>
              <a:rPr lang="en-US" sz="2800"/>
              <a:t>tích</a:t>
            </a:r>
            <a:r>
              <a:rPr lang="en-US" sz="2800"/>
              <a:t> </a:t>
            </a:r>
            <a:r>
              <a:rPr lang="en-US" sz="2800"/>
              <a:t>lỗi</a:t>
            </a:r>
            <a:r>
              <a:rPr lang="en-US" sz="2800"/>
              <a:t> </a:t>
            </a:r>
            <a:r>
              <a:rPr lang="en-US" sz="2800"/>
              <a:t>giúp</a:t>
            </a:r>
            <a:r>
              <a:rPr lang="en-US" sz="2800"/>
              <a:t> </a:t>
            </a:r>
            <a:r>
              <a:rPr lang="en-US" sz="2800"/>
              <a:t>phát</a:t>
            </a:r>
            <a:r>
              <a:rPr lang="en-US" sz="2800"/>
              <a:t> </a:t>
            </a:r>
            <a:r>
              <a:rPr lang="en-US" sz="2800"/>
              <a:t>hiện</a:t>
            </a:r>
            <a:r>
              <a:rPr lang="en-US" sz="2800"/>
              <a:t> </a:t>
            </a:r>
            <a:r>
              <a:rPr lang="en-US" sz="2800"/>
              <a:t>vì</a:t>
            </a:r>
            <a:r>
              <a:rPr lang="en-US" sz="2800"/>
              <a:t> </a:t>
            </a:r>
            <a:r>
              <a:rPr lang="en-US" sz="2800"/>
              <a:t>sao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dự</a:t>
            </a:r>
            <a:r>
              <a:rPr lang="en-US" sz="2800"/>
              <a:t> </a:t>
            </a:r>
            <a:r>
              <a:rPr lang="en-US" sz="2800"/>
              <a:t>đoán</a:t>
            </a:r>
            <a:r>
              <a:rPr lang="en-US" sz="2800"/>
              <a:t> </a:t>
            </a:r>
            <a:r>
              <a:rPr lang="en-US" sz="2800"/>
              <a:t>sai</a:t>
            </a:r>
            <a:r>
              <a:rPr lang="en-US" sz="2800"/>
              <a:t>.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số</a:t>
            </a:r>
            <a:r>
              <a:rPr lang="en-US" sz="2800"/>
              <a:t> </a:t>
            </a:r>
            <a:r>
              <a:rPr lang="en-US" sz="2800"/>
              <a:t>lỗi</a:t>
            </a:r>
            <a:r>
              <a:rPr lang="en-US" sz="2800"/>
              <a:t> </a:t>
            </a:r>
            <a:r>
              <a:rPr lang="en-US" sz="2800"/>
              <a:t>thường</a:t>
            </a:r>
            <a:r>
              <a:rPr lang="en-US" sz="2800"/>
              <a:t> </a:t>
            </a:r>
            <a:r>
              <a:rPr lang="en-US" sz="2800"/>
              <a:t>gặp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/>
              <a:t>Nhận</a:t>
            </a:r>
            <a:r>
              <a:rPr lang="en-US" sz="2800"/>
              <a:t> </a:t>
            </a:r>
            <a:r>
              <a:rPr lang="en-US" sz="2800"/>
              <a:t>dạng</a:t>
            </a:r>
            <a:r>
              <a:rPr lang="en-US" sz="2800"/>
              <a:t> </a:t>
            </a:r>
            <a:r>
              <a:rPr lang="en-US" sz="2800"/>
              <a:t>sai</a:t>
            </a:r>
            <a:r>
              <a:rPr lang="en-US" sz="2800"/>
              <a:t> </a:t>
            </a:r>
            <a:r>
              <a:rPr lang="en-US" sz="2800"/>
              <a:t>ranh</a:t>
            </a:r>
            <a:r>
              <a:rPr lang="en-US" sz="2800"/>
              <a:t> </a:t>
            </a:r>
            <a:r>
              <a:rPr lang="en-US" sz="2800"/>
              <a:t>giới</a:t>
            </a:r>
            <a:r>
              <a:rPr lang="en-US" sz="2800"/>
              <a:t> </a:t>
            </a:r>
            <a:r>
              <a:rPr lang="en-US" sz="2800"/>
              <a:t>của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Nhầm</a:t>
            </a:r>
            <a:r>
              <a:rPr lang="en-US" sz="2800"/>
              <a:t> </a:t>
            </a:r>
            <a:r>
              <a:rPr lang="en-US" sz="2800"/>
              <a:t>lẫn</a:t>
            </a:r>
            <a:r>
              <a:rPr lang="en-US" sz="2800"/>
              <a:t> </a:t>
            </a:r>
            <a:r>
              <a:rPr lang="en-US" sz="2800"/>
              <a:t>giữa</a:t>
            </a:r>
            <a:r>
              <a:rPr lang="en-US" sz="2800"/>
              <a:t> </a:t>
            </a:r>
            <a:r>
              <a:rPr lang="en-US" sz="2800"/>
              <a:t>tổ</a:t>
            </a:r>
            <a:r>
              <a:rPr lang="en-US" sz="2800"/>
              <a:t> </a:t>
            </a:r>
            <a:r>
              <a:rPr lang="en-US" sz="2800"/>
              <a:t>chức</a:t>
            </a:r>
            <a:r>
              <a:rPr lang="en-US" sz="2800"/>
              <a:t> </a:t>
            </a:r>
            <a:r>
              <a:rPr lang="en-US" sz="2800"/>
              <a:t>và</a:t>
            </a:r>
            <a:r>
              <a:rPr lang="en-US" sz="2800"/>
              <a:t> </a:t>
            </a:r>
            <a:r>
              <a:rPr lang="en-US" sz="2800"/>
              <a:t>địa</a:t>
            </a:r>
            <a:r>
              <a:rPr lang="en-US" sz="2800"/>
              <a:t> </a:t>
            </a:r>
            <a:r>
              <a:rPr lang="en-US" sz="2800"/>
              <a:t>điểm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Tên</a:t>
            </a:r>
            <a:r>
              <a:rPr lang="en-US" sz="2800"/>
              <a:t> </a:t>
            </a:r>
            <a:r>
              <a:rPr lang="en-US" sz="2800"/>
              <a:t>tổ</a:t>
            </a:r>
            <a:r>
              <a:rPr lang="en-US" sz="2800"/>
              <a:t> </a:t>
            </a:r>
            <a:r>
              <a:rPr lang="en-US" sz="2800"/>
              <a:t>chức</a:t>
            </a:r>
            <a:r>
              <a:rPr lang="en-US" sz="2800"/>
              <a:t> </a:t>
            </a:r>
            <a:r>
              <a:rPr lang="en-US" sz="2800"/>
              <a:t>hiếm</a:t>
            </a:r>
            <a:r>
              <a:rPr lang="en-US" sz="2800"/>
              <a:t> </a:t>
            </a:r>
            <a:r>
              <a:rPr lang="en-US" sz="2800"/>
              <a:t>xuất</a:t>
            </a:r>
            <a:r>
              <a:rPr lang="en-US" sz="2800"/>
              <a:t> </a:t>
            </a:r>
            <a:r>
              <a:rPr lang="en-US" sz="2800"/>
              <a:t>hiện</a:t>
            </a:r>
            <a:r>
              <a:rPr lang="en-US" sz="2800"/>
              <a:t> </a:t>
            </a:r>
            <a:r>
              <a:rPr lang="en-US" sz="2800"/>
              <a:t>trong</a:t>
            </a:r>
            <a:r>
              <a:rPr lang="en-US" sz="2800"/>
              <a:t> </a:t>
            </a:r>
            <a:r>
              <a:rPr lang="en-US" sz="2800"/>
              <a:t>dữ</a:t>
            </a:r>
            <a:r>
              <a:rPr lang="en-US" sz="2800"/>
              <a:t> </a:t>
            </a:r>
            <a:r>
              <a:rPr lang="en-US" sz="2800"/>
              <a:t>liệu</a:t>
            </a:r>
            <a:r>
              <a:rPr lang="en-US" sz="2800"/>
              <a:t> </a:t>
            </a:r>
            <a:r>
              <a:rPr lang="en-US" sz="2800"/>
              <a:t>huấn</a:t>
            </a:r>
            <a:r>
              <a:rPr lang="en-US" sz="2800"/>
              <a:t> </a:t>
            </a:r>
            <a:r>
              <a:rPr lang="en-US" sz="2800"/>
              <a:t>luyện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Tokenization </a:t>
            </a:r>
            <a:r>
              <a:rPr lang="en-US" sz="2800"/>
              <a:t>làm</a:t>
            </a:r>
            <a:r>
              <a:rPr lang="en-US" sz="2800"/>
              <a:t> chia </a:t>
            </a:r>
            <a:r>
              <a:rPr lang="en-US" sz="2800"/>
              <a:t>nhỏ</a:t>
            </a:r>
            <a:r>
              <a:rPr lang="en-US" sz="2800"/>
              <a:t> </a:t>
            </a:r>
            <a:r>
              <a:rPr lang="en-US" sz="2800"/>
              <a:t>tên</a:t>
            </a:r>
            <a:r>
              <a:rPr lang="en-US" sz="2800"/>
              <a:t> </a:t>
            </a:r>
            <a:r>
              <a:rPr lang="en-US" sz="2800"/>
              <a:t>riêng</a:t>
            </a:r>
            <a:r>
              <a:rPr lang="en-US" sz="2800"/>
              <a:t> </a:t>
            </a:r>
            <a:r>
              <a:rPr lang="en-US" sz="2800"/>
              <a:t>gây</a:t>
            </a:r>
            <a:r>
              <a:rPr lang="en-US" sz="2800"/>
              <a:t> </a:t>
            </a:r>
            <a:r>
              <a:rPr lang="en-US" sz="2800"/>
              <a:t>khó</a:t>
            </a:r>
            <a:r>
              <a:rPr lang="en-US" sz="2800"/>
              <a:t> </a:t>
            </a:r>
            <a:r>
              <a:rPr lang="en-US" sz="2800"/>
              <a:t>dự</a:t>
            </a:r>
            <a:r>
              <a:rPr lang="en-US" sz="2800"/>
              <a:t> </a:t>
            </a:r>
            <a:r>
              <a:rPr lang="en-US" sz="2800"/>
              <a:t>đoán</a:t>
            </a:r>
            <a:r>
              <a:rPr lang="en-US" sz="2800"/>
              <a:t>. 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Phân</a:t>
            </a:r>
            <a:r>
              <a:rPr lang="en-US" sz="2800"/>
              <a:t> </a:t>
            </a:r>
            <a:r>
              <a:rPr lang="en-US" sz="2800"/>
              <a:t>tích</a:t>
            </a:r>
            <a:r>
              <a:rPr lang="en-US" sz="2800"/>
              <a:t> </a:t>
            </a:r>
            <a:r>
              <a:rPr lang="en-US" sz="2800"/>
              <a:t>lỗi</a:t>
            </a:r>
            <a:r>
              <a:rPr lang="en-US" sz="2800"/>
              <a:t> </a:t>
            </a:r>
            <a:r>
              <a:rPr lang="en-US" sz="2800"/>
              <a:t>giúp</a:t>
            </a:r>
            <a:r>
              <a:rPr lang="en-US" sz="2800"/>
              <a:t> </a:t>
            </a:r>
            <a:r>
              <a:rPr lang="en-US" sz="2800"/>
              <a:t>cải</a:t>
            </a:r>
            <a:r>
              <a:rPr lang="en-US" sz="2800"/>
              <a:t> </a:t>
            </a:r>
            <a:r>
              <a:rPr lang="en-US" sz="2800"/>
              <a:t>thiện</a:t>
            </a:r>
            <a:r>
              <a:rPr lang="en-US" sz="2800"/>
              <a:t> </a:t>
            </a:r>
            <a:r>
              <a:rPr lang="en-US" sz="2800"/>
              <a:t>dữ</a:t>
            </a:r>
            <a:r>
              <a:rPr lang="en-US" sz="2800"/>
              <a:t> </a:t>
            </a:r>
            <a:r>
              <a:rPr lang="en-US" sz="2800"/>
              <a:t>liệu</a:t>
            </a:r>
            <a:r>
              <a:rPr lang="en-US" sz="2800"/>
              <a:t>,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và</a:t>
            </a:r>
            <a:r>
              <a:rPr lang="en-US" sz="2800"/>
              <a:t> </a:t>
            </a:r>
            <a:r>
              <a:rPr lang="en-US" sz="2800"/>
              <a:t>cách</a:t>
            </a:r>
            <a:r>
              <a:rPr lang="en-US" sz="2800"/>
              <a:t> </a:t>
            </a:r>
            <a:r>
              <a:rPr lang="en-US" sz="2800"/>
              <a:t>đánh</a:t>
            </a:r>
            <a:r>
              <a:rPr lang="en-US" sz="2800"/>
              <a:t> </a:t>
            </a:r>
            <a:r>
              <a:rPr lang="en-US" sz="2800"/>
              <a:t>giá</a:t>
            </a:r>
            <a:r>
              <a:rPr lang="en-US" sz="2800"/>
              <a:t>.</a:t>
            </a:r>
            <a:endParaRPr/>
          </a:p>
        </p:txBody>
      </p:sp>
      <p:sp>
        <p:nvSpPr>
          <p:cNvPr id="737508818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 b="0">
                <a:latin typeface="Arial"/>
              </a:rPr>
              <a:t>14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18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9918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18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9918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18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99182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18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99182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18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99182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18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99182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18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99182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91827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360755" name="Title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 sz="3200"/>
              <a:t>Kết</a:t>
            </a:r>
            <a:r>
              <a:rPr lang="en-US" sz="3200"/>
              <a:t> Luận </a:t>
            </a:r>
            <a:endParaRPr sz="3200" b="0">
              <a:latin typeface="Arial"/>
            </a:endParaRPr>
          </a:p>
        </p:txBody>
      </p:sp>
      <p:sp>
        <p:nvSpPr>
          <p:cNvPr id="1653622771" name="Text Placeholder 5"/>
          <p:cNvSpPr>
            <a:spLocks noGrp="1"/>
          </p:cNvSpPr>
          <p:nvPr>
            <p:ph type="body" idx="1"/>
          </p:nvPr>
        </p:nvSpPr>
        <p:spPr bwMode="auto"/>
        <p:txBody>
          <a:bodyPr>
            <a:normAutofit lnSpcReduction="10000"/>
          </a:bodyPr>
          <a:lstStyle/>
          <a:p>
            <a:pPr marL="114300" indent="0">
              <a:buNone/>
              <a:defRPr/>
            </a:pPr>
            <a:r>
              <a:rPr lang="en-US" sz="2800"/>
              <a:t>- Chapter 4 </a:t>
            </a:r>
            <a:r>
              <a:rPr lang="en-US" sz="2800"/>
              <a:t>cho</a:t>
            </a:r>
            <a:r>
              <a:rPr lang="en-US" sz="2800"/>
              <a:t> </a:t>
            </a:r>
            <a:r>
              <a:rPr lang="en-US" sz="2800"/>
              <a:t>thấy</a:t>
            </a:r>
            <a:r>
              <a:rPr lang="en-US" sz="2800"/>
              <a:t> </a:t>
            </a:r>
            <a:r>
              <a:rPr lang="en-US" sz="2800"/>
              <a:t>rằng</a:t>
            </a:r>
            <a:r>
              <a:rPr lang="en-US" sz="2800"/>
              <a:t> </a:t>
            </a:r>
            <a:r>
              <a:rPr lang="en-US" sz="2800"/>
              <a:t>một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Transformer </a:t>
            </a:r>
            <a:r>
              <a:rPr lang="en-US" sz="2800"/>
              <a:t>đa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như</a:t>
            </a:r>
            <a:r>
              <a:rPr lang="en-US" sz="2800"/>
              <a:t> </a:t>
            </a:r>
            <a:r>
              <a:rPr lang="en-US" sz="2800" b="1"/>
              <a:t>XLM-</a:t>
            </a:r>
            <a:r>
              <a:rPr lang="en-US" sz="2800" b="1"/>
              <a:t>RoBERTa</a:t>
            </a:r>
            <a:r>
              <a:rPr lang="en-US" sz="2800"/>
              <a:t> </a:t>
            </a:r>
            <a:r>
              <a:rPr lang="en-US" sz="2800"/>
              <a:t>có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được</a:t>
            </a:r>
            <a:r>
              <a:rPr lang="en-US" sz="2800"/>
              <a:t> </a:t>
            </a:r>
            <a:r>
              <a:rPr lang="en-US" sz="2800"/>
              <a:t>sử</a:t>
            </a:r>
            <a:r>
              <a:rPr lang="en-US" sz="2800"/>
              <a:t> </a:t>
            </a:r>
            <a:r>
              <a:rPr lang="en-US" sz="2800"/>
              <a:t>dụng</a:t>
            </a:r>
            <a:r>
              <a:rPr lang="en-US" sz="2800"/>
              <a:t> </a:t>
            </a:r>
            <a:r>
              <a:rPr lang="en-US" sz="2800"/>
              <a:t>hiệu</a:t>
            </a:r>
            <a:r>
              <a:rPr lang="en-US" sz="2800"/>
              <a:t> </a:t>
            </a:r>
            <a:r>
              <a:rPr lang="en-US" sz="2800"/>
              <a:t>quả</a:t>
            </a:r>
            <a:r>
              <a:rPr lang="en-US" sz="2800"/>
              <a:t> </a:t>
            </a:r>
            <a:r>
              <a:rPr lang="en-US" sz="2800"/>
              <a:t>cho</a:t>
            </a:r>
            <a:r>
              <a:rPr lang="en-US" sz="2800"/>
              <a:t> </a:t>
            </a:r>
            <a:r>
              <a:rPr lang="en-US" sz="2800"/>
              <a:t>bài</a:t>
            </a:r>
            <a:r>
              <a:rPr lang="en-US" sz="2800"/>
              <a:t> </a:t>
            </a:r>
            <a:r>
              <a:rPr lang="en-US" sz="2800"/>
              <a:t>toán</a:t>
            </a:r>
            <a:r>
              <a:rPr lang="en-US" sz="2800"/>
              <a:t> </a:t>
            </a:r>
            <a:r>
              <a:rPr lang="en-US" sz="2800" b="1"/>
              <a:t>Multilingual NER</a:t>
            </a:r>
            <a:r>
              <a:rPr lang="en-US" sz="2800"/>
              <a:t>.</a:t>
            </a:r>
            <a:endParaRPr/>
          </a:p>
          <a:p>
            <a:pPr marL="114300" indent="0">
              <a:buNone/>
              <a:defRPr/>
            </a:pPr>
            <a:r>
              <a:rPr lang="en-US" sz="2800"/>
              <a:t>- </a:t>
            </a:r>
            <a:r>
              <a:rPr lang="en-US" sz="2800"/>
              <a:t>Nội</a:t>
            </a:r>
            <a:r>
              <a:rPr lang="en-US" sz="2800"/>
              <a:t> dung </a:t>
            </a:r>
            <a:r>
              <a:rPr lang="en-US" sz="2800"/>
              <a:t>chính</a:t>
            </a:r>
            <a:r>
              <a:rPr lang="en-US" sz="2800"/>
              <a:t>:</a:t>
            </a:r>
            <a:endParaRPr/>
          </a:p>
          <a:p>
            <a:pPr>
              <a:defRPr/>
            </a:pPr>
            <a:r>
              <a:rPr lang="en-US" sz="2800"/>
              <a:t>NER </a:t>
            </a:r>
            <a:r>
              <a:rPr lang="en-US" sz="2800"/>
              <a:t>giúp</a:t>
            </a:r>
            <a:r>
              <a:rPr lang="en-US" sz="2800"/>
              <a:t> </a:t>
            </a:r>
            <a:r>
              <a:rPr lang="en-US" sz="2800"/>
              <a:t>nhận</a:t>
            </a:r>
            <a:r>
              <a:rPr lang="en-US" sz="2800"/>
              <a:t> </a:t>
            </a:r>
            <a:r>
              <a:rPr lang="en-US" sz="2800"/>
              <a:t>dạng</a:t>
            </a:r>
            <a:r>
              <a:rPr lang="en-US" sz="2800"/>
              <a:t> </a:t>
            </a:r>
            <a:r>
              <a:rPr lang="en-US" sz="2800"/>
              <a:t>người</a:t>
            </a:r>
            <a:r>
              <a:rPr lang="en-US" sz="2800"/>
              <a:t>, </a:t>
            </a:r>
            <a:r>
              <a:rPr lang="en-US" sz="2800"/>
              <a:t>tổ</a:t>
            </a:r>
            <a:r>
              <a:rPr lang="en-US" sz="2800"/>
              <a:t> </a:t>
            </a:r>
            <a:r>
              <a:rPr lang="en-US" sz="2800"/>
              <a:t>chức</a:t>
            </a:r>
            <a:r>
              <a:rPr lang="en-US" sz="2800"/>
              <a:t>, </a:t>
            </a:r>
            <a:r>
              <a:rPr lang="en-US" sz="2800"/>
              <a:t>địa</a:t>
            </a:r>
            <a:r>
              <a:rPr lang="en-US" sz="2800"/>
              <a:t> </a:t>
            </a:r>
            <a:r>
              <a:rPr lang="en-US" sz="2800"/>
              <a:t>điểm</a:t>
            </a:r>
            <a:r>
              <a:rPr lang="en-US" sz="2800"/>
              <a:t> </a:t>
            </a:r>
            <a:r>
              <a:rPr lang="en-US" sz="2800"/>
              <a:t>trong</a:t>
            </a:r>
            <a:r>
              <a:rPr lang="en-US" sz="2800"/>
              <a:t> </a:t>
            </a:r>
            <a:r>
              <a:rPr lang="en-US" sz="2800"/>
              <a:t>văn</a:t>
            </a:r>
            <a:r>
              <a:rPr lang="en-US" sz="2800"/>
              <a:t> </a:t>
            </a:r>
            <a:r>
              <a:rPr lang="en-US" sz="2800"/>
              <a:t>bản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XLM-</a:t>
            </a:r>
            <a:r>
              <a:rPr lang="en-US" sz="2800"/>
              <a:t>RoBERTa</a:t>
            </a:r>
            <a:r>
              <a:rPr lang="en-US" sz="2800"/>
              <a:t> </a:t>
            </a:r>
            <a:r>
              <a:rPr lang="en-US" sz="2800"/>
              <a:t>hỗ</a:t>
            </a:r>
            <a:r>
              <a:rPr lang="en-US" sz="2800"/>
              <a:t> </a:t>
            </a:r>
            <a:r>
              <a:rPr lang="en-US" sz="2800"/>
              <a:t>trợ</a:t>
            </a:r>
            <a:r>
              <a:rPr lang="en-US" sz="2800"/>
              <a:t> </a:t>
            </a:r>
            <a:r>
              <a:rPr lang="en-US" sz="2800"/>
              <a:t>xử</a:t>
            </a:r>
            <a:r>
              <a:rPr lang="en-US" sz="2800"/>
              <a:t> </a:t>
            </a:r>
            <a:r>
              <a:rPr lang="en-US" sz="2800"/>
              <a:t>lý</a:t>
            </a:r>
            <a:r>
              <a:rPr lang="en-US" sz="2800"/>
              <a:t>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Zero-shot transfer </a:t>
            </a:r>
            <a:r>
              <a:rPr lang="en-US" sz="2800"/>
              <a:t>giúp</a:t>
            </a:r>
            <a:r>
              <a:rPr lang="en-US" sz="2800"/>
              <a:t> </a:t>
            </a:r>
            <a:r>
              <a:rPr lang="en-US" sz="2800"/>
              <a:t>mô</a:t>
            </a:r>
            <a:r>
              <a:rPr lang="en-US" sz="2800"/>
              <a:t> </a:t>
            </a:r>
            <a:r>
              <a:rPr lang="en-US" sz="2800"/>
              <a:t>hình</a:t>
            </a:r>
            <a:r>
              <a:rPr lang="en-US" sz="2800"/>
              <a:t> </a:t>
            </a:r>
            <a:r>
              <a:rPr lang="en-US" sz="2800"/>
              <a:t>áp</a:t>
            </a:r>
            <a:r>
              <a:rPr lang="en-US" sz="2800"/>
              <a:t> </a:t>
            </a:r>
            <a:r>
              <a:rPr lang="en-US" sz="2800"/>
              <a:t>dụng</a:t>
            </a:r>
            <a:r>
              <a:rPr lang="en-US" sz="2800"/>
              <a:t> sang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khác</a:t>
            </a:r>
            <a:r>
              <a:rPr lang="en-US" sz="2800"/>
              <a:t> </a:t>
            </a:r>
            <a:r>
              <a:rPr lang="en-US" sz="2800"/>
              <a:t>mà</a:t>
            </a:r>
            <a:r>
              <a:rPr lang="en-US" sz="2800"/>
              <a:t> </a:t>
            </a:r>
            <a:r>
              <a:rPr lang="en-US" sz="2800"/>
              <a:t>không</a:t>
            </a:r>
            <a:r>
              <a:rPr lang="en-US" sz="2800"/>
              <a:t> </a:t>
            </a:r>
            <a:r>
              <a:rPr lang="en-US" sz="2800"/>
              <a:t>cần</a:t>
            </a:r>
            <a:r>
              <a:rPr lang="en-US" sz="2800"/>
              <a:t> </a:t>
            </a:r>
            <a:r>
              <a:rPr lang="en-US" sz="2800"/>
              <a:t>huấn</a:t>
            </a:r>
            <a:r>
              <a:rPr lang="en-US" sz="2800"/>
              <a:t> </a:t>
            </a:r>
            <a:r>
              <a:rPr lang="en-US" sz="2800"/>
              <a:t>luyện</a:t>
            </a:r>
            <a:r>
              <a:rPr lang="en-US" sz="2800"/>
              <a:t> </a:t>
            </a:r>
            <a:r>
              <a:rPr lang="en-US" sz="2800"/>
              <a:t>lại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Fine-tuning </a:t>
            </a:r>
            <a:r>
              <a:rPr lang="en-US" sz="2800"/>
              <a:t>trên</a:t>
            </a:r>
            <a:r>
              <a:rPr lang="en-US" sz="2800"/>
              <a:t> </a:t>
            </a:r>
            <a:r>
              <a:rPr lang="en-US" sz="2800"/>
              <a:t>nhiều</a:t>
            </a:r>
            <a:r>
              <a:rPr lang="en-US" sz="2800"/>
              <a:t> </a:t>
            </a:r>
            <a:r>
              <a:rPr lang="en-US" sz="2800"/>
              <a:t>ngôn</a:t>
            </a:r>
            <a:r>
              <a:rPr lang="en-US" sz="2800"/>
              <a:t> </a:t>
            </a:r>
            <a:r>
              <a:rPr lang="en-US" sz="2800"/>
              <a:t>ngữ</a:t>
            </a:r>
            <a:r>
              <a:rPr lang="en-US" sz="2800"/>
              <a:t> </a:t>
            </a:r>
            <a:r>
              <a:rPr lang="en-US" sz="2800"/>
              <a:t>có</a:t>
            </a:r>
            <a:r>
              <a:rPr lang="en-US" sz="2800"/>
              <a:t> </a:t>
            </a:r>
            <a:r>
              <a:rPr lang="en-US" sz="2800"/>
              <a:t>thể</a:t>
            </a:r>
            <a:r>
              <a:rPr lang="en-US" sz="2800"/>
              <a:t> </a:t>
            </a:r>
            <a:r>
              <a:rPr lang="en-US" sz="2800"/>
              <a:t>cải</a:t>
            </a:r>
            <a:r>
              <a:rPr lang="en-US" sz="2800"/>
              <a:t> </a:t>
            </a:r>
            <a:r>
              <a:rPr lang="en-US" sz="2800"/>
              <a:t>thiện</a:t>
            </a:r>
            <a:r>
              <a:rPr lang="en-US" sz="2800"/>
              <a:t> </a:t>
            </a:r>
            <a:r>
              <a:rPr lang="en-US" sz="2800"/>
              <a:t>hiệu</a:t>
            </a:r>
            <a:r>
              <a:rPr lang="en-US" sz="2800"/>
              <a:t> </a:t>
            </a:r>
            <a:r>
              <a:rPr lang="en-US" sz="2800"/>
              <a:t>suất</a:t>
            </a:r>
            <a:r>
              <a:rPr lang="en-US" sz="2800"/>
              <a:t>. </a:t>
            </a:r>
            <a:endParaRPr/>
          </a:p>
          <a:p>
            <a:pPr>
              <a:defRPr/>
            </a:pPr>
            <a:r>
              <a:rPr lang="en-US" sz="2800"/>
              <a:t>Multilingual NER </a:t>
            </a:r>
            <a:r>
              <a:rPr lang="en-US" sz="2800"/>
              <a:t>rất</a:t>
            </a:r>
            <a:r>
              <a:rPr lang="en-US" sz="2800"/>
              <a:t> </a:t>
            </a:r>
            <a:r>
              <a:rPr lang="en-US" sz="2800"/>
              <a:t>hữu</a:t>
            </a:r>
            <a:r>
              <a:rPr lang="en-US" sz="2800"/>
              <a:t> </a:t>
            </a:r>
            <a:r>
              <a:rPr lang="en-US" sz="2800"/>
              <a:t>ích</a:t>
            </a:r>
            <a:r>
              <a:rPr lang="en-US" sz="2800"/>
              <a:t> </a:t>
            </a:r>
            <a:r>
              <a:rPr lang="en-US" sz="2800"/>
              <a:t>trong</a:t>
            </a:r>
            <a:r>
              <a:rPr lang="en-US" sz="2800"/>
              <a:t> </a:t>
            </a:r>
            <a:r>
              <a:rPr lang="en-US" sz="2800"/>
              <a:t>các</a:t>
            </a:r>
            <a:r>
              <a:rPr lang="en-US" sz="2800"/>
              <a:t> </a:t>
            </a:r>
            <a:r>
              <a:rPr lang="en-US" sz="2800"/>
              <a:t>hệ</a:t>
            </a:r>
            <a:r>
              <a:rPr lang="en-US" sz="2800"/>
              <a:t> </a:t>
            </a:r>
            <a:r>
              <a:rPr lang="en-US" sz="2800"/>
              <a:t>thống</a:t>
            </a:r>
            <a:r>
              <a:rPr lang="en-US" sz="2800"/>
              <a:t> </a:t>
            </a:r>
            <a:r>
              <a:rPr lang="en-US" sz="2800"/>
              <a:t>xử</a:t>
            </a:r>
            <a:r>
              <a:rPr lang="en-US" sz="2800"/>
              <a:t> </a:t>
            </a:r>
            <a:r>
              <a:rPr lang="en-US" sz="2800"/>
              <a:t>lý</a:t>
            </a:r>
            <a:r>
              <a:rPr lang="en-US" sz="2800"/>
              <a:t> </a:t>
            </a:r>
            <a:r>
              <a:rPr lang="en-US" sz="2800"/>
              <a:t>văn</a:t>
            </a:r>
            <a:r>
              <a:rPr lang="en-US" sz="2800"/>
              <a:t> </a:t>
            </a:r>
            <a:r>
              <a:rPr lang="en-US" sz="2800"/>
              <a:t>bản</a:t>
            </a:r>
            <a:r>
              <a:rPr lang="en-US" sz="2800"/>
              <a:t> </a:t>
            </a:r>
            <a:r>
              <a:rPr lang="en-US" sz="2800"/>
              <a:t>thực</a:t>
            </a:r>
            <a:r>
              <a:rPr lang="en-US" sz="2800"/>
              <a:t> </a:t>
            </a:r>
            <a:r>
              <a:rPr lang="en-US" sz="2800"/>
              <a:t>tế</a:t>
            </a:r>
            <a:r>
              <a:rPr lang="en-US" sz="2800"/>
              <a:t>. </a:t>
            </a:r>
            <a:endParaRPr/>
          </a:p>
        </p:txBody>
      </p:sp>
      <p:sp>
        <p:nvSpPr>
          <p:cNvPr id="150898824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800" b="0">
                <a:latin typeface="Arial"/>
              </a:rPr>
              <a:t>15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62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5362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62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5362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62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5362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62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5362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62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5362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62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5362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62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5362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362277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792290" name="Text 0"/>
          <p:cNvSpPr/>
          <p:nvPr/>
        </p:nvSpPr>
        <p:spPr bwMode="auto">
          <a:xfrm>
            <a:off x="640080" y="2286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99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MULTILINGUAL NAMED ENTITY RECOGNITION</a:t>
            </a:r>
            <a:endParaRPr lang="en-US" sz="1300"/>
          </a:p>
        </p:txBody>
      </p:sp>
      <p:sp>
        <p:nvSpPr>
          <p:cNvPr id="2109355424" name="Text 1"/>
          <p:cNvSpPr/>
          <p:nvPr/>
        </p:nvSpPr>
        <p:spPr bwMode="auto">
          <a:xfrm>
            <a:off x="640080" y="2697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1B1F2A"/>
                </a:solidFill>
                <a:latin typeface="Cambria"/>
                <a:ea typeface="Cambria"/>
                <a:cs typeface="Cambria"/>
              </a:rPr>
              <a:t>Pipeline &amp; Code Walkthrough</a:t>
            </a:r>
            <a:endParaRPr lang="en-US" sz="4000"/>
          </a:p>
        </p:txBody>
      </p:sp>
      <p:sp>
        <p:nvSpPr>
          <p:cNvPr id="855842201" name="Text 2"/>
          <p:cNvSpPr/>
          <p:nvPr/>
        </p:nvSpPr>
        <p:spPr bwMode="auto">
          <a:xfrm>
            <a:off x="640080" y="3520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Fine-tuning XLM-RoBERTa on WikiANN, served through a FastAPI backend and an HTML/CSS/JS demo</a:t>
            </a:r>
            <a:endParaRPr lang="en-US" sz="1600"/>
          </a:p>
        </p:txBody>
      </p:sp>
      <p:sp>
        <p:nvSpPr>
          <p:cNvPr id="1367518171" name="Shape 3"/>
          <p:cNvSpPr/>
          <p:nvPr/>
        </p:nvSpPr>
        <p:spPr bwMode="auto">
          <a:xfrm>
            <a:off x="640080" y="4160518"/>
            <a:ext cx="1280160" cy="0"/>
          </a:xfrm>
          <a:prstGeom prst="line">
            <a:avLst/>
          </a:prstGeom>
          <a:noFill/>
          <a:ln w="31750">
            <a:solidFill>
              <a:srgbClr val="4A5FA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283000" name="Text 0"/>
          <p:cNvSpPr/>
          <p:nvPr/>
        </p:nvSpPr>
        <p:spPr bwMode="auto"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1200"/>
          </a:p>
        </p:txBody>
      </p:sp>
      <p:sp>
        <p:nvSpPr>
          <p:cNvPr id="1619670750" name="Text 1"/>
          <p:cNvSpPr/>
          <p:nvPr/>
        </p:nvSpPr>
        <p:spPr bwMode="auto"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1F2A"/>
                </a:solidFill>
                <a:latin typeface="Cambria"/>
                <a:ea typeface="Cambria"/>
                <a:cs typeface="Cambria"/>
              </a:rPr>
              <a:t>Nội dung trình bày</a:t>
            </a:r>
            <a:endParaRPr lang="en-US" sz="3000"/>
          </a:p>
        </p:txBody>
      </p:sp>
      <p:sp>
        <p:nvSpPr>
          <p:cNvPr id="1981097830" name="Text 2"/>
          <p:cNvSpPr/>
          <p:nvPr/>
        </p:nvSpPr>
        <p:spPr bwMode="auto">
          <a:xfrm>
            <a:off x="640080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4A5FA8"/>
                </a:solidFill>
                <a:latin typeface="Cambria"/>
                <a:ea typeface="Cambria"/>
                <a:cs typeface="Cambria"/>
              </a:rPr>
              <a:t>01</a:t>
            </a:r>
            <a:endParaRPr lang="en-US" sz="2600"/>
          </a:p>
        </p:txBody>
      </p:sp>
      <p:sp>
        <p:nvSpPr>
          <p:cNvPr id="330674096" name="Text 3"/>
          <p:cNvSpPr/>
          <p:nvPr/>
        </p:nvSpPr>
        <p:spPr bwMode="auto">
          <a:xfrm>
            <a:off x="1463040" y="1737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Bài toán &amp; dữ liệu</a:t>
            </a:r>
            <a:endParaRPr lang="en-US" sz="1600"/>
          </a:p>
        </p:txBody>
      </p:sp>
      <p:sp>
        <p:nvSpPr>
          <p:cNvPr id="875891221" name="Text 4"/>
          <p:cNvSpPr/>
          <p:nvPr/>
        </p:nvSpPr>
        <p:spPr bwMode="auto">
          <a:xfrm>
            <a:off x="1463040" y="21031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NER là gì, schema BIO, dataset WikiANN</a:t>
            </a:r>
            <a:endParaRPr lang="en-US" sz="1250"/>
          </a:p>
        </p:txBody>
      </p:sp>
      <p:sp>
        <p:nvSpPr>
          <p:cNvPr id="1506771997" name="Text 5"/>
          <p:cNvSpPr/>
          <p:nvPr/>
        </p:nvSpPr>
        <p:spPr bwMode="auto">
          <a:xfrm>
            <a:off x="6080760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4A5FA8"/>
                </a:solidFill>
                <a:latin typeface="Cambria"/>
                <a:ea typeface="Cambria"/>
                <a:cs typeface="Cambria"/>
              </a:rPr>
              <a:t>02</a:t>
            </a:r>
            <a:endParaRPr lang="en-US" sz="2600"/>
          </a:p>
        </p:txBody>
      </p:sp>
      <p:sp>
        <p:nvSpPr>
          <p:cNvPr id="797207649" name="Text 6"/>
          <p:cNvSpPr/>
          <p:nvPr/>
        </p:nvSpPr>
        <p:spPr bwMode="auto">
          <a:xfrm>
            <a:off x="6903720" y="1737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Vì sao chọn XLM-RoBERTa</a:t>
            </a:r>
            <a:endParaRPr lang="en-US" sz="1600"/>
          </a:p>
        </p:txBody>
      </p:sp>
      <p:sp>
        <p:nvSpPr>
          <p:cNvPr id="125815822" name="Text 7"/>
          <p:cNvSpPr/>
          <p:nvPr/>
        </p:nvSpPr>
        <p:spPr bwMode="auto">
          <a:xfrm>
            <a:off x="6903720" y="21031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So sánh với mBERT, lý do phù hợp đa ngôn ngữ</a:t>
            </a:r>
            <a:endParaRPr lang="en-US" sz="1250"/>
          </a:p>
        </p:txBody>
      </p:sp>
      <p:sp>
        <p:nvSpPr>
          <p:cNvPr id="1092922220" name="Text 8"/>
          <p:cNvSpPr/>
          <p:nvPr/>
        </p:nvSpPr>
        <p:spPr bwMode="auto">
          <a:xfrm>
            <a:off x="640080" y="3657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4A5FA8"/>
                </a:solidFill>
                <a:latin typeface="Cambria"/>
                <a:ea typeface="Cambria"/>
                <a:cs typeface="Cambria"/>
              </a:rPr>
              <a:t>03</a:t>
            </a:r>
            <a:endParaRPr lang="en-US" sz="2600"/>
          </a:p>
        </p:txBody>
      </p:sp>
      <p:sp>
        <p:nvSpPr>
          <p:cNvPr id="384344204" name="Text 9"/>
          <p:cNvSpPr/>
          <p:nvPr/>
        </p:nvSpPr>
        <p:spPr bwMode="auto">
          <a:xfrm>
            <a:off x="1463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Pipeline huấn luyện</a:t>
            </a:r>
            <a:endParaRPr lang="en-US" sz="1600"/>
          </a:p>
        </p:txBody>
      </p:sp>
      <p:sp>
        <p:nvSpPr>
          <p:cNvPr id="594592686" name="Text 10"/>
          <p:cNvSpPr/>
          <p:nvPr/>
        </p:nvSpPr>
        <p:spPr bwMode="auto">
          <a:xfrm>
            <a:off x="1463040" y="4023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Tokenize, label alignment, training loop</a:t>
            </a:r>
            <a:endParaRPr lang="en-US" sz="1250"/>
          </a:p>
        </p:txBody>
      </p:sp>
      <p:sp>
        <p:nvSpPr>
          <p:cNvPr id="1555947249" name="Text 11"/>
          <p:cNvSpPr/>
          <p:nvPr/>
        </p:nvSpPr>
        <p:spPr bwMode="auto">
          <a:xfrm>
            <a:off x="6080760" y="3657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4A5FA8"/>
                </a:solidFill>
                <a:latin typeface="Cambria"/>
                <a:ea typeface="Cambria"/>
                <a:cs typeface="Cambria"/>
              </a:rPr>
              <a:t>04</a:t>
            </a:r>
            <a:endParaRPr lang="en-US" sz="2600"/>
          </a:p>
        </p:txBody>
      </p:sp>
      <p:sp>
        <p:nvSpPr>
          <p:cNvPr id="266632623" name="Text 12"/>
          <p:cNvSpPr/>
          <p:nvPr/>
        </p:nvSpPr>
        <p:spPr bwMode="auto">
          <a:xfrm>
            <a:off x="690372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Hệ thống phục vụ &amp; demo</a:t>
            </a:r>
            <a:endParaRPr lang="en-US" sz="1600"/>
          </a:p>
        </p:txBody>
      </p:sp>
      <p:sp>
        <p:nvSpPr>
          <p:cNvPr id="1874992793" name="Text 13"/>
          <p:cNvSpPr/>
          <p:nvPr/>
        </p:nvSpPr>
        <p:spPr bwMode="auto">
          <a:xfrm>
            <a:off x="6903720" y="4023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Backend FastAPI, frontend, kiến trúc tổng thể</a:t>
            </a:r>
            <a:endParaRPr lang="en-US" sz="1250"/>
          </a:p>
        </p:txBody>
      </p:sp>
      <p:sp>
        <p:nvSpPr>
          <p:cNvPr id="1598062797" name="Text 14"/>
          <p:cNvSpPr/>
          <p:nvPr/>
        </p:nvSpPr>
        <p:spPr bwMode="auto"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951961" name="Text 0"/>
          <p:cNvSpPr/>
          <p:nvPr/>
        </p:nvSpPr>
        <p:spPr bwMode="auto"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01 · BÀI TOÁN</a:t>
            </a:r>
            <a:endParaRPr lang="en-US" sz="1200"/>
          </a:p>
        </p:txBody>
      </p:sp>
      <p:sp>
        <p:nvSpPr>
          <p:cNvPr id="187059394" name="Text 1"/>
          <p:cNvSpPr/>
          <p:nvPr/>
        </p:nvSpPr>
        <p:spPr bwMode="auto"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1F2A"/>
                </a:solidFill>
                <a:latin typeface="Cambria"/>
                <a:ea typeface="Cambria"/>
                <a:cs typeface="Cambria"/>
              </a:rPr>
              <a:t>NER là một bài toán sequence labeling</a:t>
            </a:r>
            <a:endParaRPr lang="en-US" sz="3000"/>
          </a:p>
        </p:txBody>
      </p:sp>
      <p:sp>
        <p:nvSpPr>
          <p:cNvPr id="536386376" name="Text 2"/>
          <p:cNvSpPr/>
          <p:nvPr/>
        </p:nvSpPr>
        <p:spPr bwMode="auto">
          <a:xfrm>
            <a:off x="640080" y="164592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Mỗi token trong câu được gán một nhãn — không phải gán nhãn cho cả câu như phân loại văn bản thông thường.</a:t>
            </a:r>
            <a:endParaRPr lang="en-US" sz="1600"/>
          </a:p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Schema nhãn sử dụng: BIO — O (không phải thực thể), B-X (token đầu của thực thể loại X), I-X (token tiếp theo của thực thể đó).</a:t>
            </a:r>
            <a:endParaRPr lang="en-US" sz="1600"/>
          </a:p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3 loại thực thể trong project: PER (người), LOC (địa điểm), ORG (tổ chức).</a:t>
            </a:r>
            <a:endParaRPr lang="en-US" sz="1600"/>
          </a:p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Ví dụ: “Barack Obama was born in Honolulu” → Barack/B-PER Obama/I-PER ... Honolulu/B-LOC.</a:t>
            </a:r>
            <a:endParaRPr lang="en-US" sz="1600"/>
          </a:p>
        </p:txBody>
      </p:sp>
      <p:sp>
        <p:nvSpPr>
          <p:cNvPr id="222600925" name="Text 3"/>
          <p:cNvSpPr/>
          <p:nvPr/>
        </p:nvSpPr>
        <p:spPr bwMode="auto"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530490" name="Text 0"/>
          <p:cNvSpPr/>
          <p:nvPr/>
        </p:nvSpPr>
        <p:spPr bwMode="auto"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01 · DỮ LIỆU</a:t>
            </a:r>
            <a:endParaRPr lang="en-US" sz="1200"/>
          </a:p>
        </p:txBody>
      </p:sp>
      <p:sp>
        <p:nvSpPr>
          <p:cNvPr id="848702759" name="Text 1"/>
          <p:cNvSpPr/>
          <p:nvPr/>
        </p:nvSpPr>
        <p:spPr bwMode="auto"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1F2A"/>
                </a:solidFill>
                <a:latin typeface="Cambria"/>
                <a:ea typeface="Cambria"/>
                <a:cs typeface="Cambria"/>
              </a:rPr>
              <a:t>Dataset: WikiANN (PAN-X)</a:t>
            </a:r>
            <a:endParaRPr lang="en-US" sz="3000"/>
          </a:p>
        </p:txBody>
      </p:sp>
      <p:sp>
        <p:nvSpPr>
          <p:cNvPr id="1915548482" name="Text 2"/>
          <p:cNvSpPr/>
          <p:nvPr/>
        </p:nvSpPr>
        <p:spPr bwMode="auto">
          <a:xfrm>
            <a:off x="640080" y="1645920"/>
            <a:ext cx="652881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Trích từ Wikipedia, gán nhãn tự động theo 3 loại PER / LOC / ORG, format IOB2.</a:t>
            </a:r>
            <a:endParaRPr lang="en-US" sz="1600"/>
          </a:p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Cùng schema cho tất cả ngôn ngữ — không cần ánh xạ nhãn khi ghép nhiều ngôn ngữ lại với nhau.</a:t>
            </a:r>
            <a:endParaRPr lang="en-US" sz="1600"/>
          </a:p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Cover 176 ngôn ngữ, trong đó có tiếng Việt — tải trực tiếp qua thư viện datasets của Hugging Face.</a:t>
            </a:r>
            <a:endParaRPr lang="en-US" sz="1600"/>
          </a:p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Project dùng 4 ngôn ngữ: English (en), Vietnamese (vi), Spanish (es), French (fr).</a:t>
            </a:r>
            <a:endParaRPr lang="en-US" sz="1600"/>
          </a:p>
        </p:txBody>
      </p:sp>
      <p:sp>
        <p:nvSpPr>
          <p:cNvPr id="115483665" name="Shape 3"/>
          <p:cNvSpPr/>
          <p:nvPr/>
        </p:nvSpPr>
        <p:spPr bwMode="auto">
          <a:xfrm>
            <a:off x="7712964" y="1737360"/>
            <a:ext cx="3808476" cy="2743200"/>
          </a:xfrm>
          <a:prstGeom prst="roundRect">
            <a:avLst>
              <a:gd name="adj" fmla="val 2667"/>
            </a:avLst>
          </a:prstGeom>
          <a:solidFill>
            <a:srgbClr val="F4F5F8"/>
          </a:solidFill>
          <a:ln/>
        </p:spPr>
      </p:sp>
      <p:sp>
        <p:nvSpPr>
          <p:cNvPr id="1569614540" name="Text 4"/>
          <p:cNvSpPr/>
          <p:nvPr/>
        </p:nvSpPr>
        <p:spPr bwMode="auto">
          <a:xfrm>
            <a:off x="7941564" y="1920240"/>
            <a:ext cx="33512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1F2A"/>
                </a:solidFill>
                <a:latin typeface="Courier New"/>
                <a:ea typeface="Courier New"/>
                <a:cs typeface="Courier New"/>
              </a:rPr>
              <a:t>load_dataset(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1B1F2A"/>
                </a:solidFill>
                <a:latin typeface="Courier New"/>
                <a:ea typeface="Courier New"/>
                <a:cs typeface="Courier New"/>
              </a:rPr>
              <a:t>  "wikiann", "vi"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>
                <a:solidFill>
                  <a:srgbClr val="1B1F2A"/>
                </a:solidFill>
                <a:latin typeface="Courier New"/>
                <a:ea typeface="Courier New"/>
                <a:cs typeface="Courier New"/>
              </a:rPr>
              <a:t>)</a:t>
            </a:r>
            <a:endParaRPr lang="en-US" sz="1400"/>
          </a:p>
        </p:txBody>
      </p:sp>
      <p:sp>
        <p:nvSpPr>
          <p:cNvPr id="2033996322" name="Text 5"/>
          <p:cNvSpPr/>
          <p:nvPr/>
        </p:nvSpPr>
        <p:spPr bwMode="auto">
          <a:xfrm>
            <a:off x="7941564" y="2926080"/>
            <a:ext cx="33512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Mỗi ngôn ngữ được gộp lại bằng concatenate_datasets() trước khi train.</a:t>
            </a:r>
            <a:endParaRPr lang="en-US" sz="1250"/>
          </a:p>
        </p:txBody>
      </p:sp>
      <p:sp>
        <p:nvSpPr>
          <p:cNvPr id="355624076" name="Text 6"/>
          <p:cNvSpPr/>
          <p:nvPr/>
        </p:nvSpPr>
        <p:spPr bwMode="auto"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697648" name="Text 0"/>
          <p:cNvSpPr/>
          <p:nvPr/>
        </p:nvSpPr>
        <p:spPr bwMode="auto"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02 · LỰA CHỌN MÔ HÌNH</a:t>
            </a:r>
            <a:endParaRPr lang="en-US" sz="1200"/>
          </a:p>
        </p:txBody>
      </p:sp>
      <p:sp>
        <p:nvSpPr>
          <p:cNvPr id="633476511" name="Text 1"/>
          <p:cNvSpPr/>
          <p:nvPr/>
        </p:nvSpPr>
        <p:spPr bwMode="auto"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1F2A"/>
                </a:solidFill>
                <a:latin typeface="Cambria"/>
                <a:ea typeface="Cambria"/>
                <a:cs typeface="Cambria"/>
              </a:rPr>
              <a:t>XLM-RoBERTa thay vì mBERT</a:t>
            </a:r>
            <a:endParaRPr lang="en-US" sz="3000"/>
          </a:p>
        </p:txBody>
      </p:sp>
      <p:graphicFrame>
        <p:nvGraphicFramePr>
          <p:cNvPr id="1224863854" name="Table 0"/>
          <p:cNvGraphicFramePr>
            <a:graphicFrameLocks xmlns:a="http://schemas.openxmlformats.org/drawingml/2006/main"/>
          </p:cNvGraphicFramePr>
          <p:nvPr/>
        </p:nvGraphicFramePr>
        <p:xfrm rot="0">
          <a:off x="640080" y="1691640"/>
          <a:ext cx="10881360" cy="39319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377440"/>
                <a:gridCol w="4251960"/>
                <a:gridCol w="4251960"/>
              </a:tblGrid>
              <a:tr h="655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mBERT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4A5FA8"/>
                          </a:solidFill>
                          <a:latin typeface="Calibri"/>
                          <a:ea typeface="Calibri"/>
                          <a:cs typeface="Calibri"/>
                        </a:rPr>
                        <a:t>XLM-RoBERTa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  <a:solidFill>
                      <a:srgbClr val="EEF1FA"/>
                    </a:solidFill>
                  </a:tcPr>
                </a:tc>
              </a:tr>
              <a:tr h="655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Dữ liệu pretrain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Wikipedia mỗi ngôn ngữ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CC-100 (CommonCrawl đã lọc) — quy mô lớn hơn nhiều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</a:tr>
              <a:tr h="655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Tiếng Việt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Wikipedia tiếng Việt khá mỏng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~137GB trong CC-100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</a:tr>
              <a:tr h="655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Tokenizer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WordPiece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SentencePiece, vocab 250k dùng chung mọi ngôn ngữ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</a:tr>
              <a:tr h="655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Training objective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MLM + Next Sentence Prediction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Chỉ MLM, train lâu hơn, batch lớn hơn (theo RoBERTa)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</a:tr>
              <a:tr h="655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Kết quả cross-lingual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Yếu hơn ở ngôn ngữ ít tài nguyên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1B1F2A"/>
                          </a:solidFill>
                          <a:latin typeface="Calibri"/>
                          <a:ea typeface="Calibri"/>
                          <a:cs typeface="Calibri"/>
                        </a:rPr>
                        <a:t>Vượt mBERT rõ nhất ở ngôn ngữ ít tài nguyên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699" algn="ctr">
                      <a:solidFill>
                        <a:srgbClr val="E3E6EC"/>
                      </a:solidFill>
                    </a:lnL>
                    <a:lnR w="12699" algn="ctr">
                      <a:solidFill>
                        <a:srgbClr val="E3E6EC"/>
                      </a:solidFill>
                    </a:lnR>
                    <a:lnT w="12699" algn="ctr">
                      <a:solidFill>
                        <a:srgbClr val="E3E6EC"/>
                      </a:solidFill>
                    </a:lnT>
                    <a:lnB w="12699" algn="ctr">
                      <a:solidFill>
                        <a:srgbClr val="E3E6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7604882" name="Text 2"/>
          <p:cNvSpPr/>
          <p:nvPr/>
        </p:nvSpPr>
        <p:spPr bwMode="auto"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823440" name="Text 0"/>
          <p:cNvSpPr/>
          <p:nvPr/>
        </p:nvSpPr>
        <p:spPr bwMode="auto"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03 · PIPELINE HUẤN LUYỆN</a:t>
            </a:r>
            <a:endParaRPr lang="en-US" sz="1200"/>
          </a:p>
        </p:txBody>
      </p:sp>
      <p:sp>
        <p:nvSpPr>
          <p:cNvPr id="795932951" name="Text 1"/>
          <p:cNvSpPr/>
          <p:nvPr/>
        </p:nvSpPr>
        <p:spPr bwMode="auto"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1F2A"/>
                </a:solidFill>
                <a:latin typeface="Cambria"/>
                <a:ea typeface="Cambria"/>
                <a:cs typeface="Cambria"/>
              </a:rPr>
              <a:t>Tokenize &amp; align nhãn với subword</a:t>
            </a:r>
            <a:endParaRPr lang="en-US" sz="3000"/>
          </a:p>
        </p:txBody>
      </p:sp>
      <p:sp>
        <p:nvSpPr>
          <p:cNvPr id="500360815" name="Text 2"/>
          <p:cNvSpPr/>
          <p:nvPr/>
        </p:nvSpPr>
        <p:spPr bwMode="auto"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Transformer tách từ thành subword, nhưng WikiANN chỉ gán nhãn ở cấp từ — cần ánh xạ lại.</a:t>
            </a:r>
            <a:endParaRPr lang="en-US" sz="1450"/>
          </a:p>
        </p:txBody>
      </p:sp>
      <p:sp>
        <p:nvSpPr>
          <p:cNvPr id="864109894" name="Shape 3"/>
          <p:cNvSpPr/>
          <p:nvPr/>
        </p:nvSpPr>
        <p:spPr bwMode="auto">
          <a:xfrm>
            <a:off x="640080" y="2286000"/>
            <a:ext cx="3352799" cy="1371600"/>
          </a:xfrm>
          <a:prstGeom prst="roundRect">
            <a:avLst>
              <a:gd name="adj" fmla="val 5333"/>
            </a:avLst>
          </a:prstGeom>
          <a:solidFill>
            <a:srgbClr val="F4F5F8"/>
          </a:solidFill>
          <a:ln/>
        </p:spPr>
      </p:sp>
      <p:sp>
        <p:nvSpPr>
          <p:cNvPr id="155168750" name="Text 4"/>
          <p:cNvSpPr/>
          <p:nvPr/>
        </p:nvSpPr>
        <p:spPr bwMode="auto">
          <a:xfrm>
            <a:off x="822960" y="2423160"/>
            <a:ext cx="2987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A"/>
                </a:solidFill>
                <a:latin typeface="Courier New"/>
                <a:ea typeface="Courier New"/>
                <a:cs typeface="Courier New"/>
              </a:rPr>
              <a:t>“Honolulu”</a:t>
            </a:r>
            <a:endParaRPr lang="en-US" sz="1400"/>
          </a:p>
        </p:txBody>
      </p:sp>
      <p:sp>
        <p:nvSpPr>
          <p:cNvPr id="1373876321" name="Text 5"/>
          <p:cNvSpPr/>
          <p:nvPr/>
        </p:nvSpPr>
        <p:spPr bwMode="auto">
          <a:xfrm>
            <a:off x="822960" y="2926080"/>
            <a:ext cx="29870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từ gốc, nhãn: B-LOC</a:t>
            </a:r>
            <a:endParaRPr lang="en-US" sz="1150"/>
          </a:p>
        </p:txBody>
      </p:sp>
      <p:sp>
        <p:nvSpPr>
          <p:cNvPr id="1450231019" name="Text 6"/>
          <p:cNvSpPr/>
          <p:nvPr/>
        </p:nvSpPr>
        <p:spPr bwMode="auto">
          <a:xfrm>
            <a:off x="3947159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000"/>
          </a:p>
        </p:txBody>
      </p:sp>
      <p:sp>
        <p:nvSpPr>
          <p:cNvPr id="1367694182" name="Shape 7"/>
          <p:cNvSpPr/>
          <p:nvPr/>
        </p:nvSpPr>
        <p:spPr bwMode="auto">
          <a:xfrm>
            <a:off x="4267199" y="2286000"/>
            <a:ext cx="3352799" cy="1371600"/>
          </a:xfrm>
          <a:prstGeom prst="roundRect">
            <a:avLst>
              <a:gd name="adj" fmla="val 5333"/>
            </a:avLst>
          </a:prstGeom>
          <a:solidFill>
            <a:srgbClr val="F4F5F8"/>
          </a:solidFill>
          <a:ln/>
        </p:spPr>
      </p:sp>
      <p:sp>
        <p:nvSpPr>
          <p:cNvPr id="1566104993" name="Text 8"/>
          <p:cNvSpPr/>
          <p:nvPr/>
        </p:nvSpPr>
        <p:spPr bwMode="auto">
          <a:xfrm>
            <a:off x="4450079" y="2423160"/>
            <a:ext cx="2987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A"/>
                </a:solidFill>
                <a:latin typeface="Courier New"/>
                <a:ea typeface="Courier New"/>
                <a:cs typeface="Courier New"/>
              </a:rPr>
              <a:t>Ho · no · lulu</a:t>
            </a:r>
            <a:endParaRPr lang="en-US" sz="1400"/>
          </a:p>
        </p:txBody>
      </p:sp>
      <p:sp>
        <p:nvSpPr>
          <p:cNvPr id="579671675" name="Text 9"/>
          <p:cNvSpPr/>
          <p:nvPr/>
        </p:nvSpPr>
        <p:spPr bwMode="auto">
          <a:xfrm>
            <a:off x="4450079" y="2926080"/>
            <a:ext cx="29870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tách subword (SentencePiece)</a:t>
            </a:r>
            <a:endParaRPr lang="en-US" sz="1150"/>
          </a:p>
        </p:txBody>
      </p:sp>
      <p:sp>
        <p:nvSpPr>
          <p:cNvPr id="917558287" name="Text 10"/>
          <p:cNvSpPr/>
          <p:nvPr/>
        </p:nvSpPr>
        <p:spPr bwMode="auto">
          <a:xfrm>
            <a:off x="75742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000"/>
          </a:p>
        </p:txBody>
      </p:sp>
      <p:sp>
        <p:nvSpPr>
          <p:cNvPr id="28810588" name="Shape 11"/>
          <p:cNvSpPr/>
          <p:nvPr/>
        </p:nvSpPr>
        <p:spPr bwMode="auto">
          <a:xfrm>
            <a:off x="7894320" y="2286000"/>
            <a:ext cx="3352799" cy="1371600"/>
          </a:xfrm>
          <a:prstGeom prst="roundRect">
            <a:avLst>
              <a:gd name="adj" fmla="val 5333"/>
            </a:avLst>
          </a:prstGeom>
          <a:solidFill>
            <a:srgbClr val="EEF1FA"/>
          </a:solidFill>
          <a:ln/>
        </p:spPr>
      </p:sp>
      <p:sp>
        <p:nvSpPr>
          <p:cNvPr id="1863128000" name="Text 12"/>
          <p:cNvSpPr/>
          <p:nvPr/>
        </p:nvSpPr>
        <p:spPr bwMode="auto">
          <a:xfrm>
            <a:off x="8077200" y="2423160"/>
            <a:ext cx="2987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4A5FA8"/>
                </a:solidFill>
                <a:latin typeface="Courier New"/>
                <a:ea typeface="Courier New"/>
                <a:cs typeface="Courier New"/>
              </a:rPr>
              <a:t>B-LOC · -100 · -100</a:t>
            </a:r>
            <a:endParaRPr lang="en-US" sz="1400"/>
          </a:p>
        </p:txBody>
      </p:sp>
      <p:sp>
        <p:nvSpPr>
          <p:cNvPr id="1812875178" name="Text 13"/>
          <p:cNvSpPr/>
          <p:nvPr/>
        </p:nvSpPr>
        <p:spPr bwMode="auto">
          <a:xfrm>
            <a:off x="8077200" y="2926080"/>
            <a:ext cx="29870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chỉ subword đầu giữ nhãn thật,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các subword sau bị loss bỏ qua</a:t>
            </a:r>
            <a:endParaRPr lang="en-US" sz="1150"/>
          </a:p>
        </p:txBody>
      </p:sp>
      <p:sp>
        <p:nvSpPr>
          <p:cNvPr id="1480356183" name="Text 14"/>
          <p:cNvSpPr/>
          <p:nvPr/>
        </p:nvSpPr>
        <p:spPr bwMode="auto">
          <a:xfrm>
            <a:off x="640080" y="41148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Đánh đổi: model không được giám sát trực tiếp ở subword giữa/cuối từ → dự đoán dễ nhiễu với từ hiếm.</a:t>
            </a:r>
            <a:endParaRPr lang="en-US" sz="1600"/>
          </a:p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Cách giảm ảnh hưởng lúc inference: dùng aggregation_strategy="first" — chỉ tin nhãn của subword đầu tiên.</a:t>
            </a:r>
            <a:endParaRPr lang="en-US" sz="1600"/>
          </a:p>
        </p:txBody>
      </p:sp>
      <p:sp>
        <p:nvSpPr>
          <p:cNvPr id="2095178114" name="Text 15"/>
          <p:cNvSpPr/>
          <p:nvPr/>
        </p:nvSpPr>
        <p:spPr bwMode="auto"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594339" name="Text 0"/>
          <p:cNvSpPr/>
          <p:nvPr/>
        </p:nvSpPr>
        <p:spPr bwMode="auto"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03 · PIPELINE HUẤN LUYỆN</a:t>
            </a:r>
            <a:endParaRPr lang="en-US" sz="1200"/>
          </a:p>
        </p:txBody>
      </p:sp>
      <p:sp>
        <p:nvSpPr>
          <p:cNvPr id="224897704" name="Text 1"/>
          <p:cNvSpPr/>
          <p:nvPr/>
        </p:nvSpPr>
        <p:spPr bwMode="auto"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1F2A"/>
                </a:solidFill>
                <a:latin typeface="Cambria"/>
                <a:ea typeface="Cambria"/>
                <a:cs typeface="Cambria"/>
              </a:rPr>
              <a:t>Kiến trúc mô hình</a:t>
            </a:r>
            <a:endParaRPr lang="en-US" sz="3000"/>
          </a:p>
        </p:txBody>
      </p:sp>
      <p:sp>
        <p:nvSpPr>
          <p:cNvPr id="1490248284" name="Shape 2"/>
          <p:cNvSpPr/>
          <p:nvPr/>
        </p:nvSpPr>
        <p:spPr bwMode="auto">
          <a:xfrm>
            <a:off x="640080" y="2103120"/>
            <a:ext cx="1883664" cy="1737360"/>
          </a:xfrm>
          <a:prstGeom prst="roundRect">
            <a:avLst>
              <a:gd name="adj" fmla="val 4211"/>
            </a:avLst>
          </a:prstGeom>
          <a:solidFill>
            <a:srgbClr val="F4F5F8"/>
          </a:solidFill>
          <a:ln/>
        </p:spPr>
      </p:sp>
      <p:sp>
        <p:nvSpPr>
          <p:cNvPr id="590336297" name="Text 3"/>
          <p:cNvSpPr/>
          <p:nvPr/>
        </p:nvSpPr>
        <p:spPr bwMode="auto">
          <a:xfrm>
            <a:off x="777240" y="22402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Input</a:t>
            </a:r>
            <a:endParaRPr lang="en-US" sz="1350"/>
          </a:p>
        </p:txBody>
      </p:sp>
      <p:sp>
        <p:nvSpPr>
          <p:cNvPr id="1525595720" name="Text 4"/>
          <p:cNvSpPr/>
          <p:nvPr/>
        </p:nvSpPr>
        <p:spPr bwMode="auto">
          <a:xfrm>
            <a:off x="777240" y="26974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Câu (bất kỳ ngôn ngữ)</a:t>
            </a:r>
            <a:endParaRPr lang="en-US" sz="1050"/>
          </a:p>
        </p:txBody>
      </p:sp>
      <p:sp>
        <p:nvSpPr>
          <p:cNvPr id="2129951473" name="Text 5"/>
          <p:cNvSpPr/>
          <p:nvPr/>
        </p:nvSpPr>
        <p:spPr bwMode="auto">
          <a:xfrm>
            <a:off x="2542032" y="26517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800"/>
          </a:p>
        </p:txBody>
      </p:sp>
      <p:sp>
        <p:nvSpPr>
          <p:cNvPr id="61607234" name="Shape 6"/>
          <p:cNvSpPr/>
          <p:nvPr/>
        </p:nvSpPr>
        <p:spPr bwMode="auto">
          <a:xfrm>
            <a:off x="2889504" y="2103120"/>
            <a:ext cx="1883664" cy="1737360"/>
          </a:xfrm>
          <a:prstGeom prst="roundRect">
            <a:avLst>
              <a:gd name="adj" fmla="val 4211"/>
            </a:avLst>
          </a:prstGeom>
          <a:solidFill>
            <a:srgbClr val="F4F5F8"/>
          </a:solidFill>
          <a:ln/>
        </p:spPr>
      </p:sp>
      <p:sp>
        <p:nvSpPr>
          <p:cNvPr id="698761965" name="Text 7"/>
          <p:cNvSpPr/>
          <p:nvPr/>
        </p:nvSpPr>
        <p:spPr bwMode="auto">
          <a:xfrm>
            <a:off x="3026664" y="22402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Tokenizer</a:t>
            </a:r>
            <a:endParaRPr lang="en-US" sz="1350"/>
          </a:p>
        </p:txBody>
      </p:sp>
      <p:sp>
        <p:nvSpPr>
          <p:cNvPr id="1691209273" name="Text 8"/>
          <p:cNvSpPr/>
          <p:nvPr/>
        </p:nvSpPr>
        <p:spPr bwMode="auto">
          <a:xfrm>
            <a:off x="3026664" y="26974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SentencePiece → subword IDs</a:t>
            </a:r>
            <a:endParaRPr lang="en-US" sz="1050"/>
          </a:p>
        </p:txBody>
      </p:sp>
      <p:sp>
        <p:nvSpPr>
          <p:cNvPr id="317666479" name="Text 9"/>
          <p:cNvSpPr/>
          <p:nvPr/>
        </p:nvSpPr>
        <p:spPr bwMode="auto">
          <a:xfrm>
            <a:off x="4791456" y="26517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800"/>
          </a:p>
        </p:txBody>
      </p:sp>
      <p:sp>
        <p:nvSpPr>
          <p:cNvPr id="1039273540" name="Shape 10"/>
          <p:cNvSpPr/>
          <p:nvPr/>
        </p:nvSpPr>
        <p:spPr bwMode="auto">
          <a:xfrm>
            <a:off x="5138928" y="2103120"/>
            <a:ext cx="1883664" cy="1737360"/>
          </a:xfrm>
          <a:prstGeom prst="roundRect">
            <a:avLst>
              <a:gd name="adj" fmla="val 4211"/>
            </a:avLst>
          </a:prstGeom>
          <a:solidFill>
            <a:srgbClr val="F4F5F8"/>
          </a:solidFill>
          <a:ln/>
        </p:spPr>
      </p:sp>
      <p:sp>
        <p:nvSpPr>
          <p:cNvPr id="540752821" name="Text 11"/>
          <p:cNvSpPr/>
          <p:nvPr/>
        </p:nvSpPr>
        <p:spPr bwMode="auto">
          <a:xfrm>
            <a:off x="5276088" y="22402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XLM-R Encoder</a:t>
            </a:r>
            <a:endParaRPr lang="en-US" sz="1350"/>
          </a:p>
        </p:txBody>
      </p:sp>
      <p:sp>
        <p:nvSpPr>
          <p:cNvPr id="476897475" name="Text 12"/>
          <p:cNvSpPr/>
          <p:nvPr/>
        </p:nvSpPr>
        <p:spPr bwMode="auto">
          <a:xfrm>
            <a:off x="5276088" y="26974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12 lớp transformer, sinh hidden vector cho mỗi token</a:t>
            </a:r>
            <a:endParaRPr lang="en-US" sz="1050"/>
          </a:p>
        </p:txBody>
      </p:sp>
      <p:sp>
        <p:nvSpPr>
          <p:cNvPr id="2111921057" name="Text 13"/>
          <p:cNvSpPr/>
          <p:nvPr/>
        </p:nvSpPr>
        <p:spPr bwMode="auto">
          <a:xfrm>
            <a:off x="7040880" y="26517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800"/>
          </a:p>
        </p:txBody>
      </p:sp>
      <p:sp>
        <p:nvSpPr>
          <p:cNvPr id="736372331" name="Shape 14"/>
          <p:cNvSpPr/>
          <p:nvPr/>
        </p:nvSpPr>
        <p:spPr bwMode="auto">
          <a:xfrm>
            <a:off x="7388352" y="2103120"/>
            <a:ext cx="1883664" cy="1737360"/>
          </a:xfrm>
          <a:prstGeom prst="roundRect">
            <a:avLst>
              <a:gd name="adj" fmla="val 4211"/>
            </a:avLst>
          </a:prstGeom>
          <a:solidFill>
            <a:srgbClr val="EEF1FA"/>
          </a:solidFill>
          <a:ln/>
        </p:spPr>
      </p:sp>
      <p:sp>
        <p:nvSpPr>
          <p:cNvPr id="1215600565" name="Text 15"/>
          <p:cNvSpPr/>
          <p:nvPr/>
        </p:nvSpPr>
        <p:spPr bwMode="auto">
          <a:xfrm>
            <a:off x="7525512" y="22402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Classification Head</a:t>
            </a:r>
            <a:endParaRPr lang="en-US" sz="1350"/>
          </a:p>
        </p:txBody>
      </p:sp>
      <p:sp>
        <p:nvSpPr>
          <p:cNvPr id="1260016596" name="Text 16"/>
          <p:cNvSpPr/>
          <p:nvPr/>
        </p:nvSpPr>
        <p:spPr bwMode="auto">
          <a:xfrm>
            <a:off x="7525512" y="26974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Linear layer mới, map ra 7 nhãn BIO</a:t>
            </a:r>
            <a:endParaRPr lang="en-US" sz="1050"/>
          </a:p>
        </p:txBody>
      </p:sp>
      <p:sp>
        <p:nvSpPr>
          <p:cNvPr id="467942645" name="Text 17"/>
          <p:cNvSpPr/>
          <p:nvPr/>
        </p:nvSpPr>
        <p:spPr bwMode="auto">
          <a:xfrm>
            <a:off x="9290304" y="26517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1800"/>
          </a:p>
        </p:txBody>
      </p:sp>
      <p:sp>
        <p:nvSpPr>
          <p:cNvPr id="39517640" name="Shape 18"/>
          <p:cNvSpPr/>
          <p:nvPr/>
        </p:nvSpPr>
        <p:spPr bwMode="auto">
          <a:xfrm>
            <a:off x="9637776" y="2103120"/>
            <a:ext cx="1883664" cy="1737360"/>
          </a:xfrm>
          <a:prstGeom prst="roundRect">
            <a:avLst>
              <a:gd name="adj" fmla="val 4211"/>
            </a:avLst>
          </a:prstGeom>
          <a:solidFill>
            <a:srgbClr val="F4F5F8"/>
          </a:solidFill>
          <a:ln/>
        </p:spPr>
      </p:sp>
      <p:sp>
        <p:nvSpPr>
          <p:cNvPr id="1575087747" name="Text 19"/>
          <p:cNvSpPr/>
          <p:nvPr/>
        </p:nvSpPr>
        <p:spPr bwMode="auto">
          <a:xfrm>
            <a:off x="9774936" y="22402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Output</a:t>
            </a:r>
            <a:endParaRPr lang="en-US" sz="1350"/>
          </a:p>
        </p:txBody>
      </p:sp>
      <p:sp>
        <p:nvSpPr>
          <p:cNvPr id="1277964650" name="Text 20"/>
          <p:cNvSpPr/>
          <p:nvPr/>
        </p:nvSpPr>
        <p:spPr bwMode="auto">
          <a:xfrm>
            <a:off x="9774936" y="26974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Nhãn cho mỗi token → gộp thành thực thể</a:t>
            </a:r>
            <a:endParaRPr lang="en-US" sz="1050"/>
          </a:p>
        </p:txBody>
      </p:sp>
      <p:sp>
        <p:nvSpPr>
          <p:cNvPr id="1146503650" name="Text 21"/>
          <p:cNvSpPr/>
          <p:nvPr/>
        </p:nvSpPr>
        <p:spPr bwMode="auto">
          <a:xfrm>
            <a:off x="640080" y="4297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Lưu ý khi load checkpoint pretrain: </a:t>
            </a:r>
            <a:r>
              <a:rPr lang="en-US" sz="13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phần lm_head/pooler (dùng cho pretrain) bị bỏ, classifier mới được random-init và học từ đầu trong lúc fine-tune — đây là hành vi bình thường, không phải lỗi.</a:t>
            </a:r>
            <a:endParaRPr lang="en-US" sz="1350"/>
          </a:p>
        </p:txBody>
      </p:sp>
      <p:sp>
        <p:nvSpPr>
          <p:cNvPr id="223998277" name="Text 22"/>
          <p:cNvSpPr/>
          <p:nvPr/>
        </p:nvSpPr>
        <p:spPr bwMode="auto"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839363" name="Text 0"/>
          <p:cNvSpPr/>
          <p:nvPr/>
        </p:nvSpPr>
        <p:spPr bwMode="auto"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03 · PIPELINE HUẤN LUYỆN</a:t>
            </a:r>
            <a:endParaRPr lang="en-US" sz="1200"/>
          </a:p>
        </p:txBody>
      </p:sp>
      <p:sp>
        <p:nvSpPr>
          <p:cNvPr id="2053197243" name="Text 1"/>
          <p:cNvSpPr/>
          <p:nvPr/>
        </p:nvSpPr>
        <p:spPr bwMode="auto"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1F2A"/>
                </a:solidFill>
                <a:latin typeface="Cambria"/>
                <a:ea typeface="Cambria"/>
                <a:cs typeface="Cambria"/>
              </a:rPr>
              <a:t>Thiết lập training &amp; checkpoint</a:t>
            </a:r>
            <a:endParaRPr lang="en-US" sz="3000"/>
          </a:p>
        </p:txBody>
      </p:sp>
      <p:sp>
        <p:nvSpPr>
          <p:cNvPr id="1877168596" name="Text 2"/>
          <p:cNvSpPr/>
          <p:nvPr/>
        </p:nvSpPr>
        <p:spPr bwMode="auto">
          <a:xfrm>
            <a:off x="640080" y="1645920"/>
            <a:ext cx="598474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learning_rate = 2e-5, batch size = 16</a:t>
            </a:r>
            <a:endParaRPr lang="en-US" sz="1600"/>
          </a:p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num_train_epochs = 10 (giới hạn trên)</a:t>
            </a:r>
            <a:endParaRPr lang="en-US" sz="1600"/>
          </a:p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EarlyStoppingCallback(patience=2) — tự dừng khi F1 validation không cải thiện</a:t>
            </a:r>
            <a:endParaRPr lang="en-US" sz="1600"/>
          </a:p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Đánh giá bằng seqeval (precision / recall / F1 theo span thực thể) — không dùng accuracy vì nhãn O áp đảo</a:t>
            </a:r>
            <a:endParaRPr lang="en-US" sz="1600"/>
          </a:p>
        </p:txBody>
      </p:sp>
      <p:sp>
        <p:nvSpPr>
          <p:cNvPr id="1655456439" name="Shape 3"/>
          <p:cNvSpPr/>
          <p:nvPr/>
        </p:nvSpPr>
        <p:spPr bwMode="auto">
          <a:xfrm>
            <a:off x="7168896" y="1691640"/>
            <a:ext cx="4352544" cy="4023360"/>
          </a:xfrm>
          <a:prstGeom prst="roundRect">
            <a:avLst>
              <a:gd name="adj" fmla="val 1818"/>
            </a:avLst>
          </a:prstGeom>
          <a:solidFill>
            <a:srgbClr val="F4F5F8"/>
          </a:solidFill>
          <a:ln/>
        </p:spPr>
      </p:sp>
      <p:sp>
        <p:nvSpPr>
          <p:cNvPr id="2077974610" name="Text 4"/>
          <p:cNvSpPr/>
          <p:nvPr/>
        </p:nvSpPr>
        <p:spPr bwMode="auto">
          <a:xfrm>
            <a:off x="7443216" y="1920240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Quản lý checkpoint</a:t>
            </a:r>
            <a:endParaRPr lang="en-US" sz="1400"/>
          </a:p>
        </p:txBody>
      </p:sp>
      <p:sp>
        <p:nvSpPr>
          <p:cNvPr id="416390890" name="Text 5"/>
          <p:cNvSpPr/>
          <p:nvPr/>
        </p:nvSpPr>
        <p:spPr bwMode="auto">
          <a:xfrm>
            <a:off x="7443216" y="2377440"/>
            <a:ext cx="38039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save_total_limit=1 — mỗi checkpoint mới tự xóa checkpoint cũ</a:t>
            </a:r>
            <a:endParaRPr lang="en-US" sz="1300"/>
          </a:p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load_best_model_at_end + metric_for_best_model="f1" — nạp lại đúng epoch tốt nhất, không phải epoch cuối</a:t>
            </a:r>
            <a:endParaRPr lang="en-US" sz="1300"/>
          </a:p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Sau khi train: lưu bản chính thức vào mner-production/, rồi xóa toàn bộ checkpoint tạm</a:t>
            </a:r>
            <a:endParaRPr lang="en-US" sz="1300"/>
          </a:p>
        </p:txBody>
      </p:sp>
      <p:sp>
        <p:nvSpPr>
          <p:cNvPr id="947610480" name="Text 6"/>
          <p:cNvSpPr/>
          <p:nvPr/>
        </p:nvSpPr>
        <p:spPr bwMode="auto"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24926" name="Text 0"/>
          <p:cNvSpPr/>
          <p:nvPr/>
        </p:nvSpPr>
        <p:spPr bwMode="auto"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03 · PIPELINE HUẤN LUYỆN</a:t>
            </a:r>
            <a:endParaRPr lang="en-US" sz="1200"/>
          </a:p>
        </p:txBody>
      </p:sp>
      <p:sp>
        <p:nvSpPr>
          <p:cNvPr id="640547374" name="Text 1"/>
          <p:cNvSpPr/>
          <p:nvPr/>
        </p:nvSpPr>
        <p:spPr bwMode="auto"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1F2A"/>
                </a:solidFill>
                <a:latin typeface="Cambria"/>
                <a:ea typeface="Cambria"/>
                <a:cs typeface="Cambria"/>
              </a:rPr>
              <a:t>Phân tích kết quả huấn luyện</a:t>
            </a:r>
            <a:endParaRPr lang="en-US" sz="3000"/>
          </a:p>
        </p:txBody>
      </p:sp>
      <p:sp>
        <p:nvSpPr>
          <p:cNvPr id="1251224887" name="Text 2"/>
          <p:cNvSpPr/>
          <p:nvPr/>
        </p:nvSpPr>
        <p:spPr bwMode="auto">
          <a:xfrm>
            <a:off x="640080" y="1600200"/>
            <a:ext cx="60935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F1 trên validation, theo từng epoch</a:t>
            </a:r>
            <a:endParaRPr lang="en-US" sz="1250"/>
          </a:p>
        </p:txBody>
      </p:sp>
      <p:graphicFrame>
        <p:nvGraphicFramePr>
          <p:cNvPr id="880154328" name=""/>
          <p:cNvGraphicFramePr>
            <a:graphicFrameLocks xmlns:a="http://schemas.openxmlformats.org/drawingml/2006/main"/>
          </p:cNvGraphicFramePr>
          <p:nvPr/>
        </p:nvGraphicFramePr>
        <p:xfrm rot="0">
          <a:off x="640080" y="1920240"/>
          <a:ext cx="609356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93158823" name="Text 3"/>
          <p:cNvSpPr/>
          <p:nvPr/>
        </p:nvSpPr>
        <p:spPr bwMode="auto">
          <a:xfrm>
            <a:off x="7168896" y="1920240"/>
            <a:ext cx="21022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4A5FA8"/>
                </a:solidFill>
                <a:latin typeface="Cambria"/>
                <a:ea typeface="Cambria"/>
                <a:cs typeface="Cambria"/>
              </a:rPr>
              <a:t>0.849</a:t>
            </a:r>
            <a:endParaRPr lang="en-US" sz="3400"/>
          </a:p>
        </p:txBody>
      </p:sp>
      <p:sp>
        <p:nvSpPr>
          <p:cNvPr id="523613699" name="Text 4"/>
          <p:cNvSpPr/>
          <p:nvPr/>
        </p:nvSpPr>
        <p:spPr bwMode="auto">
          <a:xfrm>
            <a:off x="7168896" y="2578608"/>
            <a:ext cx="21022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F1 (test set)</a:t>
            </a:r>
            <a:endParaRPr lang="en-US" sz="1150"/>
          </a:p>
        </p:txBody>
      </p:sp>
      <p:sp>
        <p:nvSpPr>
          <p:cNvPr id="686625279" name="Text 5"/>
          <p:cNvSpPr/>
          <p:nvPr/>
        </p:nvSpPr>
        <p:spPr bwMode="auto">
          <a:xfrm>
            <a:off x="9453981" y="1920240"/>
            <a:ext cx="21022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4A5FA8"/>
                </a:solidFill>
                <a:latin typeface="Cambria"/>
                <a:ea typeface="Cambria"/>
                <a:cs typeface="Cambria"/>
              </a:rPr>
              <a:t>0.927</a:t>
            </a:r>
            <a:endParaRPr lang="en-US" sz="3400"/>
          </a:p>
        </p:txBody>
      </p:sp>
      <p:sp>
        <p:nvSpPr>
          <p:cNvPr id="987569381" name="Text 6"/>
          <p:cNvSpPr/>
          <p:nvPr/>
        </p:nvSpPr>
        <p:spPr bwMode="auto">
          <a:xfrm>
            <a:off x="9453981" y="2578608"/>
            <a:ext cx="21022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Accuracy (test set)</a:t>
            </a:r>
            <a:endParaRPr lang="en-US" sz="1150"/>
          </a:p>
        </p:txBody>
      </p:sp>
      <p:sp>
        <p:nvSpPr>
          <p:cNvPr id="1023030500" name="Text 7"/>
          <p:cNvSpPr/>
          <p:nvPr/>
        </p:nvSpPr>
        <p:spPr bwMode="auto">
          <a:xfrm>
            <a:off x="7168896" y="3246120"/>
            <a:ext cx="21022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4A5FA8"/>
                </a:solidFill>
                <a:latin typeface="Cambria"/>
                <a:ea typeface="Cambria"/>
                <a:cs typeface="Cambria"/>
              </a:rPr>
              <a:t>0.841</a:t>
            </a:r>
            <a:endParaRPr lang="en-US" sz="3400"/>
          </a:p>
        </p:txBody>
      </p:sp>
      <p:sp>
        <p:nvSpPr>
          <p:cNvPr id="1099561883" name="Text 8"/>
          <p:cNvSpPr/>
          <p:nvPr/>
        </p:nvSpPr>
        <p:spPr bwMode="auto">
          <a:xfrm>
            <a:off x="7168896" y="3904488"/>
            <a:ext cx="21022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Precision</a:t>
            </a:r>
            <a:endParaRPr lang="en-US" sz="1150"/>
          </a:p>
        </p:txBody>
      </p:sp>
      <p:sp>
        <p:nvSpPr>
          <p:cNvPr id="221083503" name="Text 9"/>
          <p:cNvSpPr/>
          <p:nvPr/>
        </p:nvSpPr>
        <p:spPr bwMode="auto">
          <a:xfrm>
            <a:off x="9453981" y="3246120"/>
            <a:ext cx="21022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4A5FA8"/>
                </a:solidFill>
                <a:latin typeface="Cambria"/>
                <a:ea typeface="Cambria"/>
                <a:cs typeface="Cambria"/>
              </a:rPr>
              <a:t>0.858</a:t>
            </a:r>
            <a:endParaRPr lang="en-US" sz="3400"/>
          </a:p>
        </p:txBody>
      </p:sp>
      <p:sp>
        <p:nvSpPr>
          <p:cNvPr id="107182656" name="Text 10"/>
          <p:cNvSpPr/>
          <p:nvPr/>
        </p:nvSpPr>
        <p:spPr bwMode="auto">
          <a:xfrm>
            <a:off x="9453981" y="3904488"/>
            <a:ext cx="21022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Recall</a:t>
            </a:r>
            <a:endParaRPr lang="en-US" sz="1150"/>
          </a:p>
        </p:txBody>
      </p:sp>
      <p:sp>
        <p:nvSpPr>
          <p:cNvPr id="251611649" name="Text 11"/>
          <p:cNvSpPr/>
          <p:nvPr/>
        </p:nvSpPr>
        <p:spPr bwMode="auto">
          <a:xfrm>
            <a:off x="640080" y="46177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Không bị dừng sớm: dù patience=2, F1 chỉ giảm nhẹ duy nhất ở epoch 5 rồi cải thiện lại ngay epoch 6, nên chưa đủ 2 epoch liên tiếp không cải thiện để EarlyStopping kích hoạt — train chạy hết 10 epoch.</a:t>
            </a:r>
            <a:endParaRPr lang="en-US" sz="1300"/>
          </a:p>
          <a:p>
            <a:pPr marL="342900" indent="-342900">
              <a:spcAft>
                <a:spcPts val="999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Dấu hiệu overfit nhẹ: eval_loss thấp nhất ở epoch 3 (0.283) rồi tăng dần tới epoch 10 (0.435), trong khi train loss vẫn giảm liên tục — model ngày càng tự tin hơn vào dự đoán, kể cả khi sai, dù F1 (đúng/sai theo span) vẫn tiếp tục nhích lên.</a:t>
            </a:r>
            <a:endParaRPr lang="en-US" sz="1300"/>
          </a:p>
        </p:txBody>
      </p:sp>
      <p:sp>
        <p:nvSpPr>
          <p:cNvPr id="1242676016" name="Text 12"/>
          <p:cNvSpPr/>
          <p:nvPr/>
        </p:nvSpPr>
        <p:spPr bwMode="auto"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Train trên CPU (không phát hiện GPU) — 10 epoch / 7500 step mất ~3h53p.</a:t>
            </a:r>
            <a:endParaRPr lang="en-US" sz="1200"/>
          </a:p>
        </p:txBody>
      </p:sp>
      <p:sp>
        <p:nvSpPr>
          <p:cNvPr id="1673499596" name="Text 13"/>
          <p:cNvSpPr/>
          <p:nvPr/>
        </p:nvSpPr>
        <p:spPr bwMode="auto"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377112" name="Text 0"/>
          <p:cNvSpPr/>
          <p:nvPr/>
        </p:nvSpPr>
        <p:spPr bwMode="auto"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04 · HỆ THỐNG PHỤC VỤ</a:t>
            </a:r>
            <a:endParaRPr lang="en-US" sz="1200"/>
          </a:p>
        </p:txBody>
      </p:sp>
      <p:sp>
        <p:nvSpPr>
          <p:cNvPr id="476518712" name="Text 1"/>
          <p:cNvSpPr/>
          <p:nvPr/>
        </p:nvSpPr>
        <p:spPr bwMode="auto"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1F2A"/>
                </a:solidFill>
                <a:latin typeface="Cambria"/>
                <a:ea typeface="Cambria"/>
                <a:cs typeface="Cambria"/>
              </a:rPr>
              <a:t>Kiến trúc tổng thể: train → serve → demo</a:t>
            </a:r>
            <a:endParaRPr lang="en-US" sz="3000"/>
          </a:p>
        </p:txBody>
      </p:sp>
      <p:sp>
        <p:nvSpPr>
          <p:cNvPr id="389754163" name="Shape 2"/>
          <p:cNvSpPr/>
          <p:nvPr/>
        </p:nvSpPr>
        <p:spPr bwMode="auto">
          <a:xfrm>
            <a:off x="640080" y="1737360"/>
            <a:ext cx="3352799" cy="237744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/>
        </p:spPr>
      </p:sp>
      <p:sp>
        <p:nvSpPr>
          <p:cNvPr id="815150176" name="Text 3"/>
          <p:cNvSpPr/>
          <p:nvPr/>
        </p:nvSpPr>
        <p:spPr bwMode="auto">
          <a:xfrm>
            <a:off x="868680" y="1920240"/>
            <a:ext cx="2895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A"/>
                </a:solidFill>
                <a:latin typeface="Courier New"/>
                <a:ea typeface="Courier New"/>
                <a:cs typeface="Courier New"/>
              </a:rPr>
              <a:t>train.py</a:t>
            </a:r>
            <a:endParaRPr lang="en-US" sz="1400"/>
          </a:p>
        </p:txBody>
      </p:sp>
      <p:sp>
        <p:nvSpPr>
          <p:cNvPr id="1289048166" name="Text 4"/>
          <p:cNvSpPr/>
          <p:nvPr/>
        </p:nvSpPr>
        <p:spPr bwMode="auto">
          <a:xfrm>
            <a:off x="868680" y="2514599"/>
            <a:ext cx="28955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Fine-tune XLM-R trên WikiANN, lưu model chính thức vào mner-production/</a:t>
            </a:r>
            <a:endParaRPr lang="en-US" sz="1150"/>
          </a:p>
        </p:txBody>
      </p:sp>
      <p:sp>
        <p:nvSpPr>
          <p:cNvPr id="1846208670" name="Text 5"/>
          <p:cNvSpPr/>
          <p:nvPr/>
        </p:nvSpPr>
        <p:spPr bwMode="auto">
          <a:xfrm>
            <a:off x="3974591" y="26974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000"/>
          </a:p>
        </p:txBody>
      </p:sp>
      <p:sp>
        <p:nvSpPr>
          <p:cNvPr id="1379576600" name="Shape 6"/>
          <p:cNvSpPr/>
          <p:nvPr/>
        </p:nvSpPr>
        <p:spPr bwMode="auto">
          <a:xfrm>
            <a:off x="4267199" y="1737360"/>
            <a:ext cx="3352799" cy="2377440"/>
          </a:xfrm>
          <a:prstGeom prst="roundRect">
            <a:avLst>
              <a:gd name="adj" fmla="val 3077"/>
            </a:avLst>
          </a:prstGeom>
          <a:solidFill>
            <a:srgbClr val="EEF1FA"/>
          </a:solidFill>
          <a:ln/>
        </p:spPr>
      </p:sp>
      <p:sp>
        <p:nvSpPr>
          <p:cNvPr id="660087997" name="Text 7"/>
          <p:cNvSpPr/>
          <p:nvPr/>
        </p:nvSpPr>
        <p:spPr bwMode="auto">
          <a:xfrm>
            <a:off x="4495799" y="1920240"/>
            <a:ext cx="2895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4A5FA8"/>
                </a:solidFill>
                <a:latin typeface="Courier New"/>
                <a:ea typeface="Courier New"/>
                <a:cs typeface="Courier New"/>
              </a:rPr>
              <a:t>backend.py</a:t>
            </a:r>
            <a:endParaRPr lang="en-US" sz="1400"/>
          </a:p>
        </p:txBody>
      </p:sp>
      <p:sp>
        <p:nvSpPr>
          <p:cNvPr id="1377397971" name="Text 8"/>
          <p:cNvSpPr/>
          <p:nvPr/>
        </p:nvSpPr>
        <p:spPr bwMode="auto">
          <a:xfrm>
            <a:off x="4495799" y="2514599"/>
            <a:ext cx="28955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FastAPI load model, expose POST /predict nhận text trả về list entity (text, label, start, end, score)</a:t>
            </a:r>
            <a:endParaRPr lang="en-US" sz="1150"/>
          </a:p>
        </p:txBody>
      </p:sp>
      <p:sp>
        <p:nvSpPr>
          <p:cNvPr id="1041751770" name="Text 9"/>
          <p:cNvSpPr/>
          <p:nvPr/>
        </p:nvSpPr>
        <p:spPr bwMode="auto">
          <a:xfrm>
            <a:off x="7601712" y="269748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000"/>
          </a:p>
        </p:txBody>
      </p:sp>
      <p:sp>
        <p:nvSpPr>
          <p:cNvPr id="1592837869" name="Shape 10"/>
          <p:cNvSpPr/>
          <p:nvPr/>
        </p:nvSpPr>
        <p:spPr bwMode="auto">
          <a:xfrm>
            <a:off x="7894320" y="1737360"/>
            <a:ext cx="3352799" cy="2377440"/>
          </a:xfrm>
          <a:prstGeom prst="roundRect">
            <a:avLst>
              <a:gd name="adj" fmla="val 3077"/>
            </a:avLst>
          </a:prstGeom>
          <a:solidFill>
            <a:srgbClr val="F4F5F8"/>
          </a:solidFill>
          <a:ln/>
        </p:spPr>
      </p:sp>
      <p:sp>
        <p:nvSpPr>
          <p:cNvPr id="284309835" name="Text 11"/>
          <p:cNvSpPr/>
          <p:nvPr/>
        </p:nvSpPr>
        <p:spPr bwMode="auto">
          <a:xfrm>
            <a:off x="8122920" y="1920240"/>
            <a:ext cx="2895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A"/>
                </a:solidFill>
                <a:latin typeface="Courier New"/>
                <a:ea typeface="Courier New"/>
                <a:cs typeface="Courier New"/>
              </a:rPr>
              <a:t>index.html / script.js / style.css</a:t>
            </a:r>
            <a:endParaRPr lang="en-US" sz="1400"/>
          </a:p>
        </p:txBody>
      </p:sp>
      <p:sp>
        <p:nvSpPr>
          <p:cNvPr id="777646976" name="Text 12"/>
          <p:cNvSpPr/>
          <p:nvPr/>
        </p:nvSpPr>
        <p:spPr bwMode="auto">
          <a:xfrm>
            <a:off x="8122920" y="2514599"/>
            <a:ext cx="289559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Gọi /predict qua fetch, render câu với thực thể gạch chân màu theo kiểu interlinear gloss</a:t>
            </a:r>
            <a:endParaRPr lang="en-US" sz="1150"/>
          </a:p>
        </p:txBody>
      </p:sp>
      <p:sp>
        <p:nvSpPr>
          <p:cNvPr id="1210034653" name="Text 13"/>
          <p:cNvSpPr/>
          <p:nvPr/>
        </p:nvSpPr>
        <p:spPr bwMode="auto">
          <a:xfrm>
            <a:off x="640080" y="4434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i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Demo chạy hoàn toàn local: uvicorn backend:app --port 8000, rồi mở index.html bằng Live Server.</a:t>
            </a:r>
            <a:endParaRPr lang="en-US" sz="1350"/>
          </a:p>
        </p:txBody>
      </p:sp>
      <p:sp>
        <p:nvSpPr>
          <p:cNvPr id="914492970" name="Text 14"/>
          <p:cNvSpPr/>
          <p:nvPr/>
        </p:nvSpPr>
        <p:spPr bwMode="auto"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604373" name="Text 0"/>
          <p:cNvSpPr/>
          <p:nvPr/>
        </p:nvSpPr>
        <p:spPr bwMode="auto"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LƯU Ý THỰC TẾ</a:t>
            </a:r>
            <a:endParaRPr lang="en-US" sz="1200"/>
          </a:p>
        </p:txBody>
      </p:sp>
      <p:sp>
        <p:nvSpPr>
          <p:cNvPr id="1084605938" name="Text 1"/>
          <p:cNvSpPr/>
          <p:nvPr/>
        </p:nvSpPr>
        <p:spPr bwMode="auto"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B1F2A"/>
                </a:solidFill>
                <a:latin typeface="Cambria"/>
                <a:ea typeface="Cambria"/>
                <a:cs typeface="Cambria"/>
              </a:rPr>
              <a:t>Một vấn đề đã gặp &amp; cách xử lý</a:t>
            </a:r>
            <a:endParaRPr lang="en-US" sz="3000"/>
          </a:p>
        </p:txBody>
      </p:sp>
      <p:sp>
        <p:nvSpPr>
          <p:cNvPr id="876766807" name="Text 2"/>
          <p:cNvSpPr/>
          <p:nvPr/>
        </p:nvSpPr>
        <p:spPr bwMode="auto">
          <a:xfrm>
            <a:off x="640080" y="1691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Triệu chứng</a:t>
            </a:r>
            <a:endParaRPr lang="en-US" sz="1400"/>
          </a:p>
        </p:txBody>
      </p:sp>
      <p:sp>
        <p:nvSpPr>
          <p:cNvPr id="1996885687" name="Text 3"/>
          <p:cNvSpPr/>
          <p:nvPr/>
        </p:nvSpPr>
        <p:spPr bwMode="auto">
          <a:xfrm>
            <a:off x="640080" y="2011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Một từ hiếm bị tách subword và gán nhiều nhãn khác nhau cho từng mảnh (ví dụ Go/PER · ose/ORG · wor/PER · x/—), dù cả 4 mảnh thuộc đúng một từ.</a:t>
            </a:r>
            <a:endParaRPr lang="en-US" sz="1400"/>
          </a:p>
        </p:txBody>
      </p:sp>
      <p:sp>
        <p:nvSpPr>
          <p:cNvPr id="1188315939" name="Text 4"/>
          <p:cNvSpPr/>
          <p:nvPr/>
        </p:nvSpPr>
        <p:spPr bwMode="auto">
          <a:xfrm>
            <a:off x="640080" y="2697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B1F2A"/>
                </a:solidFill>
                <a:latin typeface="Calibri"/>
                <a:ea typeface="Calibri"/>
                <a:cs typeface="Calibri"/>
              </a:rPr>
              <a:t>Nguyên nhân</a:t>
            </a:r>
            <a:endParaRPr lang="en-US" sz="1400"/>
          </a:p>
        </p:txBody>
      </p:sp>
      <p:sp>
        <p:nvSpPr>
          <p:cNvPr id="312464236" name="Text 5"/>
          <p:cNvSpPr/>
          <p:nvPr/>
        </p:nvSpPr>
        <p:spPr bwMode="auto">
          <a:xfrm>
            <a:off x="640080" y="301751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Lúc train, chỉ subword đầu của từ được giám sát nhãn thật; các subword sau bị gán -100 (bỏ qua loss) — nên dự đoán ở các vị trí đó vốn không đáng tin, đặc biệt với từ hiếm/chưa thấy trong tập train.</a:t>
            </a:r>
            <a:endParaRPr lang="en-US" sz="1400"/>
          </a:p>
        </p:txBody>
      </p:sp>
      <p:sp>
        <p:nvSpPr>
          <p:cNvPr id="422139928" name="Text 6"/>
          <p:cNvSpPr/>
          <p:nvPr/>
        </p:nvSpPr>
        <p:spPr bwMode="auto">
          <a:xfrm>
            <a:off x="640080" y="3886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4A5FA8"/>
                </a:solidFill>
                <a:latin typeface="Calibri"/>
                <a:ea typeface="Calibri"/>
                <a:cs typeface="Calibri"/>
              </a:rPr>
              <a:t>Cách xử lý</a:t>
            </a:r>
            <a:endParaRPr lang="en-US" sz="1400"/>
          </a:p>
        </p:txBody>
      </p:sp>
      <p:sp>
        <p:nvSpPr>
          <p:cNvPr id="1244834947" name="Text 7"/>
          <p:cNvSpPr/>
          <p:nvPr/>
        </p:nvSpPr>
        <p:spPr bwMode="auto">
          <a:xfrm>
            <a:off x="640080" y="4206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Đổi aggregation_strategy từ "simple" sang "first" trong backend.py — chỉ tin dự đoán của subword đầu tiên cho cả từ, bỏ qua nhiễu từ các subword sau.</a:t>
            </a:r>
            <a:endParaRPr lang="en-US" sz="1400"/>
          </a:p>
        </p:txBody>
      </p:sp>
      <p:sp>
        <p:nvSpPr>
          <p:cNvPr id="450091329" name="Text 8"/>
          <p:cNvSpPr/>
          <p:nvPr/>
        </p:nvSpPr>
        <p:spPr bwMode="auto"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872540" name="Text 0"/>
          <p:cNvSpPr/>
          <p:nvPr/>
        </p:nvSpPr>
        <p:spPr bwMode="auto">
          <a:xfrm>
            <a:off x="640080" y="2560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1B1F2A"/>
                </a:solidFill>
                <a:latin typeface="Cambria"/>
                <a:ea typeface="Cambria"/>
                <a:cs typeface="Cambria"/>
              </a:rPr>
              <a:t>Q &amp; A</a:t>
            </a:r>
            <a:endParaRPr lang="en-US" sz="4000"/>
          </a:p>
        </p:txBody>
      </p:sp>
      <p:sp>
        <p:nvSpPr>
          <p:cNvPr id="1464928751" name="Text 1"/>
          <p:cNvSpPr/>
          <p:nvPr/>
        </p:nvSpPr>
        <p:spPr bwMode="auto">
          <a:xfrm>
            <a:off x="640080" y="3383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Cảm ơn đã theo dõi phần trình bày.</a:t>
            </a:r>
            <a:endParaRPr lang="en-US" sz="1600"/>
          </a:p>
        </p:txBody>
      </p:sp>
      <p:sp>
        <p:nvSpPr>
          <p:cNvPr id="1300077428" name="Shape 2"/>
          <p:cNvSpPr/>
          <p:nvPr/>
        </p:nvSpPr>
        <p:spPr bwMode="auto">
          <a:xfrm>
            <a:off x="640080" y="2423160"/>
            <a:ext cx="1280160" cy="0"/>
          </a:xfrm>
          <a:prstGeom prst="line">
            <a:avLst/>
          </a:prstGeom>
          <a:noFill/>
          <a:ln w="31750">
            <a:solidFill>
              <a:srgbClr val="4A5FA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HSU">
      <a:dk1>
        <a:srgbClr val="001A4A"/>
      </a:dk1>
      <a:lt1>
        <a:srgbClr val="FFFFFF"/>
      </a:lt1>
      <a:dk2>
        <a:srgbClr val="003595"/>
      </a:dk2>
      <a:lt2>
        <a:srgbClr val="FFFFFF"/>
      </a:lt2>
      <a:accent1>
        <a:srgbClr val="003595"/>
      </a:accent1>
      <a:accent2>
        <a:srgbClr val="FF0000"/>
      </a:accent2>
      <a:accent3>
        <a:srgbClr val="FFFF00"/>
      </a:accent3>
      <a:accent4>
        <a:srgbClr val="00B0F0"/>
      </a:accent4>
      <a:accent5>
        <a:srgbClr val="FFC000"/>
      </a:accent5>
      <a:accent6>
        <a:srgbClr val="FFFCDE"/>
      </a:accent6>
      <a:hlink>
        <a:srgbClr val="003595"/>
      </a:hlink>
      <a:folHlink>
        <a:srgbClr val="FFC000"/>
      </a:folHlink>
    </a:clrScheme>
    <a:fontScheme name="Custom 1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28</Slides>
  <Notes>28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thực tập tốt nghiệp  Đề tài: Xây dựng nền tảng chợ việc làm trực tuyến –  Giải pháp kết nối người thuê và người làm việc tự do</dc:title>
  <dc:creator>Admin</dc:creator>
  <cp:lastModifiedBy/>
  <cp:revision>162</cp:revision>
  <dcterms:modified xsi:type="dcterms:W3CDTF">2026-06-22T09:13:12Z</dcterms:modified>
</cp:coreProperties>
</file>