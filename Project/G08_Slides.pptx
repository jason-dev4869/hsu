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2.xml" ContentType="application/vnd.openxmlformats-officedocument.presentationml.notes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5.xml" ContentType="application/vnd.openxmlformats-officedocument.presentationml.slide+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s/slide11.xml" ContentType="application/vnd.openxmlformats-officedocument.presentationml.slide+xml"/>
  <Override PartName="/ppt/slides/slide13.xml" ContentType="application/vnd.openxmlformats-officedocument.presentationml.slide+xml"/>
  <Override PartName="/ppt/theme/theme1.xml" ContentType="application/vnd.openxmlformats-officedocument.them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docProps/core.xml" ContentType="application/vnd.openxmlformats-package.core-properties+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s/slide9.xml" ContentType="application/vnd.openxmlformats-officedocument.presentationml.slide+xml"/>
  <Override PartName="/ppt/notesSlides/notesSlide13.xml" ContentType="application/vnd.openxmlformats-officedocument.presentationml.notesSlide+xml"/>
  <Override PartName="/ppt/tableStyles.xml" ContentType="application/vnd.openxmlformats-officedocument.presentationml.tableStyles+xml"/>
  <Override PartName="/ppt/notesSlides/notesSlide4.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notesMaster" Target="notesMasters/notesMaster1.xml"/><Relationship Id="rId25" Type="http://schemas.openxmlformats.org/officeDocument/2006/relationships/presProps" Target="presProps.xml" /><Relationship Id="rId26" Type="http://schemas.openxmlformats.org/officeDocument/2006/relationships/tableStyles" Target="tableStyles.xml" /><Relationship Id="rId2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192157231"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90410502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663325776"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609168192"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167090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7057259"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0007724" name="Slide Image Placeholder 1"/>
          <p:cNvSpPr>
            <a:spLocks noChangeAspect="1" noGrp="1" noRot="1"/>
          </p:cNvSpPr>
          <p:nvPr>
            <p:ph type="sldImg"/>
          </p:nvPr>
        </p:nvSpPr>
        <p:spPr bwMode="auto"/>
      </p:sp>
      <p:sp>
        <p:nvSpPr>
          <p:cNvPr id="1945080145" name="Notes Placeholder 2"/>
          <p:cNvSpPr>
            <a:spLocks noGrp="1"/>
          </p:cNvSpPr>
          <p:nvPr>
            <p:ph type="body" idx="1"/>
          </p:nvPr>
        </p:nvSpPr>
        <p:spPr bwMode="auto"/>
        <p:txBody>
          <a:bodyPr/>
          <a:lstStyle/>
          <a:p>
            <a:pPr>
              <a:defRPr/>
            </a:pPr>
            <a:endParaRPr lang="en-US"/>
          </a:p>
        </p:txBody>
      </p:sp>
      <p:sp>
        <p:nvSpPr>
          <p:cNvPr id="43637831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7366176" name="Slide Image Placeholder 1"/>
          <p:cNvSpPr>
            <a:spLocks noChangeAspect="1" noGrp="1" noRot="1"/>
          </p:cNvSpPr>
          <p:nvPr>
            <p:ph type="sldImg"/>
          </p:nvPr>
        </p:nvSpPr>
        <p:spPr bwMode="auto"/>
      </p:sp>
      <p:sp>
        <p:nvSpPr>
          <p:cNvPr id="1179582768" name="Notes Placeholder 2"/>
          <p:cNvSpPr>
            <a:spLocks noGrp="1"/>
          </p:cNvSpPr>
          <p:nvPr>
            <p:ph type="body" idx="1"/>
          </p:nvPr>
        </p:nvSpPr>
        <p:spPr bwMode="auto"/>
        <p:txBody>
          <a:bodyPr/>
          <a:lstStyle/>
          <a:p>
            <a:pPr>
              <a:defRPr/>
            </a:pPr>
            <a:endParaRPr lang="en-US"/>
          </a:p>
        </p:txBody>
      </p:sp>
      <p:sp>
        <p:nvSpPr>
          <p:cNvPr id="1392014393"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4004085" name="Slide Image Placeholder 1"/>
          <p:cNvSpPr>
            <a:spLocks noChangeAspect="1" noGrp="1" noRot="1"/>
          </p:cNvSpPr>
          <p:nvPr>
            <p:ph type="sldImg"/>
          </p:nvPr>
        </p:nvSpPr>
        <p:spPr bwMode="auto"/>
      </p:sp>
      <p:sp>
        <p:nvSpPr>
          <p:cNvPr id="1128019133" name="Notes Placeholder 2"/>
          <p:cNvSpPr>
            <a:spLocks noGrp="1"/>
          </p:cNvSpPr>
          <p:nvPr>
            <p:ph type="body" idx="1"/>
          </p:nvPr>
        </p:nvSpPr>
        <p:spPr bwMode="auto"/>
        <p:txBody>
          <a:bodyPr/>
          <a:lstStyle/>
          <a:p>
            <a:pPr>
              <a:defRPr/>
            </a:pPr>
            <a:endParaRPr lang="en-US"/>
          </a:p>
        </p:txBody>
      </p:sp>
      <p:sp>
        <p:nvSpPr>
          <p:cNvPr id="1217167031"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5455843" name="Slide Image Placeholder 1"/>
          <p:cNvSpPr>
            <a:spLocks noChangeAspect="1" noGrp="1" noRot="1"/>
          </p:cNvSpPr>
          <p:nvPr>
            <p:ph type="sldImg"/>
          </p:nvPr>
        </p:nvSpPr>
        <p:spPr bwMode="auto"/>
      </p:sp>
      <p:sp>
        <p:nvSpPr>
          <p:cNvPr id="950702511" name="Notes Placeholder 2"/>
          <p:cNvSpPr>
            <a:spLocks noGrp="1"/>
          </p:cNvSpPr>
          <p:nvPr>
            <p:ph type="body" idx="1"/>
          </p:nvPr>
        </p:nvSpPr>
        <p:spPr bwMode="auto"/>
        <p:txBody>
          <a:bodyPr/>
          <a:lstStyle/>
          <a:p>
            <a:pPr>
              <a:defRPr/>
            </a:pPr>
            <a:endParaRPr lang="en-US"/>
          </a:p>
        </p:txBody>
      </p:sp>
      <p:sp>
        <p:nvSpPr>
          <p:cNvPr id="1354103819"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5514938" name="Slide Image Placeholder 1"/>
          <p:cNvSpPr>
            <a:spLocks noChangeAspect="1" noGrp="1" noRot="1"/>
          </p:cNvSpPr>
          <p:nvPr>
            <p:ph type="sldImg"/>
          </p:nvPr>
        </p:nvSpPr>
        <p:spPr bwMode="auto"/>
      </p:sp>
      <p:sp>
        <p:nvSpPr>
          <p:cNvPr id="1267988250" name="Notes Placeholder 2"/>
          <p:cNvSpPr>
            <a:spLocks noGrp="1"/>
          </p:cNvSpPr>
          <p:nvPr>
            <p:ph type="body" idx="1"/>
          </p:nvPr>
        </p:nvSpPr>
        <p:spPr bwMode="auto"/>
        <p:txBody>
          <a:bodyPr/>
          <a:lstStyle/>
          <a:p>
            <a:pPr>
              <a:defRPr/>
            </a:pPr>
            <a:endParaRPr lang="en-US"/>
          </a:p>
        </p:txBody>
      </p:sp>
      <p:sp>
        <p:nvSpPr>
          <p:cNvPr id="809737743"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2841231" name="Slide Image Placeholder 1"/>
          <p:cNvSpPr>
            <a:spLocks noChangeAspect="1" noGrp="1" noRot="1"/>
          </p:cNvSpPr>
          <p:nvPr>
            <p:ph type="sldImg"/>
          </p:nvPr>
        </p:nvSpPr>
        <p:spPr bwMode="auto"/>
      </p:sp>
      <p:sp>
        <p:nvSpPr>
          <p:cNvPr id="203014091" name="Notes Placeholder 2"/>
          <p:cNvSpPr>
            <a:spLocks noGrp="1"/>
          </p:cNvSpPr>
          <p:nvPr>
            <p:ph type="body" idx="1"/>
          </p:nvPr>
        </p:nvSpPr>
        <p:spPr bwMode="auto"/>
        <p:txBody>
          <a:bodyPr/>
          <a:lstStyle/>
          <a:p>
            <a:pPr>
              <a:defRPr/>
            </a:pPr>
            <a:endParaRPr lang="en-US"/>
          </a:p>
        </p:txBody>
      </p:sp>
      <p:sp>
        <p:nvSpPr>
          <p:cNvPr id="1458592286"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7505711" name="Slide Image Placeholder 1"/>
          <p:cNvSpPr>
            <a:spLocks noChangeAspect="1" noGrp="1" noRot="1"/>
          </p:cNvSpPr>
          <p:nvPr>
            <p:ph type="sldImg"/>
          </p:nvPr>
        </p:nvSpPr>
        <p:spPr bwMode="auto"/>
      </p:sp>
      <p:sp>
        <p:nvSpPr>
          <p:cNvPr id="960996440" name="Notes Placeholder 2"/>
          <p:cNvSpPr>
            <a:spLocks noGrp="1"/>
          </p:cNvSpPr>
          <p:nvPr>
            <p:ph type="body" idx="1"/>
          </p:nvPr>
        </p:nvSpPr>
        <p:spPr bwMode="auto"/>
        <p:txBody>
          <a:bodyPr/>
          <a:lstStyle/>
          <a:p>
            <a:pPr>
              <a:defRPr/>
            </a:pPr>
            <a:endParaRPr lang="en-US"/>
          </a:p>
        </p:txBody>
      </p:sp>
      <p:sp>
        <p:nvSpPr>
          <p:cNvPr id="1765307534"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0043191" name="Slide Image Placeholder 1"/>
          <p:cNvSpPr>
            <a:spLocks noChangeAspect="1" noGrp="1" noRot="1"/>
          </p:cNvSpPr>
          <p:nvPr>
            <p:ph type="sldImg"/>
          </p:nvPr>
        </p:nvSpPr>
        <p:spPr bwMode="auto"/>
      </p:sp>
      <p:sp>
        <p:nvSpPr>
          <p:cNvPr id="852285442" name="Notes Placeholder 2"/>
          <p:cNvSpPr>
            <a:spLocks noGrp="1"/>
          </p:cNvSpPr>
          <p:nvPr>
            <p:ph type="body" idx="1"/>
          </p:nvPr>
        </p:nvSpPr>
        <p:spPr bwMode="auto"/>
        <p:txBody>
          <a:bodyPr/>
          <a:lstStyle/>
          <a:p>
            <a:pPr>
              <a:defRPr/>
            </a:pPr>
            <a:endParaRPr lang="en-US"/>
          </a:p>
        </p:txBody>
      </p:sp>
      <p:sp>
        <p:nvSpPr>
          <p:cNvPr id="716466260"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9618325" name="Slide Image Placeholder 1"/>
          <p:cNvSpPr>
            <a:spLocks noChangeAspect="1" noGrp="1" noRot="1"/>
          </p:cNvSpPr>
          <p:nvPr>
            <p:ph type="sldImg"/>
          </p:nvPr>
        </p:nvSpPr>
        <p:spPr bwMode="auto"/>
      </p:sp>
      <p:sp>
        <p:nvSpPr>
          <p:cNvPr id="190611143" name="Notes Placeholder 2"/>
          <p:cNvSpPr>
            <a:spLocks noGrp="1"/>
          </p:cNvSpPr>
          <p:nvPr>
            <p:ph type="body" idx="1"/>
          </p:nvPr>
        </p:nvSpPr>
        <p:spPr bwMode="auto"/>
        <p:txBody>
          <a:bodyPr/>
          <a:lstStyle/>
          <a:p>
            <a:pPr>
              <a:defRPr/>
            </a:pPr>
            <a:endParaRPr lang="en-US"/>
          </a:p>
        </p:txBody>
      </p:sp>
      <p:sp>
        <p:nvSpPr>
          <p:cNvPr id="1956103283"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3836248" name="Slide Image Placeholder 1"/>
          <p:cNvSpPr>
            <a:spLocks noChangeAspect="1" noGrp="1" noRot="1"/>
          </p:cNvSpPr>
          <p:nvPr>
            <p:ph type="sldImg"/>
          </p:nvPr>
        </p:nvSpPr>
        <p:spPr bwMode="auto"/>
      </p:sp>
      <p:sp>
        <p:nvSpPr>
          <p:cNvPr id="1445135550" name="Notes Placeholder 2"/>
          <p:cNvSpPr>
            <a:spLocks noGrp="1"/>
          </p:cNvSpPr>
          <p:nvPr>
            <p:ph type="body" idx="1"/>
          </p:nvPr>
        </p:nvSpPr>
        <p:spPr bwMode="auto"/>
        <p:txBody>
          <a:bodyPr/>
          <a:lstStyle/>
          <a:p>
            <a:pPr>
              <a:defRPr/>
            </a:pPr>
            <a:endParaRPr lang="en-US"/>
          </a:p>
        </p:txBody>
      </p:sp>
      <p:sp>
        <p:nvSpPr>
          <p:cNvPr id="683402555"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2452284" name="Slide Image Placeholder 1"/>
          <p:cNvSpPr>
            <a:spLocks noChangeAspect="1" noGrp="1" noRot="1"/>
          </p:cNvSpPr>
          <p:nvPr>
            <p:ph type="sldImg"/>
          </p:nvPr>
        </p:nvSpPr>
        <p:spPr bwMode="auto"/>
      </p:sp>
      <p:sp>
        <p:nvSpPr>
          <p:cNvPr id="863635311" name="Notes Placeholder 2"/>
          <p:cNvSpPr>
            <a:spLocks noGrp="1"/>
          </p:cNvSpPr>
          <p:nvPr>
            <p:ph type="body" idx="1"/>
          </p:nvPr>
        </p:nvSpPr>
        <p:spPr bwMode="auto"/>
        <p:txBody>
          <a:bodyPr/>
          <a:lstStyle/>
          <a:p>
            <a:pPr>
              <a:defRPr/>
            </a:pPr>
            <a:endParaRPr lang="en-US"/>
          </a:p>
        </p:txBody>
      </p:sp>
      <p:sp>
        <p:nvSpPr>
          <p:cNvPr id="1800164226"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1555715" name="Slide Image Placeholder 1"/>
          <p:cNvSpPr>
            <a:spLocks noChangeAspect="1" noGrp="1" noRot="1"/>
          </p:cNvSpPr>
          <p:nvPr>
            <p:ph type="sldImg"/>
          </p:nvPr>
        </p:nvSpPr>
        <p:spPr bwMode="auto"/>
      </p:sp>
      <p:sp>
        <p:nvSpPr>
          <p:cNvPr id="1667690951" name="Notes Placeholder 2"/>
          <p:cNvSpPr>
            <a:spLocks noGrp="1"/>
          </p:cNvSpPr>
          <p:nvPr>
            <p:ph type="body" idx="1"/>
          </p:nvPr>
        </p:nvSpPr>
        <p:spPr bwMode="auto"/>
        <p:txBody>
          <a:bodyPr/>
          <a:lstStyle/>
          <a:p>
            <a:pPr>
              <a:defRPr/>
            </a:pPr>
            <a:endParaRPr lang="en-US"/>
          </a:p>
        </p:txBody>
      </p:sp>
      <p:sp>
        <p:nvSpPr>
          <p:cNvPr id="1305406360"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9971562" name="Slide Image Placeholder 1"/>
          <p:cNvSpPr>
            <a:spLocks noChangeAspect="1" noGrp="1" noRot="1"/>
          </p:cNvSpPr>
          <p:nvPr>
            <p:ph type="sldImg"/>
          </p:nvPr>
        </p:nvSpPr>
        <p:spPr bwMode="auto"/>
      </p:sp>
      <p:sp>
        <p:nvSpPr>
          <p:cNvPr id="664677426" name="Notes Placeholder 2"/>
          <p:cNvSpPr>
            <a:spLocks noGrp="1"/>
          </p:cNvSpPr>
          <p:nvPr>
            <p:ph type="body" idx="1"/>
          </p:nvPr>
        </p:nvSpPr>
        <p:spPr bwMode="auto"/>
        <p:txBody>
          <a:bodyPr/>
          <a:lstStyle/>
          <a:p>
            <a:pPr>
              <a:defRPr/>
            </a:pPr>
            <a:endParaRPr lang="en-US"/>
          </a:p>
        </p:txBody>
      </p:sp>
      <p:sp>
        <p:nvSpPr>
          <p:cNvPr id="1689716237"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8113597" name="Slide Image Placeholder 1"/>
          <p:cNvSpPr>
            <a:spLocks noChangeAspect="1" noGrp="1" noRot="1"/>
          </p:cNvSpPr>
          <p:nvPr>
            <p:ph type="sldImg"/>
          </p:nvPr>
        </p:nvSpPr>
        <p:spPr bwMode="auto"/>
      </p:sp>
      <p:sp>
        <p:nvSpPr>
          <p:cNvPr id="704889805" name="Notes Placeholder 2"/>
          <p:cNvSpPr>
            <a:spLocks noGrp="1"/>
          </p:cNvSpPr>
          <p:nvPr>
            <p:ph type="body" idx="1"/>
          </p:nvPr>
        </p:nvSpPr>
        <p:spPr bwMode="auto"/>
        <p:txBody>
          <a:bodyPr/>
          <a:lstStyle/>
          <a:p>
            <a:pPr>
              <a:defRPr/>
            </a:pPr>
            <a:endParaRPr lang="en-US"/>
          </a:p>
        </p:txBody>
      </p:sp>
      <p:sp>
        <p:nvSpPr>
          <p:cNvPr id="687473567"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62101928" name="Slide Image Placeholder 1"/>
          <p:cNvSpPr>
            <a:spLocks noChangeAspect="1" noGrp="1" noRot="1"/>
          </p:cNvSpPr>
          <p:nvPr>
            <p:ph type="sldImg"/>
          </p:nvPr>
        </p:nvSpPr>
        <p:spPr bwMode="auto"/>
      </p:sp>
      <p:sp>
        <p:nvSpPr>
          <p:cNvPr id="1777965336" name="Notes Placeholder 2"/>
          <p:cNvSpPr>
            <a:spLocks noGrp="1"/>
          </p:cNvSpPr>
          <p:nvPr>
            <p:ph type="body" idx="1"/>
          </p:nvPr>
        </p:nvSpPr>
        <p:spPr bwMode="auto"/>
        <p:txBody>
          <a:bodyPr/>
          <a:lstStyle/>
          <a:p>
            <a:pPr>
              <a:defRPr/>
            </a:pPr>
            <a:endParaRPr lang="en-US"/>
          </a:p>
        </p:txBody>
      </p:sp>
      <p:sp>
        <p:nvSpPr>
          <p:cNvPr id="535714876"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787801" name="Slide Image Placeholder 1"/>
          <p:cNvSpPr>
            <a:spLocks noChangeAspect="1" noGrp="1" noRot="1"/>
          </p:cNvSpPr>
          <p:nvPr>
            <p:ph type="sldImg"/>
          </p:nvPr>
        </p:nvSpPr>
        <p:spPr bwMode="auto"/>
      </p:sp>
      <p:sp>
        <p:nvSpPr>
          <p:cNvPr id="1042973211" name="Notes Placeholder 2"/>
          <p:cNvSpPr>
            <a:spLocks noGrp="1"/>
          </p:cNvSpPr>
          <p:nvPr>
            <p:ph type="body" idx="1"/>
          </p:nvPr>
        </p:nvSpPr>
        <p:spPr bwMode="auto"/>
        <p:txBody>
          <a:bodyPr/>
          <a:lstStyle/>
          <a:p>
            <a:pPr>
              <a:defRPr/>
            </a:pPr>
            <a:endParaRPr lang="en-US"/>
          </a:p>
        </p:txBody>
      </p:sp>
      <p:sp>
        <p:nvSpPr>
          <p:cNvPr id="1482064512"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90270495" name="Slide Image Placeholder 1"/>
          <p:cNvSpPr>
            <a:spLocks noChangeAspect="1" noGrp="1" noRot="1"/>
          </p:cNvSpPr>
          <p:nvPr>
            <p:ph type="sldImg"/>
          </p:nvPr>
        </p:nvSpPr>
        <p:spPr bwMode="auto"/>
      </p:sp>
      <p:sp>
        <p:nvSpPr>
          <p:cNvPr id="1835131081" name="Notes Placeholder 2"/>
          <p:cNvSpPr>
            <a:spLocks noGrp="1"/>
          </p:cNvSpPr>
          <p:nvPr>
            <p:ph type="body" idx="1"/>
          </p:nvPr>
        </p:nvSpPr>
        <p:spPr bwMode="auto"/>
        <p:txBody>
          <a:bodyPr/>
          <a:lstStyle/>
          <a:p>
            <a:pPr>
              <a:defRPr/>
            </a:pPr>
            <a:endParaRPr lang="en-US"/>
          </a:p>
        </p:txBody>
      </p:sp>
      <p:sp>
        <p:nvSpPr>
          <p:cNvPr id="1470525804"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8670960" name="Slide Image Placeholder 1"/>
          <p:cNvSpPr>
            <a:spLocks noChangeAspect="1" noGrp="1" noRot="1"/>
          </p:cNvSpPr>
          <p:nvPr>
            <p:ph type="sldImg"/>
          </p:nvPr>
        </p:nvSpPr>
        <p:spPr bwMode="auto"/>
      </p:sp>
      <p:sp>
        <p:nvSpPr>
          <p:cNvPr id="969745978" name="Notes Placeholder 2"/>
          <p:cNvSpPr>
            <a:spLocks noGrp="1"/>
          </p:cNvSpPr>
          <p:nvPr>
            <p:ph type="body" idx="1"/>
          </p:nvPr>
        </p:nvSpPr>
        <p:spPr bwMode="auto"/>
        <p:txBody>
          <a:bodyPr/>
          <a:lstStyle/>
          <a:p>
            <a:pPr>
              <a:defRPr/>
            </a:pPr>
            <a:endParaRPr lang="en-US"/>
          </a:p>
        </p:txBody>
      </p:sp>
      <p:sp>
        <p:nvSpPr>
          <p:cNvPr id="703465017"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2881635" name="Slide Image Placeholder 1"/>
          <p:cNvSpPr>
            <a:spLocks noChangeAspect="1" noGrp="1" noRot="1"/>
          </p:cNvSpPr>
          <p:nvPr>
            <p:ph type="sldImg"/>
          </p:nvPr>
        </p:nvSpPr>
        <p:spPr bwMode="auto"/>
      </p:sp>
      <p:sp>
        <p:nvSpPr>
          <p:cNvPr id="601345038" name="Notes Placeholder 2"/>
          <p:cNvSpPr>
            <a:spLocks noGrp="1"/>
          </p:cNvSpPr>
          <p:nvPr>
            <p:ph type="body" idx="1"/>
          </p:nvPr>
        </p:nvSpPr>
        <p:spPr bwMode="auto"/>
        <p:txBody>
          <a:bodyPr/>
          <a:lstStyle/>
          <a:p>
            <a:pPr>
              <a:defRPr/>
            </a:pPr>
            <a:endParaRPr lang="en-US"/>
          </a:p>
        </p:txBody>
      </p:sp>
      <p:sp>
        <p:nvSpPr>
          <p:cNvPr id="455334751"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044755" name="Slide Image Placeholder 1"/>
          <p:cNvSpPr>
            <a:spLocks noChangeAspect="1" noGrp="1" noRot="1"/>
          </p:cNvSpPr>
          <p:nvPr>
            <p:ph type="sldImg"/>
          </p:nvPr>
        </p:nvSpPr>
        <p:spPr bwMode="auto"/>
      </p:sp>
      <p:sp>
        <p:nvSpPr>
          <p:cNvPr id="851639659" name="Notes Placeholder 2"/>
          <p:cNvSpPr>
            <a:spLocks noGrp="1"/>
          </p:cNvSpPr>
          <p:nvPr>
            <p:ph type="body" idx="1"/>
          </p:nvPr>
        </p:nvSpPr>
        <p:spPr bwMode="auto"/>
        <p:txBody>
          <a:bodyPr/>
          <a:lstStyle/>
          <a:p>
            <a:pPr>
              <a:defRPr/>
            </a:pPr>
            <a:endParaRPr lang="en-US"/>
          </a:p>
        </p:txBody>
      </p:sp>
      <p:sp>
        <p:nvSpPr>
          <p:cNvPr id="1457590884"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6856643" name="Slide Image Placeholder 1"/>
          <p:cNvSpPr>
            <a:spLocks noChangeAspect="1" noGrp="1" noRot="1"/>
          </p:cNvSpPr>
          <p:nvPr>
            <p:ph type="sldImg"/>
          </p:nvPr>
        </p:nvSpPr>
        <p:spPr bwMode="auto"/>
      </p:sp>
      <p:sp>
        <p:nvSpPr>
          <p:cNvPr id="838647160" name="Notes Placeholder 2"/>
          <p:cNvSpPr>
            <a:spLocks noGrp="1"/>
          </p:cNvSpPr>
          <p:nvPr>
            <p:ph type="body" idx="1"/>
          </p:nvPr>
        </p:nvSpPr>
        <p:spPr bwMode="auto"/>
        <p:txBody>
          <a:bodyPr/>
          <a:lstStyle/>
          <a:p>
            <a:pPr>
              <a:defRPr/>
            </a:pPr>
            <a:endParaRPr lang="en-US"/>
          </a:p>
        </p:txBody>
      </p:sp>
      <p:sp>
        <p:nvSpPr>
          <p:cNvPr id="205605469"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FFFFF"/>
        </a:solidFill>
      </p:bgPr>
    </p:bg>
    <p:spTree>
      <p:nvGrpSpPr>
        <p:cNvPr id="1" name=""/>
        <p:cNvGrpSpPr/>
        <p:nvPr/>
      </p:nvGrpSpPr>
      <p:grpSpPr bwMode="auto">
        <a:xfrm>
          <a:off x="0" y="0"/>
          <a:ext cx="0" cy="0"/>
          <a:chOff x="0" y="0"/>
          <a:chExt cx="0" cy="0"/>
        </a:xfrm>
      </p:grpSpPr>
      <p:sp>
        <p:nvSpPr>
          <p:cNvPr id="375533311" name="Shape 0"/>
          <p:cNvSpPr/>
          <p:nvPr/>
        </p:nvSpPr>
        <p:spPr bwMode="auto">
          <a:xfrm>
            <a:off x="0" y="0"/>
            <a:ext cx="12191695" cy="6858000"/>
          </a:xfrm>
          <a:prstGeom prst="rect">
            <a:avLst/>
          </a:prstGeom>
          <a:solidFill>
            <a:srgbClr val="FFFFFF"/>
          </a:solidFill>
          <a:ln/>
        </p:spPr>
        <p:txBody>
          <a:bodyPr anchor="ctr"/>
          <a:p>
            <a:pPr algn="ctr">
              <a:defRPr/>
            </a:pPr>
            <a:endParaRPr>
              <a:latin typeface="IBM Plex Serif"/>
              <a:cs typeface="IBM Plex Serif"/>
            </a:endParaRPr>
          </a:p>
        </p:txBody>
      </p:sp>
      <p:sp>
        <p:nvSpPr>
          <p:cNvPr id="530637832" name="Shape 1"/>
          <p:cNvSpPr/>
          <p:nvPr/>
        </p:nvSpPr>
        <p:spPr bwMode="auto">
          <a:xfrm>
            <a:off x="548640" y="594360"/>
            <a:ext cx="777240" cy="77724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481319992" name="Image 0" descr="preencoded.png"/>
          <p:cNvPicPr>
            <a:picLocks noChangeAspect="1"/>
          </p:cNvPicPr>
          <p:nvPr/>
        </p:nvPicPr>
        <p:blipFill rotWithShape="1">
          <a:blip r:embed="rId3"/>
          <a:stretch/>
        </p:blipFill>
        <p:spPr bwMode="auto">
          <a:xfrm>
            <a:off x="731520" y="777240"/>
            <a:ext cx="411480" cy="411480"/>
          </a:xfrm>
          <a:prstGeom prst="rect">
            <a:avLst/>
          </a:prstGeom>
        </p:spPr>
      </p:pic>
      <p:sp>
        <p:nvSpPr>
          <p:cNvPr id="563405861" name="Text 2"/>
          <p:cNvSpPr/>
          <p:nvPr/>
        </p:nvSpPr>
        <p:spPr bwMode="auto">
          <a:xfrm>
            <a:off x="1508759" y="594360"/>
            <a:ext cx="7315200" cy="411480"/>
          </a:xfrm>
          <a:prstGeom prst="rect">
            <a:avLst/>
          </a:prstGeom>
          <a:noFill/>
          <a:ln/>
        </p:spPr>
        <p:txBody>
          <a:bodyPr wrap="square" lIns="0" tIns="0" rIns="0" bIns="0" rtlCol="0" anchor="ctr"/>
          <a:lstStyle/>
          <a:p>
            <a:pPr marL="0" indent="0">
              <a:buNone/>
              <a:defRPr/>
            </a:pPr>
            <a:r>
              <a:rPr lang="en-US" sz="1400" b="1" spc="200">
                <a:solidFill>
                  <a:srgbClr val="A6192E"/>
                </a:solidFill>
                <a:latin typeface="IBM Plex Serif"/>
                <a:ea typeface="IBM Plex Serif"/>
                <a:cs typeface="IBM Plex Serif"/>
              </a:rPr>
              <a:t>DATA ANALYSIS PROJECT</a:t>
            </a:r>
            <a:endParaRPr sz="1400">
              <a:latin typeface="IBM Plex Serif"/>
              <a:cs typeface="IBM Plex Serif"/>
            </a:endParaRPr>
          </a:p>
        </p:txBody>
      </p:sp>
      <p:sp>
        <p:nvSpPr>
          <p:cNvPr id="1580755106" name="Text 3"/>
          <p:cNvSpPr/>
          <p:nvPr/>
        </p:nvSpPr>
        <p:spPr bwMode="auto">
          <a:xfrm>
            <a:off x="548640" y="2331720"/>
            <a:ext cx="10789920" cy="1005840"/>
          </a:xfrm>
          <a:prstGeom prst="rect">
            <a:avLst/>
          </a:prstGeom>
          <a:noFill/>
          <a:ln/>
        </p:spPr>
        <p:txBody>
          <a:bodyPr wrap="square" lIns="0" tIns="0" rIns="0" bIns="0" rtlCol="0" anchor="ctr"/>
          <a:lstStyle/>
          <a:p>
            <a:pPr marL="0" indent="0">
              <a:buNone/>
              <a:defRPr/>
            </a:pPr>
            <a:r>
              <a:rPr lang="en-US" sz="4800" b="1">
                <a:solidFill>
                  <a:srgbClr val="171717"/>
                </a:solidFill>
                <a:latin typeface="IBM Plex Serif"/>
                <a:ea typeface="IBM Plex Serif"/>
                <a:cs typeface="IBM Plex Serif"/>
              </a:rPr>
              <a:t>Heart Disease Prediction</a:t>
            </a:r>
            <a:endParaRPr sz="4800">
              <a:latin typeface="IBM Plex Serif"/>
              <a:cs typeface="IBM Plex Serif"/>
            </a:endParaRPr>
          </a:p>
        </p:txBody>
      </p:sp>
      <p:sp>
        <p:nvSpPr>
          <p:cNvPr id="75780135" name="Text 4"/>
          <p:cNvSpPr/>
          <p:nvPr/>
        </p:nvSpPr>
        <p:spPr bwMode="auto">
          <a:xfrm>
            <a:off x="548640" y="3310127"/>
            <a:ext cx="9601200" cy="548640"/>
          </a:xfrm>
          <a:prstGeom prst="rect">
            <a:avLst/>
          </a:prstGeom>
          <a:noFill/>
          <a:ln/>
        </p:spPr>
        <p:txBody>
          <a:bodyPr wrap="square" lIns="0" tIns="0" rIns="0" bIns="0" rtlCol="0" anchor="ctr"/>
          <a:lstStyle/>
          <a:p>
            <a:pPr marL="0" indent="0">
              <a:buNone/>
              <a:defRPr/>
            </a:pPr>
            <a:r>
              <a:rPr lang="en-US" sz="1600">
                <a:solidFill>
                  <a:srgbClr val="6E6E6E"/>
                </a:solidFill>
                <a:latin typeface="IBM Plex Serif"/>
                <a:ea typeface="IBM Plex Serif"/>
                <a:cs typeface="IBM Plex Serif"/>
              </a:rPr>
              <a:t>Exploratory Data Analysis &amp; Predictive Modeling — Leakage-Safe Pipeline</a:t>
            </a:r>
            <a:endParaRPr sz="1600">
              <a:latin typeface="IBM Plex Serif"/>
              <a:cs typeface="IBM Plex Serif"/>
            </a:endParaRPr>
          </a:p>
        </p:txBody>
      </p:sp>
      <p:sp>
        <p:nvSpPr>
          <p:cNvPr id="645420889" name="Shape 5"/>
          <p:cNvSpPr/>
          <p:nvPr/>
        </p:nvSpPr>
        <p:spPr bwMode="auto">
          <a:xfrm>
            <a:off x="548640" y="4663440"/>
            <a:ext cx="7315200" cy="1417320"/>
          </a:xfrm>
          <a:prstGeom prst="roundRect">
            <a:avLst>
              <a:gd name="adj" fmla="val 4516"/>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40008637" name="Text 6"/>
          <p:cNvSpPr/>
          <p:nvPr/>
        </p:nvSpPr>
        <p:spPr bwMode="auto">
          <a:xfrm>
            <a:off x="822960" y="4828032"/>
            <a:ext cx="3657600" cy="274320"/>
          </a:xfrm>
          <a:prstGeom prst="rect">
            <a:avLst/>
          </a:prstGeom>
          <a:noFill/>
          <a:ln/>
        </p:spPr>
        <p:txBody>
          <a:bodyPr wrap="square" lIns="0" tIns="0" rIns="0" bIns="0" rtlCol="0" anchor="ctr"/>
          <a:lstStyle/>
          <a:p>
            <a:pPr marL="0" indent="0">
              <a:buNone/>
              <a:defRPr/>
            </a:pPr>
            <a:r>
              <a:rPr lang="en-US" sz="1100" b="1" spc="150">
                <a:solidFill>
                  <a:srgbClr val="A6192E"/>
                </a:solidFill>
                <a:latin typeface="IBM Plex Serif"/>
                <a:ea typeface="IBM Plex Serif"/>
                <a:cs typeface="IBM Plex Serif"/>
              </a:rPr>
              <a:t>GROUP MEMBERS</a:t>
            </a:r>
            <a:endParaRPr sz="1100">
              <a:latin typeface="IBM Plex Serif"/>
              <a:cs typeface="IBM Plex Serif"/>
            </a:endParaRPr>
          </a:p>
        </p:txBody>
      </p:sp>
      <p:graphicFrame>
        <p:nvGraphicFramePr>
          <p:cNvPr id="1168015702" name="Table 0"/>
          <p:cNvGraphicFramePr>
            <a:graphicFrameLocks xmlns:a="http://schemas.openxmlformats.org/drawingml/2006/main" noGrp="1"/>
          </p:cNvGraphicFramePr>
          <p:nvPr/>
        </p:nvGraphicFramePr>
        <p:xfrm rot="0">
          <a:off x="822960" y="5166360"/>
          <a:ext cx="6766560" cy="777240"/>
        </p:xfrm>
        <a:graphic>
          <a:graphicData uri="http://schemas.openxmlformats.org/drawingml/2006/table">
            <a:tbl>
              <a:tblPr firstRow="0" firstCol="0" lastRow="0" lastCol="0" bandRow="0" bandCol="0"/>
              <a:tblGrid>
                <a:gridCol w="1645920"/>
                <a:gridCol w="5120640"/>
              </a:tblGrid>
              <a:tr h="259080">
                <a:tc>
                  <a:txBody>
                    <a:bodyPr/>
                    <a:p>
                      <a:pPr marL="0" indent="0">
                        <a:buNone/>
                        <a:defRPr/>
                      </a:pPr>
                      <a:r>
                        <a:rPr lang="en-US" sz="1300" b="1">
                          <a:solidFill>
                            <a:srgbClr val="6E6E6E"/>
                          </a:solidFill>
                          <a:latin typeface="IBM Plex Serif"/>
                          <a:ea typeface="IBM Plex Serif"/>
                          <a:cs typeface="IBM Plex Serif"/>
                        </a:rPr>
                        <a:t>ID</a:t>
                      </a:r>
                      <a:endParaRPr sz="1300">
                        <a:latin typeface="IBM Plex Serif"/>
                        <a:cs typeface="IBM Plex Serif"/>
                      </a:endParaRPr>
                    </a:p>
                  </a:txBody>
                  <a:tcPr marL="91440" marR="91440" marT="45720" marB="45720">
                    <a:lnL w="0" algn="ctr">
                      <a:noFill/>
                    </a:lnL>
                    <a:lnR w="0" algn="ctr">
                      <a:noFill/>
                    </a:lnR>
                    <a:lnT w="0" algn="ctr">
                      <a:noFill/>
                    </a:lnT>
                    <a:lnB w="0" algn="ctr">
                      <a:noFill/>
                    </a:lnB>
                  </a:tcPr>
                </a:tc>
                <a:tc>
                  <a:txBody>
                    <a:bodyPr/>
                    <a:p>
                      <a:pPr marL="0" indent="0">
                        <a:buNone/>
                        <a:defRPr/>
                      </a:pPr>
                      <a:r>
                        <a:rPr lang="en-US" sz="1300" b="1">
                          <a:solidFill>
                            <a:srgbClr val="6E6E6E"/>
                          </a:solidFill>
                          <a:latin typeface="IBM Plex Serif"/>
                          <a:ea typeface="IBM Plex Serif"/>
                          <a:cs typeface="IBM Plex Serif"/>
                        </a:rPr>
                        <a:t>Name</a:t>
                      </a:r>
                      <a:endParaRPr sz="1300">
                        <a:latin typeface="IBM Plex Serif"/>
                        <a:cs typeface="IBM Plex Serif"/>
                      </a:endParaRPr>
                    </a:p>
                  </a:txBody>
                  <a:tcPr marL="91440" marR="91440" marT="45720" marB="45720">
                    <a:lnL w="0" algn="ctr">
                      <a:noFill/>
                    </a:lnL>
                    <a:lnR w="0" algn="ctr">
                      <a:noFill/>
                    </a:lnR>
                    <a:lnT w="0" algn="ctr">
                      <a:noFill/>
                    </a:lnT>
                    <a:lnB w="0" algn="ctr">
                      <a:noFill/>
                    </a:lnB>
                  </a:tcPr>
                </a:tc>
              </a:tr>
              <a:tr h="259080">
                <a:tc>
                  <a:txBody>
                    <a:bodyPr/>
                    <a:p>
                      <a:pPr marL="0" indent="0">
                        <a:buNone/>
                        <a:defRPr/>
                      </a:pPr>
                      <a:r>
                        <a:rPr lang="en-US" sz="1300">
                          <a:solidFill>
                            <a:srgbClr val="171717"/>
                          </a:solidFill>
                          <a:latin typeface="IBM Plex Serif"/>
                          <a:ea typeface="IBM Plex Serif"/>
                          <a:cs typeface="IBM Plex Serif"/>
                        </a:rPr>
                        <a:t>22402742</a:t>
                      </a:r>
                      <a:endParaRPr sz="1300">
                        <a:latin typeface="IBM Plex Serif"/>
                        <a:cs typeface="IBM Plex Serif"/>
                      </a:endParaRPr>
                    </a:p>
                  </a:txBody>
                  <a:tcPr marL="91440" marR="91440" marT="45720" marB="45720">
                    <a:lnL w="0" algn="ctr">
                      <a:noFill/>
                    </a:lnL>
                    <a:lnR w="0" algn="ctr">
                      <a:noFill/>
                    </a:lnR>
                    <a:lnT w="0" algn="ctr">
                      <a:noFill/>
                    </a:lnT>
                    <a:lnB w="0" algn="ctr">
                      <a:noFill/>
                    </a:lnB>
                  </a:tcPr>
                </a:tc>
                <a:tc>
                  <a:txBody>
                    <a:bodyPr/>
                    <a:p>
                      <a:pPr marL="0" indent="0">
                        <a:buNone/>
                        <a:defRPr/>
                      </a:pPr>
                      <a:r>
                        <a:rPr lang="en-US" sz="1300">
                          <a:solidFill>
                            <a:srgbClr val="171717"/>
                          </a:solidFill>
                          <a:latin typeface="IBM Plex Serif"/>
                          <a:ea typeface="IBM Plex Serif"/>
                          <a:cs typeface="IBM Plex Serif"/>
                        </a:rPr>
                        <a:t>Nguyễn Phước Mai Bảo</a:t>
                      </a:r>
                      <a:endParaRPr sz="1300">
                        <a:latin typeface="IBM Plex Serif"/>
                        <a:cs typeface="IBM Plex Serif"/>
                      </a:endParaRPr>
                    </a:p>
                  </a:txBody>
                  <a:tcPr marL="91440" marR="91440" marT="45720" marB="45720">
                    <a:lnL w="0" algn="ctr">
                      <a:noFill/>
                    </a:lnL>
                    <a:lnR w="0" algn="ctr">
                      <a:noFill/>
                    </a:lnR>
                    <a:lnT w="0" algn="ctr">
                      <a:noFill/>
                    </a:lnT>
                    <a:lnB w="0" algn="ctr">
                      <a:noFill/>
                    </a:lnB>
                  </a:tcPr>
                </a:tc>
              </a:tr>
              <a:tr h="259080">
                <a:tc>
                  <a:txBody>
                    <a:bodyPr/>
                    <a:p>
                      <a:pPr marL="0" indent="0">
                        <a:buNone/>
                        <a:defRPr/>
                      </a:pPr>
                      <a:r>
                        <a:rPr lang="en-US" sz="1300">
                          <a:solidFill>
                            <a:srgbClr val="171717"/>
                          </a:solidFill>
                          <a:latin typeface="IBM Plex Serif"/>
                          <a:ea typeface="IBM Plex Serif"/>
                          <a:cs typeface="IBM Plex Serif"/>
                        </a:rPr>
                        <a:t>22302421</a:t>
                      </a:r>
                      <a:endParaRPr sz="1300">
                        <a:latin typeface="IBM Plex Serif"/>
                        <a:cs typeface="IBM Plex Serif"/>
                      </a:endParaRPr>
                    </a:p>
                  </a:txBody>
                  <a:tcPr marL="91440" marR="91440" marT="45720" marB="45720">
                    <a:lnL w="0" algn="ctr">
                      <a:noFill/>
                    </a:lnL>
                    <a:lnR w="0" algn="ctr">
                      <a:noFill/>
                    </a:lnR>
                    <a:lnT w="0" algn="ctr">
                      <a:noFill/>
                    </a:lnT>
                    <a:lnB w="0" algn="ctr">
                      <a:noFill/>
                    </a:lnB>
                  </a:tcPr>
                </a:tc>
                <a:tc>
                  <a:txBody>
                    <a:bodyPr/>
                    <a:p>
                      <a:pPr marL="0" indent="0">
                        <a:buNone/>
                        <a:defRPr/>
                      </a:pPr>
                      <a:r>
                        <a:rPr lang="en-US" sz="1300">
                          <a:solidFill>
                            <a:srgbClr val="171717"/>
                          </a:solidFill>
                          <a:latin typeface="IBM Plex Serif"/>
                          <a:ea typeface="IBM Plex Serif"/>
                          <a:cs typeface="IBM Plex Serif"/>
                        </a:rPr>
                        <a:t>Nguyễn Phúc Minh Châu</a:t>
                      </a:r>
                      <a:endParaRPr sz="1300">
                        <a:latin typeface="IBM Plex Serif"/>
                        <a:cs typeface="IBM Plex Serif"/>
                      </a:endParaRPr>
                    </a:p>
                  </a:txBody>
                  <a:tcPr marL="91440" marR="91440" marT="45720" marB="45720">
                    <a:lnL w="0" algn="ctr">
                      <a:noFill/>
                    </a:lnL>
                    <a:lnR w="0" algn="ctr">
                      <a:noFill/>
                    </a:lnR>
                    <a:lnT w="0" algn="ctr">
                      <a:noFill/>
                    </a:lnT>
                    <a:lnB w="0" algn="ctr">
                      <a:noFill/>
                    </a:lnB>
                  </a:tcPr>
                </a:tc>
              </a:tr>
            </a:tbl>
          </a:graphicData>
        </a:graphic>
      </p:graphicFrame>
      <p:sp>
        <p:nvSpPr>
          <p:cNvPr id="92271533" name="Text 7"/>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223513979" name="Text 8"/>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01</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136448807"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OVERVIEW</a:t>
            </a:r>
            <a:endParaRPr sz="1250">
              <a:latin typeface="IBM Plex Serif"/>
              <a:cs typeface="IBM Plex Serif"/>
            </a:endParaRPr>
          </a:p>
        </p:txBody>
      </p:sp>
      <p:sp>
        <p:nvSpPr>
          <p:cNvPr id="200330794"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Agenda</a:t>
            </a:r>
            <a:endParaRPr sz="3000">
              <a:latin typeface="IBM Plex Serif"/>
              <a:cs typeface="IBM Plex Serif"/>
            </a:endParaRPr>
          </a:p>
        </p:txBody>
      </p:sp>
      <p:sp>
        <p:nvSpPr>
          <p:cNvPr id="2019007910"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544554461"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02</a:t>
            </a:r>
            <a:endParaRPr sz="900">
              <a:latin typeface="IBM Plex Serif"/>
              <a:cs typeface="IBM Plex Serif"/>
            </a:endParaRPr>
          </a:p>
        </p:txBody>
      </p:sp>
      <p:sp>
        <p:nvSpPr>
          <p:cNvPr id="682053459" name="Shape 4"/>
          <p:cNvSpPr/>
          <p:nvPr/>
        </p:nvSpPr>
        <p:spPr bwMode="auto">
          <a:xfrm>
            <a:off x="548640" y="1371600"/>
            <a:ext cx="5349240" cy="1371600"/>
          </a:xfrm>
          <a:prstGeom prst="roundRect">
            <a:avLst>
              <a:gd name="adj" fmla="val 466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740529620" name="Shape 5"/>
          <p:cNvSpPr/>
          <p:nvPr/>
        </p:nvSpPr>
        <p:spPr bwMode="auto">
          <a:xfrm>
            <a:off x="777240" y="1737360"/>
            <a:ext cx="640080" cy="64008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664333035" name="Image 0" descr="preencoded.png"/>
          <p:cNvPicPr>
            <a:picLocks noChangeAspect="1"/>
          </p:cNvPicPr>
          <p:nvPr/>
        </p:nvPicPr>
        <p:blipFill rotWithShape="1">
          <a:blip r:embed="rId3"/>
          <a:stretch/>
        </p:blipFill>
        <p:spPr bwMode="auto">
          <a:xfrm>
            <a:off x="1014984" y="1975104"/>
            <a:ext cx="164592" cy="164592"/>
          </a:xfrm>
          <a:prstGeom prst="rect">
            <a:avLst/>
          </a:prstGeom>
        </p:spPr>
      </p:pic>
      <p:sp>
        <p:nvSpPr>
          <p:cNvPr id="75613201" name="Text 6"/>
          <p:cNvSpPr/>
          <p:nvPr/>
        </p:nvSpPr>
        <p:spPr bwMode="auto">
          <a:xfrm>
            <a:off x="4892039" y="1481328"/>
            <a:ext cx="822960" cy="457200"/>
          </a:xfrm>
          <a:prstGeom prst="rect">
            <a:avLst/>
          </a:prstGeom>
          <a:noFill/>
          <a:ln/>
        </p:spPr>
        <p:txBody>
          <a:bodyPr wrap="square" lIns="0" tIns="0" rIns="0" bIns="0" rtlCol="0" anchor="ctr"/>
          <a:lstStyle/>
          <a:p>
            <a:pPr marL="0" indent="0" algn="r">
              <a:buNone/>
              <a:defRPr/>
            </a:pPr>
            <a:r>
              <a:rPr lang="en-US" sz="2200" b="1">
                <a:solidFill>
                  <a:srgbClr val="E3E3E3"/>
                </a:solidFill>
                <a:latin typeface="IBM Plex Serif"/>
                <a:ea typeface="IBM Plex Serif"/>
                <a:cs typeface="IBM Plex Serif"/>
              </a:rPr>
              <a:t>01</a:t>
            </a:r>
            <a:endParaRPr sz="2200">
              <a:latin typeface="IBM Plex Serif"/>
              <a:cs typeface="IBM Plex Serif"/>
            </a:endParaRPr>
          </a:p>
        </p:txBody>
      </p:sp>
      <p:sp>
        <p:nvSpPr>
          <p:cNvPr id="203617479" name="Text 7"/>
          <p:cNvSpPr/>
          <p:nvPr/>
        </p:nvSpPr>
        <p:spPr bwMode="auto">
          <a:xfrm>
            <a:off x="1600200" y="1371600"/>
            <a:ext cx="4069080" cy="1371600"/>
          </a:xfrm>
          <a:prstGeom prst="rect">
            <a:avLst/>
          </a:prstGeom>
          <a:noFill/>
          <a:ln/>
        </p:spPr>
        <p:txBody>
          <a:bodyPr wrap="square" lIns="0" tIns="0" rIns="0" bIns="0" rtlCol="0" anchor="ctr"/>
          <a:lstStyle/>
          <a:p>
            <a:pPr marL="0" indent="0">
              <a:buNone/>
              <a:defRPr/>
            </a:pPr>
            <a:r>
              <a:rPr lang="en-US" sz="1550" b="1">
                <a:solidFill>
                  <a:srgbClr val="171717"/>
                </a:solidFill>
                <a:latin typeface="IBM Plex Serif"/>
                <a:ea typeface="IBM Plex Serif"/>
                <a:cs typeface="IBM Plex Serif"/>
              </a:rPr>
              <a:t>Bài toán &amp; Bộ dữ liệu</a:t>
            </a:r>
            <a:endParaRPr sz="1550">
              <a:latin typeface="IBM Plex Serif"/>
              <a:cs typeface="IBM Plex Serif"/>
            </a:endParaRPr>
          </a:p>
        </p:txBody>
      </p:sp>
      <p:sp>
        <p:nvSpPr>
          <p:cNvPr id="602201803" name="Shape 8"/>
          <p:cNvSpPr/>
          <p:nvPr/>
        </p:nvSpPr>
        <p:spPr bwMode="auto">
          <a:xfrm>
            <a:off x="6172200" y="1371600"/>
            <a:ext cx="5349240" cy="1371600"/>
          </a:xfrm>
          <a:prstGeom prst="roundRect">
            <a:avLst>
              <a:gd name="adj" fmla="val 466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542123651" name="Shape 9"/>
          <p:cNvSpPr/>
          <p:nvPr/>
        </p:nvSpPr>
        <p:spPr bwMode="auto">
          <a:xfrm>
            <a:off x="6400800" y="1737360"/>
            <a:ext cx="640080" cy="64008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744276270" name="Image 1" descr="preencoded.png"/>
          <p:cNvPicPr>
            <a:picLocks noChangeAspect="1"/>
          </p:cNvPicPr>
          <p:nvPr/>
        </p:nvPicPr>
        <p:blipFill rotWithShape="1">
          <a:blip r:embed="rId4"/>
          <a:stretch/>
        </p:blipFill>
        <p:spPr bwMode="auto">
          <a:xfrm>
            <a:off x="6638544" y="1975104"/>
            <a:ext cx="164592" cy="164592"/>
          </a:xfrm>
          <a:prstGeom prst="rect">
            <a:avLst/>
          </a:prstGeom>
        </p:spPr>
      </p:pic>
      <p:sp>
        <p:nvSpPr>
          <p:cNvPr id="177972623" name="Text 10"/>
          <p:cNvSpPr/>
          <p:nvPr/>
        </p:nvSpPr>
        <p:spPr bwMode="auto">
          <a:xfrm>
            <a:off x="10515600" y="1481328"/>
            <a:ext cx="822960" cy="457200"/>
          </a:xfrm>
          <a:prstGeom prst="rect">
            <a:avLst/>
          </a:prstGeom>
          <a:noFill/>
          <a:ln/>
        </p:spPr>
        <p:txBody>
          <a:bodyPr wrap="square" lIns="0" tIns="0" rIns="0" bIns="0" rtlCol="0" anchor="ctr"/>
          <a:lstStyle/>
          <a:p>
            <a:pPr marL="0" indent="0" algn="r">
              <a:buNone/>
              <a:defRPr/>
            </a:pPr>
            <a:r>
              <a:rPr lang="en-US" sz="2200" b="1">
                <a:solidFill>
                  <a:srgbClr val="E3E3E3"/>
                </a:solidFill>
                <a:latin typeface="IBM Plex Serif"/>
                <a:ea typeface="IBM Plex Serif"/>
                <a:cs typeface="IBM Plex Serif"/>
              </a:rPr>
              <a:t>02</a:t>
            </a:r>
            <a:endParaRPr sz="2200">
              <a:latin typeface="IBM Plex Serif"/>
              <a:cs typeface="IBM Plex Serif"/>
            </a:endParaRPr>
          </a:p>
        </p:txBody>
      </p:sp>
      <p:sp>
        <p:nvSpPr>
          <p:cNvPr id="1757869503" name="Text 11"/>
          <p:cNvSpPr/>
          <p:nvPr/>
        </p:nvSpPr>
        <p:spPr bwMode="auto">
          <a:xfrm>
            <a:off x="7223760" y="1371600"/>
            <a:ext cx="4069080" cy="1371600"/>
          </a:xfrm>
          <a:prstGeom prst="rect">
            <a:avLst/>
          </a:prstGeom>
          <a:noFill/>
          <a:ln/>
        </p:spPr>
        <p:txBody>
          <a:bodyPr wrap="square" lIns="0" tIns="0" rIns="0" bIns="0" rtlCol="0" anchor="ctr"/>
          <a:lstStyle/>
          <a:p>
            <a:pPr marL="0" indent="0">
              <a:buNone/>
              <a:defRPr/>
            </a:pPr>
            <a:r>
              <a:rPr lang="en-US" sz="1550" b="1">
                <a:solidFill>
                  <a:srgbClr val="171717"/>
                </a:solidFill>
                <a:latin typeface="IBM Plex Serif"/>
                <a:ea typeface="IBM Plex Serif"/>
                <a:cs typeface="IBM Plex Serif"/>
              </a:rPr>
              <a:t>Làm sạch &amp; Train/Test Split</a:t>
            </a:r>
            <a:endParaRPr sz="1550">
              <a:latin typeface="IBM Plex Serif"/>
              <a:cs typeface="IBM Plex Serif"/>
            </a:endParaRPr>
          </a:p>
        </p:txBody>
      </p:sp>
      <p:sp>
        <p:nvSpPr>
          <p:cNvPr id="1665143900" name="Shape 12"/>
          <p:cNvSpPr/>
          <p:nvPr/>
        </p:nvSpPr>
        <p:spPr bwMode="auto">
          <a:xfrm>
            <a:off x="548640" y="3017519"/>
            <a:ext cx="5349240" cy="1371600"/>
          </a:xfrm>
          <a:prstGeom prst="roundRect">
            <a:avLst>
              <a:gd name="adj" fmla="val 466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19843855" name="Shape 13"/>
          <p:cNvSpPr/>
          <p:nvPr/>
        </p:nvSpPr>
        <p:spPr bwMode="auto">
          <a:xfrm>
            <a:off x="777240" y="3383280"/>
            <a:ext cx="640080" cy="64008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710036163" name="Image 2" descr="preencoded.png"/>
          <p:cNvPicPr>
            <a:picLocks noChangeAspect="1"/>
          </p:cNvPicPr>
          <p:nvPr/>
        </p:nvPicPr>
        <p:blipFill rotWithShape="1">
          <a:blip r:embed="rId5"/>
          <a:stretch/>
        </p:blipFill>
        <p:spPr bwMode="auto">
          <a:xfrm>
            <a:off x="1014984" y="3621024"/>
            <a:ext cx="164592" cy="164592"/>
          </a:xfrm>
          <a:prstGeom prst="rect">
            <a:avLst/>
          </a:prstGeom>
        </p:spPr>
      </p:pic>
      <p:sp>
        <p:nvSpPr>
          <p:cNvPr id="943932064" name="Text 14"/>
          <p:cNvSpPr/>
          <p:nvPr/>
        </p:nvSpPr>
        <p:spPr bwMode="auto">
          <a:xfrm>
            <a:off x="4892039" y="3127248"/>
            <a:ext cx="822960" cy="457200"/>
          </a:xfrm>
          <a:prstGeom prst="rect">
            <a:avLst/>
          </a:prstGeom>
          <a:noFill/>
          <a:ln/>
        </p:spPr>
        <p:txBody>
          <a:bodyPr wrap="square" lIns="0" tIns="0" rIns="0" bIns="0" rtlCol="0" anchor="ctr"/>
          <a:lstStyle/>
          <a:p>
            <a:pPr marL="0" indent="0" algn="r">
              <a:buNone/>
              <a:defRPr/>
            </a:pPr>
            <a:r>
              <a:rPr lang="en-US" sz="2200" b="1">
                <a:solidFill>
                  <a:srgbClr val="E3E3E3"/>
                </a:solidFill>
                <a:latin typeface="IBM Plex Serif"/>
                <a:ea typeface="IBM Plex Serif"/>
                <a:cs typeface="IBM Plex Serif"/>
              </a:rPr>
              <a:t>03</a:t>
            </a:r>
            <a:endParaRPr sz="2200">
              <a:latin typeface="IBM Plex Serif"/>
              <a:cs typeface="IBM Plex Serif"/>
            </a:endParaRPr>
          </a:p>
        </p:txBody>
      </p:sp>
      <p:sp>
        <p:nvSpPr>
          <p:cNvPr id="1761155884" name="Text 15"/>
          <p:cNvSpPr/>
          <p:nvPr/>
        </p:nvSpPr>
        <p:spPr bwMode="auto">
          <a:xfrm>
            <a:off x="1600200" y="3017519"/>
            <a:ext cx="4069080" cy="1371600"/>
          </a:xfrm>
          <a:prstGeom prst="rect">
            <a:avLst/>
          </a:prstGeom>
          <a:noFill/>
          <a:ln/>
        </p:spPr>
        <p:txBody>
          <a:bodyPr wrap="square" lIns="0" tIns="0" rIns="0" bIns="0" rtlCol="0" anchor="ctr"/>
          <a:lstStyle/>
          <a:p>
            <a:pPr marL="0" indent="0">
              <a:buNone/>
              <a:defRPr/>
            </a:pPr>
            <a:r>
              <a:rPr lang="en-US" sz="1550" b="1">
                <a:solidFill>
                  <a:srgbClr val="171717"/>
                </a:solidFill>
                <a:latin typeface="IBM Plex Serif"/>
                <a:ea typeface="IBM Plex Serif"/>
                <a:cs typeface="IBM Plex Serif"/>
              </a:rPr>
              <a:t>Tiền xử lý không rò rỉ dữ liệu</a:t>
            </a:r>
            <a:endParaRPr sz="1550">
              <a:latin typeface="IBM Plex Serif"/>
              <a:cs typeface="IBM Plex Serif"/>
            </a:endParaRPr>
          </a:p>
        </p:txBody>
      </p:sp>
      <p:sp>
        <p:nvSpPr>
          <p:cNvPr id="1626865932" name="Shape 16"/>
          <p:cNvSpPr/>
          <p:nvPr/>
        </p:nvSpPr>
        <p:spPr bwMode="auto">
          <a:xfrm>
            <a:off x="6172200" y="3017519"/>
            <a:ext cx="5349240" cy="1371600"/>
          </a:xfrm>
          <a:prstGeom prst="roundRect">
            <a:avLst>
              <a:gd name="adj" fmla="val 466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022024017" name="Shape 17"/>
          <p:cNvSpPr/>
          <p:nvPr/>
        </p:nvSpPr>
        <p:spPr bwMode="auto">
          <a:xfrm>
            <a:off x="6400800" y="3383280"/>
            <a:ext cx="640080" cy="64008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82793300" name="Image 3" descr="preencoded.png"/>
          <p:cNvPicPr>
            <a:picLocks noChangeAspect="1"/>
          </p:cNvPicPr>
          <p:nvPr/>
        </p:nvPicPr>
        <p:blipFill rotWithShape="1">
          <a:blip r:embed="rId6"/>
          <a:stretch/>
        </p:blipFill>
        <p:spPr bwMode="auto">
          <a:xfrm>
            <a:off x="6638544" y="3621024"/>
            <a:ext cx="164592" cy="164592"/>
          </a:xfrm>
          <a:prstGeom prst="rect">
            <a:avLst/>
          </a:prstGeom>
        </p:spPr>
      </p:pic>
      <p:sp>
        <p:nvSpPr>
          <p:cNvPr id="730175277" name="Text 18"/>
          <p:cNvSpPr/>
          <p:nvPr/>
        </p:nvSpPr>
        <p:spPr bwMode="auto">
          <a:xfrm>
            <a:off x="10515600" y="3127248"/>
            <a:ext cx="822960" cy="457200"/>
          </a:xfrm>
          <a:prstGeom prst="rect">
            <a:avLst/>
          </a:prstGeom>
          <a:noFill/>
          <a:ln/>
        </p:spPr>
        <p:txBody>
          <a:bodyPr wrap="square" lIns="0" tIns="0" rIns="0" bIns="0" rtlCol="0" anchor="ctr"/>
          <a:lstStyle/>
          <a:p>
            <a:pPr marL="0" indent="0" algn="r">
              <a:buNone/>
              <a:defRPr/>
            </a:pPr>
            <a:r>
              <a:rPr lang="en-US" sz="2200" b="1">
                <a:solidFill>
                  <a:srgbClr val="E3E3E3"/>
                </a:solidFill>
                <a:latin typeface="IBM Plex Serif"/>
                <a:ea typeface="IBM Plex Serif"/>
                <a:cs typeface="IBM Plex Serif"/>
              </a:rPr>
              <a:t>04</a:t>
            </a:r>
            <a:endParaRPr sz="2200">
              <a:latin typeface="IBM Plex Serif"/>
              <a:cs typeface="IBM Plex Serif"/>
            </a:endParaRPr>
          </a:p>
        </p:txBody>
      </p:sp>
      <p:sp>
        <p:nvSpPr>
          <p:cNvPr id="1420330878" name="Text 19"/>
          <p:cNvSpPr/>
          <p:nvPr/>
        </p:nvSpPr>
        <p:spPr bwMode="auto">
          <a:xfrm>
            <a:off x="7223760" y="3017519"/>
            <a:ext cx="4069080" cy="1371600"/>
          </a:xfrm>
          <a:prstGeom prst="rect">
            <a:avLst/>
          </a:prstGeom>
          <a:noFill/>
          <a:ln/>
        </p:spPr>
        <p:txBody>
          <a:bodyPr wrap="square" lIns="0" tIns="0" rIns="0" bIns="0" rtlCol="0" anchor="ctr"/>
          <a:lstStyle/>
          <a:p>
            <a:pPr marL="0" indent="0">
              <a:buNone/>
              <a:defRPr/>
            </a:pPr>
            <a:r>
              <a:rPr lang="en-US" sz="1550" b="1">
                <a:solidFill>
                  <a:srgbClr val="171717"/>
                </a:solidFill>
                <a:latin typeface="IBM Plex Serif"/>
                <a:ea typeface="IBM Plex Serif"/>
                <a:cs typeface="IBM Plex Serif"/>
              </a:rPr>
              <a:t>Phân tích khám phá (EDA)</a:t>
            </a:r>
            <a:endParaRPr sz="1550">
              <a:latin typeface="IBM Plex Serif"/>
              <a:cs typeface="IBM Plex Serif"/>
            </a:endParaRPr>
          </a:p>
        </p:txBody>
      </p:sp>
      <p:sp>
        <p:nvSpPr>
          <p:cNvPr id="1326543014" name="Shape 20"/>
          <p:cNvSpPr/>
          <p:nvPr/>
        </p:nvSpPr>
        <p:spPr bwMode="auto">
          <a:xfrm>
            <a:off x="548640" y="4663440"/>
            <a:ext cx="5349240" cy="1371600"/>
          </a:xfrm>
          <a:prstGeom prst="roundRect">
            <a:avLst>
              <a:gd name="adj" fmla="val 466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003818780" name="Shape 21"/>
          <p:cNvSpPr/>
          <p:nvPr/>
        </p:nvSpPr>
        <p:spPr bwMode="auto">
          <a:xfrm>
            <a:off x="777240" y="5029200"/>
            <a:ext cx="640080" cy="64008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088345396" name="Image 4" descr="preencoded.png"/>
          <p:cNvPicPr>
            <a:picLocks noChangeAspect="1"/>
          </p:cNvPicPr>
          <p:nvPr/>
        </p:nvPicPr>
        <p:blipFill rotWithShape="1">
          <a:blip r:embed="rId7"/>
          <a:stretch/>
        </p:blipFill>
        <p:spPr bwMode="auto">
          <a:xfrm>
            <a:off x="1014984" y="5266944"/>
            <a:ext cx="164592" cy="164592"/>
          </a:xfrm>
          <a:prstGeom prst="rect">
            <a:avLst/>
          </a:prstGeom>
        </p:spPr>
      </p:pic>
      <p:sp>
        <p:nvSpPr>
          <p:cNvPr id="1856974220" name="Text 22"/>
          <p:cNvSpPr/>
          <p:nvPr/>
        </p:nvSpPr>
        <p:spPr bwMode="auto">
          <a:xfrm>
            <a:off x="4892039" y="4773168"/>
            <a:ext cx="822960" cy="457200"/>
          </a:xfrm>
          <a:prstGeom prst="rect">
            <a:avLst/>
          </a:prstGeom>
          <a:noFill/>
          <a:ln/>
        </p:spPr>
        <p:txBody>
          <a:bodyPr wrap="square" lIns="0" tIns="0" rIns="0" bIns="0" rtlCol="0" anchor="ctr"/>
          <a:lstStyle/>
          <a:p>
            <a:pPr marL="0" indent="0" algn="r">
              <a:buNone/>
              <a:defRPr/>
            </a:pPr>
            <a:r>
              <a:rPr lang="en-US" sz="2200" b="1">
                <a:solidFill>
                  <a:srgbClr val="E3E3E3"/>
                </a:solidFill>
                <a:latin typeface="IBM Plex Serif"/>
                <a:ea typeface="IBM Plex Serif"/>
                <a:cs typeface="IBM Plex Serif"/>
              </a:rPr>
              <a:t>05</a:t>
            </a:r>
            <a:endParaRPr sz="2200">
              <a:latin typeface="IBM Plex Serif"/>
              <a:cs typeface="IBM Plex Serif"/>
            </a:endParaRPr>
          </a:p>
        </p:txBody>
      </p:sp>
      <p:sp>
        <p:nvSpPr>
          <p:cNvPr id="362402259" name="Text 23"/>
          <p:cNvSpPr/>
          <p:nvPr/>
        </p:nvSpPr>
        <p:spPr bwMode="auto">
          <a:xfrm>
            <a:off x="1600200" y="4663440"/>
            <a:ext cx="4069080" cy="1371600"/>
          </a:xfrm>
          <a:prstGeom prst="rect">
            <a:avLst/>
          </a:prstGeom>
          <a:noFill/>
          <a:ln/>
        </p:spPr>
        <p:txBody>
          <a:bodyPr wrap="square" lIns="0" tIns="0" rIns="0" bIns="0" rtlCol="0" anchor="ctr"/>
          <a:lstStyle/>
          <a:p>
            <a:pPr marL="0" indent="0">
              <a:buNone/>
              <a:defRPr/>
            </a:pPr>
            <a:r>
              <a:rPr lang="en-US" sz="1550" b="1">
                <a:solidFill>
                  <a:srgbClr val="171717"/>
                </a:solidFill>
                <a:latin typeface="IBM Plex Serif"/>
                <a:ea typeface="IBM Plex Serif"/>
                <a:cs typeface="IBM Plex Serif"/>
              </a:rPr>
              <a:t>Xây dựng &amp; so sánh mô hình</a:t>
            </a:r>
            <a:endParaRPr sz="1550">
              <a:latin typeface="IBM Plex Serif"/>
              <a:cs typeface="IBM Plex Serif"/>
            </a:endParaRPr>
          </a:p>
        </p:txBody>
      </p:sp>
      <p:sp>
        <p:nvSpPr>
          <p:cNvPr id="409874166" name="Shape 24"/>
          <p:cNvSpPr/>
          <p:nvPr/>
        </p:nvSpPr>
        <p:spPr bwMode="auto">
          <a:xfrm>
            <a:off x="6172200" y="4663440"/>
            <a:ext cx="5349240" cy="1371600"/>
          </a:xfrm>
          <a:prstGeom prst="roundRect">
            <a:avLst>
              <a:gd name="adj" fmla="val 466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974576380" name="Shape 25"/>
          <p:cNvSpPr/>
          <p:nvPr/>
        </p:nvSpPr>
        <p:spPr bwMode="auto">
          <a:xfrm>
            <a:off x="6400800" y="5029200"/>
            <a:ext cx="640080" cy="64008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721951031" name="Image 5" descr="preencoded.png"/>
          <p:cNvPicPr>
            <a:picLocks noChangeAspect="1"/>
          </p:cNvPicPr>
          <p:nvPr/>
        </p:nvPicPr>
        <p:blipFill rotWithShape="1">
          <a:blip r:embed="rId8"/>
          <a:stretch/>
        </p:blipFill>
        <p:spPr bwMode="auto">
          <a:xfrm>
            <a:off x="6638544" y="5266944"/>
            <a:ext cx="164592" cy="164592"/>
          </a:xfrm>
          <a:prstGeom prst="rect">
            <a:avLst/>
          </a:prstGeom>
        </p:spPr>
      </p:pic>
      <p:sp>
        <p:nvSpPr>
          <p:cNvPr id="425363578" name="Text 26"/>
          <p:cNvSpPr/>
          <p:nvPr/>
        </p:nvSpPr>
        <p:spPr bwMode="auto">
          <a:xfrm>
            <a:off x="10515600" y="4773168"/>
            <a:ext cx="822960" cy="457200"/>
          </a:xfrm>
          <a:prstGeom prst="rect">
            <a:avLst/>
          </a:prstGeom>
          <a:noFill/>
          <a:ln/>
        </p:spPr>
        <p:txBody>
          <a:bodyPr wrap="square" lIns="0" tIns="0" rIns="0" bIns="0" rtlCol="0" anchor="ctr"/>
          <a:lstStyle/>
          <a:p>
            <a:pPr marL="0" indent="0" algn="r">
              <a:buNone/>
              <a:defRPr/>
            </a:pPr>
            <a:r>
              <a:rPr lang="en-US" sz="2200" b="1">
                <a:solidFill>
                  <a:srgbClr val="E3E3E3"/>
                </a:solidFill>
                <a:latin typeface="IBM Plex Serif"/>
                <a:ea typeface="IBM Plex Serif"/>
                <a:cs typeface="IBM Plex Serif"/>
              </a:rPr>
              <a:t>06</a:t>
            </a:r>
            <a:endParaRPr sz="2200">
              <a:latin typeface="IBM Plex Serif"/>
              <a:cs typeface="IBM Plex Serif"/>
            </a:endParaRPr>
          </a:p>
        </p:txBody>
      </p:sp>
      <p:sp>
        <p:nvSpPr>
          <p:cNvPr id="1306869203" name="Text 27"/>
          <p:cNvSpPr/>
          <p:nvPr/>
        </p:nvSpPr>
        <p:spPr bwMode="auto">
          <a:xfrm>
            <a:off x="7223760" y="4663440"/>
            <a:ext cx="4069080" cy="1371600"/>
          </a:xfrm>
          <a:prstGeom prst="rect">
            <a:avLst/>
          </a:prstGeom>
          <a:noFill/>
          <a:ln/>
        </p:spPr>
        <p:txBody>
          <a:bodyPr wrap="square" lIns="0" tIns="0" rIns="0" bIns="0" rtlCol="0" anchor="ctr"/>
          <a:lstStyle/>
          <a:p>
            <a:pPr marL="0" indent="0">
              <a:buNone/>
              <a:defRPr/>
            </a:pPr>
            <a:r>
              <a:rPr lang="en-US" sz="1550" b="1">
                <a:solidFill>
                  <a:srgbClr val="171717"/>
                </a:solidFill>
                <a:latin typeface="IBM Plex Serif"/>
                <a:ea typeface="IBM Plex Serif"/>
                <a:cs typeface="IBM Plex Serif"/>
              </a:rPr>
              <a:t>Kết luận &amp; Đề xuất</a:t>
            </a:r>
            <a:endParaRPr sz="1550">
              <a:latin typeface="IBM Plex Serif"/>
              <a:cs typeface="IBM Plex Serif"/>
            </a:endParaRPr>
          </a:p>
        </p:txBody>
      </p:sp>
      <p:sp>
        <p:nvSpPr>
          <p:cNvPr id="50694477" name="Text 28"/>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43679778" name="Text 29"/>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02</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534010340"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01 · PROBLEM &amp; DATASET</a:t>
            </a:r>
            <a:endParaRPr sz="1250">
              <a:latin typeface="IBM Plex Serif"/>
              <a:cs typeface="IBM Plex Serif"/>
            </a:endParaRPr>
          </a:p>
        </p:txBody>
      </p:sp>
      <p:sp>
        <p:nvSpPr>
          <p:cNvPr id="188398294"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Bài toán đặt ra</a:t>
            </a:r>
            <a:endParaRPr sz="3000">
              <a:latin typeface="IBM Plex Serif"/>
              <a:cs typeface="IBM Plex Serif"/>
            </a:endParaRPr>
          </a:p>
        </p:txBody>
      </p:sp>
      <p:sp>
        <p:nvSpPr>
          <p:cNvPr id="494711334"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269616567"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03</a:t>
            </a:r>
            <a:endParaRPr sz="900">
              <a:latin typeface="IBM Plex Serif"/>
              <a:cs typeface="IBM Plex Serif"/>
            </a:endParaRPr>
          </a:p>
        </p:txBody>
      </p:sp>
      <p:sp>
        <p:nvSpPr>
          <p:cNvPr id="531997187" name="Text 4"/>
          <p:cNvSpPr/>
          <p:nvPr/>
        </p:nvSpPr>
        <p:spPr bwMode="auto">
          <a:xfrm>
            <a:off x="548640" y="1371600"/>
            <a:ext cx="6400800" cy="1188720"/>
          </a:xfrm>
          <a:prstGeom prst="rect">
            <a:avLst/>
          </a:prstGeom>
          <a:noFill/>
          <a:ln/>
        </p:spPr>
        <p:txBody>
          <a:bodyPr wrap="square" lIns="0" tIns="0" rIns="0" bIns="0" rtlCol="0" anchor="t"/>
          <a:lstStyle/>
          <a:p>
            <a:pPr marL="0" indent="0">
              <a:buNone/>
              <a:defRPr/>
            </a:pPr>
            <a:r>
              <a:rPr lang="en-US" sz="1550">
                <a:solidFill>
                  <a:srgbClr val="171717"/>
                </a:solidFill>
                <a:latin typeface="IBM Plex Serif"/>
                <a:ea typeface="IBM Plex Serif"/>
                <a:cs typeface="IBM Plex Serif"/>
              </a:rPr>
              <a:t>Bệnh tim là một trong những nguyên nhân gây tử vong hàng đầu trên thế giới. Việc phát hiện sớm các nhóm nguy cơ cao thông qua dữ liệu khảo sát sức khỏe có thể hỗ trợ sàng lọc và can thiệp kịp thời.</a:t>
            </a:r>
            <a:endParaRPr sz="1550">
              <a:latin typeface="IBM Plex Serif"/>
              <a:cs typeface="IBM Plex Serif"/>
            </a:endParaRPr>
          </a:p>
        </p:txBody>
      </p:sp>
      <p:sp>
        <p:nvSpPr>
          <p:cNvPr id="567875961" name="Text 5"/>
          <p:cNvSpPr/>
          <p:nvPr/>
        </p:nvSpPr>
        <p:spPr bwMode="auto">
          <a:xfrm>
            <a:off x="548640" y="2697480"/>
            <a:ext cx="6400800" cy="3291840"/>
          </a:xfrm>
          <a:prstGeom prst="rect">
            <a:avLst/>
          </a:prstGeom>
          <a:noFill/>
          <a:ln/>
        </p:spPr>
        <p:txBody>
          <a:bodyPr wrap="square" lIns="0" tIns="0" rIns="0" bIns="0" rtlCol="0" anchor="t"/>
          <a:lstStyle/>
          <a:p>
            <a:pPr marL="177800" indent="-177800">
              <a:spcAft>
                <a:spcPts val="1400"/>
              </a:spcAft>
              <a:buSzPct val="100000"/>
              <a:buChar char="•"/>
              <a:defRPr/>
            </a:pPr>
            <a:r>
              <a:rPr lang="en-US" sz="1400">
                <a:solidFill>
                  <a:srgbClr val="171717"/>
                </a:solidFill>
                <a:latin typeface="IBM Plex Serif"/>
                <a:ea typeface="IBM Plex Serif"/>
                <a:cs typeface="IBM Plex Serif"/>
              </a:rPr>
              <a:t>Mục tiêu: dự đoán khả năng một cá nhân mắc bệnh tim (HeartDisease) dựa trên các chỉ số sức khỏe &amp; hành vi.</a:t>
            </a:r>
            <a:endParaRPr sz="1400">
              <a:latin typeface="IBM Plex Serif"/>
              <a:cs typeface="IBM Plex Serif"/>
            </a:endParaRPr>
          </a:p>
          <a:p>
            <a:pPr marL="177800" indent="-177800">
              <a:spcAft>
                <a:spcPts val="1400"/>
              </a:spcAft>
              <a:buSzPct val="100000"/>
              <a:buChar char="•"/>
              <a:defRPr/>
            </a:pPr>
            <a:r>
              <a:rPr lang="en-US" sz="1400">
                <a:solidFill>
                  <a:srgbClr val="171717"/>
                </a:solidFill>
                <a:latin typeface="IBM Plex Serif"/>
                <a:ea typeface="IBM Plex Serif"/>
                <a:cs typeface="IBM Plex Serif"/>
              </a:rPr>
              <a:t>Biến mục tiêu: HeartDisease — nhị phân (Yes / No), được map sang (1/0) ngay trước khi chia train/test.</a:t>
            </a:r>
            <a:endParaRPr sz="1400">
              <a:latin typeface="IBM Plex Serif"/>
              <a:cs typeface="IBM Plex Serif"/>
            </a:endParaRPr>
          </a:p>
          <a:p>
            <a:pPr marL="177800" indent="-177800">
              <a:spcAft>
                <a:spcPts val="1400"/>
              </a:spcAft>
              <a:buSzPct val="100000"/>
              <a:buChar char="•"/>
              <a:defRPr/>
            </a:pPr>
            <a:r>
              <a:rPr lang="en-US" sz="1400">
                <a:solidFill>
                  <a:srgbClr val="171717"/>
                </a:solidFill>
                <a:latin typeface="IBM Plex Serif"/>
                <a:ea typeface="IBM Plex Serif"/>
                <a:cs typeface="IBM Plex Serif"/>
              </a:rPr>
              <a:t>Thử thách chính: dữ liệu mất cân bằng lớp nghiêm trọng — nhóm mắc bệnh chỉ chiếm thiểu số (~10.6%).</a:t>
            </a:r>
            <a:endParaRPr sz="1400">
              <a:latin typeface="IBM Plex Serif"/>
              <a:cs typeface="IBM Plex Serif"/>
            </a:endParaRPr>
          </a:p>
          <a:p>
            <a:pPr marL="177800" indent="-177800">
              <a:spcAft>
                <a:spcPts val="1400"/>
              </a:spcAft>
              <a:buSzPct val="100000"/>
              <a:buChar char="•"/>
              <a:defRPr/>
            </a:pPr>
            <a:r>
              <a:rPr lang="en-US" sz="1400">
                <a:solidFill>
                  <a:srgbClr val="171717"/>
                </a:solidFill>
                <a:latin typeface="IBM Plex Serif"/>
                <a:ea typeface="IBM Plex Serif"/>
                <a:cs typeface="IBM Plex Serif"/>
              </a:rPr>
              <a:t>Yêu cầu phương pháp: toàn bộ bước tiền xử lý phải tránh data leakage giữa train và test.</a:t>
            </a:r>
            <a:endParaRPr sz="1400">
              <a:latin typeface="IBM Plex Serif"/>
              <a:cs typeface="IBM Plex Serif"/>
            </a:endParaRPr>
          </a:p>
        </p:txBody>
      </p:sp>
      <p:sp>
        <p:nvSpPr>
          <p:cNvPr id="1529389033" name="Shape 6"/>
          <p:cNvSpPr/>
          <p:nvPr/>
        </p:nvSpPr>
        <p:spPr bwMode="auto">
          <a:xfrm>
            <a:off x="7269480" y="1371600"/>
            <a:ext cx="4370832" cy="4572000"/>
          </a:xfrm>
          <a:prstGeom prst="roundRect">
            <a:avLst>
              <a:gd name="adj" fmla="val 1464"/>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690511212" name="Shape 7"/>
          <p:cNvSpPr/>
          <p:nvPr/>
        </p:nvSpPr>
        <p:spPr bwMode="auto">
          <a:xfrm>
            <a:off x="7543800" y="1645920"/>
            <a:ext cx="731520" cy="73152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818128958" name="Image 0" descr="preencoded.png"/>
          <p:cNvPicPr>
            <a:picLocks noChangeAspect="1"/>
          </p:cNvPicPr>
          <p:nvPr/>
        </p:nvPicPr>
        <p:blipFill rotWithShape="1">
          <a:blip r:embed="rId3"/>
          <a:stretch/>
        </p:blipFill>
        <p:spPr bwMode="auto">
          <a:xfrm>
            <a:off x="7781544" y="1883664"/>
            <a:ext cx="256032" cy="256032"/>
          </a:xfrm>
          <a:prstGeom prst="rect">
            <a:avLst/>
          </a:prstGeom>
        </p:spPr>
      </p:pic>
      <p:sp>
        <p:nvSpPr>
          <p:cNvPr id="1596975671" name="Text 8"/>
          <p:cNvSpPr/>
          <p:nvPr/>
        </p:nvSpPr>
        <p:spPr bwMode="auto">
          <a:xfrm>
            <a:off x="8458200" y="1755648"/>
            <a:ext cx="2926080" cy="502920"/>
          </a:xfrm>
          <a:prstGeom prst="rect">
            <a:avLst/>
          </a:prstGeom>
          <a:noFill/>
          <a:ln/>
        </p:spPr>
        <p:txBody>
          <a:bodyPr wrap="square" lIns="0" tIns="0" rIns="0" bIns="0" rtlCol="0" anchor="ctr"/>
          <a:lstStyle/>
          <a:p>
            <a:pPr marL="0" indent="0">
              <a:buNone/>
              <a:defRPr/>
            </a:pPr>
            <a:r>
              <a:rPr lang="en-US" sz="1700" b="1">
                <a:solidFill>
                  <a:srgbClr val="171717"/>
                </a:solidFill>
                <a:latin typeface="IBM Plex Serif"/>
                <a:ea typeface="IBM Plex Serif"/>
                <a:cs typeface="IBM Plex Serif"/>
              </a:rPr>
              <a:t>Bài toán phân loại</a:t>
            </a:r>
            <a:endParaRPr sz="1700">
              <a:latin typeface="IBM Plex Serif"/>
              <a:cs typeface="IBM Plex Serif"/>
            </a:endParaRPr>
          </a:p>
        </p:txBody>
      </p:sp>
      <p:sp>
        <p:nvSpPr>
          <p:cNvPr id="984790871" name="Text 9"/>
          <p:cNvSpPr/>
          <p:nvPr/>
        </p:nvSpPr>
        <p:spPr bwMode="auto">
          <a:xfrm>
            <a:off x="7543800" y="2514600"/>
            <a:ext cx="3840480" cy="1554480"/>
          </a:xfrm>
          <a:prstGeom prst="rect">
            <a:avLst/>
          </a:prstGeom>
          <a:noFill/>
          <a:ln/>
        </p:spPr>
        <p:txBody>
          <a:bodyPr wrap="square" lIns="0" tIns="0" rIns="0" bIns="0" rtlCol="0" anchor="t"/>
          <a:lstStyle/>
          <a:p>
            <a:pPr marL="0" indent="0">
              <a:lnSpc>
                <a:spcPct val="150000"/>
              </a:lnSpc>
              <a:buNone/>
              <a:defRPr/>
            </a:pPr>
            <a:r>
              <a:rPr lang="en-US" sz="1350" b="1">
                <a:solidFill>
                  <a:srgbClr val="171717"/>
                </a:solidFill>
                <a:latin typeface="IBM Plex Serif"/>
                <a:ea typeface="IBM Plex Serif"/>
                <a:cs typeface="IBM Plex Serif"/>
              </a:rPr>
              <a:t>Loại bài toán:  </a:t>
            </a:r>
            <a:r>
              <a:rPr lang="en-US" sz="1350" b="1">
                <a:solidFill>
                  <a:srgbClr val="A6192E"/>
                </a:solidFill>
                <a:latin typeface="IBM Plex Serif"/>
                <a:ea typeface="IBM Plex Serif"/>
                <a:cs typeface="IBM Plex Serif"/>
              </a:rPr>
              <a:t>Binary Classification</a:t>
            </a:r>
            <a:endParaRPr sz="1350">
              <a:latin typeface="IBM Plex Serif"/>
              <a:cs typeface="IBM Plex Serif"/>
            </a:endParaRPr>
          </a:p>
          <a:p>
            <a:pPr marL="0" indent="0">
              <a:lnSpc>
                <a:spcPct val="150000"/>
              </a:lnSpc>
              <a:buNone/>
              <a:defRPr/>
            </a:pPr>
            <a:r>
              <a:rPr lang="en-US" sz="1350" b="1">
                <a:solidFill>
                  <a:srgbClr val="171717"/>
                </a:solidFill>
                <a:latin typeface="IBM Plex Serif"/>
                <a:ea typeface="IBM Plex Serif"/>
                <a:cs typeface="IBM Plex Serif"/>
              </a:rPr>
              <a:t>Target:  </a:t>
            </a:r>
            <a:r>
              <a:rPr lang="en-US" sz="1350" b="1">
                <a:solidFill>
                  <a:srgbClr val="A6192E"/>
                </a:solidFill>
                <a:latin typeface="IBM Plex Serif"/>
                <a:ea typeface="IBM Plex Serif"/>
                <a:cs typeface="IBM Plex Serif"/>
              </a:rPr>
              <a:t>HeartDisease (0/1)</a:t>
            </a:r>
            <a:endParaRPr sz="1350">
              <a:latin typeface="IBM Plex Serif"/>
              <a:cs typeface="IBM Plex Serif"/>
            </a:endParaRPr>
          </a:p>
          <a:p>
            <a:pPr marL="0" indent="0">
              <a:lnSpc>
                <a:spcPct val="150000"/>
              </a:lnSpc>
              <a:buNone/>
              <a:defRPr/>
            </a:pPr>
            <a:r>
              <a:rPr lang="en-US" sz="1350" b="1">
                <a:solidFill>
                  <a:srgbClr val="171717"/>
                </a:solidFill>
                <a:latin typeface="IBM Plex Serif"/>
                <a:ea typeface="IBM Plex Serif"/>
                <a:cs typeface="IBM Plex Serif"/>
              </a:rPr>
              <a:t>Mô hình áp dụng:  </a:t>
            </a:r>
            <a:r>
              <a:rPr lang="en-US" sz="1350" b="1">
                <a:solidFill>
                  <a:srgbClr val="A6192E"/>
                </a:solidFill>
                <a:latin typeface="IBM Plex Serif"/>
                <a:ea typeface="IBM Plex Serif"/>
                <a:cs typeface="IBM Plex Serif"/>
              </a:rPr>
              <a:t>Random Forest, Logistic Regression</a:t>
            </a:r>
            <a:endParaRPr sz="1350">
              <a:latin typeface="IBM Plex Serif"/>
              <a:cs typeface="IBM Plex Serif"/>
            </a:endParaRPr>
          </a:p>
        </p:txBody>
      </p:sp>
      <p:sp>
        <p:nvSpPr>
          <p:cNvPr id="19169335" name="Shape 10"/>
          <p:cNvSpPr/>
          <p:nvPr/>
        </p:nvSpPr>
        <p:spPr bwMode="auto">
          <a:xfrm>
            <a:off x="7543800" y="4160519"/>
            <a:ext cx="3822192" cy="0"/>
          </a:xfrm>
          <a:prstGeom prst="line">
            <a:avLst/>
          </a:prstGeom>
          <a:noFill/>
          <a:ln w="12700">
            <a:solidFill>
              <a:srgbClr val="E3E3E3"/>
            </a:solidFill>
            <a:prstDash val="solid"/>
          </a:ln>
        </p:spPr>
      </p:sp>
      <p:sp>
        <p:nvSpPr>
          <p:cNvPr id="913969777" name="Text 11"/>
          <p:cNvSpPr/>
          <p:nvPr/>
        </p:nvSpPr>
        <p:spPr bwMode="auto">
          <a:xfrm>
            <a:off x="7543800" y="4297680"/>
            <a:ext cx="3840480" cy="1463040"/>
          </a:xfrm>
          <a:prstGeom prst="rect">
            <a:avLst/>
          </a:prstGeom>
          <a:noFill/>
          <a:ln/>
        </p:spPr>
        <p:txBody>
          <a:bodyPr wrap="square" lIns="0" tIns="0" rIns="0" bIns="0" rtlCol="0" anchor="t"/>
          <a:lstStyle/>
          <a:p>
            <a:pPr marL="0" indent="0">
              <a:buNone/>
              <a:defRPr/>
            </a:pPr>
            <a:r>
              <a:rPr lang="en-US" sz="1300" i="1">
                <a:solidFill>
                  <a:srgbClr val="6E6E6E"/>
                </a:solidFill>
                <a:latin typeface="IBM Plex Serif"/>
                <a:ea typeface="IBM Plex Serif"/>
                <a:cs typeface="IBM Plex Serif"/>
              </a:rPr>
              <a:t>Nguyên tắc xuyên suốt: mọi thống kê học từ dữ liệu (mode, encoder, imputer, scaler, ngưỡng outlier, hệ số tương quan) chỉ được fit trên train.</a:t>
            </a:r>
            <a:endParaRPr sz="1300">
              <a:latin typeface="IBM Plex Serif"/>
              <a:cs typeface="IBM Plex Serif"/>
            </a:endParaRPr>
          </a:p>
        </p:txBody>
      </p:sp>
      <p:sp>
        <p:nvSpPr>
          <p:cNvPr id="2068369741" name="Text 1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81798206" name="Text 1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03</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1406173183"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01 · PROBLEM &amp; DATASET</a:t>
            </a:r>
            <a:endParaRPr sz="1250">
              <a:latin typeface="IBM Plex Serif"/>
              <a:cs typeface="IBM Plex Serif"/>
            </a:endParaRPr>
          </a:p>
        </p:txBody>
      </p:sp>
      <p:sp>
        <p:nvSpPr>
          <p:cNvPr id="396534197"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Giới thiệu bộ dữ liệu</a:t>
            </a:r>
            <a:endParaRPr sz="3000">
              <a:latin typeface="IBM Plex Serif"/>
              <a:cs typeface="IBM Plex Serif"/>
            </a:endParaRPr>
          </a:p>
        </p:txBody>
      </p:sp>
      <p:sp>
        <p:nvSpPr>
          <p:cNvPr id="293542387"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539984722"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04</a:t>
            </a:r>
            <a:endParaRPr sz="900">
              <a:latin typeface="IBM Plex Serif"/>
              <a:cs typeface="IBM Plex Serif"/>
            </a:endParaRPr>
          </a:p>
        </p:txBody>
      </p:sp>
      <p:sp>
        <p:nvSpPr>
          <p:cNvPr id="757734191" name="Shape 4"/>
          <p:cNvSpPr/>
          <p:nvPr/>
        </p:nvSpPr>
        <p:spPr bwMode="auto">
          <a:xfrm>
            <a:off x="548640" y="1371600"/>
            <a:ext cx="2606040" cy="1325880"/>
          </a:xfrm>
          <a:prstGeom prst="roundRect">
            <a:avLst>
              <a:gd name="adj" fmla="val 4828"/>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756346907" name="Text 5"/>
          <p:cNvSpPr/>
          <p:nvPr/>
        </p:nvSpPr>
        <p:spPr bwMode="auto">
          <a:xfrm>
            <a:off x="713232" y="1481328"/>
            <a:ext cx="2276856" cy="758952"/>
          </a:xfrm>
          <a:prstGeom prst="rect">
            <a:avLst/>
          </a:prstGeom>
          <a:noFill/>
          <a:ln/>
        </p:spPr>
        <p:txBody>
          <a:bodyPr wrap="square" lIns="0" tIns="0" rIns="0" bIns="0" rtlCol="0" anchor="b"/>
          <a:lstStyle/>
          <a:p>
            <a:pPr marL="0" indent="0" algn="ctr">
              <a:buNone/>
              <a:defRPr/>
            </a:pPr>
            <a:r>
              <a:rPr lang="en-US" sz="3200" b="1">
                <a:solidFill>
                  <a:srgbClr val="A6192E"/>
                </a:solidFill>
                <a:latin typeface="IBM Plex Serif"/>
                <a:ea typeface="IBM Plex Serif"/>
                <a:cs typeface="IBM Plex Serif"/>
              </a:rPr>
              <a:t>4,950</a:t>
            </a:r>
            <a:endParaRPr sz="3200">
              <a:latin typeface="IBM Plex Serif"/>
              <a:cs typeface="IBM Plex Serif"/>
            </a:endParaRPr>
          </a:p>
        </p:txBody>
      </p:sp>
      <p:sp>
        <p:nvSpPr>
          <p:cNvPr id="1801735943" name="Text 6"/>
          <p:cNvSpPr/>
          <p:nvPr/>
        </p:nvSpPr>
        <p:spPr bwMode="auto">
          <a:xfrm>
            <a:off x="658368" y="2276856"/>
            <a:ext cx="2386584" cy="365760"/>
          </a:xfrm>
          <a:prstGeom prst="rect">
            <a:avLst/>
          </a:prstGeom>
          <a:noFill/>
          <a:ln/>
        </p:spPr>
        <p:txBody>
          <a:bodyPr wrap="square" lIns="0" tIns="0" rIns="0" bIns="0" rtlCol="0" anchor="t"/>
          <a:lstStyle/>
          <a:p>
            <a:pPr marL="0" indent="0" algn="ctr">
              <a:buNone/>
              <a:defRPr/>
            </a:pPr>
            <a:r>
              <a:rPr lang="en-US" sz="1100">
                <a:solidFill>
                  <a:srgbClr val="6E6E6E"/>
                </a:solidFill>
                <a:latin typeface="IBM Plex Serif"/>
                <a:ea typeface="IBM Plex Serif"/>
                <a:cs typeface="IBM Plex Serif"/>
              </a:rPr>
              <a:t>Bản ghi sau làm sạch</a:t>
            </a:r>
            <a:endParaRPr sz="1100">
              <a:latin typeface="IBM Plex Serif"/>
              <a:cs typeface="IBM Plex Serif"/>
            </a:endParaRPr>
          </a:p>
        </p:txBody>
      </p:sp>
      <p:sp>
        <p:nvSpPr>
          <p:cNvPr id="1492644549" name="Shape 7"/>
          <p:cNvSpPr/>
          <p:nvPr/>
        </p:nvSpPr>
        <p:spPr bwMode="auto">
          <a:xfrm>
            <a:off x="3355848" y="1371600"/>
            <a:ext cx="2606040" cy="1325880"/>
          </a:xfrm>
          <a:prstGeom prst="roundRect">
            <a:avLst>
              <a:gd name="adj" fmla="val 4828"/>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316426562" name="Text 8"/>
          <p:cNvSpPr/>
          <p:nvPr/>
        </p:nvSpPr>
        <p:spPr bwMode="auto">
          <a:xfrm>
            <a:off x="3520440" y="1481328"/>
            <a:ext cx="2276856" cy="758952"/>
          </a:xfrm>
          <a:prstGeom prst="rect">
            <a:avLst/>
          </a:prstGeom>
          <a:noFill/>
          <a:ln/>
        </p:spPr>
        <p:txBody>
          <a:bodyPr wrap="square" lIns="0" tIns="0" rIns="0" bIns="0" rtlCol="0" anchor="b"/>
          <a:lstStyle/>
          <a:p>
            <a:pPr marL="0" indent="0" algn="ctr">
              <a:buNone/>
              <a:defRPr/>
            </a:pPr>
            <a:r>
              <a:rPr lang="en-US" sz="3200" b="1">
                <a:solidFill>
                  <a:srgbClr val="A6192E"/>
                </a:solidFill>
                <a:latin typeface="IBM Plex Serif"/>
                <a:ea typeface="IBM Plex Serif"/>
                <a:cs typeface="IBM Plex Serif"/>
              </a:rPr>
              <a:t>17</a:t>
            </a:r>
            <a:endParaRPr sz="3200">
              <a:latin typeface="IBM Plex Serif"/>
              <a:cs typeface="IBM Plex Serif"/>
            </a:endParaRPr>
          </a:p>
        </p:txBody>
      </p:sp>
      <p:sp>
        <p:nvSpPr>
          <p:cNvPr id="622831104" name="Text 9"/>
          <p:cNvSpPr/>
          <p:nvPr/>
        </p:nvSpPr>
        <p:spPr bwMode="auto">
          <a:xfrm>
            <a:off x="3465576" y="2276856"/>
            <a:ext cx="2386584" cy="365760"/>
          </a:xfrm>
          <a:prstGeom prst="rect">
            <a:avLst/>
          </a:prstGeom>
          <a:noFill/>
          <a:ln/>
        </p:spPr>
        <p:txBody>
          <a:bodyPr wrap="square" lIns="0" tIns="0" rIns="0" bIns="0" rtlCol="0" anchor="t"/>
          <a:lstStyle/>
          <a:p>
            <a:pPr marL="0" indent="0" algn="ctr">
              <a:buNone/>
              <a:defRPr/>
            </a:pPr>
            <a:r>
              <a:rPr lang="en-US" sz="1100">
                <a:solidFill>
                  <a:srgbClr val="6E6E6E"/>
                </a:solidFill>
                <a:latin typeface="IBM Plex Serif"/>
                <a:ea typeface="IBM Plex Serif"/>
                <a:cs typeface="IBM Plex Serif"/>
              </a:rPr>
              <a:t>Cột đặc trưng gốc</a:t>
            </a:r>
            <a:endParaRPr sz="1100">
              <a:latin typeface="IBM Plex Serif"/>
              <a:cs typeface="IBM Plex Serif"/>
            </a:endParaRPr>
          </a:p>
        </p:txBody>
      </p:sp>
      <p:sp>
        <p:nvSpPr>
          <p:cNvPr id="919541060" name="Shape 10"/>
          <p:cNvSpPr/>
          <p:nvPr/>
        </p:nvSpPr>
        <p:spPr bwMode="auto">
          <a:xfrm>
            <a:off x="6163056" y="1371600"/>
            <a:ext cx="2606040" cy="1325880"/>
          </a:xfrm>
          <a:prstGeom prst="roundRect">
            <a:avLst>
              <a:gd name="adj" fmla="val 4828"/>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486042469" name="Text 11"/>
          <p:cNvSpPr/>
          <p:nvPr/>
        </p:nvSpPr>
        <p:spPr bwMode="auto">
          <a:xfrm>
            <a:off x="6327648" y="1481328"/>
            <a:ext cx="2276856" cy="758952"/>
          </a:xfrm>
          <a:prstGeom prst="rect">
            <a:avLst/>
          </a:prstGeom>
          <a:noFill/>
          <a:ln/>
        </p:spPr>
        <p:txBody>
          <a:bodyPr wrap="square" lIns="0" tIns="0" rIns="0" bIns="0" rtlCol="0" anchor="b"/>
          <a:lstStyle/>
          <a:p>
            <a:pPr marL="0" indent="0" algn="ctr">
              <a:buNone/>
              <a:defRPr/>
            </a:pPr>
            <a:r>
              <a:rPr lang="en-US" sz="3200" b="1">
                <a:solidFill>
                  <a:srgbClr val="A6192E"/>
                </a:solidFill>
                <a:latin typeface="IBM Plex Serif"/>
                <a:ea typeface="IBM Plex Serif"/>
                <a:cs typeface="IBM Plex Serif"/>
              </a:rPr>
              <a:t>10.6%</a:t>
            </a:r>
            <a:endParaRPr sz="3200">
              <a:latin typeface="IBM Plex Serif"/>
              <a:cs typeface="IBM Plex Serif"/>
            </a:endParaRPr>
          </a:p>
        </p:txBody>
      </p:sp>
      <p:sp>
        <p:nvSpPr>
          <p:cNvPr id="2108669780" name="Text 12"/>
          <p:cNvSpPr/>
          <p:nvPr/>
        </p:nvSpPr>
        <p:spPr bwMode="auto">
          <a:xfrm>
            <a:off x="6272784" y="2276856"/>
            <a:ext cx="2386584" cy="365760"/>
          </a:xfrm>
          <a:prstGeom prst="rect">
            <a:avLst/>
          </a:prstGeom>
          <a:noFill/>
          <a:ln/>
        </p:spPr>
        <p:txBody>
          <a:bodyPr wrap="square" lIns="0" tIns="0" rIns="0" bIns="0" rtlCol="0" anchor="t"/>
          <a:lstStyle/>
          <a:p>
            <a:pPr marL="0" indent="0" algn="ctr">
              <a:buNone/>
              <a:defRPr/>
            </a:pPr>
            <a:r>
              <a:rPr lang="en-US" sz="1100">
                <a:solidFill>
                  <a:srgbClr val="6E6E6E"/>
                </a:solidFill>
                <a:latin typeface="IBM Plex Serif"/>
                <a:ea typeface="IBM Plex Serif"/>
                <a:cs typeface="IBM Plex Serif"/>
              </a:rPr>
              <a:t>Tỉ lệ mắc bệnh tim</a:t>
            </a:r>
            <a:endParaRPr sz="1100">
              <a:latin typeface="IBM Plex Serif"/>
              <a:cs typeface="IBM Plex Serif"/>
            </a:endParaRPr>
          </a:p>
        </p:txBody>
      </p:sp>
      <p:sp>
        <p:nvSpPr>
          <p:cNvPr id="771771814" name="Shape 13"/>
          <p:cNvSpPr/>
          <p:nvPr/>
        </p:nvSpPr>
        <p:spPr bwMode="auto">
          <a:xfrm>
            <a:off x="8970264" y="1371600"/>
            <a:ext cx="2606040" cy="1325880"/>
          </a:xfrm>
          <a:prstGeom prst="roundRect">
            <a:avLst>
              <a:gd name="adj" fmla="val 4828"/>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659385910" name="Text 14"/>
          <p:cNvSpPr/>
          <p:nvPr/>
        </p:nvSpPr>
        <p:spPr bwMode="auto">
          <a:xfrm>
            <a:off x="9134856" y="1481328"/>
            <a:ext cx="2276856" cy="758952"/>
          </a:xfrm>
          <a:prstGeom prst="rect">
            <a:avLst/>
          </a:prstGeom>
          <a:noFill/>
          <a:ln/>
        </p:spPr>
        <p:txBody>
          <a:bodyPr wrap="square" lIns="0" tIns="0" rIns="0" bIns="0" rtlCol="0" anchor="b"/>
          <a:lstStyle/>
          <a:p>
            <a:pPr marL="0" indent="0" algn="ctr">
              <a:buNone/>
              <a:defRPr/>
            </a:pPr>
            <a:r>
              <a:rPr lang="en-US" sz="3200" b="1">
                <a:solidFill>
                  <a:srgbClr val="A6192E"/>
                </a:solidFill>
                <a:latin typeface="IBM Plex Serif"/>
                <a:ea typeface="IBM Plex Serif"/>
                <a:cs typeface="IBM Plex Serif"/>
              </a:rPr>
              <a:t>4</a:t>
            </a:r>
            <a:endParaRPr sz="3200">
              <a:latin typeface="IBM Plex Serif"/>
              <a:cs typeface="IBM Plex Serif"/>
            </a:endParaRPr>
          </a:p>
        </p:txBody>
      </p:sp>
      <p:sp>
        <p:nvSpPr>
          <p:cNvPr id="140380725" name="Text 15"/>
          <p:cNvSpPr/>
          <p:nvPr/>
        </p:nvSpPr>
        <p:spPr bwMode="auto">
          <a:xfrm>
            <a:off x="9079992" y="2276856"/>
            <a:ext cx="2386584" cy="365760"/>
          </a:xfrm>
          <a:prstGeom prst="rect">
            <a:avLst/>
          </a:prstGeom>
          <a:noFill/>
          <a:ln/>
        </p:spPr>
        <p:txBody>
          <a:bodyPr wrap="square" lIns="0" tIns="0" rIns="0" bIns="0" rtlCol="0" anchor="t"/>
          <a:lstStyle/>
          <a:p>
            <a:pPr marL="0" indent="0" algn="ctr">
              <a:buNone/>
              <a:defRPr/>
            </a:pPr>
            <a:r>
              <a:rPr lang="en-US" sz="1100">
                <a:solidFill>
                  <a:srgbClr val="6E6E6E"/>
                </a:solidFill>
                <a:latin typeface="IBM Plex Serif"/>
                <a:ea typeface="IBM Plex Serif"/>
                <a:cs typeface="IBM Plex Serif"/>
              </a:rPr>
              <a:t>Biến số liên tục</a:t>
            </a:r>
            <a:endParaRPr sz="1100">
              <a:latin typeface="IBM Plex Serif"/>
              <a:cs typeface="IBM Plex Serif"/>
            </a:endParaRPr>
          </a:p>
        </p:txBody>
      </p:sp>
      <p:sp>
        <p:nvSpPr>
          <p:cNvPr id="281023635" name="Shape 16"/>
          <p:cNvSpPr/>
          <p:nvPr/>
        </p:nvSpPr>
        <p:spPr bwMode="auto">
          <a:xfrm>
            <a:off x="548640" y="2971800"/>
            <a:ext cx="6675120" cy="3063240"/>
          </a:xfrm>
          <a:prstGeom prst="roundRect">
            <a:avLst>
              <a:gd name="adj" fmla="val 2090"/>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015047687" name="Text 17"/>
          <p:cNvSpPr/>
          <p:nvPr/>
        </p:nvSpPr>
        <p:spPr bwMode="auto">
          <a:xfrm>
            <a:off x="804672" y="3154680"/>
            <a:ext cx="4572000" cy="32004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Nhóm thuộc tính chính</a:t>
            </a:r>
            <a:endParaRPr sz="1500">
              <a:latin typeface="IBM Plex Serif"/>
              <a:cs typeface="IBM Plex Serif"/>
            </a:endParaRPr>
          </a:p>
        </p:txBody>
      </p:sp>
      <p:sp>
        <p:nvSpPr>
          <p:cNvPr id="180907122" name="Text 18"/>
          <p:cNvSpPr/>
          <p:nvPr/>
        </p:nvSpPr>
        <p:spPr bwMode="auto">
          <a:xfrm>
            <a:off x="804672" y="3520440"/>
            <a:ext cx="6217920" cy="2377440"/>
          </a:xfrm>
          <a:prstGeom prst="rect">
            <a:avLst/>
          </a:prstGeom>
          <a:noFill/>
          <a:ln/>
        </p:spPr>
        <p:txBody>
          <a:bodyPr wrap="square" lIns="0" tIns="0" rIns="0" bIns="0" rtlCol="0" anchor="t"/>
          <a:lstStyle/>
          <a:p>
            <a:pPr marL="177800" indent="-177800">
              <a:spcAft>
                <a:spcPts val="800"/>
              </a:spcAft>
              <a:buSzPct val="100000"/>
              <a:buChar char="•"/>
              <a:defRPr/>
            </a:pPr>
            <a:r>
              <a:rPr lang="en-US" sz="1350">
                <a:solidFill>
                  <a:srgbClr val="171717"/>
                </a:solidFill>
                <a:latin typeface="IBM Plex Serif"/>
                <a:ea typeface="IBM Plex Serif"/>
                <a:cs typeface="IBM Plex Serif"/>
              </a:rPr>
              <a:t>Số liên tục: BMI, PhysicalHealth, MentalHealth, SleepTime</a:t>
            </a:r>
            <a:endParaRPr sz="1350">
              <a:latin typeface="IBM Plex Serif"/>
              <a:cs typeface="IBM Plex Serif"/>
            </a:endParaRPr>
          </a:p>
          <a:p>
            <a:pPr marL="177800" indent="-177800">
              <a:spcAft>
                <a:spcPts val="800"/>
              </a:spcAft>
              <a:buSzPct val="100000"/>
              <a:buChar char="•"/>
              <a:defRPr/>
            </a:pPr>
            <a:r>
              <a:rPr lang="en-US" sz="1350">
                <a:solidFill>
                  <a:srgbClr val="171717"/>
                </a:solidFill>
                <a:latin typeface="IBM Plex Serif"/>
                <a:ea typeface="IBM Plex Serif"/>
                <a:cs typeface="IBM Plex Serif"/>
              </a:rPr>
              <a:t>Hành vi/sức khỏe: Smoking, AlcoholDrinking, PhysicalActivity, DiffWalking</a:t>
            </a:r>
            <a:endParaRPr sz="1350">
              <a:latin typeface="IBM Plex Serif"/>
              <a:cs typeface="IBM Plex Serif"/>
            </a:endParaRPr>
          </a:p>
          <a:p>
            <a:pPr marL="177800" indent="-177800">
              <a:spcAft>
                <a:spcPts val="800"/>
              </a:spcAft>
              <a:buSzPct val="100000"/>
              <a:buChar char="•"/>
              <a:defRPr/>
            </a:pPr>
            <a:r>
              <a:rPr lang="en-US" sz="1350">
                <a:solidFill>
                  <a:srgbClr val="171717"/>
                </a:solidFill>
                <a:latin typeface="IBM Plex Serif"/>
                <a:ea typeface="IBM Plex Serif"/>
                <a:cs typeface="IBM Plex Serif"/>
              </a:rPr>
              <a:t>Tiền sử bệnh: Stroke, Diabetic, Asthma, KidneyDisease, SkinCancer, GenHealth</a:t>
            </a:r>
            <a:endParaRPr sz="1350">
              <a:latin typeface="IBM Plex Serif"/>
              <a:cs typeface="IBM Plex Serif"/>
            </a:endParaRPr>
          </a:p>
          <a:p>
            <a:pPr marL="177800" indent="-177800">
              <a:spcAft>
                <a:spcPts val="800"/>
              </a:spcAft>
              <a:buSzPct val="100000"/>
              <a:buChar char="•"/>
              <a:defRPr/>
            </a:pPr>
            <a:r>
              <a:rPr lang="en-US" sz="1350">
                <a:solidFill>
                  <a:srgbClr val="171717"/>
                </a:solidFill>
                <a:latin typeface="IBM Plex Serif"/>
                <a:ea typeface="IBM Plex Serif"/>
                <a:cs typeface="IBM Plex Serif"/>
              </a:rPr>
              <a:t>Nhân khẩu học: Sex, AgeCategory, Race</a:t>
            </a:r>
            <a:endParaRPr sz="1350">
              <a:latin typeface="IBM Plex Serif"/>
              <a:cs typeface="IBM Plex Serif"/>
            </a:endParaRPr>
          </a:p>
          <a:p>
            <a:pPr marL="177800" indent="-177800">
              <a:spcAft>
                <a:spcPts val="800"/>
              </a:spcAft>
              <a:buSzPct val="100000"/>
              <a:buChar char="•"/>
              <a:defRPr/>
            </a:pPr>
            <a:r>
              <a:rPr lang="en-US" sz="1350">
                <a:solidFill>
                  <a:srgbClr val="171717"/>
                </a:solidFill>
                <a:latin typeface="IBM Plex Serif"/>
                <a:ea typeface="IBM Plex Serif"/>
                <a:cs typeface="IBM Plex Serif"/>
              </a:rPr>
              <a:t>Mục tiêu: HeartDisease (Yes/No)</a:t>
            </a:r>
            <a:endParaRPr sz="1350">
              <a:latin typeface="IBM Plex Serif"/>
              <a:cs typeface="IBM Plex Serif"/>
            </a:endParaRPr>
          </a:p>
        </p:txBody>
      </p:sp>
      <p:sp>
        <p:nvSpPr>
          <p:cNvPr id="2111801298" name="Shape 19"/>
          <p:cNvSpPr/>
          <p:nvPr/>
        </p:nvSpPr>
        <p:spPr bwMode="auto">
          <a:xfrm>
            <a:off x="7406640" y="2971800"/>
            <a:ext cx="4233672" cy="3063240"/>
          </a:xfrm>
          <a:prstGeom prst="roundRect">
            <a:avLst>
              <a:gd name="adj" fmla="val 2090"/>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070243813" name="Shape 20"/>
          <p:cNvSpPr/>
          <p:nvPr/>
        </p:nvSpPr>
        <p:spPr bwMode="auto">
          <a:xfrm>
            <a:off x="7662672" y="3200400"/>
            <a:ext cx="594360" cy="59436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947657278" name="Image 0" descr="preencoded.png"/>
          <p:cNvPicPr>
            <a:picLocks noChangeAspect="1"/>
          </p:cNvPicPr>
          <p:nvPr/>
        </p:nvPicPr>
        <p:blipFill rotWithShape="1">
          <a:blip r:embed="rId3"/>
          <a:stretch/>
        </p:blipFill>
        <p:spPr bwMode="auto">
          <a:xfrm>
            <a:off x="7808976" y="3346704"/>
            <a:ext cx="301752" cy="301752"/>
          </a:xfrm>
          <a:prstGeom prst="rect">
            <a:avLst/>
          </a:prstGeom>
        </p:spPr>
      </p:pic>
      <p:sp>
        <p:nvSpPr>
          <p:cNvPr id="2080529468" name="Text 21"/>
          <p:cNvSpPr/>
          <p:nvPr/>
        </p:nvSpPr>
        <p:spPr bwMode="auto">
          <a:xfrm>
            <a:off x="8412480" y="3200400"/>
            <a:ext cx="3017519" cy="59436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Nguồn dữ liệu</a:t>
            </a:r>
            <a:endParaRPr sz="1500">
              <a:latin typeface="IBM Plex Serif"/>
              <a:cs typeface="IBM Plex Serif"/>
            </a:endParaRPr>
          </a:p>
        </p:txBody>
      </p:sp>
      <p:sp>
        <p:nvSpPr>
          <p:cNvPr id="186163645" name="Text 22"/>
          <p:cNvSpPr/>
          <p:nvPr/>
        </p:nvSpPr>
        <p:spPr bwMode="auto">
          <a:xfrm>
            <a:off x="7662672" y="3886200"/>
            <a:ext cx="3749040" cy="914400"/>
          </a:xfrm>
          <a:prstGeom prst="rect">
            <a:avLst/>
          </a:prstGeom>
          <a:noFill/>
          <a:ln/>
        </p:spPr>
        <p:txBody>
          <a:bodyPr wrap="square" lIns="0" tIns="0" rIns="0" bIns="0" rtlCol="0" anchor="t"/>
          <a:lstStyle/>
          <a:p>
            <a:pPr marL="0" indent="0">
              <a:buNone/>
              <a:defRPr/>
            </a:pPr>
            <a:r>
              <a:rPr lang="en-US" sz="1250">
                <a:solidFill>
                  <a:srgbClr val="6E6E6E"/>
                </a:solidFill>
                <a:latin typeface="IBM Plex Serif"/>
                <a:ea typeface="IBM Plex Serif"/>
                <a:cs typeface="IBM Plex Serif"/>
              </a:rPr>
              <a:t>heart_disease.csv — khảo sát chỉ số sức khỏe dạng BRFSS, kết hợp đặc trưng số và phân loại.</a:t>
            </a:r>
            <a:endParaRPr sz="1250">
              <a:latin typeface="IBM Plex Serif"/>
              <a:cs typeface="IBM Plex Serif"/>
            </a:endParaRPr>
          </a:p>
        </p:txBody>
      </p:sp>
      <p:sp>
        <p:nvSpPr>
          <p:cNvPr id="1851324580" name="Shape 23"/>
          <p:cNvSpPr/>
          <p:nvPr/>
        </p:nvSpPr>
        <p:spPr bwMode="auto">
          <a:xfrm>
            <a:off x="7662672" y="4754880"/>
            <a:ext cx="3749040" cy="0"/>
          </a:xfrm>
          <a:prstGeom prst="line">
            <a:avLst/>
          </a:prstGeom>
          <a:noFill/>
          <a:ln w="12700">
            <a:solidFill>
              <a:srgbClr val="E3E3E3"/>
            </a:solidFill>
            <a:prstDash val="solid"/>
          </a:ln>
        </p:spPr>
      </p:sp>
      <p:sp>
        <p:nvSpPr>
          <p:cNvPr id="283253403" name="Text 24"/>
          <p:cNvSpPr/>
          <p:nvPr/>
        </p:nvSpPr>
        <p:spPr bwMode="auto">
          <a:xfrm>
            <a:off x="7662672" y="4892039"/>
            <a:ext cx="3749040" cy="1005840"/>
          </a:xfrm>
          <a:prstGeom prst="rect">
            <a:avLst/>
          </a:prstGeom>
          <a:noFill/>
          <a:ln/>
        </p:spPr>
        <p:txBody>
          <a:bodyPr wrap="square" lIns="0" tIns="0" rIns="0" bIns="0" rtlCol="0" anchor="t"/>
          <a:lstStyle/>
          <a:p>
            <a:pPr marL="0" indent="0">
              <a:buNone/>
              <a:defRPr/>
            </a:pPr>
            <a:r>
              <a:rPr lang="en-US" sz="1250">
                <a:solidFill>
                  <a:srgbClr val="6E6E6E"/>
                </a:solidFill>
                <a:latin typeface="IBM Plex Serif"/>
                <a:ea typeface="IBM Plex Serif"/>
                <a:cs typeface="IBM Plex Serif"/>
              </a:rPr>
              <a:t>4,950 dòng được chia thành 3,960 train (80%) và 990 test (20%), giữ nguyên tỉ lệ lớp nhờ stratify=y.</a:t>
            </a:r>
            <a:endParaRPr sz="1250">
              <a:latin typeface="IBM Plex Serif"/>
              <a:cs typeface="IBM Plex Serif"/>
            </a:endParaRPr>
          </a:p>
        </p:txBody>
      </p:sp>
      <p:sp>
        <p:nvSpPr>
          <p:cNvPr id="849281821" name="Text 25"/>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792087339" name="Text 26"/>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04</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2044997869"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02 · PREPROCESSING</a:t>
            </a:r>
            <a:endParaRPr sz="1250">
              <a:latin typeface="IBM Plex Serif"/>
              <a:cs typeface="IBM Plex Serif"/>
            </a:endParaRPr>
          </a:p>
        </p:txBody>
      </p:sp>
      <p:sp>
        <p:nvSpPr>
          <p:cNvPr id="813575496"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Làm sạch dữ liệu &amp; Train/Test Split</a:t>
            </a:r>
            <a:endParaRPr sz="3000">
              <a:latin typeface="IBM Plex Serif"/>
              <a:cs typeface="IBM Plex Serif"/>
            </a:endParaRPr>
          </a:p>
        </p:txBody>
      </p:sp>
      <p:sp>
        <p:nvSpPr>
          <p:cNvPr id="119035689"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633076756"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05</a:t>
            </a:r>
            <a:endParaRPr sz="900">
              <a:latin typeface="IBM Plex Serif"/>
              <a:cs typeface="IBM Plex Serif"/>
            </a:endParaRPr>
          </a:p>
        </p:txBody>
      </p:sp>
      <p:sp>
        <p:nvSpPr>
          <p:cNvPr id="1856977207" name="Shape 4"/>
          <p:cNvSpPr/>
          <p:nvPr/>
        </p:nvSpPr>
        <p:spPr bwMode="auto">
          <a:xfrm>
            <a:off x="548640" y="1371600"/>
            <a:ext cx="6400800" cy="4572000"/>
          </a:xfrm>
          <a:prstGeom prst="roundRect">
            <a:avLst>
              <a:gd name="adj" fmla="val 1400"/>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752746792" name="Text 5"/>
          <p:cNvSpPr/>
          <p:nvPr/>
        </p:nvSpPr>
        <p:spPr bwMode="auto">
          <a:xfrm>
            <a:off x="804672" y="1572768"/>
            <a:ext cx="4572000" cy="32004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Thứ tự xử lý đúng</a:t>
            </a:r>
            <a:endParaRPr sz="1500">
              <a:latin typeface="IBM Plex Serif"/>
              <a:cs typeface="IBM Plex Serif"/>
            </a:endParaRPr>
          </a:p>
        </p:txBody>
      </p:sp>
      <p:sp>
        <p:nvSpPr>
          <p:cNvPr id="930296381" name="Text 6"/>
          <p:cNvSpPr/>
          <p:nvPr/>
        </p:nvSpPr>
        <p:spPr bwMode="auto">
          <a:xfrm>
            <a:off x="804672" y="2011680"/>
            <a:ext cx="502920" cy="1143000"/>
          </a:xfrm>
          <a:prstGeom prst="rect">
            <a:avLst/>
          </a:prstGeom>
          <a:noFill/>
          <a:ln/>
        </p:spPr>
        <p:txBody>
          <a:bodyPr wrap="square" lIns="0" tIns="0" rIns="0" bIns="0" rtlCol="0" anchor="t"/>
          <a:lstStyle/>
          <a:p>
            <a:pPr marL="0" indent="0">
              <a:buNone/>
              <a:defRPr/>
            </a:pPr>
            <a:r>
              <a:rPr lang="en-US" sz="2200" b="1">
                <a:solidFill>
                  <a:srgbClr val="A6192E"/>
                </a:solidFill>
                <a:latin typeface="IBM Plex Serif"/>
                <a:ea typeface="IBM Plex Serif"/>
                <a:cs typeface="IBM Plex Serif"/>
              </a:rPr>
              <a:t>1</a:t>
            </a:r>
            <a:endParaRPr sz="2200">
              <a:latin typeface="IBM Plex Serif"/>
              <a:cs typeface="IBM Plex Serif"/>
            </a:endParaRPr>
          </a:p>
        </p:txBody>
      </p:sp>
      <p:sp>
        <p:nvSpPr>
          <p:cNvPr id="1704532895" name="Text 7"/>
          <p:cNvSpPr/>
          <p:nvPr/>
        </p:nvSpPr>
        <p:spPr bwMode="auto">
          <a:xfrm>
            <a:off x="1371600" y="2011680"/>
            <a:ext cx="5394960" cy="1143000"/>
          </a:xfrm>
          <a:prstGeom prst="rect">
            <a:avLst/>
          </a:prstGeom>
          <a:noFill/>
          <a:ln/>
        </p:spPr>
        <p:txBody>
          <a:bodyPr wrap="square" lIns="0" tIns="0" rIns="0" bIns="0" rtlCol="0" anchor="t"/>
          <a:lstStyle/>
          <a:p>
            <a:pPr marL="0" indent="0">
              <a:lnSpc>
                <a:spcPct val="114999"/>
              </a:lnSpc>
              <a:buNone/>
              <a:defRPr/>
            </a:pPr>
            <a:r>
              <a:rPr lang="en-US" sz="1350" b="1">
                <a:solidFill>
                  <a:srgbClr val="171717"/>
                </a:solidFill>
                <a:latin typeface="IBM Plex Serif"/>
                <a:ea typeface="IBM Plex Serif"/>
                <a:cs typeface="IBM Plex Serif"/>
              </a:rPr>
              <a:t>Universal cleaning</a:t>
            </a:r>
            <a:br>
              <a:rPr lang="en-US" sz="1350" b="1">
                <a:solidFill>
                  <a:srgbClr val="171717"/>
                </a:solidFill>
                <a:latin typeface="IBM Plex Serif"/>
                <a:ea typeface="IBM Plex Serif"/>
                <a:cs typeface="IBM Plex Serif"/>
              </a:rPr>
            </a:br>
            <a:endParaRPr sz="1350">
              <a:latin typeface="IBM Plex Serif"/>
              <a:cs typeface="IBM Plex Serif"/>
            </a:endParaRPr>
          </a:p>
          <a:p>
            <a:pPr marL="0" indent="0">
              <a:lnSpc>
                <a:spcPct val="114999"/>
              </a:lnSpc>
              <a:buNone/>
              <a:defRPr/>
            </a:pPr>
            <a:r>
              <a:rPr lang="en-US" sz="1150">
                <a:solidFill>
                  <a:srgbClr val="6E6E6E"/>
                </a:solidFill>
                <a:latin typeface="IBM Plex Serif"/>
                <a:ea typeface="IBM Plex Serif"/>
                <a:cs typeface="IBM Plex Serif"/>
              </a:rPr>
              <a:t>drop_duplicates() + lọc khoảng hợp lý: PhysicalHealth, MentalHealth ∈ [0,30]; SleepTime ∈ [1,24]; BMI ∈ [10,60]. Đây là quy tắc vật lý cố định, KHÔNG học từ phân phối dữ liệu nên an toàn để làm trước split.</a:t>
            </a:r>
            <a:endParaRPr sz="1350">
              <a:latin typeface="IBM Plex Serif"/>
              <a:cs typeface="IBM Plex Serif"/>
            </a:endParaRPr>
          </a:p>
        </p:txBody>
      </p:sp>
      <p:sp>
        <p:nvSpPr>
          <p:cNvPr id="832648623" name="Text 8"/>
          <p:cNvSpPr/>
          <p:nvPr/>
        </p:nvSpPr>
        <p:spPr bwMode="auto">
          <a:xfrm>
            <a:off x="804672" y="3273552"/>
            <a:ext cx="502920" cy="1143000"/>
          </a:xfrm>
          <a:prstGeom prst="rect">
            <a:avLst/>
          </a:prstGeom>
          <a:noFill/>
          <a:ln/>
        </p:spPr>
        <p:txBody>
          <a:bodyPr wrap="square" lIns="0" tIns="0" rIns="0" bIns="0" rtlCol="0" anchor="t"/>
          <a:lstStyle/>
          <a:p>
            <a:pPr marL="0" indent="0">
              <a:buNone/>
              <a:defRPr/>
            </a:pPr>
            <a:r>
              <a:rPr lang="en-US" sz="2200" b="1">
                <a:solidFill>
                  <a:srgbClr val="A6192E"/>
                </a:solidFill>
                <a:latin typeface="IBM Plex Serif"/>
                <a:ea typeface="IBM Plex Serif"/>
                <a:cs typeface="IBM Plex Serif"/>
              </a:rPr>
              <a:t>2</a:t>
            </a:r>
            <a:endParaRPr sz="2200">
              <a:latin typeface="IBM Plex Serif"/>
              <a:cs typeface="IBM Plex Serif"/>
            </a:endParaRPr>
          </a:p>
        </p:txBody>
      </p:sp>
      <p:sp>
        <p:nvSpPr>
          <p:cNvPr id="647038670" name="Text 9"/>
          <p:cNvSpPr/>
          <p:nvPr/>
        </p:nvSpPr>
        <p:spPr bwMode="auto">
          <a:xfrm>
            <a:off x="1371600" y="3273552"/>
            <a:ext cx="5394960" cy="1143000"/>
          </a:xfrm>
          <a:prstGeom prst="rect">
            <a:avLst/>
          </a:prstGeom>
          <a:noFill/>
          <a:ln/>
        </p:spPr>
        <p:txBody>
          <a:bodyPr wrap="square" lIns="0" tIns="0" rIns="0" bIns="0" rtlCol="0" anchor="t"/>
          <a:lstStyle/>
          <a:p>
            <a:pPr marL="0" indent="0">
              <a:lnSpc>
                <a:spcPct val="114999"/>
              </a:lnSpc>
              <a:buNone/>
              <a:defRPr/>
            </a:pPr>
            <a:r>
              <a:rPr lang="en-US" sz="1350" b="1">
                <a:solidFill>
                  <a:srgbClr val="171717"/>
                </a:solidFill>
                <a:latin typeface="IBM Plex Serif"/>
                <a:ea typeface="IBM Plex Serif"/>
                <a:cs typeface="IBM Plex Serif"/>
              </a:rPr>
              <a:t>Tách target</a:t>
            </a:r>
            <a:br>
              <a:rPr lang="en-US" sz="1350" b="1">
                <a:solidFill>
                  <a:srgbClr val="171717"/>
                </a:solidFill>
                <a:latin typeface="IBM Plex Serif"/>
                <a:ea typeface="IBM Plex Serif"/>
                <a:cs typeface="IBM Plex Serif"/>
              </a:rPr>
            </a:br>
            <a:endParaRPr sz="1350">
              <a:latin typeface="IBM Plex Serif"/>
              <a:cs typeface="IBM Plex Serif"/>
            </a:endParaRPr>
          </a:p>
          <a:p>
            <a:pPr marL="0" indent="0">
              <a:lnSpc>
                <a:spcPct val="114999"/>
              </a:lnSpc>
              <a:buNone/>
              <a:defRPr/>
            </a:pPr>
            <a:r>
              <a:rPr lang="en-US" sz="1150">
                <a:solidFill>
                  <a:srgbClr val="6E6E6E"/>
                </a:solidFill>
                <a:latin typeface="IBM Plex Serif"/>
                <a:ea typeface="IBM Plex Serif"/>
                <a:cs typeface="IBM Plex Serif"/>
              </a:rPr>
              <a:t>target = 'HeartDisease' → map {'Yes':1,'No':0}. Tách X (đặc trưng) và y (nhãn) trước khi split.</a:t>
            </a:r>
            <a:endParaRPr sz="1350">
              <a:latin typeface="IBM Plex Serif"/>
              <a:cs typeface="IBM Plex Serif"/>
            </a:endParaRPr>
          </a:p>
        </p:txBody>
      </p:sp>
      <p:sp>
        <p:nvSpPr>
          <p:cNvPr id="965026683" name="Text 10"/>
          <p:cNvSpPr/>
          <p:nvPr/>
        </p:nvSpPr>
        <p:spPr bwMode="auto">
          <a:xfrm>
            <a:off x="804672" y="4535424"/>
            <a:ext cx="502920" cy="1143000"/>
          </a:xfrm>
          <a:prstGeom prst="rect">
            <a:avLst/>
          </a:prstGeom>
          <a:noFill/>
          <a:ln/>
        </p:spPr>
        <p:txBody>
          <a:bodyPr wrap="square" lIns="0" tIns="0" rIns="0" bIns="0" rtlCol="0" anchor="t"/>
          <a:lstStyle/>
          <a:p>
            <a:pPr marL="0" indent="0">
              <a:buNone/>
              <a:defRPr/>
            </a:pPr>
            <a:r>
              <a:rPr lang="en-US" sz="2200" b="1">
                <a:solidFill>
                  <a:srgbClr val="A6192E"/>
                </a:solidFill>
                <a:latin typeface="IBM Plex Serif"/>
                <a:ea typeface="IBM Plex Serif"/>
                <a:cs typeface="IBM Plex Serif"/>
              </a:rPr>
              <a:t>3</a:t>
            </a:r>
            <a:endParaRPr sz="2200">
              <a:latin typeface="IBM Plex Serif"/>
              <a:cs typeface="IBM Plex Serif"/>
            </a:endParaRPr>
          </a:p>
        </p:txBody>
      </p:sp>
      <p:sp>
        <p:nvSpPr>
          <p:cNvPr id="358383778" name="Text 11"/>
          <p:cNvSpPr/>
          <p:nvPr/>
        </p:nvSpPr>
        <p:spPr bwMode="auto">
          <a:xfrm>
            <a:off x="1371600" y="4535424"/>
            <a:ext cx="5394960" cy="1143000"/>
          </a:xfrm>
          <a:prstGeom prst="rect">
            <a:avLst/>
          </a:prstGeom>
          <a:noFill/>
          <a:ln/>
        </p:spPr>
        <p:txBody>
          <a:bodyPr wrap="square" lIns="0" tIns="0" rIns="0" bIns="0" rtlCol="0" anchor="t"/>
          <a:lstStyle/>
          <a:p>
            <a:pPr marL="0" indent="0">
              <a:lnSpc>
                <a:spcPct val="114999"/>
              </a:lnSpc>
              <a:buNone/>
              <a:defRPr/>
            </a:pPr>
            <a:r>
              <a:rPr lang="en-US" sz="1350" b="1">
                <a:solidFill>
                  <a:srgbClr val="171717"/>
                </a:solidFill>
                <a:latin typeface="IBM Plex Serif"/>
                <a:ea typeface="IBM Plex Serif"/>
                <a:cs typeface="IBM Plex Serif"/>
              </a:rPr>
              <a:t>Train/Test Split NGAY</a:t>
            </a:r>
            <a:br>
              <a:rPr lang="en-US" sz="1350" b="1">
                <a:solidFill>
                  <a:srgbClr val="171717"/>
                </a:solidFill>
                <a:latin typeface="IBM Plex Serif"/>
                <a:ea typeface="IBM Plex Serif"/>
                <a:cs typeface="IBM Plex Serif"/>
              </a:rPr>
            </a:br>
            <a:endParaRPr sz="1350">
              <a:latin typeface="IBM Plex Serif"/>
              <a:cs typeface="IBM Plex Serif"/>
            </a:endParaRPr>
          </a:p>
          <a:p>
            <a:pPr marL="0" indent="0">
              <a:lnSpc>
                <a:spcPct val="114999"/>
              </a:lnSpc>
              <a:buNone/>
              <a:defRPr/>
            </a:pPr>
            <a:r>
              <a:rPr lang="en-US" sz="1150">
                <a:solidFill>
                  <a:srgbClr val="6E6E6E"/>
                </a:solidFill>
                <a:latin typeface="IBM Plex Serif"/>
                <a:ea typeface="IBM Plex Serif"/>
                <a:cs typeface="IBM Plex Serif"/>
              </a:rPr>
              <a:t>train_test_split(test_size=0.2, random_state=42, stratify=y) — thực hiện trước mọi bước học thống kê (mode, encoder, imputer, scaler...) để tránh leakage.</a:t>
            </a:r>
            <a:endParaRPr sz="1350">
              <a:latin typeface="IBM Plex Serif"/>
              <a:cs typeface="IBM Plex Serif"/>
            </a:endParaRPr>
          </a:p>
        </p:txBody>
      </p:sp>
      <p:sp>
        <p:nvSpPr>
          <p:cNvPr id="528654593" name="Shape 12"/>
          <p:cNvSpPr/>
          <p:nvPr/>
        </p:nvSpPr>
        <p:spPr bwMode="auto">
          <a:xfrm>
            <a:off x="7543800" y="1371600"/>
            <a:ext cx="4096512" cy="4572000"/>
          </a:xfrm>
          <a:prstGeom prst="roundRect">
            <a:avLst>
              <a:gd name="adj" fmla="val 1563"/>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840063308" name="Shape 13"/>
          <p:cNvSpPr/>
          <p:nvPr/>
        </p:nvSpPr>
        <p:spPr bwMode="auto">
          <a:xfrm>
            <a:off x="7799832" y="1627632"/>
            <a:ext cx="640080" cy="64008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975670175" name="Image 0" descr="preencoded.png"/>
          <p:cNvPicPr>
            <a:picLocks noChangeAspect="1"/>
          </p:cNvPicPr>
          <p:nvPr/>
        </p:nvPicPr>
        <p:blipFill rotWithShape="1">
          <a:blip r:embed="rId3"/>
          <a:stretch/>
        </p:blipFill>
        <p:spPr bwMode="auto">
          <a:xfrm>
            <a:off x="8037576" y="1865376"/>
            <a:ext cx="164592" cy="164592"/>
          </a:xfrm>
          <a:prstGeom prst="rect">
            <a:avLst/>
          </a:prstGeom>
        </p:spPr>
      </p:pic>
      <p:sp>
        <p:nvSpPr>
          <p:cNvPr id="1840974023" name="Text 14"/>
          <p:cNvSpPr/>
          <p:nvPr/>
        </p:nvSpPr>
        <p:spPr bwMode="auto">
          <a:xfrm>
            <a:off x="7799832" y="2377440"/>
            <a:ext cx="3474720" cy="36576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Vì sao split sớm?</a:t>
            </a:r>
            <a:endParaRPr sz="1500">
              <a:latin typeface="IBM Plex Serif"/>
              <a:cs typeface="IBM Plex Serif"/>
            </a:endParaRPr>
          </a:p>
        </p:txBody>
      </p:sp>
      <p:sp>
        <p:nvSpPr>
          <p:cNvPr id="1502013088" name="Text 15"/>
          <p:cNvSpPr/>
          <p:nvPr/>
        </p:nvSpPr>
        <p:spPr bwMode="auto">
          <a:xfrm>
            <a:off x="7799832" y="2788920"/>
            <a:ext cx="3611880" cy="2011680"/>
          </a:xfrm>
          <a:prstGeom prst="rect">
            <a:avLst/>
          </a:prstGeom>
          <a:noFill/>
          <a:ln/>
        </p:spPr>
        <p:txBody>
          <a:bodyPr wrap="square" lIns="0" tIns="0" rIns="0" bIns="0" rtlCol="0" anchor="t"/>
          <a:lstStyle/>
          <a:p>
            <a:pPr marL="177800" indent="-177800">
              <a:spcAft>
                <a:spcPts val="1200"/>
              </a:spcAft>
              <a:buSzPct val="100000"/>
              <a:buChar char="•"/>
              <a:defRPr/>
            </a:pPr>
            <a:r>
              <a:rPr lang="en-US" sz="1200">
                <a:solidFill>
                  <a:srgbClr val="171717"/>
                </a:solidFill>
                <a:latin typeface="IBM Plex Serif"/>
                <a:ea typeface="IBM Plex Serif"/>
                <a:cs typeface="IBM Plex Serif"/>
              </a:rPr>
              <a:t>Nếu encode/impute/scale TRƯỚC split, các bước này sẽ "nhìn thấy" dữ liệu test khi học tham số (mode, category, hệ số hồi quy...) → leakage.</a:t>
            </a:r>
            <a:endParaRPr sz="1200">
              <a:latin typeface="IBM Plex Serif"/>
              <a:cs typeface="IBM Plex Serif"/>
            </a:endParaRPr>
          </a:p>
          <a:p>
            <a:pPr marL="177800" indent="-177800">
              <a:spcAft>
                <a:spcPts val="1200"/>
              </a:spcAft>
              <a:buSzPct val="100000"/>
              <a:buChar char="•"/>
              <a:defRPr/>
            </a:pPr>
            <a:r>
              <a:rPr lang="en-US" sz="1200">
                <a:solidFill>
                  <a:srgbClr val="171717"/>
                </a:solidFill>
                <a:latin typeface="IBM Plex Serif"/>
                <a:ea typeface="IBM Plex Serif"/>
                <a:cs typeface="IBM Plex Serif"/>
              </a:rPr>
              <a:t>Split ngay sau cleaning cơ bản đảm bảo mọi bước phía sau chỉ fit trên train.</a:t>
            </a:r>
            <a:endParaRPr sz="1200">
              <a:latin typeface="IBM Plex Serif"/>
              <a:cs typeface="IBM Plex Serif"/>
            </a:endParaRPr>
          </a:p>
          <a:p>
            <a:pPr marL="177800" indent="-177800">
              <a:spcAft>
                <a:spcPts val="1200"/>
              </a:spcAft>
              <a:buSzPct val="100000"/>
              <a:buChar char="•"/>
              <a:defRPr/>
            </a:pPr>
            <a:r>
              <a:rPr lang="en-US" sz="1200">
                <a:solidFill>
                  <a:srgbClr val="171717"/>
                </a:solidFill>
                <a:latin typeface="IBM Plex Serif"/>
                <a:ea typeface="IBM Plex Serif"/>
                <a:cs typeface="IBM Plex Serif"/>
              </a:rPr>
              <a:t>stratify=y giữ nguyên tỉ lệ Yes/No giữa train và test, quan trọng khi dữ liệu mất cân bằng.</a:t>
            </a:r>
            <a:endParaRPr sz="1200">
              <a:latin typeface="IBM Plex Serif"/>
              <a:cs typeface="IBM Plex Serif"/>
            </a:endParaRPr>
          </a:p>
        </p:txBody>
      </p:sp>
      <p:sp>
        <p:nvSpPr>
          <p:cNvPr id="519687288" name="Shape 16"/>
          <p:cNvSpPr/>
          <p:nvPr/>
        </p:nvSpPr>
        <p:spPr bwMode="auto">
          <a:xfrm>
            <a:off x="7799832" y="4892039"/>
            <a:ext cx="3611880" cy="0"/>
          </a:xfrm>
          <a:prstGeom prst="line">
            <a:avLst/>
          </a:prstGeom>
          <a:noFill/>
          <a:ln w="12700">
            <a:solidFill>
              <a:srgbClr val="E3E3E3"/>
            </a:solidFill>
            <a:prstDash val="solid"/>
          </a:ln>
        </p:spPr>
      </p:sp>
      <p:sp>
        <p:nvSpPr>
          <p:cNvPr id="1995152711" name="Text 17"/>
          <p:cNvSpPr/>
          <p:nvPr/>
        </p:nvSpPr>
        <p:spPr bwMode="auto">
          <a:xfrm>
            <a:off x="7799832" y="5029200"/>
            <a:ext cx="3611880" cy="822960"/>
          </a:xfrm>
          <a:prstGeom prst="rect">
            <a:avLst/>
          </a:prstGeom>
          <a:noFill/>
          <a:ln/>
        </p:spPr>
        <p:txBody>
          <a:bodyPr wrap="square" lIns="0" tIns="0" rIns="0" bIns="0" rtlCol="0" anchor="t"/>
          <a:lstStyle/>
          <a:p>
            <a:pPr marL="0" indent="0">
              <a:lnSpc>
                <a:spcPct val="140000"/>
              </a:lnSpc>
              <a:buNone/>
              <a:defRPr/>
            </a:pPr>
            <a:r>
              <a:rPr lang="en-US" sz="1400" b="1">
                <a:solidFill>
                  <a:srgbClr val="171717"/>
                </a:solidFill>
                <a:latin typeface="IBM Plex Serif"/>
                <a:ea typeface="IBM Plex Serif"/>
                <a:cs typeface="IBM Plex Serif"/>
              </a:rPr>
              <a:t>X_train: </a:t>
            </a:r>
            <a:r>
              <a:rPr lang="en-US" sz="1400" b="1">
                <a:solidFill>
                  <a:srgbClr val="A6192E"/>
                </a:solidFill>
                <a:latin typeface="IBM Plex Serif"/>
                <a:ea typeface="IBM Plex Serif"/>
                <a:cs typeface="IBM Plex Serif"/>
              </a:rPr>
              <a:t>(3,960, 17)</a:t>
            </a:r>
            <a:br>
              <a:rPr lang="en-US" sz="1400" b="1">
                <a:solidFill>
                  <a:srgbClr val="A6192E"/>
                </a:solidFill>
                <a:latin typeface="IBM Plex Serif"/>
                <a:ea typeface="IBM Plex Serif"/>
                <a:cs typeface="IBM Plex Serif"/>
              </a:rPr>
            </a:br>
            <a:endParaRPr sz="1400">
              <a:latin typeface="IBM Plex Serif"/>
              <a:cs typeface="IBM Plex Serif"/>
            </a:endParaRPr>
          </a:p>
          <a:p>
            <a:pPr marL="0" indent="0">
              <a:lnSpc>
                <a:spcPct val="140000"/>
              </a:lnSpc>
              <a:buNone/>
              <a:defRPr/>
            </a:pPr>
            <a:r>
              <a:rPr lang="en-US" sz="1400" b="1">
                <a:solidFill>
                  <a:srgbClr val="171717"/>
                </a:solidFill>
                <a:latin typeface="IBM Plex Serif"/>
                <a:ea typeface="IBM Plex Serif"/>
                <a:cs typeface="IBM Plex Serif"/>
              </a:rPr>
              <a:t>X_test:  </a:t>
            </a:r>
            <a:r>
              <a:rPr lang="en-US" sz="1400" b="1">
                <a:solidFill>
                  <a:srgbClr val="A6192E"/>
                </a:solidFill>
                <a:latin typeface="IBM Plex Serif"/>
                <a:ea typeface="IBM Plex Serif"/>
                <a:cs typeface="IBM Plex Serif"/>
              </a:rPr>
              <a:t>(990, 17)</a:t>
            </a:r>
            <a:endParaRPr sz="1400">
              <a:latin typeface="IBM Plex Serif"/>
              <a:cs typeface="IBM Plex Serif"/>
            </a:endParaRPr>
          </a:p>
        </p:txBody>
      </p:sp>
      <p:sp>
        <p:nvSpPr>
          <p:cNvPr id="1689742343" name="Text 18"/>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233341066" name="Text 19"/>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05</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1669523161"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03 · LEAKAGE-SAFE STEPS</a:t>
            </a:r>
            <a:endParaRPr sz="1250">
              <a:latin typeface="IBM Plex Serif"/>
              <a:cs typeface="IBM Plex Serif"/>
            </a:endParaRPr>
          </a:p>
        </p:txBody>
      </p:sp>
      <p:sp>
        <p:nvSpPr>
          <p:cNvPr id="1504838338"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Mã hoá One-Hot — chỉ fit trên Train</a:t>
            </a:r>
            <a:endParaRPr sz="3000">
              <a:latin typeface="IBM Plex Serif"/>
              <a:cs typeface="IBM Plex Serif"/>
            </a:endParaRPr>
          </a:p>
        </p:txBody>
      </p:sp>
      <p:sp>
        <p:nvSpPr>
          <p:cNvPr id="1631185313"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818779762"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06</a:t>
            </a:r>
            <a:endParaRPr sz="900">
              <a:latin typeface="IBM Plex Serif"/>
              <a:cs typeface="IBM Plex Serif"/>
            </a:endParaRPr>
          </a:p>
        </p:txBody>
      </p:sp>
      <p:sp>
        <p:nvSpPr>
          <p:cNvPr id="1724994726" name="Shape 4"/>
          <p:cNvSpPr/>
          <p:nvPr/>
        </p:nvSpPr>
        <p:spPr bwMode="auto">
          <a:xfrm>
            <a:off x="548640" y="1371600"/>
            <a:ext cx="6400800" cy="4572000"/>
          </a:xfrm>
          <a:prstGeom prst="roundRect">
            <a:avLst>
              <a:gd name="adj" fmla="val 1400"/>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634457571" name="Shape 5"/>
          <p:cNvSpPr/>
          <p:nvPr/>
        </p:nvSpPr>
        <p:spPr bwMode="auto">
          <a:xfrm>
            <a:off x="822960" y="1645920"/>
            <a:ext cx="685800" cy="68580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010910613" name="Image 0" descr="preencoded.png"/>
          <p:cNvPicPr>
            <a:picLocks noChangeAspect="1"/>
          </p:cNvPicPr>
          <p:nvPr/>
        </p:nvPicPr>
        <p:blipFill rotWithShape="1">
          <a:blip r:embed="rId3"/>
          <a:stretch/>
        </p:blipFill>
        <p:spPr bwMode="auto">
          <a:xfrm>
            <a:off x="1060704" y="1883664"/>
            <a:ext cx="210312" cy="210312"/>
          </a:xfrm>
          <a:prstGeom prst="rect">
            <a:avLst/>
          </a:prstGeom>
        </p:spPr>
      </p:pic>
      <p:sp>
        <p:nvSpPr>
          <p:cNvPr id="1828577299" name="Text 6"/>
          <p:cNvSpPr/>
          <p:nvPr/>
        </p:nvSpPr>
        <p:spPr bwMode="auto">
          <a:xfrm>
            <a:off x="1691640" y="1737360"/>
            <a:ext cx="4572000" cy="502920"/>
          </a:xfrm>
          <a:prstGeom prst="rect">
            <a:avLst/>
          </a:prstGeom>
          <a:noFill/>
          <a:ln/>
        </p:spPr>
        <p:txBody>
          <a:bodyPr wrap="square" lIns="0" tIns="0" rIns="0" bIns="0" rtlCol="0" anchor="ctr"/>
          <a:lstStyle/>
          <a:p>
            <a:pPr marL="0" indent="0">
              <a:buNone/>
              <a:defRPr/>
            </a:pPr>
            <a:r>
              <a:rPr lang="en-US" sz="1700" b="1">
                <a:solidFill>
                  <a:srgbClr val="171717"/>
                </a:solidFill>
                <a:latin typeface="IBM Plex Serif"/>
                <a:ea typeface="IBM Plex Serif"/>
                <a:cs typeface="IBM Plex Serif"/>
              </a:rPr>
              <a:t>One-Hot Encoding</a:t>
            </a:r>
            <a:endParaRPr sz="1700">
              <a:latin typeface="IBM Plex Serif"/>
              <a:cs typeface="IBM Plex Serif"/>
            </a:endParaRPr>
          </a:p>
        </p:txBody>
      </p:sp>
      <p:sp>
        <p:nvSpPr>
          <p:cNvPr id="565214002" name="Text 7"/>
          <p:cNvSpPr/>
          <p:nvPr/>
        </p:nvSpPr>
        <p:spPr bwMode="auto">
          <a:xfrm>
            <a:off x="822960" y="2423160"/>
            <a:ext cx="5852160" cy="2194560"/>
          </a:xfrm>
          <a:prstGeom prst="rect">
            <a:avLst/>
          </a:prstGeom>
          <a:noFill/>
          <a:ln/>
        </p:spPr>
        <p:txBody>
          <a:bodyPr wrap="square" lIns="0" tIns="0" rIns="0" bIns="0" rtlCol="0" anchor="t"/>
          <a:lstStyle/>
          <a:p>
            <a:pPr marL="177800" indent="-177800">
              <a:spcAft>
                <a:spcPts val="1000"/>
              </a:spcAft>
              <a:buSzPct val="100000"/>
              <a:buChar char="•"/>
              <a:defRPr/>
            </a:pPr>
            <a:r>
              <a:rPr lang="en-US" sz="1300">
                <a:solidFill>
                  <a:srgbClr val="171717"/>
                </a:solidFill>
                <a:latin typeface="IBM Plex Serif"/>
                <a:ea typeface="IBM Plex Serif"/>
                <a:cs typeface="IBM Plex Serif"/>
              </a:rPr>
              <a:t>Tìm cột dạng chữ: X_train.select_dtypes(include=['object','str']) — tương thích cả pandas bản mới có dtype 'str' riêng.</a:t>
            </a:r>
            <a:endParaRPr sz="1300">
              <a:latin typeface="IBM Plex Serif"/>
              <a:cs typeface="IBM Plex Serif"/>
            </a:endParaRPr>
          </a:p>
          <a:p>
            <a:pPr marL="177800" indent="-177800">
              <a:spcAft>
                <a:spcPts val="1000"/>
              </a:spcAft>
              <a:buSzPct val="100000"/>
              <a:buChar char="•"/>
              <a:defRPr/>
            </a:pPr>
            <a:r>
              <a:rPr lang="en-US" sz="1300">
                <a:solidFill>
                  <a:srgbClr val="171717"/>
                </a:solidFill>
                <a:latin typeface="IBM Plex Serif"/>
                <a:ea typeface="IBM Plex Serif"/>
                <a:cs typeface="IBM Plex Serif"/>
              </a:rPr>
              <a:t>Điền NaN bằng mode học từ TRAIN, áp dụng lại cho test (không tính mode riêng cho test).</a:t>
            </a:r>
            <a:endParaRPr sz="1300">
              <a:latin typeface="IBM Plex Serif"/>
              <a:cs typeface="IBM Plex Serif"/>
            </a:endParaRPr>
          </a:p>
          <a:p>
            <a:pPr marL="177800" indent="-177800">
              <a:spcAft>
                <a:spcPts val="1000"/>
              </a:spcAft>
              <a:buSzPct val="100000"/>
              <a:buChar char="•"/>
              <a:defRPr/>
            </a:pPr>
            <a:r>
              <a:rPr lang="en-US" sz="1300">
                <a:solidFill>
                  <a:srgbClr val="171717"/>
                </a:solidFill>
                <a:latin typeface="IBM Plex Serif"/>
                <a:ea typeface="IBM Plex Serif"/>
                <a:cs typeface="IBM Plex Serif"/>
              </a:rPr>
              <a:t>ohe.fit() chỉ trên X_train; sau đó transform() cả train và test — test set không ảnh hưởng đến danh sách category được học.</a:t>
            </a:r>
            <a:endParaRPr sz="1300">
              <a:latin typeface="IBM Plex Serif"/>
              <a:cs typeface="IBM Plex Serif"/>
            </a:endParaRPr>
          </a:p>
          <a:p>
            <a:pPr marL="177800" indent="-177800">
              <a:spcAft>
                <a:spcPts val="1000"/>
              </a:spcAft>
              <a:buSzPct val="100000"/>
              <a:buChar char="•"/>
              <a:defRPr/>
            </a:pPr>
            <a:r>
              <a:rPr lang="en-US" sz="1300">
                <a:solidFill>
                  <a:srgbClr val="171717"/>
                </a:solidFill>
                <a:latin typeface="IBM Plex Serif"/>
                <a:ea typeface="IBM Plex Serif"/>
                <a:cs typeface="IBM Plex Serif"/>
              </a:rPr>
              <a:t>handle_unknown='ignore' giúp xử lý an toàn nếu test có category hiếm chưa từng thấy ở train.</a:t>
            </a:r>
            <a:endParaRPr sz="1300">
              <a:latin typeface="IBM Plex Serif"/>
              <a:cs typeface="IBM Plex Serif"/>
            </a:endParaRPr>
          </a:p>
        </p:txBody>
      </p:sp>
      <p:sp>
        <p:nvSpPr>
          <p:cNvPr id="1101812944" name="Shape 8"/>
          <p:cNvSpPr/>
          <p:nvPr/>
        </p:nvSpPr>
        <p:spPr bwMode="auto">
          <a:xfrm>
            <a:off x="822960" y="4617720"/>
            <a:ext cx="5852160" cy="0"/>
          </a:xfrm>
          <a:prstGeom prst="line">
            <a:avLst/>
          </a:prstGeom>
          <a:noFill/>
          <a:ln w="12700">
            <a:solidFill>
              <a:srgbClr val="E3E3E3"/>
            </a:solidFill>
            <a:prstDash val="solid"/>
          </a:ln>
        </p:spPr>
      </p:sp>
      <p:sp>
        <p:nvSpPr>
          <p:cNvPr id="1226043025" name="Shape 9"/>
          <p:cNvSpPr/>
          <p:nvPr/>
        </p:nvSpPr>
        <p:spPr bwMode="auto">
          <a:xfrm>
            <a:off x="822960" y="4800600"/>
            <a:ext cx="2834640" cy="960120"/>
          </a:xfrm>
          <a:prstGeom prst="roundRect">
            <a:avLst>
              <a:gd name="adj" fmla="val 666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135273028" name="Text 10"/>
          <p:cNvSpPr/>
          <p:nvPr/>
        </p:nvSpPr>
        <p:spPr bwMode="auto">
          <a:xfrm>
            <a:off x="987552" y="4910328"/>
            <a:ext cx="2505456" cy="393192"/>
          </a:xfrm>
          <a:prstGeom prst="rect">
            <a:avLst/>
          </a:prstGeom>
          <a:noFill/>
          <a:ln/>
        </p:spPr>
        <p:txBody>
          <a:bodyPr wrap="square" lIns="0" tIns="0" rIns="0" bIns="0" rtlCol="0" anchor="b"/>
          <a:lstStyle/>
          <a:p>
            <a:pPr marL="0" indent="0" algn="ctr">
              <a:buNone/>
              <a:defRPr/>
            </a:pPr>
            <a:r>
              <a:rPr lang="en-US" sz="2200" b="1">
                <a:solidFill>
                  <a:srgbClr val="A6192E"/>
                </a:solidFill>
                <a:latin typeface="IBM Plex Serif"/>
                <a:ea typeface="IBM Plex Serif"/>
                <a:cs typeface="IBM Plex Serif"/>
              </a:rPr>
              <a:t>17 → 41</a:t>
            </a:r>
            <a:endParaRPr sz="2200">
              <a:latin typeface="IBM Plex Serif"/>
              <a:cs typeface="IBM Plex Serif"/>
            </a:endParaRPr>
          </a:p>
        </p:txBody>
      </p:sp>
      <p:sp>
        <p:nvSpPr>
          <p:cNvPr id="1295975911" name="Text 11"/>
          <p:cNvSpPr/>
          <p:nvPr/>
        </p:nvSpPr>
        <p:spPr bwMode="auto">
          <a:xfrm>
            <a:off x="932688" y="5340096"/>
            <a:ext cx="2615184" cy="365760"/>
          </a:xfrm>
          <a:prstGeom prst="rect">
            <a:avLst/>
          </a:prstGeom>
          <a:noFill/>
          <a:ln/>
        </p:spPr>
        <p:txBody>
          <a:bodyPr wrap="square" lIns="0" tIns="0" rIns="0" bIns="0" rtlCol="0" anchor="t"/>
          <a:lstStyle/>
          <a:p>
            <a:pPr marL="0" indent="0" algn="ctr">
              <a:buNone/>
              <a:defRPr/>
            </a:pPr>
            <a:r>
              <a:rPr lang="en-US" sz="1100">
                <a:solidFill>
                  <a:srgbClr val="6E6E6E"/>
                </a:solidFill>
                <a:latin typeface="IBM Plex Serif"/>
                <a:ea typeface="IBM Plex Serif"/>
                <a:cs typeface="IBM Plex Serif"/>
              </a:rPr>
              <a:t>số cột đặc trưng trước/sau OHE</a:t>
            </a:r>
            <a:endParaRPr sz="1100">
              <a:latin typeface="IBM Plex Serif"/>
              <a:cs typeface="IBM Plex Serif"/>
            </a:endParaRPr>
          </a:p>
        </p:txBody>
      </p:sp>
      <p:sp>
        <p:nvSpPr>
          <p:cNvPr id="419824890" name="Shape 12"/>
          <p:cNvSpPr/>
          <p:nvPr/>
        </p:nvSpPr>
        <p:spPr bwMode="auto">
          <a:xfrm>
            <a:off x="3840480" y="4800600"/>
            <a:ext cx="2834640" cy="960120"/>
          </a:xfrm>
          <a:prstGeom prst="roundRect">
            <a:avLst>
              <a:gd name="adj" fmla="val 666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333134186" name="Text 13"/>
          <p:cNvSpPr/>
          <p:nvPr/>
        </p:nvSpPr>
        <p:spPr bwMode="auto">
          <a:xfrm>
            <a:off x="4005072" y="4910328"/>
            <a:ext cx="2505456" cy="393192"/>
          </a:xfrm>
          <a:prstGeom prst="rect">
            <a:avLst/>
          </a:prstGeom>
          <a:noFill/>
          <a:ln/>
        </p:spPr>
        <p:txBody>
          <a:bodyPr wrap="square" lIns="0" tIns="0" rIns="0" bIns="0" rtlCol="0" anchor="b"/>
          <a:lstStyle/>
          <a:p>
            <a:pPr marL="0" indent="0" algn="ctr">
              <a:buNone/>
              <a:defRPr/>
            </a:pPr>
            <a:r>
              <a:rPr lang="en-US" sz="1600" b="1">
                <a:solidFill>
                  <a:srgbClr val="A6192E"/>
                </a:solidFill>
                <a:latin typeface="IBM Plex Serif"/>
                <a:ea typeface="IBM Plex Serif"/>
                <a:cs typeface="IBM Plex Serif"/>
              </a:rPr>
              <a:t>fit() = train only</a:t>
            </a:r>
            <a:endParaRPr sz="1600">
              <a:latin typeface="IBM Plex Serif"/>
              <a:cs typeface="IBM Plex Serif"/>
            </a:endParaRPr>
          </a:p>
        </p:txBody>
      </p:sp>
      <p:sp>
        <p:nvSpPr>
          <p:cNvPr id="1372711473" name="Text 14"/>
          <p:cNvSpPr/>
          <p:nvPr/>
        </p:nvSpPr>
        <p:spPr bwMode="auto">
          <a:xfrm>
            <a:off x="3950208" y="5340096"/>
            <a:ext cx="2615184" cy="365760"/>
          </a:xfrm>
          <a:prstGeom prst="rect">
            <a:avLst/>
          </a:prstGeom>
          <a:noFill/>
          <a:ln/>
        </p:spPr>
        <p:txBody>
          <a:bodyPr wrap="square" lIns="0" tIns="0" rIns="0" bIns="0" rtlCol="0" anchor="t"/>
          <a:lstStyle/>
          <a:p>
            <a:pPr marL="0" indent="0" algn="ctr">
              <a:buNone/>
              <a:defRPr/>
            </a:pPr>
            <a:r>
              <a:rPr lang="en-US" sz="1100">
                <a:solidFill>
                  <a:srgbClr val="6E6E6E"/>
                </a:solidFill>
                <a:latin typeface="IBM Plex Serif"/>
                <a:ea typeface="IBM Plex Serif"/>
                <a:cs typeface="IBM Plex Serif"/>
              </a:rPr>
              <a:t>transform() = train &amp; test</a:t>
            </a:r>
            <a:endParaRPr sz="1100">
              <a:latin typeface="IBM Plex Serif"/>
              <a:cs typeface="IBM Plex Serif"/>
            </a:endParaRPr>
          </a:p>
        </p:txBody>
      </p:sp>
      <p:sp>
        <p:nvSpPr>
          <p:cNvPr id="1027084710" name="Shape 15"/>
          <p:cNvSpPr/>
          <p:nvPr/>
        </p:nvSpPr>
        <p:spPr bwMode="auto">
          <a:xfrm>
            <a:off x="7543800" y="1371600"/>
            <a:ext cx="4096512" cy="4572000"/>
          </a:xfrm>
          <a:prstGeom prst="roundRect">
            <a:avLst>
              <a:gd name="adj" fmla="val 1563"/>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804345520" name="Text 16"/>
          <p:cNvSpPr/>
          <p:nvPr/>
        </p:nvSpPr>
        <p:spPr bwMode="auto">
          <a:xfrm>
            <a:off x="7799832" y="1572768"/>
            <a:ext cx="3566160" cy="320040"/>
          </a:xfrm>
          <a:prstGeom prst="rect">
            <a:avLst/>
          </a:prstGeom>
          <a:noFill/>
          <a:ln/>
        </p:spPr>
        <p:txBody>
          <a:bodyPr wrap="square" lIns="0" tIns="0" rIns="0" bIns="0" rtlCol="0" anchor="ctr"/>
          <a:lstStyle/>
          <a:p>
            <a:pPr marL="0" indent="0">
              <a:buNone/>
              <a:defRPr/>
            </a:pPr>
            <a:r>
              <a:rPr lang="en-US" sz="1400" b="1">
                <a:solidFill>
                  <a:srgbClr val="171717"/>
                </a:solidFill>
                <a:latin typeface="IBM Plex Serif"/>
                <a:ea typeface="IBM Plex Serif"/>
                <a:cs typeface="IBM Plex Serif"/>
              </a:rPr>
              <a:t>So với cách làm cũ</a:t>
            </a:r>
            <a:endParaRPr sz="1400">
              <a:latin typeface="IBM Plex Serif"/>
              <a:cs typeface="IBM Plex Serif"/>
            </a:endParaRPr>
          </a:p>
        </p:txBody>
      </p:sp>
      <p:sp>
        <p:nvSpPr>
          <p:cNvPr id="1366631063" name="Text 17"/>
          <p:cNvSpPr/>
          <p:nvPr/>
        </p:nvSpPr>
        <p:spPr bwMode="auto">
          <a:xfrm>
            <a:off x="7799832" y="1965960"/>
            <a:ext cx="3611880" cy="3749040"/>
          </a:xfrm>
          <a:prstGeom prst="rect">
            <a:avLst/>
          </a:prstGeom>
          <a:noFill/>
          <a:ln/>
        </p:spPr>
        <p:txBody>
          <a:bodyPr wrap="square" lIns="0" tIns="0" rIns="0" bIns="0" rtlCol="0" anchor="t"/>
          <a:lstStyle/>
          <a:p>
            <a:pPr marL="177800" indent="-177800">
              <a:spcAft>
                <a:spcPts val="1400"/>
              </a:spcAft>
              <a:buSzPct val="100000"/>
              <a:buChar char="•"/>
              <a:defRPr/>
            </a:pPr>
            <a:r>
              <a:rPr lang="en-US" sz="1200">
                <a:solidFill>
                  <a:srgbClr val="171717"/>
                </a:solidFill>
                <a:latin typeface="IBM Plex Serif"/>
                <a:ea typeface="IBM Plex Serif"/>
                <a:cs typeface="IBM Plex Serif"/>
              </a:rPr>
              <a:t>Trước: ohe.fit_transform(df[str_col]) trên toàn bộ df → encoder "biết" mọi category xuất hiện ở cả test.</a:t>
            </a:r>
            <a:endParaRPr sz="1200">
              <a:latin typeface="IBM Plex Serif"/>
              <a:cs typeface="IBM Plex Serif"/>
            </a:endParaRPr>
          </a:p>
          <a:p>
            <a:pPr marL="177800" indent="-177800">
              <a:spcAft>
                <a:spcPts val="1400"/>
              </a:spcAft>
              <a:buSzPct val="100000"/>
              <a:buChar char="•"/>
              <a:defRPr/>
            </a:pPr>
            <a:r>
              <a:rPr lang="en-US" sz="1200">
                <a:solidFill>
                  <a:srgbClr val="171717"/>
                </a:solidFill>
                <a:latin typeface="IBM Plex Serif"/>
                <a:ea typeface="IBM Plex Serif"/>
                <a:cs typeface="IBM Plex Serif"/>
              </a:rPr>
              <a:t>Trước: mode tính trên toàn bộ df, bao gồm cả phần sẽ thành test.</a:t>
            </a:r>
            <a:endParaRPr sz="1200">
              <a:latin typeface="IBM Plex Serif"/>
              <a:cs typeface="IBM Plex Serif"/>
            </a:endParaRPr>
          </a:p>
          <a:p>
            <a:pPr marL="177800" indent="-177800">
              <a:spcAft>
                <a:spcPts val="1400"/>
              </a:spcAft>
              <a:buSzPct val="100000"/>
              <a:buChar char="•"/>
              <a:defRPr/>
            </a:pPr>
            <a:r>
              <a:rPr lang="en-US" sz="1200">
                <a:solidFill>
                  <a:srgbClr val="171717"/>
                </a:solidFill>
                <a:latin typeface="IBM Plex Serif"/>
                <a:ea typeface="IBM Plex Serif"/>
                <a:cs typeface="IBM Plex Serif"/>
              </a:rPr>
              <a:t>Sau: tách bạch rõ — train dùng để HỌC tham số, test chỉ dùng để ÁP DỤNG lại.</a:t>
            </a:r>
            <a:endParaRPr sz="1200">
              <a:latin typeface="IBM Plex Serif"/>
              <a:cs typeface="IBM Plex Serif"/>
            </a:endParaRPr>
          </a:p>
        </p:txBody>
      </p:sp>
      <p:sp>
        <p:nvSpPr>
          <p:cNvPr id="1753880771" name="Text 18"/>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837580460" name="Text 19"/>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06</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2067602006"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03 · LEAKAGE-SAFE STEPS</a:t>
            </a:r>
            <a:endParaRPr sz="1250">
              <a:latin typeface="IBM Plex Serif"/>
              <a:cs typeface="IBM Plex Serif"/>
            </a:endParaRPr>
          </a:p>
        </p:txBody>
      </p:sp>
      <p:sp>
        <p:nvSpPr>
          <p:cNvPr id="1785894778"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Xử lý giá trị thiếu — IterativeImputer</a:t>
            </a:r>
            <a:endParaRPr sz="3000">
              <a:latin typeface="IBM Plex Serif"/>
              <a:cs typeface="IBM Plex Serif"/>
            </a:endParaRPr>
          </a:p>
        </p:txBody>
      </p:sp>
      <p:sp>
        <p:nvSpPr>
          <p:cNvPr id="1265749952"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789890150"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07</a:t>
            </a:r>
            <a:endParaRPr sz="900">
              <a:latin typeface="IBM Plex Serif"/>
              <a:cs typeface="IBM Plex Serif"/>
            </a:endParaRPr>
          </a:p>
        </p:txBody>
      </p:sp>
      <p:sp>
        <p:nvSpPr>
          <p:cNvPr id="2127921564" name="Shape 4"/>
          <p:cNvSpPr/>
          <p:nvPr/>
        </p:nvSpPr>
        <p:spPr bwMode="auto">
          <a:xfrm>
            <a:off x="548640" y="1371600"/>
            <a:ext cx="6400800" cy="4572000"/>
          </a:xfrm>
          <a:prstGeom prst="roundRect">
            <a:avLst>
              <a:gd name="adj" fmla="val 1400"/>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848881756" name="Shape 5"/>
          <p:cNvSpPr/>
          <p:nvPr/>
        </p:nvSpPr>
        <p:spPr bwMode="auto">
          <a:xfrm>
            <a:off x="822960" y="1645920"/>
            <a:ext cx="685800" cy="68580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56073849" name="Image 0" descr="preencoded.png"/>
          <p:cNvPicPr>
            <a:picLocks noChangeAspect="1"/>
          </p:cNvPicPr>
          <p:nvPr/>
        </p:nvPicPr>
        <p:blipFill rotWithShape="1">
          <a:blip r:embed="rId3"/>
          <a:stretch/>
        </p:blipFill>
        <p:spPr bwMode="auto">
          <a:xfrm>
            <a:off x="1060704" y="1883664"/>
            <a:ext cx="210312" cy="210312"/>
          </a:xfrm>
          <a:prstGeom prst="rect">
            <a:avLst/>
          </a:prstGeom>
        </p:spPr>
      </p:pic>
      <p:sp>
        <p:nvSpPr>
          <p:cNvPr id="1443844734" name="Text 6"/>
          <p:cNvSpPr/>
          <p:nvPr/>
        </p:nvSpPr>
        <p:spPr bwMode="auto">
          <a:xfrm>
            <a:off x="1691640" y="1664208"/>
            <a:ext cx="5120640" cy="640080"/>
          </a:xfrm>
          <a:prstGeom prst="rect">
            <a:avLst/>
          </a:prstGeom>
          <a:noFill/>
          <a:ln/>
        </p:spPr>
        <p:txBody>
          <a:bodyPr wrap="square" lIns="0" tIns="0" rIns="0" bIns="0" rtlCol="0" anchor="ctr"/>
          <a:lstStyle/>
          <a:p>
            <a:pPr marL="0" indent="0">
              <a:buNone/>
              <a:defRPr/>
            </a:pPr>
            <a:r>
              <a:rPr lang="en-US" sz="1550" b="1">
                <a:solidFill>
                  <a:srgbClr val="171717"/>
                </a:solidFill>
                <a:latin typeface="IBM Plex Serif"/>
                <a:ea typeface="IBM Plex Serif"/>
                <a:cs typeface="IBM Plex Serif"/>
              </a:rPr>
              <a:t>Vì sao đổi từ MICE sang IterativeImputer?</a:t>
            </a:r>
            <a:endParaRPr sz="1550">
              <a:latin typeface="IBM Plex Serif"/>
              <a:cs typeface="IBM Plex Serif"/>
            </a:endParaRPr>
          </a:p>
        </p:txBody>
      </p:sp>
      <p:sp>
        <p:nvSpPr>
          <p:cNvPr id="1075904073" name="Text 7"/>
          <p:cNvSpPr/>
          <p:nvPr/>
        </p:nvSpPr>
        <p:spPr bwMode="auto">
          <a:xfrm>
            <a:off x="822960" y="2423160"/>
            <a:ext cx="5852160" cy="2926080"/>
          </a:xfrm>
          <a:prstGeom prst="rect">
            <a:avLst/>
          </a:prstGeom>
          <a:noFill/>
          <a:ln/>
        </p:spPr>
        <p:txBody>
          <a:bodyPr wrap="square" lIns="0" tIns="0" rIns="0" bIns="0" rtlCol="0" anchor="t"/>
          <a:lstStyle/>
          <a:p>
            <a:pPr marL="177800" indent="-177800">
              <a:spcAft>
                <a:spcPts val="1100"/>
              </a:spcAft>
              <a:buSzPct val="100000"/>
              <a:buChar char="•"/>
              <a:defRPr/>
            </a:pPr>
            <a:r>
              <a:rPr lang="en-US" sz="1300">
                <a:solidFill>
                  <a:srgbClr val="171717"/>
                </a:solidFill>
                <a:latin typeface="IBM Plex Serif"/>
                <a:ea typeface="IBM Plex Serif"/>
                <a:cs typeface="IBM Plex Serif"/>
              </a:rPr>
              <a:t>statsmodels.MICEData không có API transform() riêng cho dữ liệu mới — chỉ impute được trên đúng tập đưa vào, không tách fit/transform.</a:t>
            </a:r>
            <a:endParaRPr sz="1300">
              <a:latin typeface="IBM Plex Serif"/>
              <a:cs typeface="IBM Plex Serif"/>
            </a:endParaRPr>
          </a:p>
          <a:p>
            <a:pPr marL="177800" indent="-177800">
              <a:spcAft>
                <a:spcPts val="1100"/>
              </a:spcAft>
              <a:buSzPct val="100000"/>
              <a:buChar char="•"/>
              <a:defRPr/>
            </a:pPr>
            <a:r>
              <a:rPr lang="en-US" sz="1300">
                <a:solidFill>
                  <a:srgbClr val="171717"/>
                </a:solidFill>
                <a:latin typeface="IBM Plex Serif"/>
                <a:ea typeface="IBM Plex Serif"/>
                <a:cs typeface="IBM Plex Serif"/>
              </a:rPr>
              <a:t>sklearn.IterativeImputer hỗ trợ fit_transform() trên train và transform() riêng trên test — cùng cơ chế hồi quy lặp (chained equations) nhưng tách bạch được train/test.</a:t>
            </a:r>
            <a:endParaRPr sz="1300">
              <a:latin typeface="IBM Plex Serif"/>
              <a:cs typeface="IBM Plex Serif"/>
            </a:endParaRPr>
          </a:p>
          <a:p>
            <a:pPr marL="177800" indent="-177800">
              <a:spcAft>
                <a:spcPts val="1100"/>
              </a:spcAft>
              <a:buSzPct val="100000"/>
              <a:buChar char="•"/>
              <a:defRPr/>
            </a:pPr>
            <a:r>
              <a:rPr lang="en-US" sz="1300">
                <a:solidFill>
                  <a:srgbClr val="171717"/>
                </a:solidFill>
                <a:latin typeface="IBM Plex Serif"/>
                <a:ea typeface="IBM Plex Serif"/>
                <a:cs typeface="IBM Plex Serif"/>
              </a:rPr>
              <a:t>imputer.fit_transform(X_train): học mô hình hồi quy giữa các biến CHỈ từ train.</a:t>
            </a:r>
            <a:endParaRPr sz="1300">
              <a:latin typeface="IBM Plex Serif"/>
              <a:cs typeface="IBM Plex Serif"/>
            </a:endParaRPr>
          </a:p>
          <a:p>
            <a:pPr marL="177800" indent="-177800">
              <a:spcAft>
                <a:spcPts val="1100"/>
              </a:spcAft>
              <a:buSzPct val="100000"/>
              <a:buChar char="•"/>
              <a:defRPr/>
            </a:pPr>
            <a:r>
              <a:rPr lang="en-US" sz="1300">
                <a:solidFill>
                  <a:srgbClr val="171717"/>
                </a:solidFill>
                <a:latin typeface="IBM Plex Serif"/>
                <a:ea typeface="IBM Plex Serif"/>
                <a:cs typeface="IBM Plex Serif"/>
              </a:rPr>
              <a:t>imputer.transform(X_test): áp dụng lại mô hình đã học, KHÔNG học lại từ test.</a:t>
            </a:r>
            <a:endParaRPr sz="1300">
              <a:latin typeface="IBM Plex Serif"/>
              <a:cs typeface="IBM Plex Serif"/>
            </a:endParaRPr>
          </a:p>
        </p:txBody>
      </p:sp>
      <p:sp>
        <p:nvSpPr>
          <p:cNvPr id="1524130666" name="Shape 8"/>
          <p:cNvSpPr/>
          <p:nvPr/>
        </p:nvSpPr>
        <p:spPr bwMode="auto">
          <a:xfrm>
            <a:off x="7543800" y="1371600"/>
            <a:ext cx="4096512" cy="4572000"/>
          </a:xfrm>
          <a:prstGeom prst="roundRect">
            <a:avLst>
              <a:gd name="adj" fmla="val 1563"/>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167367102" name="Text 9"/>
          <p:cNvSpPr/>
          <p:nvPr/>
        </p:nvSpPr>
        <p:spPr bwMode="auto">
          <a:xfrm>
            <a:off x="7799832" y="1572768"/>
            <a:ext cx="3566160" cy="320040"/>
          </a:xfrm>
          <a:prstGeom prst="rect">
            <a:avLst/>
          </a:prstGeom>
          <a:noFill/>
          <a:ln/>
        </p:spPr>
        <p:txBody>
          <a:bodyPr wrap="square" lIns="0" tIns="0" rIns="0" bIns="0" rtlCol="0" anchor="ctr"/>
          <a:lstStyle/>
          <a:p>
            <a:pPr marL="0" indent="0">
              <a:buNone/>
              <a:defRPr/>
            </a:pPr>
            <a:r>
              <a:rPr lang="en-US" sz="1400" b="1">
                <a:solidFill>
                  <a:srgbClr val="171717"/>
                </a:solidFill>
                <a:latin typeface="IBM Plex Serif"/>
                <a:ea typeface="IBM Plex Serif"/>
                <a:cs typeface="IBM Plex Serif"/>
              </a:rPr>
              <a:t>Code thực hiện</a:t>
            </a:r>
            <a:endParaRPr sz="1400">
              <a:latin typeface="IBM Plex Serif"/>
              <a:cs typeface="IBM Plex Serif"/>
            </a:endParaRPr>
          </a:p>
        </p:txBody>
      </p:sp>
      <p:sp>
        <p:nvSpPr>
          <p:cNvPr id="1268763218" name="Shape 10"/>
          <p:cNvSpPr/>
          <p:nvPr/>
        </p:nvSpPr>
        <p:spPr bwMode="auto">
          <a:xfrm>
            <a:off x="7799832" y="1965960"/>
            <a:ext cx="3611880" cy="2103120"/>
          </a:xfrm>
          <a:prstGeom prst="roundRect">
            <a:avLst>
              <a:gd name="adj" fmla="val 2609"/>
            </a:avLst>
          </a:prstGeom>
          <a:solidFill>
            <a:srgbClr val="F7F7F7"/>
          </a:solidFill>
          <a:ln w="9525">
            <a:solidFill>
              <a:srgbClr val="E3E3E3"/>
            </a:solidFill>
            <a:prstDash val="solid"/>
          </a:ln>
        </p:spPr>
        <p:txBody>
          <a:bodyPr anchor="ctr"/>
          <a:p>
            <a:pPr algn="ctr">
              <a:defRPr/>
            </a:pPr>
            <a:endParaRPr>
              <a:latin typeface="IBM Plex Serif"/>
              <a:cs typeface="IBM Plex Serif"/>
            </a:endParaRPr>
          </a:p>
        </p:txBody>
      </p:sp>
      <p:sp>
        <p:nvSpPr>
          <p:cNvPr id="1522623734" name="Text 11"/>
          <p:cNvSpPr/>
          <p:nvPr/>
        </p:nvSpPr>
        <p:spPr bwMode="auto">
          <a:xfrm>
            <a:off x="7936992" y="2084832"/>
            <a:ext cx="3383280" cy="1874520"/>
          </a:xfrm>
          <a:prstGeom prst="rect">
            <a:avLst/>
          </a:prstGeom>
          <a:noFill/>
          <a:ln/>
        </p:spPr>
        <p:txBody>
          <a:bodyPr wrap="square" lIns="0" tIns="0" rIns="0" bIns="0" rtlCol="0" anchor="t"/>
          <a:lstStyle/>
          <a:p>
            <a:pPr marL="0" indent="0">
              <a:lnSpc>
                <a:spcPct val="120000"/>
              </a:lnSpc>
              <a:buNone/>
              <a:defRPr/>
            </a:pPr>
            <a:r>
              <a:rPr lang="en-US" sz="1100">
                <a:solidFill>
                  <a:srgbClr val="171717"/>
                </a:solidFill>
                <a:latin typeface="IBM Plex Serif"/>
                <a:ea typeface="IBM Plex Serif"/>
                <a:cs typeface="IBM Plex Serif"/>
              </a:rPr>
              <a:t>imputer = IterativeImputer(</a:t>
            </a:r>
            <a:endParaRPr sz="1100">
              <a:latin typeface="IBM Plex Serif"/>
              <a:cs typeface="IBM Plex Serif"/>
            </a:endParaRPr>
          </a:p>
          <a:p>
            <a:pPr marL="0" indent="0">
              <a:lnSpc>
                <a:spcPct val="120000"/>
              </a:lnSpc>
              <a:buNone/>
              <a:defRPr/>
            </a:pPr>
            <a:r>
              <a:rPr lang="en-US" sz="1100">
                <a:solidFill>
                  <a:srgbClr val="171717"/>
                </a:solidFill>
                <a:latin typeface="IBM Plex Serif"/>
                <a:ea typeface="IBM Plex Serif"/>
                <a:cs typeface="IBM Plex Serif"/>
              </a:rPr>
              <a:t>  random_state=42</a:t>
            </a:r>
            <a:endParaRPr sz="1100">
              <a:latin typeface="IBM Plex Serif"/>
              <a:cs typeface="IBM Plex Serif"/>
            </a:endParaRPr>
          </a:p>
          <a:p>
            <a:pPr marL="0" indent="0">
              <a:lnSpc>
                <a:spcPct val="120000"/>
              </a:lnSpc>
              <a:buNone/>
              <a:defRPr/>
            </a:pPr>
            <a:r>
              <a:rPr lang="en-US" sz="1100">
                <a:solidFill>
                  <a:srgbClr val="171717"/>
                </a:solidFill>
                <a:latin typeface="IBM Plex Serif"/>
                <a:ea typeface="IBM Plex Serif"/>
                <a:cs typeface="IBM Plex Serif"/>
              </a:rPr>
              <a:t>)</a:t>
            </a:r>
            <a:endParaRPr sz="1100">
              <a:latin typeface="IBM Plex Serif"/>
              <a:cs typeface="IBM Plex Serif"/>
            </a:endParaRPr>
          </a:p>
          <a:p>
            <a:pPr marL="0" indent="0">
              <a:lnSpc>
                <a:spcPct val="120000"/>
              </a:lnSpc>
              <a:buNone/>
              <a:defRPr/>
            </a:pPr>
            <a:endParaRPr sz="1100">
              <a:latin typeface="IBM Plex Serif"/>
              <a:cs typeface="IBM Plex Serif"/>
            </a:endParaRPr>
          </a:p>
          <a:p>
            <a:pPr marL="0" indent="0">
              <a:lnSpc>
                <a:spcPct val="120000"/>
              </a:lnSpc>
              <a:buNone/>
              <a:defRPr/>
            </a:pPr>
            <a:r>
              <a:rPr lang="en-US" sz="1100">
                <a:solidFill>
                  <a:srgbClr val="171717"/>
                </a:solidFill>
                <a:latin typeface="IBM Plex Serif"/>
                <a:ea typeface="IBM Plex Serif"/>
                <a:cs typeface="IBM Plex Serif"/>
              </a:rPr>
              <a:t>X_train = imputer.fit_transform(</a:t>
            </a:r>
            <a:endParaRPr sz="1100">
              <a:latin typeface="IBM Plex Serif"/>
              <a:cs typeface="IBM Plex Serif"/>
            </a:endParaRPr>
          </a:p>
          <a:p>
            <a:pPr marL="0" indent="0">
              <a:lnSpc>
                <a:spcPct val="120000"/>
              </a:lnSpc>
              <a:buNone/>
              <a:defRPr/>
            </a:pPr>
            <a:r>
              <a:rPr lang="en-US" sz="1100">
                <a:solidFill>
                  <a:srgbClr val="171717"/>
                </a:solidFill>
                <a:latin typeface="IBM Plex Serif"/>
                <a:ea typeface="IBM Plex Serif"/>
                <a:cs typeface="IBM Plex Serif"/>
              </a:rPr>
              <a:t>  X_train</a:t>
            </a:r>
            <a:endParaRPr sz="1100">
              <a:latin typeface="IBM Plex Serif"/>
              <a:cs typeface="IBM Plex Serif"/>
            </a:endParaRPr>
          </a:p>
          <a:p>
            <a:pPr marL="0" indent="0">
              <a:lnSpc>
                <a:spcPct val="120000"/>
              </a:lnSpc>
              <a:buNone/>
              <a:defRPr/>
            </a:pPr>
            <a:r>
              <a:rPr lang="en-US" sz="1100">
                <a:solidFill>
                  <a:srgbClr val="171717"/>
                </a:solidFill>
                <a:latin typeface="IBM Plex Serif"/>
                <a:ea typeface="IBM Plex Serif"/>
                <a:cs typeface="IBM Plex Serif"/>
              </a:rPr>
              <a:t>)</a:t>
            </a:r>
            <a:endParaRPr sz="1100">
              <a:latin typeface="IBM Plex Serif"/>
              <a:cs typeface="IBM Plex Serif"/>
            </a:endParaRPr>
          </a:p>
          <a:p>
            <a:pPr marL="0" indent="0">
              <a:lnSpc>
                <a:spcPct val="120000"/>
              </a:lnSpc>
              <a:buNone/>
              <a:defRPr/>
            </a:pPr>
            <a:r>
              <a:rPr lang="en-US" sz="1100">
                <a:solidFill>
                  <a:srgbClr val="171717"/>
                </a:solidFill>
                <a:latin typeface="IBM Plex Serif"/>
                <a:ea typeface="IBM Plex Serif"/>
                <a:cs typeface="IBM Plex Serif"/>
              </a:rPr>
              <a:t>X_test = imputer.transform(</a:t>
            </a:r>
            <a:endParaRPr sz="1100">
              <a:latin typeface="IBM Plex Serif"/>
              <a:cs typeface="IBM Plex Serif"/>
            </a:endParaRPr>
          </a:p>
          <a:p>
            <a:pPr marL="0" indent="0">
              <a:lnSpc>
                <a:spcPct val="120000"/>
              </a:lnSpc>
              <a:buNone/>
              <a:defRPr/>
            </a:pPr>
            <a:r>
              <a:rPr lang="en-US" sz="1100">
                <a:solidFill>
                  <a:srgbClr val="171717"/>
                </a:solidFill>
                <a:latin typeface="IBM Plex Serif"/>
                <a:ea typeface="IBM Plex Serif"/>
                <a:cs typeface="IBM Plex Serif"/>
              </a:rPr>
              <a:t>  X_test</a:t>
            </a:r>
            <a:endParaRPr sz="1100">
              <a:latin typeface="IBM Plex Serif"/>
              <a:cs typeface="IBM Plex Serif"/>
            </a:endParaRPr>
          </a:p>
          <a:p>
            <a:pPr marL="0" indent="0">
              <a:lnSpc>
                <a:spcPct val="120000"/>
              </a:lnSpc>
              <a:buNone/>
              <a:defRPr/>
            </a:pPr>
            <a:r>
              <a:rPr lang="en-US" sz="1100">
                <a:solidFill>
                  <a:srgbClr val="171717"/>
                </a:solidFill>
                <a:latin typeface="IBM Plex Serif"/>
                <a:ea typeface="IBM Plex Serif"/>
                <a:cs typeface="IBM Plex Serif"/>
              </a:rPr>
              <a:t>)</a:t>
            </a:r>
            <a:endParaRPr sz="1100">
              <a:latin typeface="IBM Plex Serif"/>
              <a:cs typeface="IBM Plex Serif"/>
            </a:endParaRPr>
          </a:p>
        </p:txBody>
      </p:sp>
      <p:sp>
        <p:nvSpPr>
          <p:cNvPr id="844050293" name="Text 12"/>
          <p:cNvSpPr/>
          <p:nvPr/>
        </p:nvSpPr>
        <p:spPr bwMode="auto">
          <a:xfrm>
            <a:off x="7799832" y="4251960"/>
            <a:ext cx="3611880" cy="1463040"/>
          </a:xfrm>
          <a:prstGeom prst="rect">
            <a:avLst/>
          </a:prstGeom>
          <a:noFill/>
          <a:ln/>
        </p:spPr>
        <p:txBody>
          <a:bodyPr wrap="square" lIns="0" tIns="0" rIns="0" bIns="0" rtlCol="0" anchor="t"/>
          <a:lstStyle/>
          <a:p>
            <a:pPr marL="0" indent="0">
              <a:buNone/>
              <a:defRPr/>
            </a:pPr>
            <a:r>
              <a:rPr lang="en-US" sz="1200" i="1">
                <a:solidFill>
                  <a:srgbClr val="6E6E6E"/>
                </a:solidFill>
                <a:latin typeface="IBM Plex Serif"/>
                <a:ea typeface="IBM Plex Serif"/>
                <a:cs typeface="IBM Plex Serif"/>
              </a:rPr>
              <a:t>Thực hiện sau One-Hot để tận dụng toàn bộ thông tin số đã mã hoá khi ước lượng giá trị thiếu (ví dụ NaN ở BMI).</a:t>
            </a:r>
            <a:endParaRPr sz="1200">
              <a:latin typeface="IBM Plex Serif"/>
              <a:cs typeface="IBM Plex Serif"/>
            </a:endParaRPr>
          </a:p>
        </p:txBody>
      </p:sp>
      <p:sp>
        <p:nvSpPr>
          <p:cNvPr id="1716282170" name="Text 13"/>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870938950" name="Text 14"/>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07</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sp>
        <p:nvSpPr>
          <p:cNvPr id="1972022044"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03 · LEAKAGE-SAFE STEPS</a:t>
            </a:r>
            <a:endParaRPr sz="1250">
              <a:latin typeface="IBM Plex Serif"/>
              <a:cs typeface="IBM Plex Serif"/>
            </a:endParaRPr>
          </a:p>
        </p:txBody>
      </p:sp>
      <p:sp>
        <p:nvSpPr>
          <p:cNvPr id="1688009910"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Phát hiện ngoại lai — ngưỡng học từ Train</a:t>
            </a:r>
            <a:endParaRPr sz="3000">
              <a:latin typeface="IBM Plex Serif"/>
              <a:cs typeface="IBM Plex Serif"/>
            </a:endParaRPr>
          </a:p>
        </p:txBody>
      </p:sp>
      <p:sp>
        <p:nvSpPr>
          <p:cNvPr id="2095005270"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955871614"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08</a:t>
            </a:r>
            <a:endParaRPr sz="900">
              <a:latin typeface="IBM Plex Serif"/>
              <a:cs typeface="IBM Plex Serif"/>
            </a:endParaRPr>
          </a:p>
        </p:txBody>
      </p:sp>
      <p:sp>
        <p:nvSpPr>
          <p:cNvPr id="1202733005" name="Shape 4"/>
          <p:cNvSpPr/>
          <p:nvPr/>
        </p:nvSpPr>
        <p:spPr bwMode="auto">
          <a:xfrm>
            <a:off x="2100308" y="1298448"/>
            <a:ext cx="7988336" cy="2478024"/>
          </a:xfrm>
          <a:prstGeom prst="rect">
            <a:avLst/>
          </a:prstGeom>
          <a:solidFill>
            <a:srgbClr val="FFFFFF"/>
          </a:solidFill>
          <a:ln w="12700">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pic>
        <p:nvPicPr>
          <p:cNvPr id="519412345" name="Image 0" descr="images_v2/cell9_0.png"/>
          <p:cNvPicPr>
            <a:picLocks noChangeAspect="1"/>
          </p:cNvPicPr>
          <p:nvPr/>
        </p:nvPicPr>
        <p:blipFill rotWithShape="1">
          <a:blip r:embed="rId3"/>
          <a:stretch/>
        </p:blipFill>
        <p:spPr bwMode="auto">
          <a:xfrm>
            <a:off x="2173460" y="1371600"/>
            <a:ext cx="7842032" cy="2331720"/>
          </a:xfrm>
          <a:prstGeom prst="rect">
            <a:avLst/>
          </a:prstGeom>
        </p:spPr>
      </p:pic>
      <p:sp>
        <p:nvSpPr>
          <p:cNvPr id="1859643295" name="Text 5"/>
          <p:cNvSpPr/>
          <p:nvPr/>
        </p:nvSpPr>
        <p:spPr bwMode="auto">
          <a:xfrm>
            <a:off x="548640" y="3758184"/>
            <a:ext cx="11091672" cy="274320"/>
          </a:xfrm>
          <a:prstGeom prst="rect">
            <a:avLst/>
          </a:prstGeom>
          <a:noFill/>
          <a:ln/>
        </p:spPr>
        <p:txBody>
          <a:bodyPr wrap="square" lIns="0" tIns="0" rIns="0" bIns="0" rtlCol="0" anchor="ctr"/>
          <a:lstStyle/>
          <a:p>
            <a:pPr marL="0" indent="0" algn="ctr">
              <a:buNone/>
              <a:defRPr/>
            </a:pPr>
            <a:r>
              <a:rPr lang="en-US" sz="1050" i="1">
                <a:solidFill>
                  <a:srgbClr val="6E6E6E"/>
                </a:solidFill>
                <a:latin typeface="IBM Plex Serif"/>
                <a:ea typeface="IBM Plex Serif"/>
                <a:cs typeface="IBM Plex Serif"/>
              </a:rPr>
              <a:t>Boxplot 4 biến số liên tục theo phương pháp IQR</a:t>
            </a:r>
            <a:endParaRPr sz="1050">
              <a:latin typeface="IBM Plex Serif"/>
              <a:cs typeface="IBM Plex Serif"/>
            </a:endParaRPr>
          </a:p>
        </p:txBody>
      </p:sp>
      <p:graphicFrame>
        <p:nvGraphicFramePr>
          <p:cNvPr id="1436840471" name="Table 0"/>
          <p:cNvGraphicFramePr>
            <a:graphicFrameLocks xmlns:a="http://schemas.openxmlformats.org/drawingml/2006/main" noGrp="1"/>
          </p:cNvGraphicFramePr>
          <p:nvPr/>
        </p:nvGraphicFramePr>
        <p:xfrm rot="0">
          <a:off x="548640" y="3977640"/>
          <a:ext cx="6400800" cy="1783080"/>
        </p:xfrm>
        <a:graphic>
          <a:graphicData uri="http://schemas.openxmlformats.org/drawingml/2006/table">
            <a:tbl>
              <a:tblPr firstRow="0" firstCol="0" lastRow="0" lastCol="0" bandRow="0" bandCol="0"/>
              <a:tblGrid>
                <a:gridCol w="2377440"/>
                <a:gridCol w="2011680"/>
                <a:gridCol w="2011680"/>
              </a:tblGrid>
              <a:tr h="356616">
                <a:tc>
                  <a:txBody>
                    <a:bodyPr/>
                    <a:p>
                      <a:pPr marL="0" indent="0" algn="ctr">
                        <a:buNone/>
                        <a:defRPr/>
                      </a:pPr>
                      <a:r>
                        <a:rPr lang="en-US" sz="1300" b="1">
                          <a:solidFill>
                            <a:srgbClr val="FFFFFF"/>
                          </a:solidFill>
                          <a:latin typeface="IBM Plex Serif"/>
                          <a:ea typeface="IBM Plex Serif"/>
                          <a:cs typeface="IBM Plex Serif"/>
                        </a:rPr>
                        <a:t>Feature</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c>
                  <a:txBody>
                    <a:bodyPr/>
                    <a:p>
                      <a:pPr marL="0" indent="0" algn="ctr">
                        <a:buNone/>
                        <a:defRPr/>
                      </a:pPr>
                      <a:r>
                        <a:rPr lang="en-US" sz="1300" b="1">
                          <a:solidFill>
                            <a:srgbClr val="FFFFFF"/>
                          </a:solidFill>
                          <a:latin typeface="IBM Plex Serif"/>
                          <a:ea typeface="IBM Plex Serif"/>
                          <a:cs typeface="IBM Plex Serif"/>
                        </a:rPr>
                        <a:t>Lower Bound</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c>
                  <a:txBody>
                    <a:bodyPr/>
                    <a:p>
                      <a:pPr marL="0" indent="0" algn="ctr">
                        <a:buNone/>
                        <a:defRPr/>
                      </a:pPr>
                      <a:r>
                        <a:rPr lang="en-US" sz="1300" b="1">
                          <a:solidFill>
                            <a:srgbClr val="FFFFFF"/>
                          </a:solidFill>
                          <a:latin typeface="IBM Plex Serif"/>
                          <a:ea typeface="IBM Plex Serif"/>
                          <a:cs typeface="IBM Plex Serif"/>
                        </a:rPr>
                        <a:t>Upper Bound</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r>
              <a:tr h="356616">
                <a:tc>
                  <a:txBody>
                    <a:bodyPr/>
                    <a:p>
                      <a:pPr marL="0" indent="0" algn="ctr">
                        <a:buNone/>
                        <a:defRPr/>
                      </a:pPr>
                      <a:r>
                        <a:rPr lang="en-US" sz="1300">
                          <a:solidFill>
                            <a:srgbClr val="171717"/>
                          </a:solidFill>
                          <a:latin typeface="IBM Plex Serif"/>
                          <a:ea typeface="IBM Plex Serif"/>
                          <a:cs typeface="IBM Plex Serif"/>
                        </a:rPr>
                        <a:t>BMI</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300">
                          <a:solidFill>
                            <a:srgbClr val="171717"/>
                          </a:solidFill>
                          <a:latin typeface="IBM Plex Serif"/>
                          <a:ea typeface="IBM Plex Serif"/>
                          <a:cs typeface="IBM Plex Serif"/>
                        </a:rPr>
                        <a:t>12.02</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300">
                          <a:solidFill>
                            <a:srgbClr val="171717"/>
                          </a:solidFill>
                          <a:latin typeface="IBM Plex Serif"/>
                          <a:ea typeface="IBM Plex Serif"/>
                          <a:cs typeface="IBM Plex Serif"/>
                        </a:rPr>
                        <a:t>45.46</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56616">
                <a:tc>
                  <a:txBody>
                    <a:bodyPr/>
                    <a:p>
                      <a:pPr marL="0" indent="0" algn="ctr">
                        <a:buNone/>
                        <a:defRPr/>
                      </a:pPr>
                      <a:r>
                        <a:rPr lang="en-US" sz="1300">
                          <a:solidFill>
                            <a:srgbClr val="171717"/>
                          </a:solidFill>
                          <a:latin typeface="IBM Plex Serif"/>
                          <a:ea typeface="IBM Plex Serif"/>
                          <a:cs typeface="IBM Plex Serif"/>
                        </a:rPr>
                        <a:t>PhysicalHealth</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300">
                          <a:solidFill>
                            <a:srgbClr val="171717"/>
                          </a:solidFill>
                          <a:latin typeface="IBM Plex Serif"/>
                          <a:ea typeface="IBM Plex Serif"/>
                          <a:cs typeface="IBM Plex Serif"/>
                        </a:rPr>
                        <a:t>−4.50</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300">
                          <a:solidFill>
                            <a:srgbClr val="171717"/>
                          </a:solidFill>
                          <a:latin typeface="IBM Plex Serif"/>
                          <a:ea typeface="IBM Plex Serif"/>
                          <a:cs typeface="IBM Plex Serif"/>
                        </a:rPr>
                        <a:t>7.50</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56616">
                <a:tc>
                  <a:txBody>
                    <a:bodyPr/>
                    <a:p>
                      <a:pPr marL="0" indent="0" algn="ctr">
                        <a:buNone/>
                        <a:defRPr/>
                      </a:pPr>
                      <a:r>
                        <a:rPr lang="en-US" sz="1300">
                          <a:solidFill>
                            <a:srgbClr val="171717"/>
                          </a:solidFill>
                          <a:latin typeface="IBM Plex Serif"/>
                          <a:ea typeface="IBM Plex Serif"/>
                          <a:cs typeface="IBM Plex Serif"/>
                        </a:rPr>
                        <a:t>MentalHealth</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300">
                          <a:solidFill>
                            <a:srgbClr val="171717"/>
                          </a:solidFill>
                          <a:latin typeface="IBM Plex Serif"/>
                          <a:ea typeface="IBM Plex Serif"/>
                          <a:cs typeface="IBM Plex Serif"/>
                        </a:rPr>
                        <a:t>−6.00</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300">
                          <a:solidFill>
                            <a:srgbClr val="171717"/>
                          </a:solidFill>
                          <a:latin typeface="IBM Plex Serif"/>
                          <a:ea typeface="IBM Plex Serif"/>
                          <a:cs typeface="IBM Plex Serif"/>
                        </a:rPr>
                        <a:t>10.00</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56616">
                <a:tc>
                  <a:txBody>
                    <a:bodyPr/>
                    <a:p>
                      <a:pPr marL="0" indent="0" algn="ctr">
                        <a:buNone/>
                        <a:defRPr/>
                      </a:pPr>
                      <a:r>
                        <a:rPr lang="en-US" sz="1300">
                          <a:solidFill>
                            <a:srgbClr val="171717"/>
                          </a:solidFill>
                          <a:latin typeface="IBM Plex Serif"/>
                          <a:ea typeface="IBM Plex Serif"/>
                          <a:cs typeface="IBM Plex Serif"/>
                        </a:rPr>
                        <a:t>SleepTime</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300">
                          <a:solidFill>
                            <a:srgbClr val="171717"/>
                          </a:solidFill>
                          <a:latin typeface="IBM Plex Serif"/>
                          <a:ea typeface="IBM Plex Serif"/>
                          <a:cs typeface="IBM Plex Serif"/>
                        </a:rPr>
                        <a:t>3.00</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300">
                          <a:solidFill>
                            <a:srgbClr val="171717"/>
                          </a:solidFill>
                          <a:latin typeface="IBM Plex Serif"/>
                          <a:ea typeface="IBM Plex Serif"/>
                          <a:cs typeface="IBM Plex Serif"/>
                        </a:rPr>
                        <a:t>11.00</a:t>
                      </a:r>
                      <a:endParaRPr sz="13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bl>
          </a:graphicData>
        </a:graphic>
      </p:graphicFrame>
      <p:sp>
        <p:nvSpPr>
          <p:cNvPr id="17242161" name="Shape 6"/>
          <p:cNvSpPr/>
          <p:nvPr/>
        </p:nvSpPr>
        <p:spPr bwMode="auto">
          <a:xfrm>
            <a:off x="7589520" y="3977640"/>
            <a:ext cx="4050792" cy="1783080"/>
          </a:xfrm>
          <a:prstGeom prst="roundRect">
            <a:avLst>
              <a:gd name="adj" fmla="val 3590"/>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749463697" name="Text 7"/>
          <p:cNvSpPr/>
          <p:nvPr/>
        </p:nvSpPr>
        <p:spPr bwMode="auto">
          <a:xfrm>
            <a:off x="7754112" y="4114800"/>
            <a:ext cx="3749040" cy="1508759"/>
          </a:xfrm>
          <a:prstGeom prst="rect">
            <a:avLst/>
          </a:prstGeom>
          <a:noFill/>
          <a:ln/>
        </p:spPr>
        <p:txBody>
          <a:bodyPr wrap="square" lIns="0" tIns="0" rIns="0" bIns="0" rtlCol="0" anchor="t"/>
          <a:lstStyle/>
          <a:p>
            <a:pPr marL="0" indent="0">
              <a:lnSpc>
                <a:spcPct val="114999"/>
              </a:lnSpc>
              <a:buNone/>
              <a:defRPr/>
            </a:pPr>
            <a:r>
              <a:rPr lang="en-US" sz="1150" b="1">
                <a:solidFill>
                  <a:srgbClr val="171717"/>
                </a:solidFill>
                <a:latin typeface="IBM Plex Serif"/>
                <a:ea typeface="IBM Plex Serif"/>
                <a:cs typeface="IBM Plex Serif"/>
              </a:rPr>
              <a:t>Điểm khác biệt: </a:t>
            </a:r>
            <a:endParaRPr sz="1150">
              <a:latin typeface="IBM Plex Serif"/>
              <a:cs typeface="IBM Plex Serif"/>
            </a:endParaRPr>
          </a:p>
          <a:p>
            <a:pPr marL="0" indent="0">
              <a:lnSpc>
                <a:spcPct val="114999"/>
              </a:lnSpc>
              <a:buNone/>
              <a:defRPr/>
            </a:pPr>
            <a:r>
              <a:rPr lang="en-US" sz="1150">
                <a:solidFill>
                  <a:srgbClr val="6E6E6E"/>
                </a:solidFill>
                <a:latin typeface="IBM Plex Serif"/>
                <a:ea typeface="IBM Plex Serif"/>
                <a:cs typeface="IBM Plex Serif"/>
              </a:rPr>
              <a:t>Q1, Q3, IQR được tính từ X_train.quantile() — KHÔNG dùng toàn bộ df như trước. Ngưỡng outlier không bị ảnh hưởng bởi phân phối của tập test.</a:t>
            </a:r>
            <a:endParaRPr sz="1150">
              <a:latin typeface="IBM Plex Serif"/>
              <a:cs typeface="IBM Plex Serif"/>
            </a:endParaRPr>
          </a:p>
        </p:txBody>
      </p:sp>
      <p:sp>
        <p:nvSpPr>
          <p:cNvPr id="1125426645" name="Text 8"/>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797753295" name="Text 9"/>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08</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sp>
        <p:nvSpPr>
          <p:cNvPr id="1171253202"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04 · EDA</a:t>
            </a:r>
            <a:endParaRPr sz="1250">
              <a:latin typeface="IBM Plex Serif"/>
              <a:cs typeface="IBM Plex Serif"/>
            </a:endParaRPr>
          </a:p>
        </p:txBody>
      </p:sp>
      <p:sp>
        <p:nvSpPr>
          <p:cNvPr id="1631829776"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Chuẩn hoá đặc trưng (StandardScaler)</a:t>
            </a:r>
            <a:endParaRPr sz="3000">
              <a:latin typeface="IBM Plex Serif"/>
              <a:cs typeface="IBM Plex Serif"/>
            </a:endParaRPr>
          </a:p>
        </p:txBody>
      </p:sp>
      <p:sp>
        <p:nvSpPr>
          <p:cNvPr id="1594833089"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708891466"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09</a:t>
            </a:r>
            <a:endParaRPr sz="900">
              <a:latin typeface="IBM Plex Serif"/>
              <a:cs typeface="IBM Plex Serif"/>
            </a:endParaRPr>
          </a:p>
        </p:txBody>
      </p:sp>
      <p:sp>
        <p:nvSpPr>
          <p:cNvPr id="134384371" name="Shape 4"/>
          <p:cNvSpPr/>
          <p:nvPr/>
        </p:nvSpPr>
        <p:spPr bwMode="auto">
          <a:xfrm>
            <a:off x="548640" y="1371600"/>
            <a:ext cx="6675120" cy="2926080"/>
          </a:xfrm>
          <a:prstGeom prst="roundRect">
            <a:avLst>
              <a:gd name="adj" fmla="val 2188"/>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265936007" name="Text 5"/>
          <p:cNvSpPr/>
          <p:nvPr/>
        </p:nvSpPr>
        <p:spPr bwMode="auto">
          <a:xfrm>
            <a:off x="804672" y="1554480"/>
            <a:ext cx="4572000" cy="32004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Quy tắc fit/transform</a:t>
            </a:r>
            <a:endParaRPr sz="1500">
              <a:latin typeface="IBM Plex Serif"/>
              <a:cs typeface="IBM Plex Serif"/>
            </a:endParaRPr>
          </a:p>
        </p:txBody>
      </p:sp>
      <p:sp>
        <p:nvSpPr>
          <p:cNvPr id="1463934541" name="Text 6"/>
          <p:cNvSpPr/>
          <p:nvPr/>
        </p:nvSpPr>
        <p:spPr bwMode="auto">
          <a:xfrm>
            <a:off x="804672" y="1965960"/>
            <a:ext cx="6217920" cy="2194560"/>
          </a:xfrm>
          <a:prstGeom prst="rect">
            <a:avLst/>
          </a:prstGeom>
          <a:noFill/>
          <a:ln/>
        </p:spPr>
        <p:txBody>
          <a:bodyPr wrap="square" lIns="0" tIns="0" rIns="0" bIns="0" rtlCol="0" anchor="t"/>
          <a:lstStyle/>
          <a:p>
            <a:pPr marL="177800" indent="-177800">
              <a:spcAft>
                <a:spcPts val="1000"/>
              </a:spcAft>
              <a:buSzPct val="100000"/>
              <a:buChar char="•"/>
              <a:defRPr/>
            </a:pPr>
            <a:r>
              <a:rPr lang="en-US" sz="1300">
                <a:solidFill>
                  <a:srgbClr val="171717"/>
                </a:solidFill>
                <a:latin typeface="IBM Plex Serif"/>
                <a:ea typeface="IBM Plex Serif"/>
                <a:cs typeface="IBM Plex Serif"/>
              </a:rPr>
              <a:t>scaler.fit_transform(X_train[num_cols]) — học mean &amp; std CHỈ từ tập train.</a:t>
            </a:r>
            <a:endParaRPr sz="1300">
              <a:latin typeface="IBM Plex Serif"/>
              <a:cs typeface="IBM Plex Serif"/>
            </a:endParaRPr>
          </a:p>
          <a:p>
            <a:pPr marL="177800" indent="-177800">
              <a:spcAft>
                <a:spcPts val="1000"/>
              </a:spcAft>
              <a:buSzPct val="100000"/>
              <a:buChar char="•"/>
              <a:defRPr/>
            </a:pPr>
            <a:r>
              <a:rPr lang="en-US" sz="1300">
                <a:solidFill>
                  <a:srgbClr val="171717"/>
                </a:solidFill>
                <a:latin typeface="IBM Plex Serif"/>
                <a:ea typeface="IBM Plex Serif"/>
                <a:cs typeface="IBM Plex Serif"/>
              </a:rPr>
              <a:t>scaler.transform(X_test[num_cols]) — áp dụng lại đúng mean &amp; std đã học, không tính lại trên test.</a:t>
            </a:r>
            <a:endParaRPr sz="1300">
              <a:latin typeface="IBM Plex Serif"/>
              <a:cs typeface="IBM Plex Serif"/>
            </a:endParaRPr>
          </a:p>
          <a:p>
            <a:pPr marL="177800" indent="-177800">
              <a:spcAft>
                <a:spcPts val="1000"/>
              </a:spcAft>
              <a:buSzPct val="100000"/>
              <a:buChar char="•"/>
              <a:defRPr/>
            </a:pPr>
            <a:r>
              <a:rPr lang="en-US" sz="1300">
                <a:solidFill>
                  <a:srgbClr val="171717"/>
                </a:solidFill>
                <a:latin typeface="IBM Plex Serif"/>
                <a:ea typeface="IBM Plex Serif"/>
                <a:cs typeface="IBM Plex Serif"/>
              </a:rPr>
              <a:t>Áp dụng cho 4 biến số liên tục: BMI, PhysicalHealth, MentalHealth, SleepTime.</a:t>
            </a:r>
            <a:endParaRPr sz="1300">
              <a:latin typeface="IBM Plex Serif"/>
              <a:cs typeface="IBM Plex Serif"/>
            </a:endParaRPr>
          </a:p>
          <a:p>
            <a:pPr marL="177800" indent="-177800">
              <a:spcAft>
                <a:spcPts val="1000"/>
              </a:spcAft>
              <a:buSzPct val="100000"/>
              <a:buChar char="•"/>
              <a:defRPr/>
            </a:pPr>
            <a:r>
              <a:rPr lang="en-US" sz="1300">
                <a:solidFill>
                  <a:srgbClr val="171717"/>
                </a:solidFill>
                <a:latin typeface="IBM Plex Serif"/>
                <a:ea typeface="IBM Plex Serif"/>
                <a:cs typeface="IBM Plex Serif"/>
              </a:rPr>
              <a:t>Thực hiện sau Encoding &amp; Imputation — đảm bảo toàn bộ dữ liệu đã là dạng số trước khi chuẩn hoá.</a:t>
            </a:r>
            <a:endParaRPr sz="1300">
              <a:latin typeface="IBM Plex Serif"/>
              <a:cs typeface="IBM Plex Serif"/>
            </a:endParaRPr>
          </a:p>
        </p:txBody>
      </p:sp>
      <p:sp>
        <p:nvSpPr>
          <p:cNvPr id="483647503" name="Shape 7"/>
          <p:cNvSpPr/>
          <p:nvPr/>
        </p:nvSpPr>
        <p:spPr bwMode="auto">
          <a:xfrm>
            <a:off x="548640" y="4526280"/>
            <a:ext cx="1508759" cy="731520"/>
          </a:xfrm>
          <a:prstGeom prst="roundRect">
            <a:avLst>
              <a:gd name="adj" fmla="val 7500"/>
            </a:avLst>
          </a:prstGeom>
          <a:solidFill>
            <a:srgbClr val="F7F7F7"/>
          </a:solidFill>
          <a:ln w="9525">
            <a:solidFill>
              <a:srgbClr val="E3E3E3"/>
            </a:solidFill>
            <a:prstDash val="solid"/>
          </a:ln>
        </p:spPr>
        <p:txBody>
          <a:bodyPr anchor="ctr"/>
          <a:p>
            <a:pPr algn="ctr">
              <a:defRPr/>
            </a:pPr>
            <a:endParaRPr>
              <a:latin typeface="IBM Plex Serif"/>
              <a:cs typeface="IBM Plex Serif"/>
            </a:endParaRPr>
          </a:p>
        </p:txBody>
      </p:sp>
      <p:sp>
        <p:nvSpPr>
          <p:cNvPr id="774244135" name="Text 8"/>
          <p:cNvSpPr/>
          <p:nvPr/>
        </p:nvSpPr>
        <p:spPr bwMode="auto">
          <a:xfrm>
            <a:off x="548640" y="4526280"/>
            <a:ext cx="1508759" cy="731520"/>
          </a:xfrm>
          <a:prstGeom prst="rect">
            <a:avLst/>
          </a:prstGeom>
          <a:noFill/>
          <a:ln/>
        </p:spPr>
        <p:txBody>
          <a:bodyPr wrap="square" lIns="0" tIns="0" rIns="0" bIns="0" rtlCol="0" anchor="ctr"/>
          <a:lstStyle/>
          <a:p>
            <a:pPr marL="0" indent="0" algn="ctr">
              <a:buNone/>
              <a:defRPr/>
            </a:pPr>
            <a:r>
              <a:rPr lang="en-US" sz="1150" b="1">
                <a:solidFill>
                  <a:srgbClr val="7A1322"/>
                </a:solidFill>
                <a:latin typeface="IBM Plex Serif"/>
                <a:ea typeface="IBM Plex Serif"/>
                <a:cs typeface="IBM Plex Serif"/>
              </a:rPr>
              <a:t>BMI</a:t>
            </a:r>
            <a:endParaRPr sz="1150">
              <a:latin typeface="IBM Plex Serif"/>
              <a:cs typeface="IBM Plex Serif"/>
            </a:endParaRPr>
          </a:p>
        </p:txBody>
      </p:sp>
      <p:sp>
        <p:nvSpPr>
          <p:cNvPr id="54232258" name="Shape 9"/>
          <p:cNvSpPr/>
          <p:nvPr/>
        </p:nvSpPr>
        <p:spPr bwMode="auto">
          <a:xfrm>
            <a:off x="2240280" y="4526280"/>
            <a:ext cx="1508759" cy="731520"/>
          </a:xfrm>
          <a:prstGeom prst="roundRect">
            <a:avLst>
              <a:gd name="adj" fmla="val 7500"/>
            </a:avLst>
          </a:prstGeom>
          <a:solidFill>
            <a:srgbClr val="F7F7F7"/>
          </a:solidFill>
          <a:ln w="9525">
            <a:solidFill>
              <a:srgbClr val="E3E3E3"/>
            </a:solidFill>
            <a:prstDash val="solid"/>
          </a:ln>
        </p:spPr>
        <p:txBody>
          <a:bodyPr anchor="ctr"/>
          <a:p>
            <a:pPr algn="ctr">
              <a:defRPr/>
            </a:pPr>
            <a:endParaRPr>
              <a:latin typeface="IBM Plex Serif"/>
              <a:cs typeface="IBM Plex Serif"/>
            </a:endParaRPr>
          </a:p>
        </p:txBody>
      </p:sp>
      <p:sp>
        <p:nvSpPr>
          <p:cNvPr id="115577753" name="Text 10"/>
          <p:cNvSpPr/>
          <p:nvPr/>
        </p:nvSpPr>
        <p:spPr bwMode="auto">
          <a:xfrm>
            <a:off x="2240280" y="4526280"/>
            <a:ext cx="1508759" cy="731520"/>
          </a:xfrm>
          <a:prstGeom prst="rect">
            <a:avLst/>
          </a:prstGeom>
          <a:noFill/>
          <a:ln/>
        </p:spPr>
        <p:txBody>
          <a:bodyPr wrap="square" lIns="0" tIns="0" rIns="0" bIns="0" rtlCol="0" anchor="ctr"/>
          <a:lstStyle/>
          <a:p>
            <a:pPr marL="0" indent="0" algn="ctr">
              <a:buNone/>
              <a:defRPr/>
            </a:pPr>
            <a:r>
              <a:rPr lang="en-US" sz="1150" b="1">
                <a:solidFill>
                  <a:srgbClr val="7A1322"/>
                </a:solidFill>
                <a:latin typeface="IBM Plex Serif"/>
                <a:ea typeface="IBM Plex Serif"/>
                <a:cs typeface="IBM Plex Serif"/>
              </a:rPr>
              <a:t>PhysicalHealth</a:t>
            </a:r>
            <a:endParaRPr sz="1150">
              <a:latin typeface="IBM Plex Serif"/>
              <a:cs typeface="IBM Plex Serif"/>
            </a:endParaRPr>
          </a:p>
        </p:txBody>
      </p:sp>
      <p:sp>
        <p:nvSpPr>
          <p:cNvPr id="1458780340" name="Shape 11"/>
          <p:cNvSpPr/>
          <p:nvPr/>
        </p:nvSpPr>
        <p:spPr bwMode="auto">
          <a:xfrm>
            <a:off x="3931920" y="4526280"/>
            <a:ext cx="1508759" cy="731520"/>
          </a:xfrm>
          <a:prstGeom prst="roundRect">
            <a:avLst>
              <a:gd name="adj" fmla="val 7500"/>
            </a:avLst>
          </a:prstGeom>
          <a:solidFill>
            <a:srgbClr val="F7F7F7"/>
          </a:solidFill>
          <a:ln w="9525">
            <a:solidFill>
              <a:srgbClr val="E3E3E3"/>
            </a:solidFill>
            <a:prstDash val="solid"/>
          </a:ln>
        </p:spPr>
        <p:txBody>
          <a:bodyPr anchor="ctr"/>
          <a:p>
            <a:pPr algn="ctr">
              <a:defRPr/>
            </a:pPr>
            <a:endParaRPr>
              <a:latin typeface="IBM Plex Serif"/>
              <a:cs typeface="IBM Plex Serif"/>
            </a:endParaRPr>
          </a:p>
        </p:txBody>
      </p:sp>
      <p:sp>
        <p:nvSpPr>
          <p:cNvPr id="69513889" name="Text 12"/>
          <p:cNvSpPr/>
          <p:nvPr/>
        </p:nvSpPr>
        <p:spPr bwMode="auto">
          <a:xfrm>
            <a:off x="3931920" y="4526280"/>
            <a:ext cx="1508759" cy="731520"/>
          </a:xfrm>
          <a:prstGeom prst="rect">
            <a:avLst/>
          </a:prstGeom>
          <a:noFill/>
          <a:ln/>
        </p:spPr>
        <p:txBody>
          <a:bodyPr wrap="square" lIns="0" tIns="0" rIns="0" bIns="0" rtlCol="0" anchor="ctr"/>
          <a:lstStyle/>
          <a:p>
            <a:pPr marL="0" indent="0" algn="ctr">
              <a:buNone/>
              <a:defRPr/>
            </a:pPr>
            <a:r>
              <a:rPr lang="en-US" sz="1150" b="1">
                <a:solidFill>
                  <a:srgbClr val="7A1322"/>
                </a:solidFill>
                <a:latin typeface="IBM Plex Serif"/>
                <a:ea typeface="IBM Plex Serif"/>
                <a:cs typeface="IBM Plex Serif"/>
              </a:rPr>
              <a:t>MentalHealth</a:t>
            </a:r>
            <a:endParaRPr sz="1150">
              <a:latin typeface="IBM Plex Serif"/>
              <a:cs typeface="IBM Plex Serif"/>
            </a:endParaRPr>
          </a:p>
        </p:txBody>
      </p:sp>
      <p:sp>
        <p:nvSpPr>
          <p:cNvPr id="560128749" name="Shape 13"/>
          <p:cNvSpPr/>
          <p:nvPr/>
        </p:nvSpPr>
        <p:spPr bwMode="auto">
          <a:xfrm>
            <a:off x="5623560" y="4526280"/>
            <a:ext cx="1508759" cy="731520"/>
          </a:xfrm>
          <a:prstGeom prst="roundRect">
            <a:avLst>
              <a:gd name="adj" fmla="val 7500"/>
            </a:avLst>
          </a:prstGeom>
          <a:solidFill>
            <a:srgbClr val="F7F7F7"/>
          </a:solidFill>
          <a:ln w="9525">
            <a:solidFill>
              <a:srgbClr val="E3E3E3"/>
            </a:solidFill>
            <a:prstDash val="solid"/>
          </a:ln>
        </p:spPr>
        <p:txBody>
          <a:bodyPr anchor="ctr"/>
          <a:p>
            <a:pPr algn="ctr">
              <a:defRPr/>
            </a:pPr>
            <a:endParaRPr>
              <a:latin typeface="IBM Plex Serif"/>
              <a:cs typeface="IBM Plex Serif"/>
            </a:endParaRPr>
          </a:p>
        </p:txBody>
      </p:sp>
      <p:sp>
        <p:nvSpPr>
          <p:cNvPr id="3485097" name="Text 14"/>
          <p:cNvSpPr/>
          <p:nvPr/>
        </p:nvSpPr>
        <p:spPr bwMode="auto">
          <a:xfrm>
            <a:off x="5623560" y="4526280"/>
            <a:ext cx="1508759" cy="731520"/>
          </a:xfrm>
          <a:prstGeom prst="rect">
            <a:avLst/>
          </a:prstGeom>
          <a:noFill/>
          <a:ln/>
        </p:spPr>
        <p:txBody>
          <a:bodyPr wrap="square" lIns="0" tIns="0" rIns="0" bIns="0" rtlCol="0" anchor="ctr"/>
          <a:lstStyle/>
          <a:p>
            <a:pPr marL="0" indent="0" algn="ctr">
              <a:buNone/>
              <a:defRPr/>
            </a:pPr>
            <a:r>
              <a:rPr lang="en-US" sz="1150" b="1">
                <a:solidFill>
                  <a:srgbClr val="7A1322"/>
                </a:solidFill>
                <a:latin typeface="IBM Plex Serif"/>
                <a:ea typeface="IBM Plex Serif"/>
                <a:cs typeface="IBM Plex Serif"/>
              </a:rPr>
              <a:t>SleepTime</a:t>
            </a:r>
            <a:endParaRPr sz="1150">
              <a:latin typeface="IBM Plex Serif"/>
              <a:cs typeface="IBM Plex Serif"/>
            </a:endParaRPr>
          </a:p>
        </p:txBody>
      </p:sp>
      <p:sp>
        <p:nvSpPr>
          <p:cNvPr id="72979394" name="Shape 15"/>
          <p:cNvSpPr/>
          <p:nvPr/>
        </p:nvSpPr>
        <p:spPr bwMode="auto">
          <a:xfrm>
            <a:off x="7818120" y="1371600"/>
            <a:ext cx="3822192" cy="3886200"/>
          </a:xfrm>
          <a:prstGeom prst="roundRect">
            <a:avLst>
              <a:gd name="adj" fmla="val 1675"/>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394655617" name="Shape 16"/>
          <p:cNvSpPr/>
          <p:nvPr/>
        </p:nvSpPr>
        <p:spPr bwMode="auto">
          <a:xfrm>
            <a:off x="8074152" y="1627632"/>
            <a:ext cx="640080" cy="64008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54075543" name="Image 0" descr="preencoded.png"/>
          <p:cNvPicPr>
            <a:picLocks noChangeAspect="1"/>
          </p:cNvPicPr>
          <p:nvPr/>
        </p:nvPicPr>
        <p:blipFill rotWithShape="1">
          <a:blip r:embed="rId3"/>
          <a:stretch/>
        </p:blipFill>
        <p:spPr bwMode="auto">
          <a:xfrm>
            <a:off x="8311896" y="1865376"/>
            <a:ext cx="164592" cy="164592"/>
          </a:xfrm>
          <a:prstGeom prst="rect">
            <a:avLst/>
          </a:prstGeom>
        </p:spPr>
      </p:pic>
      <p:sp>
        <p:nvSpPr>
          <p:cNvPr id="2086213201" name="Text 17"/>
          <p:cNvSpPr/>
          <p:nvPr/>
        </p:nvSpPr>
        <p:spPr bwMode="auto">
          <a:xfrm>
            <a:off x="8074152" y="2377440"/>
            <a:ext cx="3291840" cy="365760"/>
          </a:xfrm>
          <a:prstGeom prst="rect">
            <a:avLst/>
          </a:prstGeom>
          <a:noFill/>
          <a:ln/>
        </p:spPr>
        <p:txBody>
          <a:bodyPr wrap="square" lIns="0" tIns="0" rIns="0" bIns="0" rtlCol="0" anchor="ctr"/>
          <a:lstStyle/>
          <a:p>
            <a:pPr marL="0" indent="0">
              <a:buNone/>
              <a:defRPr/>
            </a:pPr>
            <a:r>
              <a:rPr lang="en-US" sz="1450" b="1">
                <a:solidFill>
                  <a:srgbClr val="171717"/>
                </a:solidFill>
                <a:latin typeface="IBM Plex Serif"/>
                <a:ea typeface="IBM Plex Serif"/>
                <a:cs typeface="IBM Plex Serif"/>
              </a:rPr>
              <a:t>Lưu ý trong code</a:t>
            </a:r>
            <a:endParaRPr sz="1450">
              <a:latin typeface="IBM Plex Serif"/>
              <a:cs typeface="IBM Plex Serif"/>
            </a:endParaRPr>
          </a:p>
        </p:txBody>
      </p:sp>
      <p:sp>
        <p:nvSpPr>
          <p:cNvPr id="1825839196" name="Text 18"/>
          <p:cNvSpPr/>
          <p:nvPr/>
        </p:nvSpPr>
        <p:spPr bwMode="auto">
          <a:xfrm>
            <a:off x="8074152" y="2788920"/>
            <a:ext cx="3291840" cy="2286000"/>
          </a:xfrm>
          <a:prstGeom prst="rect">
            <a:avLst/>
          </a:prstGeom>
          <a:noFill/>
          <a:ln/>
        </p:spPr>
        <p:txBody>
          <a:bodyPr wrap="square" lIns="0" tIns="0" rIns="0" bIns="0" rtlCol="0" anchor="t"/>
          <a:lstStyle/>
          <a:p>
            <a:pPr marL="0" indent="0">
              <a:lnSpc>
                <a:spcPct val="120000"/>
              </a:lnSpc>
              <a:buNone/>
              <a:defRPr/>
            </a:pPr>
            <a:r>
              <a:rPr lang="en-US" sz="1200">
                <a:solidFill>
                  <a:srgbClr val="6E6E6E"/>
                </a:solidFill>
                <a:latin typeface="IBM Plex Serif"/>
                <a:ea typeface="IBM Plex Serif"/>
                <a:cs typeface="IBM Plex Serif"/>
              </a:rPr>
              <a:t>StandardScaler hiện được gọi 2 lần trong notebook (trước và sau bước phân tích tương quan). Lần gọi thứ 2 chỉ lặp lại fit/transform trên dữ liệu đã chuẩn hoá — không gây leakage nhưng nên gộp lại thành một bước duy nhất để pipeline gọn và dễ kiểm tra hơn.</a:t>
            </a:r>
            <a:endParaRPr sz="1200">
              <a:latin typeface="IBM Plex Serif"/>
              <a:cs typeface="IBM Plex Serif"/>
            </a:endParaRPr>
          </a:p>
        </p:txBody>
      </p:sp>
      <p:sp>
        <p:nvSpPr>
          <p:cNvPr id="954399200" name="Text 19"/>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142247203" name="Text 20"/>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09</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FFFFF"/>
        </a:solidFill>
      </p:bgPr>
    </p:bg>
    <p:spTree>
      <p:nvGrpSpPr>
        <p:cNvPr id="1" name=""/>
        <p:cNvGrpSpPr/>
        <p:nvPr/>
      </p:nvGrpSpPr>
      <p:grpSpPr bwMode="auto">
        <a:xfrm>
          <a:off x="0" y="0"/>
          <a:ext cx="0" cy="0"/>
          <a:chOff x="0" y="0"/>
          <a:chExt cx="0" cy="0"/>
        </a:xfrm>
      </p:grpSpPr>
      <p:sp>
        <p:nvSpPr>
          <p:cNvPr id="1944610498"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04 · EDA</a:t>
            </a:r>
            <a:endParaRPr sz="1250">
              <a:latin typeface="IBM Plex Serif"/>
              <a:cs typeface="IBM Plex Serif"/>
            </a:endParaRPr>
          </a:p>
        </p:txBody>
      </p:sp>
      <p:sp>
        <p:nvSpPr>
          <p:cNvPr id="305325486"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Chọn đặc trưng theo tương quan — tính trên Train</a:t>
            </a:r>
            <a:endParaRPr sz="3000">
              <a:latin typeface="IBM Plex Serif"/>
              <a:cs typeface="IBM Plex Serif"/>
            </a:endParaRPr>
          </a:p>
        </p:txBody>
      </p:sp>
      <p:sp>
        <p:nvSpPr>
          <p:cNvPr id="709840824"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119094180"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10</a:t>
            </a:r>
            <a:endParaRPr sz="900">
              <a:latin typeface="IBM Plex Serif"/>
              <a:cs typeface="IBM Plex Serif"/>
            </a:endParaRPr>
          </a:p>
        </p:txBody>
      </p:sp>
      <p:sp>
        <p:nvSpPr>
          <p:cNvPr id="1423772655" name="Shape 4"/>
          <p:cNvSpPr/>
          <p:nvPr/>
        </p:nvSpPr>
        <p:spPr bwMode="auto">
          <a:xfrm>
            <a:off x="1213347" y="1298448"/>
            <a:ext cx="3151145" cy="4672584"/>
          </a:xfrm>
          <a:prstGeom prst="rect">
            <a:avLst/>
          </a:prstGeom>
          <a:solidFill>
            <a:srgbClr val="FFFFFF"/>
          </a:solidFill>
          <a:ln w="12700">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pic>
        <p:nvPicPr>
          <p:cNvPr id="1281057999" name="Image 0" descr="images_v2/cell12_1.png"/>
          <p:cNvPicPr>
            <a:picLocks noChangeAspect="1"/>
          </p:cNvPicPr>
          <p:nvPr/>
        </p:nvPicPr>
        <p:blipFill rotWithShape="1">
          <a:blip r:embed="rId3"/>
          <a:stretch/>
        </p:blipFill>
        <p:spPr bwMode="auto">
          <a:xfrm>
            <a:off x="1286499" y="1371600"/>
            <a:ext cx="3004841" cy="4526280"/>
          </a:xfrm>
          <a:prstGeom prst="rect">
            <a:avLst/>
          </a:prstGeom>
        </p:spPr>
      </p:pic>
      <p:sp>
        <p:nvSpPr>
          <p:cNvPr id="1254899449" name="Text 5"/>
          <p:cNvSpPr/>
          <p:nvPr/>
        </p:nvSpPr>
        <p:spPr bwMode="auto">
          <a:xfrm>
            <a:off x="548640" y="5952744"/>
            <a:ext cx="4480560" cy="274320"/>
          </a:xfrm>
          <a:prstGeom prst="rect">
            <a:avLst/>
          </a:prstGeom>
          <a:noFill/>
          <a:ln/>
        </p:spPr>
        <p:txBody>
          <a:bodyPr wrap="square" lIns="0" tIns="0" rIns="0" bIns="0" rtlCol="0" anchor="ctr"/>
          <a:lstStyle/>
          <a:p>
            <a:pPr marL="0" indent="0" algn="ctr">
              <a:buNone/>
              <a:defRPr/>
            </a:pPr>
            <a:r>
              <a:rPr lang="en-US" sz="1050" i="1">
                <a:solidFill>
                  <a:srgbClr val="6E6E6E"/>
                </a:solidFill>
                <a:latin typeface="IBM Plex Serif"/>
                <a:ea typeface="IBM Plex Serif"/>
                <a:cs typeface="IBM Plex Serif"/>
              </a:rPr>
              <a:t>Pearson Correlation — toàn bộ đặc trưng vs. HeartDisease (train)</a:t>
            </a:r>
            <a:endParaRPr sz="1050">
              <a:latin typeface="IBM Plex Serif"/>
              <a:cs typeface="IBM Plex Serif"/>
            </a:endParaRPr>
          </a:p>
        </p:txBody>
      </p:sp>
      <p:sp>
        <p:nvSpPr>
          <p:cNvPr id="1171649934" name="Shape 6"/>
          <p:cNvSpPr/>
          <p:nvPr/>
        </p:nvSpPr>
        <p:spPr bwMode="auto">
          <a:xfrm>
            <a:off x="5577840" y="1371600"/>
            <a:ext cx="6062471" cy="4572000"/>
          </a:xfrm>
          <a:prstGeom prst="roundRect">
            <a:avLst>
              <a:gd name="adj" fmla="val 1400"/>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90566857" name="Text 7"/>
          <p:cNvSpPr/>
          <p:nvPr/>
        </p:nvSpPr>
        <p:spPr bwMode="auto">
          <a:xfrm>
            <a:off x="5833872" y="1554480"/>
            <a:ext cx="5486400" cy="32004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14 / 41 đặc trưng có |r| ≥ 0.10</a:t>
            </a:r>
            <a:endParaRPr sz="1500">
              <a:latin typeface="IBM Plex Serif"/>
              <a:cs typeface="IBM Plex Serif"/>
            </a:endParaRPr>
          </a:p>
        </p:txBody>
      </p:sp>
      <p:graphicFrame>
        <p:nvGraphicFramePr>
          <p:cNvPr id="805638182" name="Table 0"/>
          <p:cNvGraphicFramePr>
            <a:graphicFrameLocks xmlns:a="http://schemas.openxmlformats.org/drawingml/2006/main" noGrp="1"/>
          </p:cNvGraphicFramePr>
          <p:nvPr/>
        </p:nvGraphicFramePr>
        <p:xfrm rot="0">
          <a:off x="5833872" y="1965960"/>
          <a:ext cx="5577840" cy="3657600"/>
        </p:xfrm>
        <a:graphic>
          <a:graphicData uri="http://schemas.openxmlformats.org/drawingml/2006/table">
            <a:tbl>
              <a:tblPr firstRow="0" firstCol="0" lastRow="0" lastCol="0" bandRow="0" bandCol="0"/>
              <a:tblGrid>
                <a:gridCol w="822960"/>
                <a:gridCol w="3200400"/>
                <a:gridCol w="1554480"/>
              </a:tblGrid>
              <a:tr h="374904">
                <a:tc>
                  <a:txBody>
                    <a:bodyPr/>
                    <a:p>
                      <a:pPr marL="0" indent="0" algn="ctr">
                        <a:buNone/>
                        <a:defRPr/>
                      </a:pPr>
                      <a:r>
                        <a:rPr lang="en-US" sz="1250" b="1">
                          <a:solidFill>
                            <a:srgbClr val="FFFFFF"/>
                          </a:solidFill>
                          <a:latin typeface="IBM Plex Serif"/>
                          <a:ea typeface="IBM Plex Serif"/>
                          <a:cs typeface="IBM Plex Serif"/>
                        </a:rPr>
                        <a:t>Rank</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c>
                  <a:txBody>
                    <a:bodyPr/>
                    <a:p>
                      <a:pPr marL="0" indent="0" algn="ctr">
                        <a:buNone/>
                        <a:defRPr/>
                      </a:pPr>
                      <a:r>
                        <a:rPr lang="en-US" sz="1250" b="1">
                          <a:solidFill>
                            <a:srgbClr val="FFFFFF"/>
                          </a:solidFill>
                          <a:latin typeface="IBM Plex Serif"/>
                          <a:ea typeface="IBM Plex Serif"/>
                          <a:cs typeface="IBM Plex Serif"/>
                        </a:rPr>
                        <a:t>Feature</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c>
                  <a:txBody>
                    <a:bodyPr/>
                    <a:p>
                      <a:pPr marL="0" indent="0" algn="ctr">
                        <a:buNone/>
                        <a:defRPr/>
                      </a:pPr>
                      <a:r>
                        <a:rPr lang="en-US" sz="1250" b="1">
                          <a:solidFill>
                            <a:srgbClr val="FFFFFF"/>
                          </a:solidFill>
                          <a:latin typeface="IBM Plex Serif"/>
                          <a:ea typeface="IBM Plex Serif"/>
                          <a:cs typeface="IBM Plex Serif"/>
                        </a:rPr>
                        <a:t>Correlation</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r>
              <a:tr h="374904">
                <a:tc>
                  <a:txBody>
                    <a:bodyPr/>
                    <a:p>
                      <a:pPr marL="0" indent="0" algn="ctr">
                        <a:buNone/>
                        <a:defRPr/>
                      </a:pPr>
                      <a:r>
                        <a:rPr lang="en-US" sz="1250">
                          <a:solidFill>
                            <a:srgbClr val="171717"/>
                          </a:solidFill>
                          <a:latin typeface="IBM Plex Serif"/>
                          <a:ea typeface="IBM Plex Serif"/>
                          <a:cs typeface="IBM Plex Serif"/>
                        </a:rPr>
                        <a:t>1</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DiffWalking_Yes</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+0.224</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74904">
                <a:tc>
                  <a:txBody>
                    <a:bodyPr/>
                    <a:p>
                      <a:pPr marL="0" indent="0" algn="ctr">
                        <a:buNone/>
                        <a:defRPr/>
                      </a:pPr>
                      <a:r>
                        <a:rPr lang="en-US" sz="1250">
                          <a:solidFill>
                            <a:srgbClr val="171717"/>
                          </a:solidFill>
                          <a:latin typeface="IBM Plex Serif"/>
                          <a:ea typeface="IBM Plex Serif"/>
                          <a:cs typeface="IBM Plex Serif"/>
                        </a:rPr>
                        <a:t>2</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GenHealth_Poor</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+0.203</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74904">
                <a:tc>
                  <a:txBody>
                    <a:bodyPr/>
                    <a:p>
                      <a:pPr marL="0" indent="0" algn="ctr">
                        <a:buNone/>
                        <a:defRPr/>
                      </a:pPr>
                      <a:r>
                        <a:rPr lang="en-US" sz="1250">
                          <a:solidFill>
                            <a:srgbClr val="171717"/>
                          </a:solidFill>
                          <a:latin typeface="IBM Plex Serif"/>
                          <a:ea typeface="IBM Plex Serif"/>
                          <a:cs typeface="IBM Plex Serif"/>
                        </a:rPr>
                        <a:t>3</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Diabetic_Yes</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+0.202</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74904">
                <a:tc>
                  <a:txBody>
                    <a:bodyPr/>
                    <a:p>
                      <a:pPr marL="0" indent="0" algn="ctr">
                        <a:buNone/>
                        <a:defRPr/>
                      </a:pPr>
                      <a:r>
                        <a:rPr lang="en-US" sz="1250">
                          <a:solidFill>
                            <a:srgbClr val="171717"/>
                          </a:solidFill>
                          <a:latin typeface="IBM Plex Serif"/>
                          <a:ea typeface="IBM Plex Serif"/>
                          <a:cs typeface="IBM Plex Serif"/>
                        </a:rPr>
                        <a:t>4</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PhysicalHealth</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+0.197</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74904">
                <a:tc>
                  <a:txBody>
                    <a:bodyPr/>
                    <a:p>
                      <a:pPr marL="0" indent="0" algn="ctr">
                        <a:buNone/>
                        <a:defRPr/>
                      </a:pPr>
                      <a:r>
                        <a:rPr lang="en-US" sz="1250">
                          <a:solidFill>
                            <a:srgbClr val="171717"/>
                          </a:solidFill>
                          <a:latin typeface="IBM Plex Serif"/>
                          <a:ea typeface="IBM Plex Serif"/>
                          <a:cs typeface="IBM Plex Serif"/>
                        </a:rPr>
                        <a:t>5</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Diabetic_No</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−0.190</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74904">
                <a:tc>
                  <a:txBody>
                    <a:bodyPr/>
                    <a:p>
                      <a:pPr marL="0" indent="0" algn="ctr">
                        <a:buNone/>
                        <a:defRPr/>
                      </a:pPr>
                      <a:r>
                        <a:rPr lang="en-US" sz="1250">
                          <a:solidFill>
                            <a:srgbClr val="171717"/>
                          </a:solidFill>
                          <a:latin typeface="IBM Plex Serif"/>
                          <a:ea typeface="IBM Plex Serif"/>
                          <a:cs typeface="IBM Plex Serif"/>
                        </a:rPr>
                        <a:t>6</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Stroke_Yes</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+0.186</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74904">
                <a:tc>
                  <a:txBody>
                    <a:bodyPr/>
                    <a:p>
                      <a:pPr marL="0" indent="0" algn="ctr">
                        <a:buNone/>
                        <a:defRPr/>
                      </a:pPr>
                      <a:r>
                        <a:rPr lang="en-US" sz="1250">
                          <a:solidFill>
                            <a:srgbClr val="171717"/>
                          </a:solidFill>
                          <a:latin typeface="IBM Plex Serif"/>
                          <a:ea typeface="IBM Plex Serif"/>
                          <a:cs typeface="IBM Plex Serif"/>
                        </a:rPr>
                        <a:t>7</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KidneyDisease_Yes</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+0.135</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74904">
                <a:tc>
                  <a:txBody>
                    <a:bodyPr/>
                    <a:p>
                      <a:pPr marL="0" indent="0" algn="ctr">
                        <a:buNone/>
                        <a:defRPr/>
                      </a:pPr>
                      <a:r>
                        <a:rPr lang="en-US" sz="1250">
                          <a:solidFill>
                            <a:srgbClr val="171717"/>
                          </a:solidFill>
                          <a:latin typeface="IBM Plex Serif"/>
                          <a:ea typeface="IBM Plex Serif"/>
                          <a:cs typeface="IBM Plex Serif"/>
                        </a:rPr>
                        <a:t>8</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GenHealth_Very good</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−0.131</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bl>
          </a:graphicData>
        </a:graphic>
      </p:graphicFrame>
      <p:sp>
        <p:nvSpPr>
          <p:cNvPr id="797643500" name="Text 8"/>
          <p:cNvSpPr/>
          <p:nvPr/>
        </p:nvSpPr>
        <p:spPr bwMode="auto">
          <a:xfrm>
            <a:off x="5833872" y="5532120"/>
            <a:ext cx="5577840" cy="365760"/>
          </a:xfrm>
          <a:prstGeom prst="rect">
            <a:avLst/>
          </a:prstGeom>
          <a:noFill/>
          <a:ln/>
        </p:spPr>
        <p:txBody>
          <a:bodyPr wrap="square" lIns="0" tIns="0" rIns="0" bIns="0" rtlCol="0" anchor="ctr"/>
          <a:lstStyle/>
          <a:p>
            <a:pPr marL="0" indent="0">
              <a:buNone/>
              <a:defRPr/>
            </a:pPr>
            <a:r>
              <a:rPr lang="en-US" sz="1100" i="1">
                <a:solidFill>
                  <a:srgbClr val="6E6E6E"/>
                </a:solidFill>
                <a:latin typeface="IBM Plex Serif"/>
                <a:ea typeface="IBM Plex Serif"/>
                <a:cs typeface="IBM Plex Serif"/>
              </a:rPr>
              <a:t>Tính trên train_df = X_train + y_train, KHÔNG dùng df gốc — đảm bảo việc chọn feature không nhìn thấy tập test.</a:t>
            </a:r>
            <a:endParaRPr sz="1100">
              <a:latin typeface="IBM Plex Serif"/>
              <a:cs typeface="IBM Plex Serif"/>
            </a:endParaRPr>
          </a:p>
        </p:txBody>
      </p:sp>
      <p:sp>
        <p:nvSpPr>
          <p:cNvPr id="757970434" name="Text 9"/>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865407900" name="Text 10"/>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10</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FFFFF"/>
        </a:solidFill>
      </p:bgPr>
    </p:bg>
    <p:spTree>
      <p:nvGrpSpPr>
        <p:cNvPr id="1" name=""/>
        <p:cNvGrpSpPr/>
        <p:nvPr/>
      </p:nvGrpSpPr>
      <p:grpSpPr bwMode="auto">
        <a:xfrm>
          <a:off x="0" y="0"/>
          <a:ext cx="0" cy="0"/>
          <a:chOff x="0" y="0"/>
          <a:chExt cx="0" cy="0"/>
        </a:xfrm>
      </p:grpSpPr>
      <p:sp>
        <p:nvSpPr>
          <p:cNvPr id="810711576"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04 · EDA</a:t>
            </a:r>
            <a:endParaRPr sz="1250">
              <a:latin typeface="IBM Plex Serif"/>
              <a:cs typeface="IBM Plex Serif"/>
            </a:endParaRPr>
          </a:p>
        </p:txBody>
      </p:sp>
      <p:sp>
        <p:nvSpPr>
          <p:cNvPr id="498516246"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Ma trận tương quan (mô tả tổng thể)</a:t>
            </a:r>
            <a:endParaRPr sz="3000">
              <a:latin typeface="IBM Plex Serif"/>
              <a:cs typeface="IBM Plex Serif"/>
            </a:endParaRPr>
          </a:p>
        </p:txBody>
      </p:sp>
      <p:sp>
        <p:nvSpPr>
          <p:cNvPr id="1185627036"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86844612"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11</a:t>
            </a:r>
            <a:endParaRPr sz="900">
              <a:latin typeface="IBM Plex Serif"/>
              <a:cs typeface="IBM Plex Serif"/>
            </a:endParaRPr>
          </a:p>
        </p:txBody>
      </p:sp>
      <p:sp>
        <p:nvSpPr>
          <p:cNvPr id="589569343" name="Shape 4"/>
          <p:cNvSpPr/>
          <p:nvPr/>
        </p:nvSpPr>
        <p:spPr bwMode="auto">
          <a:xfrm>
            <a:off x="696903" y="1298448"/>
            <a:ext cx="5189873" cy="4672584"/>
          </a:xfrm>
          <a:prstGeom prst="rect">
            <a:avLst/>
          </a:prstGeom>
          <a:solidFill>
            <a:srgbClr val="FFFFFF"/>
          </a:solidFill>
          <a:ln w="12700">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pic>
        <p:nvPicPr>
          <p:cNvPr id="1653972799" name="Image 0" descr="images_v2/cell15_0.png"/>
          <p:cNvPicPr>
            <a:picLocks noChangeAspect="1"/>
          </p:cNvPicPr>
          <p:nvPr/>
        </p:nvPicPr>
        <p:blipFill rotWithShape="1">
          <a:blip r:embed="rId3"/>
          <a:stretch/>
        </p:blipFill>
        <p:spPr bwMode="auto">
          <a:xfrm>
            <a:off x="770055" y="1371600"/>
            <a:ext cx="5043569" cy="4526280"/>
          </a:xfrm>
          <a:prstGeom prst="rect">
            <a:avLst/>
          </a:prstGeom>
        </p:spPr>
      </p:pic>
      <p:sp>
        <p:nvSpPr>
          <p:cNvPr id="1502295559" name="Text 5"/>
          <p:cNvSpPr/>
          <p:nvPr/>
        </p:nvSpPr>
        <p:spPr bwMode="auto">
          <a:xfrm>
            <a:off x="548640" y="5952744"/>
            <a:ext cx="5486400" cy="274320"/>
          </a:xfrm>
          <a:prstGeom prst="rect">
            <a:avLst/>
          </a:prstGeom>
          <a:noFill/>
          <a:ln/>
        </p:spPr>
        <p:txBody>
          <a:bodyPr wrap="square" lIns="0" tIns="0" rIns="0" bIns="0" rtlCol="0" anchor="ctr"/>
          <a:lstStyle/>
          <a:p>
            <a:pPr marL="0" indent="0" algn="ctr">
              <a:buNone/>
              <a:defRPr/>
            </a:pPr>
            <a:r>
              <a:rPr lang="en-US" sz="1050" i="1">
                <a:solidFill>
                  <a:srgbClr val="6E6E6E"/>
                </a:solidFill>
                <a:latin typeface="IBM Plex Serif"/>
                <a:ea typeface="IBM Plex Serif"/>
                <a:cs typeface="IBM Plex Serif"/>
              </a:rPr>
              <a:t>Tương quan giữa biến số liên tục và HeartDisease — toàn bộ dữ liệu đã làm sạch</a:t>
            </a:r>
            <a:endParaRPr sz="1050">
              <a:latin typeface="IBM Plex Serif"/>
              <a:cs typeface="IBM Plex Serif"/>
            </a:endParaRPr>
          </a:p>
        </p:txBody>
      </p:sp>
      <p:sp>
        <p:nvSpPr>
          <p:cNvPr id="1075089769" name="Shape 6"/>
          <p:cNvSpPr/>
          <p:nvPr/>
        </p:nvSpPr>
        <p:spPr bwMode="auto">
          <a:xfrm>
            <a:off x="6355080" y="1371600"/>
            <a:ext cx="5285232" cy="4526280"/>
          </a:xfrm>
          <a:prstGeom prst="roundRect">
            <a:avLst>
              <a:gd name="adj" fmla="val 1414"/>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570999810" name="Text 7"/>
          <p:cNvSpPr/>
          <p:nvPr/>
        </p:nvSpPr>
        <p:spPr bwMode="auto">
          <a:xfrm>
            <a:off x="6611112" y="1554480"/>
            <a:ext cx="3657600" cy="32004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Đọc kết quả</a:t>
            </a:r>
            <a:endParaRPr sz="1500">
              <a:latin typeface="IBM Plex Serif"/>
              <a:cs typeface="IBM Plex Serif"/>
            </a:endParaRPr>
          </a:p>
        </p:txBody>
      </p:sp>
      <p:sp>
        <p:nvSpPr>
          <p:cNvPr id="697224266" name="Text 8"/>
          <p:cNvSpPr/>
          <p:nvPr/>
        </p:nvSpPr>
        <p:spPr bwMode="auto">
          <a:xfrm>
            <a:off x="6611112" y="2011680"/>
            <a:ext cx="4846320" cy="3749040"/>
          </a:xfrm>
          <a:prstGeom prst="rect">
            <a:avLst/>
          </a:prstGeom>
          <a:noFill/>
          <a:ln/>
        </p:spPr>
        <p:txBody>
          <a:bodyPr wrap="square" lIns="0" tIns="0" rIns="0" bIns="0" rtlCol="0" anchor="t"/>
          <a:lstStyle/>
          <a:p>
            <a:pPr marL="177800" indent="-177800">
              <a:spcAft>
                <a:spcPts val="1200"/>
              </a:spcAft>
              <a:buSzPct val="100000"/>
              <a:buChar char="•"/>
              <a:defRPr/>
            </a:pPr>
            <a:r>
              <a:rPr lang="en-US" sz="1250">
                <a:solidFill>
                  <a:srgbClr val="171717"/>
                </a:solidFill>
                <a:latin typeface="IBM Plex Serif"/>
                <a:ea typeface="IBM Plex Serif"/>
                <a:cs typeface="IBM Plex Serif"/>
              </a:rPr>
              <a:t>Heatmap này dùng để MÔ TẢ tổng thể dữ liệu sau làm sạch (df đầy đủ), khác với bảng xếp hạng ở Slide 10 — bảng đó dùng để CHỌN feature nên chỉ tính trên train.</a:t>
            </a:r>
            <a:endParaRPr sz="1250">
              <a:latin typeface="IBM Plex Serif"/>
              <a:cs typeface="IBM Plex Serif"/>
            </a:endParaRPr>
          </a:p>
          <a:p>
            <a:pPr marL="177800" indent="-177800">
              <a:spcAft>
                <a:spcPts val="1200"/>
              </a:spcAft>
              <a:buSzPct val="100000"/>
              <a:buChar char="•"/>
              <a:defRPr/>
            </a:pPr>
            <a:r>
              <a:rPr lang="en-US" sz="1250">
                <a:solidFill>
                  <a:srgbClr val="171717"/>
                </a:solidFill>
                <a:latin typeface="IBM Plex Serif"/>
                <a:ea typeface="IBM Plex Serif"/>
                <a:cs typeface="IBM Plex Serif"/>
              </a:rPr>
              <a:t>Tương quan giữa 4 biến số liên tục với nhau ở mức thấp — không có hiện tượng đa cộng tuyến nghiêm trọng.</a:t>
            </a:r>
            <a:endParaRPr sz="1250">
              <a:latin typeface="IBM Plex Serif"/>
              <a:cs typeface="IBM Plex Serif"/>
            </a:endParaRPr>
          </a:p>
          <a:p>
            <a:pPr marL="177800" indent="-177800">
              <a:spcAft>
                <a:spcPts val="1200"/>
              </a:spcAft>
              <a:buSzPct val="100000"/>
              <a:buChar char="•"/>
              <a:defRPr/>
            </a:pPr>
            <a:r>
              <a:rPr lang="en-US" sz="1250">
                <a:solidFill>
                  <a:srgbClr val="171717"/>
                </a:solidFill>
                <a:latin typeface="IBM Plex Serif"/>
                <a:ea typeface="IBM Plex Serif"/>
                <a:cs typeface="IBM Plex Serif"/>
              </a:rPr>
              <a:t>PhysicalHealth có tương quan dương rõ nhất với HeartDisease trong nhóm biến số liên tục.</a:t>
            </a:r>
            <a:endParaRPr sz="1250">
              <a:latin typeface="IBM Plex Serif"/>
              <a:cs typeface="IBM Plex Serif"/>
            </a:endParaRPr>
          </a:p>
          <a:p>
            <a:pPr marL="177800" indent="-177800">
              <a:spcAft>
                <a:spcPts val="1200"/>
              </a:spcAft>
              <a:buSzPct val="100000"/>
              <a:buChar char="•"/>
              <a:defRPr/>
            </a:pPr>
            <a:r>
              <a:rPr lang="en-US" sz="1250">
                <a:solidFill>
                  <a:srgbClr val="171717"/>
                </a:solidFill>
                <a:latin typeface="IBM Plex Serif"/>
                <a:ea typeface="IBM Plex Serif"/>
                <a:cs typeface="IBM Plex Serif"/>
              </a:rPr>
              <a:t>BMI và SleepTime tương quan tuyến tính yếu với mục tiêu — nhưng vẫn quan trọng theo Random Forest (Slide 12), cho thấy ảnh hưởng có thể phi tuyến.</a:t>
            </a:r>
            <a:endParaRPr sz="1250">
              <a:latin typeface="IBM Plex Serif"/>
              <a:cs typeface="IBM Plex Serif"/>
            </a:endParaRPr>
          </a:p>
        </p:txBody>
      </p:sp>
      <p:sp>
        <p:nvSpPr>
          <p:cNvPr id="1063865688" name="Text 9"/>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281265338" name="Text 10"/>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11</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FFFFF"/>
        </a:solidFill>
      </p:bgPr>
    </p:bg>
    <p:spTree>
      <p:nvGrpSpPr>
        <p:cNvPr id="1" name=""/>
        <p:cNvGrpSpPr/>
        <p:nvPr/>
      </p:nvGrpSpPr>
      <p:grpSpPr bwMode="auto">
        <a:xfrm>
          <a:off x="0" y="0"/>
          <a:ext cx="0" cy="0"/>
          <a:chOff x="0" y="0"/>
          <a:chExt cx="0" cy="0"/>
        </a:xfrm>
      </p:grpSpPr>
      <p:sp>
        <p:nvSpPr>
          <p:cNvPr id="1967495192"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04 · EDA</a:t>
            </a:r>
            <a:endParaRPr sz="1250">
              <a:latin typeface="IBM Plex Serif"/>
              <a:cs typeface="IBM Plex Serif"/>
            </a:endParaRPr>
          </a:p>
        </p:txBody>
      </p:sp>
      <p:sp>
        <p:nvSpPr>
          <p:cNvPr id="476623153"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Mức độ quan trọng của đặc trưng (Random Forest)</a:t>
            </a:r>
            <a:endParaRPr sz="3000">
              <a:latin typeface="IBM Plex Serif"/>
              <a:cs typeface="IBM Plex Serif"/>
            </a:endParaRPr>
          </a:p>
        </p:txBody>
      </p:sp>
      <p:sp>
        <p:nvSpPr>
          <p:cNvPr id="1937324070"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739413604"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12</a:t>
            </a:r>
            <a:endParaRPr sz="900">
              <a:latin typeface="IBM Plex Serif"/>
              <a:cs typeface="IBM Plex Serif"/>
            </a:endParaRPr>
          </a:p>
        </p:txBody>
      </p:sp>
      <p:sp>
        <p:nvSpPr>
          <p:cNvPr id="1278455357" name="Shape 4"/>
          <p:cNvSpPr/>
          <p:nvPr/>
        </p:nvSpPr>
        <p:spPr bwMode="auto">
          <a:xfrm>
            <a:off x="645582" y="1298448"/>
            <a:ext cx="6206916" cy="4672584"/>
          </a:xfrm>
          <a:prstGeom prst="rect">
            <a:avLst/>
          </a:prstGeom>
          <a:solidFill>
            <a:srgbClr val="FFFFFF"/>
          </a:solidFill>
          <a:ln w="12700">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pic>
        <p:nvPicPr>
          <p:cNvPr id="1680575605" name="Image 0" descr="images_v2/cell14_0.png"/>
          <p:cNvPicPr>
            <a:picLocks noChangeAspect="1"/>
          </p:cNvPicPr>
          <p:nvPr/>
        </p:nvPicPr>
        <p:blipFill rotWithShape="1">
          <a:blip r:embed="rId3"/>
          <a:stretch/>
        </p:blipFill>
        <p:spPr bwMode="auto">
          <a:xfrm>
            <a:off x="718734" y="1371600"/>
            <a:ext cx="6060612" cy="4526280"/>
          </a:xfrm>
          <a:prstGeom prst="rect">
            <a:avLst/>
          </a:prstGeom>
        </p:spPr>
      </p:pic>
      <p:sp>
        <p:nvSpPr>
          <p:cNvPr id="1548368104" name="Text 5"/>
          <p:cNvSpPr/>
          <p:nvPr/>
        </p:nvSpPr>
        <p:spPr bwMode="auto">
          <a:xfrm>
            <a:off x="548640" y="5952744"/>
            <a:ext cx="6400800" cy="274320"/>
          </a:xfrm>
          <a:prstGeom prst="rect">
            <a:avLst/>
          </a:prstGeom>
          <a:noFill/>
          <a:ln/>
        </p:spPr>
        <p:txBody>
          <a:bodyPr wrap="square" lIns="0" tIns="0" rIns="0" bIns="0" rtlCol="0" anchor="ctr"/>
          <a:lstStyle/>
          <a:p>
            <a:pPr marL="0" indent="0" algn="ctr">
              <a:buNone/>
              <a:defRPr/>
            </a:pPr>
            <a:r>
              <a:rPr lang="en-US" sz="1050" i="1">
                <a:solidFill>
                  <a:srgbClr val="6E6E6E"/>
                </a:solidFill>
                <a:latin typeface="IBM Plex Serif"/>
                <a:ea typeface="IBM Plex Serif"/>
                <a:cs typeface="IBM Plex Serif"/>
              </a:rPr>
              <a:t>Top 15 đặc trưng quan trọng nhất — Random Forest (train)</a:t>
            </a:r>
            <a:endParaRPr sz="1050">
              <a:latin typeface="IBM Plex Serif"/>
              <a:cs typeface="IBM Plex Serif"/>
            </a:endParaRPr>
          </a:p>
        </p:txBody>
      </p:sp>
      <p:sp>
        <p:nvSpPr>
          <p:cNvPr id="928796765" name="Shape 6"/>
          <p:cNvSpPr/>
          <p:nvPr/>
        </p:nvSpPr>
        <p:spPr bwMode="auto">
          <a:xfrm>
            <a:off x="7269480" y="1371600"/>
            <a:ext cx="4370832" cy="4526280"/>
          </a:xfrm>
          <a:prstGeom prst="roundRect">
            <a:avLst>
              <a:gd name="adj" fmla="val 1464"/>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875504406" name="Text 7"/>
          <p:cNvSpPr/>
          <p:nvPr/>
        </p:nvSpPr>
        <p:spPr bwMode="auto">
          <a:xfrm>
            <a:off x="7525512" y="1554480"/>
            <a:ext cx="3657600" cy="32004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Top yếu tố ảnh hưởng</a:t>
            </a:r>
            <a:endParaRPr sz="1500">
              <a:latin typeface="IBM Plex Serif"/>
              <a:cs typeface="IBM Plex Serif"/>
            </a:endParaRPr>
          </a:p>
        </p:txBody>
      </p:sp>
      <p:sp>
        <p:nvSpPr>
          <p:cNvPr id="922235490" name="Text 8"/>
          <p:cNvSpPr/>
          <p:nvPr/>
        </p:nvSpPr>
        <p:spPr bwMode="auto">
          <a:xfrm>
            <a:off x="7525512" y="1965960"/>
            <a:ext cx="2651760" cy="411480"/>
          </a:xfrm>
          <a:prstGeom prst="rect">
            <a:avLst/>
          </a:prstGeom>
          <a:noFill/>
          <a:ln/>
        </p:spPr>
        <p:txBody>
          <a:bodyPr wrap="square" lIns="0" tIns="0" rIns="0" bIns="0" rtlCol="0" anchor="ctr"/>
          <a:lstStyle/>
          <a:p>
            <a:pPr marL="0" indent="0">
              <a:buNone/>
              <a:defRPr/>
            </a:pPr>
            <a:r>
              <a:rPr lang="en-US" sz="1300">
                <a:solidFill>
                  <a:srgbClr val="171717"/>
                </a:solidFill>
                <a:latin typeface="IBM Plex Serif"/>
                <a:ea typeface="IBM Plex Serif"/>
                <a:cs typeface="IBM Plex Serif"/>
              </a:rPr>
              <a:t>BMI</a:t>
            </a:r>
            <a:endParaRPr sz="1300">
              <a:latin typeface="IBM Plex Serif"/>
              <a:cs typeface="IBM Plex Serif"/>
            </a:endParaRPr>
          </a:p>
        </p:txBody>
      </p:sp>
      <p:sp>
        <p:nvSpPr>
          <p:cNvPr id="242091651" name="Text 9"/>
          <p:cNvSpPr/>
          <p:nvPr/>
        </p:nvSpPr>
        <p:spPr bwMode="auto">
          <a:xfrm>
            <a:off x="10058400" y="1965960"/>
            <a:ext cx="1371600" cy="411480"/>
          </a:xfrm>
          <a:prstGeom prst="rect">
            <a:avLst/>
          </a:prstGeom>
          <a:noFill/>
          <a:ln/>
        </p:spPr>
        <p:txBody>
          <a:bodyPr wrap="square" lIns="0" tIns="0" rIns="0" bIns="0" rtlCol="0" anchor="ctr"/>
          <a:lstStyle/>
          <a:p>
            <a:pPr marL="0" indent="0" algn="r">
              <a:buNone/>
              <a:defRPr/>
            </a:pPr>
            <a:r>
              <a:rPr lang="en-US" sz="1400" b="1">
                <a:solidFill>
                  <a:srgbClr val="A6192E"/>
                </a:solidFill>
                <a:latin typeface="IBM Plex Serif"/>
                <a:ea typeface="IBM Plex Serif"/>
                <a:cs typeface="IBM Plex Serif"/>
              </a:rPr>
              <a:t>0.195</a:t>
            </a:r>
            <a:endParaRPr sz="1400">
              <a:latin typeface="IBM Plex Serif"/>
              <a:cs typeface="IBM Plex Serif"/>
            </a:endParaRPr>
          </a:p>
        </p:txBody>
      </p:sp>
      <p:sp>
        <p:nvSpPr>
          <p:cNvPr id="1081207831" name="Shape 10"/>
          <p:cNvSpPr/>
          <p:nvPr/>
        </p:nvSpPr>
        <p:spPr bwMode="auto">
          <a:xfrm>
            <a:off x="7525512" y="2423160"/>
            <a:ext cx="3200400" cy="54864"/>
          </a:xfrm>
          <a:prstGeom prst="rect">
            <a:avLst/>
          </a:prstGeom>
          <a:solidFill>
            <a:srgbClr val="E3E3E3"/>
          </a:solidFill>
          <a:ln/>
        </p:spPr>
        <p:txBody>
          <a:bodyPr anchor="ctr"/>
          <a:p>
            <a:pPr algn="ctr">
              <a:defRPr/>
            </a:pPr>
            <a:endParaRPr>
              <a:latin typeface="IBM Plex Serif"/>
              <a:cs typeface="IBM Plex Serif"/>
            </a:endParaRPr>
          </a:p>
        </p:txBody>
      </p:sp>
      <p:sp>
        <p:nvSpPr>
          <p:cNvPr id="602263111" name="Shape 11"/>
          <p:cNvSpPr/>
          <p:nvPr/>
        </p:nvSpPr>
        <p:spPr bwMode="auto">
          <a:xfrm>
            <a:off x="7525512" y="2423160"/>
            <a:ext cx="3200400" cy="54864"/>
          </a:xfrm>
          <a:prstGeom prst="rect">
            <a:avLst/>
          </a:prstGeom>
          <a:solidFill>
            <a:srgbClr val="A6192E"/>
          </a:solidFill>
          <a:ln/>
        </p:spPr>
        <p:txBody>
          <a:bodyPr anchor="ctr"/>
          <a:p>
            <a:pPr algn="ctr">
              <a:defRPr/>
            </a:pPr>
            <a:endParaRPr>
              <a:latin typeface="IBM Plex Serif"/>
              <a:cs typeface="IBM Plex Serif"/>
            </a:endParaRPr>
          </a:p>
        </p:txBody>
      </p:sp>
      <p:sp>
        <p:nvSpPr>
          <p:cNvPr id="139687513" name="Text 12"/>
          <p:cNvSpPr/>
          <p:nvPr/>
        </p:nvSpPr>
        <p:spPr bwMode="auto">
          <a:xfrm>
            <a:off x="7525512" y="2679192"/>
            <a:ext cx="2651760" cy="411480"/>
          </a:xfrm>
          <a:prstGeom prst="rect">
            <a:avLst/>
          </a:prstGeom>
          <a:noFill/>
          <a:ln/>
        </p:spPr>
        <p:txBody>
          <a:bodyPr wrap="square" lIns="0" tIns="0" rIns="0" bIns="0" rtlCol="0" anchor="ctr"/>
          <a:lstStyle/>
          <a:p>
            <a:pPr marL="0" indent="0">
              <a:buNone/>
              <a:defRPr/>
            </a:pPr>
            <a:r>
              <a:rPr lang="en-US" sz="1300">
                <a:solidFill>
                  <a:srgbClr val="171717"/>
                </a:solidFill>
                <a:latin typeface="IBM Plex Serif"/>
                <a:ea typeface="IBM Plex Serif"/>
                <a:cs typeface="IBM Plex Serif"/>
              </a:rPr>
              <a:t>SleepTime</a:t>
            </a:r>
            <a:endParaRPr sz="1300">
              <a:latin typeface="IBM Plex Serif"/>
              <a:cs typeface="IBM Plex Serif"/>
            </a:endParaRPr>
          </a:p>
        </p:txBody>
      </p:sp>
      <p:sp>
        <p:nvSpPr>
          <p:cNvPr id="251975994" name="Text 13"/>
          <p:cNvSpPr/>
          <p:nvPr/>
        </p:nvSpPr>
        <p:spPr bwMode="auto">
          <a:xfrm>
            <a:off x="10058400" y="2679192"/>
            <a:ext cx="1371600" cy="411480"/>
          </a:xfrm>
          <a:prstGeom prst="rect">
            <a:avLst/>
          </a:prstGeom>
          <a:noFill/>
          <a:ln/>
        </p:spPr>
        <p:txBody>
          <a:bodyPr wrap="square" lIns="0" tIns="0" rIns="0" bIns="0" rtlCol="0" anchor="ctr"/>
          <a:lstStyle/>
          <a:p>
            <a:pPr marL="0" indent="0" algn="r">
              <a:buNone/>
              <a:defRPr/>
            </a:pPr>
            <a:r>
              <a:rPr lang="en-US" sz="1400" b="1">
                <a:solidFill>
                  <a:srgbClr val="A6192E"/>
                </a:solidFill>
                <a:latin typeface="IBM Plex Serif"/>
                <a:ea typeface="IBM Plex Serif"/>
                <a:cs typeface="IBM Plex Serif"/>
              </a:rPr>
              <a:t>0.095</a:t>
            </a:r>
            <a:endParaRPr sz="1400">
              <a:latin typeface="IBM Plex Serif"/>
              <a:cs typeface="IBM Plex Serif"/>
            </a:endParaRPr>
          </a:p>
        </p:txBody>
      </p:sp>
      <p:sp>
        <p:nvSpPr>
          <p:cNvPr id="881378040" name="Shape 14"/>
          <p:cNvSpPr/>
          <p:nvPr/>
        </p:nvSpPr>
        <p:spPr bwMode="auto">
          <a:xfrm>
            <a:off x="7525512" y="3136392"/>
            <a:ext cx="3200400" cy="54864"/>
          </a:xfrm>
          <a:prstGeom prst="rect">
            <a:avLst/>
          </a:prstGeom>
          <a:solidFill>
            <a:srgbClr val="E3E3E3"/>
          </a:solidFill>
          <a:ln/>
        </p:spPr>
        <p:txBody>
          <a:bodyPr anchor="ctr"/>
          <a:p>
            <a:pPr algn="ctr">
              <a:defRPr/>
            </a:pPr>
            <a:endParaRPr>
              <a:latin typeface="IBM Plex Serif"/>
              <a:cs typeface="IBM Plex Serif"/>
            </a:endParaRPr>
          </a:p>
        </p:txBody>
      </p:sp>
      <p:sp>
        <p:nvSpPr>
          <p:cNvPr id="128279720" name="Shape 15"/>
          <p:cNvSpPr/>
          <p:nvPr/>
        </p:nvSpPr>
        <p:spPr bwMode="auto">
          <a:xfrm>
            <a:off x="7525512" y="3136392"/>
            <a:ext cx="1559169" cy="54864"/>
          </a:xfrm>
          <a:prstGeom prst="rect">
            <a:avLst/>
          </a:prstGeom>
          <a:solidFill>
            <a:srgbClr val="A6192E"/>
          </a:solidFill>
          <a:ln/>
        </p:spPr>
        <p:txBody>
          <a:bodyPr anchor="ctr"/>
          <a:p>
            <a:pPr algn="ctr">
              <a:defRPr/>
            </a:pPr>
            <a:endParaRPr>
              <a:latin typeface="IBM Plex Serif"/>
              <a:cs typeface="IBM Plex Serif"/>
            </a:endParaRPr>
          </a:p>
        </p:txBody>
      </p:sp>
      <p:sp>
        <p:nvSpPr>
          <p:cNvPr id="1532674786" name="Text 16"/>
          <p:cNvSpPr/>
          <p:nvPr/>
        </p:nvSpPr>
        <p:spPr bwMode="auto">
          <a:xfrm>
            <a:off x="7525512" y="3392424"/>
            <a:ext cx="2651760" cy="411480"/>
          </a:xfrm>
          <a:prstGeom prst="rect">
            <a:avLst/>
          </a:prstGeom>
          <a:noFill/>
          <a:ln/>
        </p:spPr>
        <p:txBody>
          <a:bodyPr wrap="square" lIns="0" tIns="0" rIns="0" bIns="0" rtlCol="0" anchor="ctr"/>
          <a:lstStyle/>
          <a:p>
            <a:pPr marL="0" indent="0">
              <a:buNone/>
              <a:defRPr/>
            </a:pPr>
            <a:r>
              <a:rPr lang="en-US" sz="1300">
                <a:solidFill>
                  <a:srgbClr val="171717"/>
                </a:solidFill>
                <a:latin typeface="IBM Plex Serif"/>
                <a:ea typeface="IBM Plex Serif"/>
                <a:cs typeface="IBM Plex Serif"/>
              </a:rPr>
              <a:t>PhysicalHealth</a:t>
            </a:r>
            <a:endParaRPr sz="1300">
              <a:latin typeface="IBM Plex Serif"/>
              <a:cs typeface="IBM Plex Serif"/>
            </a:endParaRPr>
          </a:p>
        </p:txBody>
      </p:sp>
      <p:sp>
        <p:nvSpPr>
          <p:cNvPr id="447415580" name="Text 17"/>
          <p:cNvSpPr/>
          <p:nvPr/>
        </p:nvSpPr>
        <p:spPr bwMode="auto">
          <a:xfrm>
            <a:off x="10058400" y="3392424"/>
            <a:ext cx="1371600" cy="411480"/>
          </a:xfrm>
          <a:prstGeom prst="rect">
            <a:avLst/>
          </a:prstGeom>
          <a:noFill/>
          <a:ln/>
        </p:spPr>
        <p:txBody>
          <a:bodyPr wrap="square" lIns="0" tIns="0" rIns="0" bIns="0" rtlCol="0" anchor="ctr"/>
          <a:lstStyle/>
          <a:p>
            <a:pPr marL="0" indent="0" algn="r">
              <a:buNone/>
              <a:defRPr/>
            </a:pPr>
            <a:r>
              <a:rPr lang="en-US" sz="1400" b="1">
                <a:solidFill>
                  <a:srgbClr val="A6192E"/>
                </a:solidFill>
                <a:latin typeface="IBM Plex Serif"/>
                <a:ea typeface="IBM Plex Serif"/>
                <a:cs typeface="IBM Plex Serif"/>
              </a:rPr>
              <a:t>0.079</a:t>
            </a:r>
            <a:endParaRPr sz="1400">
              <a:latin typeface="IBM Plex Serif"/>
              <a:cs typeface="IBM Plex Serif"/>
            </a:endParaRPr>
          </a:p>
        </p:txBody>
      </p:sp>
      <p:sp>
        <p:nvSpPr>
          <p:cNvPr id="1534850018" name="Shape 18"/>
          <p:cNvSpPr/>
          <p:nvPr/>
        </p:nvSpPr>
        <p:spPr bwMode="auto">
          <a:xfrm>
            <a:off x="7525512" y="3849624"/>
            <a:ext cx="3200400" cy="54864"/>
          </a:xfrm>
          <a:prstGeom prst="rect">
            <a:avLst/>
          </a:prstGeom>
          <a:solidFill>
            <a:srgbClr val="E3E3E3"/>
          </a:solidFill>
          <a:ln/>
        </p:spPr>
        <p:txBody>
          <a:bodyPr anchor="ctr"/>
          <a:p>
            <a:pPr algn="ctr">
              <a:defRPr/>
            </a:pPr>
            <a:endParaRPr>
              <a:latin typeface="IBM Plex Serif"/>
              <a:cs typeface="IBM Plex Serif"/>
            </a:endParaRPr>
          </a:p>
        </p:txBody>
      </p:sp>
      <p:sp>
        <p:nvSpPr>
          <p:cNvPr id="1642672782" name="Shape 19"/>
          <p:cNvSpPr/>
          <p:nvPr/>
        </p:nvSpPr>
        <p:spPr bwMode="auto">
          <a:xfrm>
            <a:off x="7525512" y="3849624"/>
            <a:ext cx="1296572" cy="54864"/>
          </a:xfrm>
          <a:prstGeom prst="rect">
            <a:avLst/>
          </a:prstGeom>
          <a:solidFill>
            <a:srgbClr val="A6192E"/>
          </a:solidFill>
          <a:ln/>
        </p:spPr>
        <p:txBody>
          <a:bodyPr anchor="ctr"/>
          <a:p>
            <a:pPr algn="ctr">
              <a:defRPr/>
            </a:pPr>
            <a:endParaRPr>
              <a:latin typeface="IBM Plex Serif"/>
              <a:cs typeface="IBM Plex Serif"/>
            </a:endParaRPr>
          </a:p>
        </p:txBody>
      </p:sp>
      <p:sp>
        <p:nvSpPr>
          <p:cNvPr id="2020395846" name="Text 20"/>
          <p:cNvSpPr/>
          <p:nvPr/>
        </p:nvSpPr>
        <p:spPr bwMode="auto">
          <a:xfrm>
            <a:off x="7525512" y="4105656"/>
            <a:ext cx="2651760" cy="411480"/>
          </a:xfrm>
          <a:prstGeom prst="rect">
            <a:avLst/>
          </a:prstGeom>
          <a:noFill/>
          <a:ln/>
        </p:spPr>
        <p:txBody>
          <a:bodyPr wrap="square" lIns="0" tIns="0" rIns="0" bIns="0" rtlCol="0" anchor="ctr"/>
          <a:lstStyle/>
          <a:p>
            <a:pPr marL="0" indent="0">
              <a:buNone/>
              <a:defRPr/>
            </a:pPr>
            <a:r>
              <a:rPr lang="en-US" sz="1300">
                <a:solidFill>
                  <a:srgbClr val="171717"/>
                </a:solidFill>
                <a:latin typeface="IBM Plex Serif"/>
                <a:ea typeface="IBM Plex Serif"/>
                <a:cs typeface="IBM Plex Serif"/>
              </a:rPr>
              <a:t>MentalHealth</a:t>
            </a:r>
            <a:endParaRPr sz="1300">
              <a:latin typeface="IBM Plex Serif"/>
              <a:cs typeface="IBM Plex Serif"/>
            </a:endParaRPr>
          </a:p>
        </p:txBody>
      </p:sp>
      <p:sp>
        <p:nvSpPr>
          <p:cNvPr id="1225501687" name="Text 21"/>
          <p:cNvSpPr/>
          <p:nvPr/>
        </p:nvSpPr>
        <p:spPr bwMode="auto">
          <a:xfrm>
            <a:off x="10058400" y="4105656"/>
            <a:ext cx="1371600" cy="411480"/>
          </a:xfrm>
          <a:prstGeom prst="rect">
            <a:avLst/>
          </a:prstGeom>
          <a:noFill/>
          <a:ln/>
        </p:spPr>
        <p:txBody>
          <a:bodyPr wrap="square" lIns="0" tIns="0" rIns="0" bIns="0" rtlCol="0" anchor="ctr"/>
          <a:lstStyle/>
          <a:p>
            <a:pPr marL="0" indent="0" algn="r">
              <a:buNone/>
              <a:defRPr/>
            </a:pPr>
            <a:r>
              <a:rPr lang="en-US" sz="1400" b="1">
                <a:solidFill>
                  <a:srgbClr val="A6192E"/>
                </a:solidFill>
                <a:latin typeface="IBM Plex Serif"/>
                <a:ea typeface="IBM Plex Serif"/>
                <a:cs typeface="IBM Plex Serif"/>
              </a:rPr>
              <a:t>0.056</a:t>
            </a:r>
            <a:endParaRPr sz="1400">
              <a:latin typeface="IBM Plex Serif"/>
              <a:cs typeface="IBM Plex Serif"/>
            </a:endParaRPr>
          </a:p>
        </p:txBody>
      </p:sp>
      <p:sp>
        <p:nvSpPr>
          <p:cNvPr id="137196917" name="Shape 22"/>
          <p:cNvSpPr/>
          <p:nvPr/>
        </p:nvSpPr>
        <p:spPr bwMode="auto">
          <a:xfrm>
            <a:off x="7525512" y="4562856"/>
            <a:ext cx="3200400" cy="54864"/>
          </a:xfrm>
          <a:prstGeom prst="rect">
            <a:avLst/>
          </a:prstGeom>
          <a:solidFill>
            <a:srgbClr val="E3E3E3"/>
          </a:solidFill>
          <a:ln/>
        </p:spPr>
        <p:txBody>
          <a:bodyPr anchor="ctr"/>
          <a:p>
            <a:pPr algn="ctr">
              <a:defRPr/>
            </a:pPr>
            <a:endParaRPr>
              <a:latin typeface="IBM Plex Serif"/>
              <a:cs typeface="IBM Plex Serif"/>
            </a:endParaRPr>
          </a:p>
        </p:txBody>
      </p:sp>
      <p:sp>
        <p:nvSpPr>
          <p:cNvPr id="1771031973" name="Shape 23"/>
          <p:cNvSpPr/>
          <p:nvPr/>
        </p:nvSpPr>
        <p:spPr bwMode="auto">
          <a:xfrm>
            <a:off x="7525512" y="4562856"/>
            <a:ext cx="919089" cy="54864"/>
          </a:xfrm>
          <a:prstGeom prst="rect">
            <a:avLst/>
          </a:prstGeom>
          <a:solidFill>
            <a:srgbClr val="A6192E"/>
          </a:solidFill>
          <a:ln/>
        </p:spPr>
        <p:txBody>
          <a:bodyPr anchor="ctr"/>
          <a:p>
            <a:pPr algn="ctr">
              <a:defRPr/>
            </a:pPr>
            <a:endParaRPr>
              <a:latin typeface="IBM Plex Serif"/>
              <a:cs typeface="IBM Plex Serif"/>
            </a:endParaRPr>
          </a:p>
        </p:txBody>
      </p:sp>
      <p:sp>
        <p:nvSpPr>
          <p:cNvPr id="463068668" name="Text 24"/>
          <p:cNvSpPr/>
          <p:nvPr/>
        </p:nvSpPr>
        <p:spPr bwMode="auto">
          <a:xfrm>
            <a:off x="7525512" y="4818888"/>
            <a:ext cx="2651760" cy="411480"/>
          </a:xfrm>
          <a:prstGeom prst="rect">
            <a:avLst/>
          </a:prstGeom>
          <a:noFill/>
          <a:ln/>
        </p:spPr>
        <p:txBody>
          <a:bodyPr wrap="square" lIns="0" tIns="0" rIns="0" bIns="0" rtlCol="0" anchor="ctr"/>
          <a:lstStyle/>
          <a:p>
            <a:pPr marL="0" indent="0">
              <a:buNone/>
              <a:defRPr/>
            </a:pPr>
            <a:r>
              <a:rPr lang="en-US" sz="1300">
                <a:solidFill>
                  <a:srgbClr val="171717"/>
                </a:solidFill>
                <a:latin typeface="IBM Plex Serif"/>
                <a:ea typeface="IBM Plex Serif"/>
                <a:cs typeface="IBM Plex Serif"/>
              </a:rPr>
              <a:t>DiffWalking_Yes</a:t>
            </a:r>
            <a:endParaRPr sz="1300">
              <a:latin typeface="IBM Plex Serif"/>
              <a:cs typeface="IBM Plex Serif"/>
            </a:endParaRPr>
          </a:p>
        </p:txBody>
      </p:sp>
      <p:sp>
        <p:nvSpPr>
          <p:cNvPr id="452807700" name="Text 25"/>
          <p:cNvSpPr/>
          <p:nvPr/>
        </p:nvSpPr>
        <p:spPr bwMode="auto">
          <a:xfrm>
            <a:off x="10058400" y="4818888"/>
            <a:ext cx="1371600" cy="411480"/>
          </a:xfrm>
          <a:prstGeom prst="rect">
            <a:avLst/>
          </a:prstGeom>
          <a:noFill/>
          <a:ln/>
        </p:spPr>
        <p:txBody>
          <a:bodyPr wrap="square" lIns="0" tIns="0" rIns="0" bIns="0" rtlCol="0" anchor="ctr"/>
          <a:lstStyle/>
          <a:p>
            <a:pPr marL="0" indent="0" algn="r">
              <a:buNone/>
              <a:defRPr/>
            </a:pPr>
            <a:r>
              <a:rPr lang="en-US" sz="1400" b="1">
                <a:solidFill>
                  <a:srgbClr val="A6192E"/>
                </a:solidFill>
                <a:latin typeface="IBM Plex Serif"/>
                <a:ea typeface="IBM Plex Serif"/>
                <a:cs typeface="IBM Plex Serif"/>
              </a:rPr>
              <a:t>0.036</a:t>
            </a:r>
            <a:endParaRPr sz="1400">
              <a:latin typeface="IBM Plex Serif"/>
              <a:cs typeface="IBM Plex Serif"/>
            </a:endParaRPr>
          </a:p>
        </p:txBody>
      </p:sp>
      <p:sp>
        <p:nvSpPr>
          <p:cNvPr id="605930562" name="Shape 26"/>
          <p:cNvSpPr/>
          <p:nvPr/>
        </p:nvSpPr>
        <p:spPr bwMode="auto">
          <a:xfrm>
            <a:off x="7525512" y="5276088"/>
            <a:ext cx="3200400" cy="54864"/>
          </a:xfrm>
          <a:prstGeom prst="rect">
            <a:avLst/>
          </a:prstGeom>
          <a:solidFill>
            <a:srgbClr val="E3E3E3"/>
          </a:solidFill>
          <a:ln/>
        </p:spPr>
        <p:txBody>
          <a:bodyPr anchor="ctr"/>
          <a:p>
            <a:pPr algn="ctr">
              <a:defRPr/>
            </a:pPr>
            <a:endParaRPr>
              <a:latin typeface="IBM Plex Serif"/>
              <a:cs typeface="IBM Plex Serif"/>
            </a:endParaRPr>
          </a:p>
        </p:txBody>
      </p:sp>
      <p:sp>
        <p:nvSpPr>
          <p:cNvPr id="72782227" name="Shape 27"/>
          <p:cNvSpPr/>
          <p:nvPr/>
        </p:nvSpPr>
        <p:spPr bwMode="auto">
          <a:xfrm>
            <a:off x="7525512" y="5276088"/>
            <a:ext cx="590843" cy="54864"/>
          </a:xfrm>
          <a:prstGeom prst="rect">
            <a:avLst/>
          </a:prstGeom>
          <a:solidFill>
            <a:srgbClr val="A6192E"/>
          </a:solidFill>
          <a:ln/>
        </p:spPr>
        <p:txBody>
          <a:bodyPr anchor="ctr"/>
          <a:p>
            <a:pPr algn="ctr">
              <a:defRPr/>
            </a:pPr>
            <a:endParaRPr>
              <a:latin typeface="IBM Plex Serif"/>
              <a:cs typeface="IBM Plex Serif"/>
            </a:endParaRPr>
          </a:p>
        </p:txBody>
      </p:sp>
      <p:sp>
        <p:nvSpPr>
          <p:cNvPr id="1488730478" name="Text 28"/>
          <p:cNvSpPr/>
          <p:nvPr/>
        </p:nvSpPr>
        <p:spPr bwMode="auto">
          <a:xfrm>
            <a:off x="7525512" y="5440680"/>
            <a:ext cx="3931920" cy="411480"/>
          </a:xfrm>
          <a:prstGeom prst="rect">
            <a:avLst/>
          </a:prstGeom>
          <a:noFill/>
          <a:ln/>
        </p:spPr>
        <p:txBody>
          <a:bodyPr wrap="square" lIns="0" tIns="0" rIns="0" bIns="0" rtlCol="0" anchor="t"/>
          <a:lstStyle/>
          <a:p>
            <a:pPr marL="0" indent="0">
              <a:buNone/>
              <a:defRPr/>
            </a:pPr>
            <a:r>
              <a:rPr lang="en-US" sz="1100" i="1">
                <a:solidFill>
                  <a:srgbClr val="6E6E6E"/>
                </a:solidFill>
                <a:latin typeface="IBM Plex Serif"/>
                <a:ea typeface="IBM Plex Serif"/>
                <a:cs typeface="IBM Plex Serif"/>
              </a:rPr>
              <a:t>BMI vẫn là yếu tố quan trọng nhất theo Random Forest, dù tương quan tuyến tính của nó với target khá thấp (Slide 11) — gợi ý ảnh hưởng phi tuyến.</a:t>
            </a:r>
            <a:endParaRPr sz="1100">
              <a:latin typeface="IBM Plex Serif"/>
              <a:cs typeface="IBM Plex Serif"/>
            </a:endParaRPr>
          </a:p>
        </p:txBody>
      </p:sp>
      <p:sp>
        <p:nvSpPr>
          <p:cNvPr id="859284492" name="Text 29"/>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317949919" name="Text 30"/>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12</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FFFFFF"/>
        </a:solidFill>
      </p:bgPr>
    </p:bg>
    <p:spTree>
      <p:nvGrpSpPr>
        <p:cNvPr id="1" name=""/>
        <p:cNvGrpSpPr/>
        <p:nvPr/>
      </p:nvGrpSpPr>
      <p:grpSpPr bwMode="auto">
        <a:xfrm>
          <a:off x="0" y="0"/>
          <a:ext cx="0" cy="0"/>
          <a:chOff x="0" y="0"/>
          <a:chExt cx="0" cy="0"/>
        </a:xfrm>
      </p:grpSpPr>
      <p:sp>
        <p:nvSpPr>
          <p:cNvPr id="1510069823"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05 · MODELING</a:t>
            </a:r>
            <a:endParaRPr sz="1250">
              <a:latin typeface="IBM Plex Serif"/>
              <a:cs typeface="IBM Plex Serif"/>
            </a:endParaRPr>
          </a:p>
        </p:txBody>
      </p:sp>
      <p:sp>
        <p:nvSpPr>
          <p:cNvPr id="1730781740"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Mất cân bằng lớp (Class Imbalance)</a:t>
            </a:r>
            <a:endParaRPr sz="3000">
              <a:latin typeface="IBM Plex Serif"/>
              <a:cs typeface="IBM Plex Serif"/>
            </a:endParaRPr>
          </a:p>
        </p:txBody>
      </p:sp>
      <p:sp>
        <p:nvSpPr>
          <p:cNvPr id="649988033"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448523330"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13</a:t>
            </a:r>
            <a:endParaRPr sz="900">
              <a:latin typeface="IBM Plex Serif"/>
              <a:cs typeface="IBM Plex Serif"/>
            </a:endParaRPr>
          </a:p>
        </p:txBody>
      </p:sp>
      <p:sp>
        <p:nvSpPr>
          <p:cNvPr id="1462991312" name="Shape 4"/>
          <p:cNvSpPr/>
          <p:nvPr/>
        </p:nvSpPr>
        <p:spPr bwMode="auto">
          <a:xfrm>
            <a:off x="548640" y="1371600"/>
            <a:ext cx="3383280" cy="2743200"/>
          </a:xfrm>
          <a:prstGeom prst="roundRect">
            <a:avLst>
              <a:gd name="adj" fmla="val 2333"/>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575371729" name="Text 5"/>
          <p:cNvSpPr/>
          <p:nvPr/>
        </p:nvSpPr>
        <p:spPr bwMode="auto">
          <a:xfrm>
            <a:off x="713232" y="1481328"/>
            <a:ext cx="3054096" cy="2176272"/>
          </a:xfrm>
          <a:prstGeom prst="rect">
            <a:avLst/>
          </a:prstGeom>
          <a:noFill/>
          <a:ln/>
        </p:spPr>
        <p:txBody>
          <a:bodyPr wrap="square" lIns="0" tIns="0" rIns="0" bIns="0" rtlCol="0" anchor="b"/>
          <a:lstStyle/>
          <a:p>
            <a:pPr marL="0" indent="0" algn="ctr">
              <a:buNone/>
              <a:defRPr/>
            </a:pPr>
            <a:r>
              <a:rPr lang="en-US" sz="4600" b="1">
                <a:solidFill>
                  <a:srgbClr val="171717"/>
                </a:solidFill>
                <a:latin typeface="IBM Plex Serif"/>
                <a:ea typeface="IBM Plex Serif"/>
                <a:cs typeface="IBM Plex Serif"/>
              </a:rPr>
              <a:t>89.4%</a:t>
            </a:r>
            <a:endParaRPr sz="4600">
              <a:latin typeface="IBM Plex Serif"/>
              <a:cs typeface="IBM Plex Serif"/>
            </a:endParaRPr>
          </a:p>
        </p:txBody>
      </p:sp>
      <p:sp>
        <p:nvSpPr>
          <p:cNvPr id="1672747408" name="Text 6"/>
          <p:cNvSpPr/>
          <p:nvPr/>
        </p:nvSpPr>
        <p:spPr bwMode="auto">
          <a:xfrm>
            <a:off x="658368" y="3694176"/>
            <a:ext cx="3163824" cy="365760"/>
          </a:xfrm>
          <a:prstGeom prst="rect">
            <a:avLst/>
          </a:prstGeom>
          <a:noFill/>
          <a:ln/>
        </p:spPr>
        <p:txBody>
          <a:bodyPr wrap="square" lIns="0" tIns="0" rIns="0" bIns="0" rtlCol="0" anchor="t"/>
          <a:lstStyle/>
          <a:p>
            <a:pPr marL="0" indent="0" algn="ctr">
              <a:buNone/>
              <a:defRPr/>
            </a:pPr>
            <a:r>
              <a:rPr lang="en-US" sz="1100">
                <a:solidFill>
                  <a:srgbClr val="6E6E6E"/>
                </a:solidFill>
                <a:latin typeface="IBM Plex Serif"/>
                <a:ea typeface="IBM Plex Serif"/>
                <a:cs typeface="IBM Plex Serif"/>
              </a:rPr>
              <a:t>Không mắc bệnh tim (No)</a:t>
            </a:r>
            <a:endParaRPr sz="1100">
              <a:latin typeface="IBM Plex Serif"/>
              <a:cs typeface="IBM Plex Serif"/>
            </a:endParaRPr>
          </a:p>
        </p:txBody>
      </p:sp>
      <p:sp>
        <p:nvSpPr>
          <p:cNvPr id="99689724" name="Shape 7"/>
          <p:cNvSpPr/>
          <p:nvPr/>
        </p:nvSpPr>
        <p:spPr bwMode="auto">
          <a:xfrm>
            <a:off x="4160519" y="1371600"/>
            <a:ext cx="3383280" cy="2743200"/>
          </a:xfrm>
          <a:prstGeom prst="roundRect">
            <a:avLst>
              <a:gd name="adj" fmla="val 2333"/>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638000310" name="Text 8"/>
          <p:cNvSpPr/>
          <p:nvPr/>
        </p:nvSpPr>
        <p:spPr bwMode="auto">
          <a:xfrm>
            <a:off x="4325112" y="1481328"/>
            <a:ext cx="3054096" cy="2176272"/>
          </a:xfrm>
          <a:prstGeom prst="rect">
            <a:avLst/>
          </a:prstGeom>
          <a:noFill/>
          <a:ln/>
        </p:spPr>
        <p:txBody>
          <a:bodyPr wrap="square" lIns="0" tIns="0" rIns="0" bIns="0" rtlCol="0" anchor="b"/>
          <a:lstStyle/>
          <a:p>
            <a:pPr marL="0" indent="0" algn="ctr">
              <a:buNone/>
              <a:defRPr/>
            </a:pPr>
            <a:r>
              <a:rPr lang="en-US" sz="4600" b="1">
                <a:solidFill>
                  <a:srgbClr val="A6192E"/>
                </a:solidFill>
                <a:latin typeface="IBM Plex Serif"/>
                <a:ea typeface="IBM Plex Serif"/>
                <a:cs typeface="IBM Plex Serif"/>
              </a:rPr>
              <a:t>10.6%</a:t>
            </a:r>
            <a:endParaRPr sz="4600">
              <a:latin typeface="IBM Plex Serif"/>
              <a:cs typeface="IBM Plex Serif"/>
            </a:endParaRPr>
          </a:p>
        </p:txBody>
      </p:sp>
      <p:sp>
        <p:nvSpPr>
          <p:cNvPr id="154372578" name="Text 9"/>
          <p:cNvSpPr/>
          <p:nvPr/>
        </p:nvSpPr>
        <p:spPr bwMode="auto">
          <a:xfrm>
            <a:off x="4270248" y="3694176"/>
            <a:ext cx="3163824" cy="365760"/>
          </a:xfrm>
          <a:prstGeom prst="rect">
            <a:avLst/>
          </a:prstGeom>
          <a:noFill/>
          <a:ln/>
        </p:spPr>
        <p:txBody>
          <a:bodyPr wrap="square" lIns="0" tIns="0" rIns="0" bIns="0" rtlCol="0" anchor="t"/>
          <a:lstStyle/>
          <a:p>
            <a:pPr marL="0" indent="0" algn="ctr">
              <a:buNone/>
              <a:defRPr/>
            </a:pPr>
            <a:r>
              <a:rPr lang="en-US" sz="1100">
                <a:solidFill>
                  <a:srgbClr val="6E6E6E"/>
                </a:solidFill>
                <a:latin typeface="IBM Plex Serif"/>
                <a:ea typeface="IBM Plex Serif"/>
                <a:cs typeface="IBM Plex Serif"/>
              </a:rPr>
              <a:t>Mắc bệnh tim (Disease)</a:t>
            </a:r>
            <a:endParaRPr sz="1100">
              <a:latin typeface="IBM Plex Serif"/>
              <a:cs typeface="IBM Plex Serif"/>
            </a:endParaRPr>
          </a:p>
        </p:txBody>
      </p:sp>
      <p:sp>
        <p:nvSpPr>
          <p:cNvPr id="2134365730" name="Shape 10"/>
          <p:cNvSpPr/>
          <p:nvPr/>
        </p:nvSpPr>
        <p:spPr bwMode="auto">
          <a:xfrm>
            <a:off x="7909560" y="1371600"/>
            <a:ext cx="3730752" cy="4572000"/>
          </a:xfrm>
          <a:prstGeom prst="roundRect">
            <a:avLst>
              <a:gd name="adj" fmla="val 1716"/>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453076207" name="Shape 11"/>
          <p:cNvSpPr/>
          <p:nvPr/>
        </p:nvSpPr>
        <p:spPr bwMode="auto">
          <a:xfrm>
            <a:off x="8165592" y="1627632"/>
            <a:ext cx="640080" cy="64008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737012474" name="Image 0" descr="preencoded.png"/>
          <p:cNvPicPr>
            <a:picLocks noChangeAspect="1"/>
          </p:cNvPicPr>
          <p:nvPr/>
        </p:nvPicPr>
        <p:blipFill rotWithShape="1">
          <a:blip r:embed="rId3"/>
          <a:stretch/>
        </p:blipFill>
        <p:spPr bwMode="auto">
          <a:xfrm>
            <a:off x="8403336" y="1865376"/>
            <a:ext cx="164592" cy="164592"/>
          </a:xfrm>
          <a:prstGeom prst="rect">
            <a:avLst/>
          </a:prstGeom>
        </p:spPr>
      </p:pic>
      <p:sp>
        <p:nvSpPr>
          <p:cNvPr id="770942551" name="Text 12"/>
          <p:cNvSpPr/>
          <p:nvPr/>
        </p:nvSpPr>
        <p:spPr bwMode="auto">
          <a:xfrm>
            <a:off x="8165592" y="2423160"/>
            <a:ext cx="3291840" cy="365760"/>
          </a:xfrm>
          <a:prstGeom prst="rect">
            <a:avLst/>
          </a:prstGeom>
          <a:noFill/>
          <a:ln/>
        </p:spPr>
        <p:txBody>
          <a:bodyPr wrap="square" lIns="0" tIns="0" rIns="0" bIns="0" rtlCol="0" anchor="ctr"/>
          <a:lstStyle/>
          <a:p>
            <a:pPr marL="0" indent="0">
              <a:buNone/>
              <a:defRPr/>
            </a:pPr>
            <a:r>
              <a:rPr lang="en-US" sz="1550" b="1">
                <a:solidFill>
                  <a:srgbClr val="171717"/>
                </a:solidFill>
                <a:latin typeface="IBM Plex Serif"/>
                <a:ea typeface="IBM Plex Serif"/>
                <a:cs typeface="IBM Plex Serif"/>
              </a:rPr>
              <a:t>Vì sao đây là vấn đề?</a:t>
            </a:r>
            <a:endParaRPr sz="1550">
              <a:latin typeface="IBM Plex Serif"/>
              <a:cs typeface="IBM Plex Serif"/>
            </a:endParaRPr>
          </a:p>
        </p:txBody>
      </p:sp>
      <p:sp>
        <p:nvSpPr>
          <p:cNvPr id="189622812" name="Text 13"/>
          <p:cNvSpPr/>
          <p:nvPr/>
        </p:nvSpPr>
        <p:spPr bwMode="auto">
          <a:xfrm>
            <a:off x="8165592" y="2880360"/>
            <a:ext cx="3246120" cy="2926080"/>
          </a:xfrm>
          <a:prstGeom prst="rect">
            <a:avLst/>
          </a:prstGeom>
          <a:noFill/>
          <a:ln/>
        </p:spPr>
        <p:txBody>
          <a:bodyPr wrap="square" lIns="0" tIns="0" rIns="0" bIns="0" rtlCol="0" anchor="t"/>
          <a:lstStyle/>
          <a:p>
            <a:pPr marL="177800" indent="-177800">
              <a:spcAft>
                <a:spcPts val="1200"/>
              </a:spcAft>
              <a:buSzPct val="100000"/>
              <a:buChar char="•"/>
              <a:defRPr/>
            </a:pPr>
            <a:r>
              <a:rPr lang="en-US" sz="1250">
                <a:solidFill>
                  <a:srgbClr val="171717"/>
                </a:solidFill>
                <a:latin typeface="IBM Plex Serif"/>
                <a:ea typeface="IBM Plex Serif"/>
                <a:cs typeface="IBM Plex Serif"/>
              </a:rPr>
              <a:t>Một mô hình “luôn đoán No” vẫn đạt ~89% accuracy mà không học được gì hữu ích.</a:t>
            </a:r>
            <a:endParaRPr sz="1250">
              <a:latin typeface="IBM Plex Serif"/>
              <a:cs typeface="IBM Plex Serif"/>
            </a:endParaRPr>
          </a:p>
          <a:p>
            <a:pPr marL="177800" indent="-177800">
              <a:spcAft>
                <a:spcPts val="1200"/>
              </a:spcAft>
              <a:buSzPct val="100000"/>
              <a:buChar char="•"/>
              <a:defRPr/>
            </a:pPr>
            <a:r>
              <a:rPr lang="en-US" sz="1250">
                <a:solidFill>
                  <a:srgbClr val="171717"/>
                </a:solidFill>
                <a:latin typeface="IBM Plex Serif"/>
                <a:ea typeface="IBM Plex Serif"/>
                <a:cs typeface="IBM Plex Serif"/>
              </a:rPr>
              <a:t>Cần ưu tiên Recall/F1/ROC-AUC trên lớp Disease hơn là accuracy tổng thể.</a:t>
            </a:r>
            <a:endParaRPr sz="1250">
              <a:latin typeface="IBM Plex Serif"/>
              <a:cs typeface="IBM Plex Serif"/>
            </a:endParaRPr>
          </a:p>
          <a:p>
            <a:pPr marL="177800" indent="-177800">
              <a:spcAft>
                <a:spcPts val="1200"/>
              </a:spcAft>
              <a:buSzPct val="100000"/>
              <a:buChar char="•"/>
              <a:defRPr/>
            </a:pPr>
            <a:r>
              <a:rPr lang="en-US" sz="1250">
                <a:solidFill>
                  <a:srgbClr val="171717"/>
                </a:solidFill>
                <a:latin typeface="IBM Plex Serif"/>
                <a:ea typeface="IBM Plex Serif"/>
                <a:cs typeface="IBM Plex Serif"/>
              </a:rPr>
              <a:t>Giải pháp áp dụng: class_weight='balanced' cho cả Random Forest &amp; Logistic Regression; có thể kết hợp thêm SMOTE trên X_train (sau split) nếu cần.</a:t>
            </a:r>
            <a:endParaRPr sz="1250">
              <a:latin typeface="IBM Plex Serif"/>
              <a:cs typeface="IBM Plex Serif"/>
            </a:endParaRPr>
          </a:p>
        </p:txBody>
      </p:sp>
      <p:sp>
        <p:nvSpPr>
          <p:cNvPr id="959121273" name="Shape 14"/>
          <p:cNvSpPr/>
          <p:nvPr/>
        </p:nvSpPr>
        <p:spPr bwMode="auto">
          <a:xfrm>
            <a:off x="548640" y="4434840"/>
            <a:ext cx="6995160" cy="1508759"/>
          </a:xfrm>
          <a:prstGeom prst="rect">
            <a:avLst>
              <a:gd name="adj" fmla="val 4242"/>
            </a:avLst>
          </a:prstGeom>
          <a:solidFill>
            <a:srgbClr val="F7F7F7"/>
          </a:solidFill>
          <a:ln w="9525">
            <a:solidFill>
              <a:srgbClr val="E3E3E3"/>
            </a:solidFill>
            <a:prstDash val="solid"/>
          </a:ln>
        </p:spPr>
        <p:txBody>
          <a:bodyPr anchor="ctr"/>
          <a:p>
            <a:pPr algn="ctr">
              <a:defRPr/>
            </a:pPr>
            <a:endParaRPr>
              <a:latin typeface="IBM Plex Serif"/>
              <a:cs typeface="IBM Plex Serif"/>
            </a:endParaRPr>
          </a:p>
        </p:txBody>
      </p:sp>
      <p:sp>
        <p:nvSpPr>
          <p:cNvPr id="1312739656" name="Text 15"/>
          <p:cNvSpPr/>
          <p:nvPr/>
        </p:nvSpPr>
        <p:spPr bwMode="auto">
          <a:xfrm>
            <a:off x="777240" y="4572000"/>
            <a:ext cx="6583680" cy="320040"/>
          </a:xfrm>
          <a:prstGeom prst="rect">
            <a:avLst/>
          </a:prstGeom>
          <a:noFill/>
          <a:ln/>
        </p:spPr>
        <p:txBody>
          <a:bodyPr wrap="square" lIns="0" tIns="0" rIns="0" bIns="0" rtlCol="0" anchor="ctr"/>
          <a:lstStyle/>
          <a:p>
            <a:pPr marL="0" indent="0">
              <a:buNone/>
              <a:defRPr/>
            </a:pPr>
            <a:r>
              <a:rPr lang="en-US" sz="1150">
                <a:solidFill>
                  <a:srgbClr val="6E6E6E"/>
                </a:solidFill>
                <a:latin typeface="IBM Plex Serif"/>
                <a:ea typeface="IBM Plex Serif"/>
                <a:cs typeface="IBM Plex Serif"/>
              </a:rPr>
              <a:t>df['HeartDisease'].value_counts(normalize=True)</a:t>
            </a:r>
            <a:endParaRPr sz="1150">
              <a:latin typeface="IBM Plex Serif"/>
              <a:cs typeface="IBM Plex Serif"/>
            </a:endParaRPr>
          </a:p>
        </p:txBody>
      </p:sp>
      <p:sp>
        <p:nvSpPr>
          <p:cNvPr id="489081210" name="Text 16"/>
          <p:cNvSpPr/>
          <p:nvPr/>
        </p:nvSpPr>
        <p:spPr bwMode="auto">
          <a:xfrm>
            <a:off x="777240" y="4937760"/>
            <a:ext cx="5486400" cy="822960"/>
          </a:xfrm>
          <a:prstGeom prst="rect">
            <a:avLst/>
          </a:prstGeom>
          <a:noFill/>
          <a:ln/>
        </p:spPr>
        <p:txBody>
          <a:bodyPr wrap="square" lIns="0" tIns="0" rIns="0" bIns="0" rtlCol="0" anchor="ctr"/>
          <a:lstStyle/>
          <a:p>
            <a:pPr marL="0" indent="0">
              <a:lnSpc>
                <a:spcPct val="130000"/>
              </a:lnSpc>
              <a:buNone/>
              <a:defRPr/>
            </a:pPr>
            <a:r>
              <a:rPr lang="en-US" sz="1400">
                <a:solidFill>
                  <a:srgbClr val="171717"/>
                </a:solidFill>
                <a:latin typeface="IBM Plex Serif"/>
                <a:ea typeface="IBM Plex Serif"/>
                <a:cs typeface="IBM Plex Serif"/>
              </a:rPr>
              <a:t>0   </a:t>
            </a:r>
            <a:r>
              <a:rPr lang="en-US" sz="1400">
                <a:solidFill>
                  <a:srgbClr val="171717"/>
                </a:solidFill>
                <a:latin typeface="IBM Plex Serif"/>
                <a:ea typeface="IBM Plex Serif"/>
                <a:cs typeface="IBM Plex Serif"/>
              </a:rPr>
              <a:t>0.894141</a:t>
            </a:r>
            <a:br>
              <a:rPr lang="en-US" sz="1400">
                <a:solidFill>
                  <a:srgbClr val="171717"/>
                </a:solidFill>
                <a:latin typeface="IBM Plex Serif"/>
                <a:ea typeface="IBM Plex Serif"/>
                <a:cs typeface="IBM Plex Serif"/>
              </a:rPr>
            </a:br>
            <a:endParaRPr sz="1400">
              <a:latin typeface="IBM Plex Serif"/>
              <a:cs typeface="IBM Plex Serif"/>
            </a:endParaRPr>
          </a:p>
          <a:p>
            <a:pPr marL="0" indent="0">
              <a:lnSpc>
                <a:spcPct val="130000"/>
              </a:lnSpc>
              <a:buNone/>
              <a:defRPr/>
            </a:pPr>
            <a:r>
              <a:rPr lang="en-US" sz="1400" b="1">
                <a:solidFill>
                  <a:srgbClr val="A6192E"/>
                </a:solidFill>
                <a:latin typeface="IBM Plex Serif"/>
                <a:ea typeface="IBM Plex Serif"/>
                <a:cs typeface="IBM Plex Serif"/>
              </a:rPr>
              <a:t>1   </a:t>
            </a:r>
            <a:r>
              <a:rPr lang="en-US" sz="1400" b="1">
                <a:solidFill>
                  <a:srgbClr val="A6192E"/>
                </a:solidFill>
                <a:latin typeface="IBM Plex Serif"/>
                <a:ea typeface="IBM Plex Serif"/>
                <a:cs typeface="IBM Plex Serif"/>
              </a:rPr>
              <a:t>0.105859</a:t>
            </a:r>
            <a:endParaRPr sz="1400">
              <a:latin typeface="IBM Plex Serif"/>
              <a:cs typeface="IBM Plex Serif"/>
            </a:endParaRPr>
          </a:p>
        </p:txBody>
      </p:sp>
      <p:sp>
        <p:nvSpPr>
          <p:cNvPr id="495589708" name="Text 17"/>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460128246" name="Text 18"/>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13</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FFFFFF"/>
        </a:solidFill>
      </p:bgPr>
    </p:bg>
    <p:spTree>
      <p:nvGrpSpPr>
        <p:cNvPr id="1" name=""/>
        <p:cNvGrpSpPr/>
        <p:nvPr/>
      </p:nvGrpSpPr>
      <p:grpSpPr bwMode="auto">
        <a:xfrm>
          <a:off x="0" y="0"/>
          <a:ext cx="0" cy="0"/>
          <a:chOff x="0" y="0"/>
          <a:chExt cx="0" cy="0"/>
        </a:xfrm>
      </p:grpSpPr>
      <p:sp>
        <p:nvSpPr>
          <p:cNvPr id="402709823"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05 · MODELING</a:t>
            </a:r>
            <a:endParaRPr sz="1250">
              <a:latin typeface="IBM Plex Serif"/>
              <a:cs typeface="IBM Plex Serif"/>
            </a:endParaRPr>
          </a:p>
        </p:txBody>
      </p:sp>
      <p:sp>
        <p:nvSpPr>
          <p:cNvPr id="3422768"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Mô hình 1 — Random Forest</a:t>
            </a:r>
            <a:endParaRPr sz="3000">
              <a:latin typeface="IBM Plex Serif"/>
              <a:cs typeface="IBM Plex Serif"/>
            </a:endParaRPr>
          </a:p>
        </p:txBody>
      </p:sp>
      <p:sp>
        <p:nvSpPr>
          <p:cNvPr id="1321615308"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478606914"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14</a:t>
            </a:r>
            <a:endParaRPr sz="900">
              <a:latin typeface="IBM Plex Serif"/>
              <a:cs typeface="IBM Plex Serif"/>
            </a:endParaRPr>
          </a:p>
        </p:txBody>
      </p:sp>
      <p:sp>
        <p:nvSpPr>
          <p:cNvPr id="484367475" name="Shape 4"/>
          <p:cNvSpPr/>
          <p:nvPr/>
        </p:nvSpPr>
        <p:spPr bwMode="auto">
          <a:xfrm>
            <a:off x="475488" y="1351887"/>
            <a:ext cx="4352544" cy="3697026"/>
          </a:xfrm>
          <a:prstGeom prst="rect">
            <a:avLst/>
          </a:prstGeom>
          <a:solidFill>
            <a:srgbClr val="FFFFFF"/>
          </a:solidFill>
          <a:ln w="12700">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pic>
        <p:nvPicPr>
          <p:cNvPr id="384977648" name="Image 0" descr="images_v2/cell19_0.png"/>
          <p:cNvPicPr>
            <a:picLocks noChangeAspect="1"/>
          </p:cNvPicPr>
          <p:nvPr/>
        </p:nvPicPr>
        <p:blipFill rotWithShape="1">
          <a:blip r:embed="rId3"/>
          <a:stretch/>
        </p:blipFill>
        <p:spPr bwMode="auto">
          <a:xfrm>
            <a:off x="548640" y="1425039"/>
            <a:ext cx="4206240" cy="3550722"/>
          </a:xfrm>
          <a:prstGeom prst="rect">
            <a:avLst/>
          </a:prstGeom>
        </p:spPr>
      </p:pic>
      <p:sp>
        <p:nvSpPr>
          <p:cNvPr id="1759652715" name="Text 5"/>
          <p:cNvSpPr/>
          <p:nvPr/>
        </p:nvSpPr>
        <p:spPr bwMode="auto">
          <a:xfrm>
            <a:off x="548640" y="5084064"/>
            <a:ext cx="4206240" cy="274320"/>
          </a:xfrm>
          <a:prstGeom prst="rect">
            <a:avLst/>
          </a:prstGeom>
          <a:noFill/>
          <a:ln/>
        </p:spPr>
        <p:txBody>
          <a:bodyPr wrap="square" lIns="0" tIns="0" rIns="0" bIns="0" rtlCol="0" anchor="ctr"/>
          <a:lstStyle/>
          <a:p>
            <a:pPr marL="0" indent="0" algn="ctr">
              <a:buNone/>
              <a:defRPr/>
            </a:pPr>
            <a:r>
              <a:rPr lang="en-US" sz="1050" i="1">
                <a:solidFill>
                  <a:srgbClr val="6E6E6E"/>
                </a:solidFill>
                <a:latin typeface="IBM Plex Serif"/>
                <a:ea typeface="IBM Plex Serif"/>
                <a:cs typeface="IBM Plex Serif"/>
              </a:rPr>
              <a:t>Confusion Matrix — Random Forest</a:t>
            </a:r>
            <a:endParaRPr sz="1050">
              <a:latin typeface="IBM Plex Serif"/>
              <a:cs typeface="IBM Plex Serif"/>
            </a:endParaRPr>
          </a:p>
        </p:txBody>
      </p:sp>
      <p:sp>
        <p:nvSpPr>
          <p:cNvPr id="1794044129" name="Shape 6"/>
          <p:cNvSpPr/>
          <p:nvPr/>
        </p:nvSpPr>
        <p:spPr bwMode="auto">
          <a:xfrm>
            <a:off x="5074920" y="1371600"/>
            <a:ext cx="2743200" cy="1691640"/>
          </a:xfrm>
          <a:prstGeom prst="roundRect">
            <a:avLst>
              <a:gd name="adj" fmla="val 3784"/>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100315905" name="Text 7"/>
          <p:cNvSpPr/>
          <p:nvPr/>
        </p:nvSpPr>
        <p:spPr bwMode="auto">
          <a:xfrm>
            <a:off x="5074920" y="1536192"/>
            <a:ext cx="2743200" cy="274320"/>
          </a:xfrm>
          <a:prstGeom prst="rect">
            <a:avLst/>
          </a:prstGeom>
          <a:noFill/>
          <a:ln/>
        </p:spPr>
        <p:txBody>
          <a:bodyPr wrap="square" lIns="0" tIns="0" rIns="0" bIns="0" rtlCol="0" anchor="ctr"/>
          <a:lstStyle/>
          <a:p>
            <a:pPr marL="0" indent="0" algn="ctr">
              <a:buNone/>
              <a:defRPr/>
            </a:pPr>
            <a:r>
              <a:rPr lang="en-US" sz="1150">
                <a:solidFill>
                  <a:srgbClr val="6E6E6E"/>
                </a:solidFill>
                <a:latin typeface="IBM Plex Serif"/>
                <a:ea typeface="IBM Plex Serif"/>
                <a:cs typeface="IBM Plex Serif"/>
              </a:rPr>
              <a:t>Accuracy</a:t>
            </a:r>
            <a:endParaRPr sz="1150">
              <a:latin typeface="IBM Plex Serif"/>
              <a:cs typeface="IBM Plex Serif"/>
            </a:endParaRPr>
          </a:p>
        </p:txBody>
      </p:sp>
      <p:sp>
        <p:nvSpPr>
          <p:cNvPr id="1536257754" name="Text 8"/>
          <p:cNvSpPr/>
          <p:nvPr/>
        </p:nvSpPr>
        <p:spPr bwMode="auto">
          <a:xfrm>
            <a:off x="5074920" y="1783080"/>
            <a:ext cx="2743200" cy="868680"/>
          </a:xfrm>
          <a:prstGeom prst="rect">
            <a:avLst/>
          </a:prstGeom>
          <a:noFill/>
          <a:ln/>
        </p:spPr>
        <p:txBody>
          <a:bodyPr wrap="square" lIns="0" tIns="0" rIns="0" bIns="0" rtlCol="0" anchor="ctr"/>
          <a:lstStyle/>
          <a:p>
            <a:pPr marL="0" indent="0" algn="ctr">
              <a:buNone/>
              <a:defRPr/>
            </a:pPr>
            <a:r>
              <a:rPr lang="en-US" sz="3800" b="1">
                <a:solidFill>
                  <a:srgbClr val="171717"/>
                </a:solidFill>
                <a:latin typeface="IBM Plex Serif"/>
                <a:ea typeface="IBM Plex Serif"/>
                <a:cs typeface="IBM Plex Serif"/>
              </a:rPr>
              <a:t>0.89</a:t>
            </a:r>
            <a:endParaRPr sz="3800">
              <a:latin typeface="IBM Plex Serif"/>
              <a:cs typeface="IBM Plex Serif"/>
            </a:endParaRPr>
          </a:p>
        </p:txBody>
      </p:sp>
      <p:sp>
        <p:nvSpPr>
          <p:cNvPr id="1009290343" name="Text 9"/>
          <p:cNvSpPr/>
          <p:nvPr/>
        </p:nvSpPr>
        <p:spPr bwMode="auto">
          <a:xfrm>
            <a:off x="5074920" y="2697480"/>
            <a:ext cx="2743200" cy="274320"/>
          </a:xfrm>
          <a:prstGeom prst="rect">
            <a:avLst/>
          </a:prstGeom>
          <a:noFill/>
          <a:ln/>
        </p:spPr>
        <p:txBody>
          <a:bodyPr wrap="square" lIns="0" tIns="0" rIns="0" bIns="0" rtlCol="0" anchor="ctr"/>
          <a:lstStyle/>
          <a:p>
            <a:pPr marL="0" indent="0" algn="ctr">
              <a:buNone/>
              <a:defRPr/>
            </a:pPr>
            <a:r>
              <a:rPr lang="en-US" sz="1000" i="1">
                <a:solidFill>
                  <a:srgbClr val="6E6E6E"/>
                </a:solidFill>
                <a:latin typeface="IBM Plex Serif"/>
                <a:ea typeface="IBM Plex Serif"/>
                <a:cs typeface="IBM Plex Serif"/>
              </a:rPr>
              <a:t>class_weight = 'balanced'</a:t>
            </a:r>
            <a:endParaRPr sz="1000">
              <a:latin typeface="IBM Plex Serif"/>
              <a:cs typeface="IBM Plex Serif"/>
            </a:endParaRPr>
          </a:p>
        </p:txBody>
      </p:sp>
      <p:sp>
        <p:nvSpPr>
          <p:cNvPr id="2044873938" name="Shape 10"/>
          <p:cNvSpPr/>
          <p:nvPr/>
        </p:nvSpPr>
        <p:spPr bwMode="auto">
          <a:xfrm>
            <a:off x="5074920" y="3246120"/>
            <a:ext cx="2743200" cy="1691640"/>
          </a:xfrm>
          <a:prstGeom prst="roundRect">
            <a:avLst>
              <a:gd name="adj" fmla="val 3784"/>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561485941" name="Text 11"/>
          <p:cNvSpPr/>
          <p:nvPr/>
        </p:nvSpPr>
        <p:spPr bwMode="auto">
          <a:xfrm>
            <a:off x="5074920" y="3410712"/>
            <a:ext cx="2743200" cy="274320"/>
          </a:xfrm>
          <a:prstGeom prst="rect">
            <a:avLst/>
          </a:prstGeom>
          <a:noFill/>
          <a:ln/>
        </p:spPr>
        <p:txBody>
          <a:bodyPr wrap="square" lIns="0" tIns="0" rIns="0" bIns="0" rtlCol="0" anchor="ctr"/>
          <a:lstStyle/>
          <a:p>
            <a:pPr marL="0" indent="0" algn="ctr">
              <a:buNone/>
              <a:defRPr/>
            </a:pPr>
            <a:r>
              <a:rPr lang="en-US" sz="1150">
                <a:solidFill>
                  <a:srgbClr val="6E6E6E"/>
                </a:solidFill>
                <a:latin typeface="IBM Plex Serif"/>
                <a:ea typeface="IBM Plex Serif"/>
                <a:cs typeface="IBM Plex Serif"/>
              </a:rPr>
              <a:t>ROC-AUC</a:t>
            </a:r>
            <a:endParaRPr sz="1150">
              <a:latin typeface="IBM Plex Serif"/>
              <a:cs typeface="IBM Plex Serif"/>
            </a:endParaRPr>
          </a:p>
        </p:txBody>
      </p:sp>
      <p:sp>
        <p:nvSpPr>
          <p:cNvPr id="1319686264" name="Text 12"/>
          <p:cNvSpPr/>
          <p:nvPr/>
        </p:nvSpPr>
        <p:spPr bwMode="auto">
          <a:xfrm>
            <a:off x="5074920" y="3657600"/>
            <a:ext cx="2743200" cy="868680"/>
          </a:xfrm>
          <a:prstGeom prst="rect">
            <a:avLst/>
          </a:prstGeom>
          <a:noFill/>
          <a:ln/>
        </p:spPr>
        <p:txBody>
          <a:bodyPr wrap="square" lIns="0" tIns="0" rIns="0" bIns="0" rtlCol="0" anchor="ctr"/>
          <a:lstStyle/>
          <a:p>
            <a:pPr marL="0" indent="0" algn="ctr">
              <a:buNone/>
              <a:defRPr/>
            </a:pPr>
            <a:r>
              <a:rPr lang="en-US" sz="3800" b="1">
                <a:solidFill>
                  <a:srgbClr val="A6192E"/>
                </a:solidFill>
                <a:latin typeface="IBM Plex Serif"/>
                <a:ea typeface="IBM Plex Serif"/>
                <a:cs typeface="IBM Plex Serif"/>
              </a:rPr>
              <a:t>0.803</a:t>
            </a:r>
            <a:endParaRPr sz="3800">
              <a:latin typeface="IBM Plex Serif"/>
              <a:cs typeface="IBM Plex Serif"/>
            </a:endParaRPr>
          </a:p>
        </p:txBody>
      </p:sp>
      <p:sp>
        <p:nvSpPr>
          <p:cNvPr id="574220293" name="Text 13"/>
          <p:cNvSpPr/>
          <p:nvPr/>
        </p:nvSpPr>
        <p:spPr bwMode="auto">
          <a:xfrm>
            <a:off x="5074920" y="4572000"/>
            <a:ext cx="2743200" cy="274320"/>
          </a:xfrm>
          <a:prstGeom prst="rect">
            <a:avLst/>
          </a:prstGeom>
          <a:noFill/>
          <a:ln/>
        </p:spPr>
        <p:txBody>
          <a:bodyPr wrap="square" lIns="0" tIns="0" rIns="0" bIns="0" rtlCol="0" anchor="ctr"/>
          <a:lstStyle/>
          <a:p>
            <a:pPr marL="0" indent="0" algn="ctr">
              <a:buNone/>
              <a:defRPr/>
            </a:pPr>
            <a:r>
              <a:rPr lang="en-US" sz="1000" i="1">
                <a:solidFill>
                  <a:srgbClr val="6E6E6E"/>
                </a:solidFill>
                <a:latin typeface="IBM Plex Serif"/>
                <a:ea typeface="IBM Plex Serif"/>
                <a:cs typeface="IBM Plex Serif"/>
              </a:rPr>
              <a:t>ngưỡng quyết định = 0.5</a:t>
            </a:r>
            <a:endParaRPr sz="1000">
              <a:latin typeface="IBM Plex Serif"/>
              <a:cs typeface="IBM Plex Serif"/>
            </a:endParaRPr>
          </a:p>
        </p:txBody>
      </p:sp>
      <p:sp>
        <p:nvSpPr>
          <p:cNvPr id="1700570490" name="Shape 14"/>
          <p:cNvSpPr/>
          <p:nvPr/>
        </p:nvSpPr>
        <p:spPr bwMode="auto">
          <a:xfrm>
            <a:off x="8001000" y="1371600"/>
            <a:ext cx="3639312" cy="3566160"/>
          </a:xfrm>
          <a:prstGeom prst="roundRect">
            <a:avLst>
              <a:gd name="adj" fmla="val 1795"/>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052288917" name="Text 15"/>
          <p:cNvSpPr/>
          <p:nvPr/>
        </p:nvSpPr>
        <p:spPr bwMode="auto">
          <a:xfrm>
            <a:off x="8229600" y="1554480"/>
            <a:ext cx="3291840" cy="502920"/>
          </a:xfrm>
          <a:prstGeom prst="rect">
            <a:avLst/>
          </a:prstGeom>
          <a:noFill/>
          <a:ln/>
        </p:spPr>
        <p:txBody>
          <a:bodyPr wrap="square" lIns="0" tIns="0" rIns="0" bIns="0" rtlCol="0" anchor="ctr"/>
          <a:lstStyle/>
          <a:p>
            <a:pPr marL="0" indent="0">
              <a:buNone/>
              <a:defRPr/>
            </a:pPr>
            <a:r>
              <a:rPr lang="en-US" sz="1300" b="1">
                <a:solidFill>
                  <a:srgbClr val="171717"/>
                </a:solidFill>
                <a:latin typeface="IBM Plex Serif"/>
                <a:ea typeface="IBM Plex Serif"/>
                <a:cs typeface="IBM Plex Serif"/>
              </a:rPr>
              <a:t>Classification Report — lớp Disease</a:t>
            </a:r>
            <a:endParaRPr sz="1300">
              <a:latin typeface="IBM Plex Serif"/>
              <a:cs typeface="IBM Plex Serif"/>
            </a:endParaRPr>
          </a:p>
        </p:txBody>
      </p:sp>
      <p:graphicFrame>
        <p:nvGraphicFramePr>
          <p:cNvPr id="1203273921" name="Table 0"/>
          <p:cNvGraphicFramePr>
            <a:graphicFrameLocks xmlns:a="http://schemas.openxmlformats.org/drawingml/2006/main" noGrp="1"/>
          </p:cNvGraphicFramePr>
          <p:nvPr/>
        </p:nvGraphicFramePr>
        <p:xfrm rot="0">
          <a:off x="8229600" y="2148840"/>
          <a:ext cx="3200400" cy="1554480"/>
        </p:xfrm>
        <a:graphic>
          <a:graphicData uri="http://schemas.openxmlformats.org/drawingml/2006/table">
            <a:tbl>
              <a:tblPr firstRow="0" firstCol="0" lastRow="0" lastCol="0" bandRow="0" bandCol="0"/>
              <a:tblGrid>
                <a:gridCol w="1280160"/>
                <a:gridCol w="960120"/>
                <a:gridCol w="960120"/>
              </a:tblGrid>
              <a:tr h="384048">
                <a:tc>
                  <a:txBody>
                    <a:bodyPr/>
                    <a:p>
                      <a:pPr marL="0" indent="0" algn="ctr">
                        <a:buNone/>
                        <a:defRPr/>
                      </a:pPr>
                      <a:r>
                        <a:rPr lang="en-US" sz="1200" b="1">
                          <a:solidFill>
                            <a:srgbClr val="FFFFFF"/>
                          </a:solidFill>
                          <a:latin typeface="IBM Plex Serif"/>
                          <a:ea typeface="IBM Plex Serif"/>
                          <a:cs typeface="IBM Plex Serif"/>
                        </a:rPr>
                        <a:t>Metric</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c>
                  <a:txBody>
                    <a:bodyPr/>
                    <a:p>
                      <a:pPr marL="0" indent="0" algn="ctr">
                        <a:buNone/>
                        <a:defRPr/>
                      </a:pPr>
                      <a:r>
                        <a:rPr lang="en-US" sz="1200" b="1">
                          <a:solidFill>
                            <a:srgbClr val="FFFFFF"/>
                          </a:solidFill>
                          <a:latin typeface="IBM Plex Serif"/>
                          <a:ea typeface="IBM Plex Serif"/>
                          <a:cs typeface="IBM Plex Serif"/>
                        </a:rPr>
                        <a:t>No</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c>
                  <a:txBody>
                    <a:bodyPr/>
                    <a:p>
                      <a:pPr marL="0" indent="0" algn="ctr">
                        <a:buNone/>
                        <a:defRPr/>
                      </a:pPr>
                      <a:r>
                        <a:rPr lang="en-US" sz="1200" b="1">
                          <a:solidFill>
                            <a:srgbClr val="FFFFFF"/>
                          </a:solidFill>
                          <a:latin typeface="IBM Plex Serif"/>
                          <a:ea typeface="IBM Plex Serif"/>
                          <a:cs typeface="IBM Plex Serif"/>
                        </a:rPr>
                        <a:t>Disease</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r>
              <a:tr h="384048">
                <a:tc>
                  <a:txBody>
                    <a:bodyPr/>
                    <a:p>
                      <a:pPr marL="0" indent="0" algn="ctr">
                        <a:buNone/>
                        <a:defRPr/>
                      </a:pPr>
                      <a:r>
                        <a:rPr lang="en-US" sz="1200">
                          <a:solidFill>
                            <a:srgbClr val="171717"/>
                          </a:solidFill>
                          <a:latin typeface="IBM Plex Serif"/>
                          <a:ea typeface="IBM Plex Serif"/>
                          <a:cs typeface="IBM Plex Serif"/>
                        </a:rPr>
                        <a:t>Precision</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0.90</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0.41</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84048">
                <a:tc>
                  <a:txBody>
                    <a:bodyPr/>
                    <a:p>
                      <a:pPr marL="0" indent="0" algn="ctr">
                        <a:buNone/>
                        <a:defRPr/>
                      </a:pPr>
                      <a:r>
                        <a:rPr lang="en-US" sz="1200">
                          <a:solidFill>
                            <a:srgbClr val="171717"/>
                          </a:solidFill>
                          <a:latin typeface="IBM Plex Serif"/>
                          <a:ea typeface="IBM Plex Serif"/>
                          <a:cs typeface="IBM Plex Serif"/>
                        </a:rPr>
                        <a:t>Recall</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0.99</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0.07</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84048">
                <a:tc>
                  <a:txBody>
                    <a:bodyPr/>
                    <a:p>
                      <a:pPr marL="0" indent="0" algn="ctr">
                        <a:buNone/>
                        <a:defRPr/>
                      </a:pPr>
                      <a:r>
                        <a:rPr lang="en-US" sz="1200">
                          <a:solidFill>
                            <a:srgbClr val="171717"/>
                          </a:solidFill>
                          <a:latin typeface="IBM Plex Serif"/>
                          <a:ea typeface="IBM Plex Serif"/>
                          <a:cs typeface="IBM Plex Serif"/>
                        </a:rPr>
                        <a:t>F1-score</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0.94</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0.11</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bl>
          </a:graphicData>
        </a:graphic>
      </p:graphicFrame>
      <p:sp>
        <p:nvSpPr>
          <p:cNvPr id="1694090823" name="Text 16"/>
          <p:cNvSpPr/>
          <p:nvPr/>
        </p:nvSpPr>
        <p:spPr bwMode="auto">
          <a:xfrm>
            <a:off x="8229600" y="3886200"/>
            <a:ext cx="3246120" cy="960120"/>
          </a:xfrm>
          <a:prstGeom prst="rect">
            <a:avLst/>
          </a:prstGeom>
          <a:noFill/>
          <a:ln/>
        </p:spPr>
        <p:txBody>
          <a:bodyPr wrap="square" lIns="0" tIns="0" rIns="0" bIns="0" rtlCol="0" anchor="t"/>
          <a:lstStyle/>
          <a:p>
            <a:pPr marL="0" indent="0">
              <a:buNone/>
              <a:defRPr/>
            </a:pPr>
            <a:r>
              <a:rPr lang="en-US" sz="1150" i="1">
                <a:solidFill>
                  <a:srgbClr val="7A1322"/>
                </a:solidFill>
                <a:latin typeface="IBM Plex Serif"/>
                <a:ea typeface="IBM Plex Serif"/>
                <a:cs typeface="IBM Plex Serif"/>
              </a:rPr>
              <a:t>Với ngưỡng mặc định 0.5, Recall của lớp Disease chỉ 0.07 — mô hình bỏ sót hầu hết ca bệnh thật, dù accuracy và ROC-AUC tổng thể đều cao.</a:t>
            </a:r>
            <a:endParaRPr sz="1150">
              <a:latin typeface="IBM Plex Serif"/>
              <a:cs typeface="IBM Plex Serif"/>
            </a:endParaRPr>
          </a:p>
        </p:txBody>
      </p:sp>
      <p:sp>
        <p:nvSpPr>
          <p:cNvPr id="1275059766" name="Text 17"/>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2045001928" name="Text 18"/>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14</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FFFFFF"/>
        </a:solidFill>
      </p:bgPr>
    </p:bg>
    <p:spTree>
      <p:nvGrpSpPr>
        <p:cNvPr id="1" name=""/>
        <p:cNvGrpSpPr/>
        <p:nvPr/>
      </p:nvGrpSpPr>
      <p:grpSpPr bwMode="auto">
        <a:xfrm>
          <a:off x="0" y="0"/>
          <a:ext cx="0" cy="0"/>
          <a:chOff x="0" y="0"/>
          <a:chExt cx="0" cy="0"/>
        </a:xfrm>
      </p:grpSpPr>
      <p:sp>
        <p:nvSpPr>
          <p:cNvPr id="1822689406"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05 · MODELING</a:t>
            </a:r>
            <a:endParaRPr sz="1250">
              <a:latin typeface="IBM Plex Serif"/>
              <a:cs typeface="IBM Plex Serif"/>
            </a:endParaRPr>
          </a:p>
        </p:txBody>
      </p:sp>
      <p:sp>
        <p:nvSpPr>
          <p:cNvPr id="726234363"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Mô hình 2 — Logistic Regression</a:t>
            </a:r>
            <a:endParaRPr sz="3000">
              <a:latin typeface="IBM Plex Serif"/>
              <a:cs typeface="IBM Plex Serif"/>
            </a:endParaRPr>
          </a:p>
        </p:txBody>
      </p:sp>
      <p:sp>
        <p:nvSpPr>
          <p:cNvPr id="939809157"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148926184"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15</a:t>
            </a:r>
            <a:endParaRPr sz="900">
              <a:latin typeface="IBM Plex Serif"/>
              <a:cs typeface="IBM Plex Serif"/>
            </a:endParaRPr>
          </a:p>
        </p:txBody>
      </p:sp>
      <p:sp>
        <p:nvSpPr>
          <p:cNvPr id="1289814847" name="Shape 4"/>
          <p:cNvSpPr/>
          <p:nvPr/>
        </p:nvSpPr>
        <p:spPr bwMode="auto">
          <a:xfrm>
            <a:off x="475488" y="1407716"/>
            <a:ext cx="4352544" cy="3585368"/>
          </a:xfrm>
          <a:prstGeom prst="rect">
            <a:avLst/>
          </a:prstGeom>
          <a:solidFill>
            <a:srgbClr val="FFFFFF"/>
          </a:solidFill>
          <a:ln w="12700">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pic>
        <p:nvPicPr>
          <p:cNvPr id="351403090" name="Image 0" descr="images_v2/cell20_1.png"/>
          <p:cNvPicPr>
            <a:picLocks noChangeAspect="1"/>
          </p:cNvPicPr>
          <p:nvPr/>
        </p:nvPicPr>
        <p:blipFill rotWithShape="1">
          <a:blip r:embed="rId3"/>
          <a:stretch/>
        </p:blipFill>
        <p:spPr bwMode="auto">
          <a:xfrm>
            <a:off x="548640" y="1480868"/>
            <a:ext cx="4206240" cy="3439064"/>
          </a:xfrm>
          <a:prstGeom prst="rect">
            <a:avLst/>
          </a:prstGeom>
        </p:spPr>
      </p:pic>
      <p:sp>
        <p:nvSpPr>
          <p:cNvPr id="1037619316" name="Text 5"/>
          <p:cNvSpPr/>
          <p:nvPr/>
        </p:nvSpPr>
        <p:spPr bwMode="auto">
          <a:xfrm>
            <a:off x="548640" y="5084064"/>
            <a:ext cx="4206240" cy="274320"/>
          </a:xfrm>
          <a:prstGeom prst="rect">
            <a:avLst/>
          </a:prstGeom>
          <a:noFill/>
          <a:ln/>
        </p:spPr>
        <p:txBody>
          <a:bodyPr wrap="square" lIns="0" tIns="0" rIns="0" bIns="0" rtlCol="0" anchor="ctr"/>
          <a:lstStyle/>
          <a:p>
            <a:pPr marL="0" indent="0" algn="ctr">
              <a:buNone/>
              <a:defRPr/>
            </a:pPr>
            <a:r>
              <a:rPr lang="en-US" sz="1050" i="1">
                <a:solidFill>
                  <a:srgbClr val="6E6E6E"/>
                </a:solidFill>
                <a:latin typeface="IBM Plex Serif"/>
                <a:ea typeface="IBM Plex Serif"/>
                <a:cs typeface="IBM Plex Serif"/>
              </a:rPr>
              <a:t>Confusion Matrix — Logistic Regression (threshold = 0.25)</a:t>
            </a:r>
            <a:endParaRPr sz="1050">
              <a:latin typeface="IBM Plex Serif"/>
              <a:cs typeface="IBM Plex Serif"/>
            </a:endParaRPr>
          </a:p>
        </p:txBody>
      </p:sp>
      <p:sp>
        <p:nvSpPr>
          <p:cNvPr id="1349610976" name="Shape 6"/>
          <p:cNvSpPr/>
          <p:nvPr/>
        </p:nvSpPr>
        <p:spPr bwMode="auto">
          <a:xfrm>
            <a:off x="5074920" y="1371600"/>
            <a:ext cx="2743200" cy="1691640"/>
          </a:xfrm>
          <a:prstGeom prst="roundRect">
            <a:avLst>
              <a:gd name="adj" fmla="val 3784"/>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365925106" name="Text 7"/>
          <p:cNvSpPr/>
          <p:nvPr/>
        </p:nvSpPr>
        <p:spPr bwMode="auto">
          <a:xfrm>
            <a:off x="5074920" y="1536192"/>
            <a:ext cx="2743200" cy="274320"/>
          </a:xfrm>
          <a:prstGeom prst="rect">
            <a:avLst/>
          </a:prstGeom>
          <a:noFill/>
          <a:ln/>
        </p:spPr>
        <p:txBody>
          <a:bodyPr wrap="square" lIns="0" tIns="0" rIns="0" bIns="0" rtlCol="0" anchor="ctr"/>
          <a:lstStyle/>
          <a:p>
            <a:pPr marL="0" indent="0" algn="ctr">
              <a:buNone/>
              <a:defRPr/>
            </a:pPr>
            <a:r>
              <a:rPr lang="en-US" sz="1150">
                <a:solidFill>
                  <a:srgbClr val="6E6E6E"/>
                </a:solidFill>
                <a:latin typeface="IBM Plex Serif"/>
                <a:ea typeface="IBM Plex Serif"/>
                <a:cs typeface="IBM Plex Serif"/>
              </a:rPr>
              <a:t>Accuracy</a:t>
            </a:r>
            <a:endParaRPr sz="1150">
              <a:latin typeface="IBM Plex Serif"/>
              <a:cs typeface="IBM Plex Serif"/>
            </a:endParaRPr>
          </a:p>
        </p:txBody>
      </p:sp>
      <p:sp>
        <p:nvSpPr>
          <p:cNvPr id="477729876" name="Text 8"/>
          <p:cNvSpPr/>
          <p:nvPr/>
        </p:nvSpPr>
        <p:spPr bwMode="auto">
          <a:xfrm>
            <a:off x="5074920" y="1783080"/>
            <a:ext cx="2743200" cy="868680"/>
          </a:xfrm>
          <a:prstGeom prst="rect">
            <a:avLst/>
          </a:prstGeom>
          <a:noFill/>
          <a:ln/>
        </p:spPr>
        <p:txBody>
          <a:bodyPr wrap="square" lIns="0" tIns="0" rIns="0" bIns="0" rtlCol="0" anchor="ctr"/>
          <a:lstStyle/>
          <a:p>
            <a:pPr marL="0" indent="0" algn="ctr">
              <a:buNone/>
              <a:defRPr/>
            </a:pPr>
            <a:r>
              <a:rPr lang="en-US" sz="3800" b="1">
                <a:solidFill>
                  <a:srgbClr val="171717"/>
                </a:solidFill>
                <a:latin typeface="IBM Plex Serif"/>
                <a:ea typeface="IBM Plex Serif"/>
                <a:cs typeface="IBM Plex Serif"/>
              </a:rPr>
              <a:t>0.55</a:t>
            </a:r>
            <a:endParaRPr sz="3800">
              <a:latin typeface="IBM Plex Serif"/>
              <a:cs typeface="IBM Plex Serif"/>
            </a:endParaRPr>
          </a:p>
        </p:txBody>
      </p:sp>
      <p:sp>
        <p:nvSpPr>
          <p:cNvPr id="813481521" name="Text 9"/>
          <p:cNvSpPr/>
          <p:nvPr/>
        </p:nvSpPr>
        <p:spPr bwMode="auto">
          <a:xfrm>
            <a:off x="5074920" y="2697480"/>
            <a:ext cx="2743200" cy="274320"/>
          </a:xfrm>
          <a:prstGeom prst="rect">
            <a:avLst/>
          </a:prstGeom>
          <a:noFill/>
          <a:ln/>
        </p:spPr>
        <p:txBody>
          <a:bodyPr wrap="square" lIns="0" tIns="0" rIns="0" bIns="0" rtlCol="0" anchor="ctr"/>
          <a:lstStyle/>
          <a:p>
            <a:pPr marL="0" indent="0" algn="ctr">
              <a:buNone/>
              <a:defRPr/>
            </a:pPr>
            <a:r>
              <a:rPr lang="en-US" sz="1000" i="1">
                <a:solidFill>
                  <a:srgbClr val="6E6E6E"/>
                </a:solidFill>
                <a:latin typeface="IBM Plex Serif"/>
                <a:ea typeface="IBM Plex Serif"/>
                <a:cs typeface="IBM Plex Serif"/>
              </a:rPr>
              <a:t>ngưỡng quyết định = 0.25</a:t>
            </a:r>
            <a:endParaRPr sz="1000">
              <a:latin typeface="IBM Plex Serif"/>
              <a:cs typeface="IBM Plex Serif"/>
            </a:endParaRPr>
          </a:p>
        </p:txBody>
      </p:sp>
      <p:sp>
        <p:nvSpPr>
          <p:cNvPr id="461620194" name="Shape 10"/>
          <p:cNvSpPr/>
          <p:nvPr/>
        </p:nvSpPr>
        <p:spPr bwMode="auto">
          <a:xfrm>
            <a:off x="5074920" y="3246120"/>
            <a:ext cx="2743200" cy="1691640"/>
          </a:xfrm>
          <a:prstGeom prst="roundRect">
            <a:avLst>
              <a:gd name="adj" fmla="val 3784"/>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052142804" name="Text 11"/>
          <p:cNvSpPr/>
          <p:nvPr/>
        </p:nvSpPr>
        <p:spPr bwMode="auto">
          <a:xfrm>
            <a:off x="5074920" y="3410712"/>
            <a:ext cx="2743200" cy="274320"/>
          </a:xfrm>
          <a:prstGeom prst="rect">
            <a:avLst/>
          </a:prstGeom>
          <a:noFill/>
          <a:ln/>
        </p:spPr>
        <p:txBody>
          <a:bodyPr wrap="square" lIns="0" tIns="0" rIns="0" bIns="0" rtlCol="0" anchor="ctr"/>
          <a:lstStyle/>
          <a:p>
            <a:pPr marL="0" indent="0" algn="ctr">
              <a:buNone/>
              <a:defRPr/>
            </a:pPr>
            <a:r>
              <a:rPr lang="en-US" sz="1150">
                <a:solidFill>
                  <a:srgbClr val="6E6E6E"/>
                </a:solidFill>
                <a:latin typeface="IBM Plex Serif"/>
                <a:ea typeface="IBM Plex Serif"/>
                <a:cs typeface="IBM Plex Serif"/>
              </a:rPr>
              <a:t>ROC-AUC</a:t>
            </a:r>
            <a:endParaRPr sz="1150">
              <a:latin typeface="IBM Plex Serif"/>
              <a:cs typeface="IBM Plex Serif"/>
            </a:endParaRPr>
          </a:p>
        </p:txBody>
      </p:sp>
      <p:sp>
        <p:nvSpPr>
          <p:cNvPr id="579985434" name="Text 12"/>
          <p:cNvSpPr/>
          <p:nvPr/>
        </p:nvSpPr>
        <p:spPr bwMode="auto">
          <a:xfrm>
            <a:off x="5074920" y="3657600"/>
            <a:ext cx="2743200" cy="868680"/>
          </a:xfrm>
          <a:prstGeom prst="rect">
            <a:avLst/>
          </a:prstGeom>
          <a:noFill/>
          <a:ln/>
        </p:spPr>
        <p:txBody>
          <a:bodyPr wrap="square" lIns="0" tIns="0" rIns="0" bIns="0" rtlCol="0" anchor="ctr"/>
          <a:lstStyle/>
          <a:p>
            <a:pPr marL="0" indent="0" algn="ctr">
              <a:buNone/>
              <a:defRPr/>
            </a:pPr>
            <a:r>
              <a:rPr lang="en-US" sz="3800" b="1">
                <a:solidFill>
                  <a:srgbClr val="A6192E"/>
                </a:solidFill>
                <a:latin typeface="IBM Plex Serif"/>
                <a:ea typeface="IBM Plex Serif"/>
                <a:cs typeface="IBM Plex Serif"/>
              </a:rPr>
              <a:t>0.828</a:t>
            </a:r>
            <a:endParaRPr sz="3800">
              <a:latin typeface="IBM Plex Serif"/>
              <a:cs typeface="IBM Plex Serif"/>
            </a:endParaRPr>
          </a:p>
        </p:txBody>
      </p:sp>
      <p:sp>
        <p:nvSpPr>
          <p:cNvPr id="1388725241" name="Text 13"/>
          <p:cNvSpPr/>
          <p:nvPr/>
        </p:nvSpPr>
        <p:spPr bwMode="auto">
          <a:xfrm>
            <a:off x="5074920" y="4572000"/>
            <a:ext cx="2743200" cy="274320"/>
          </a:xfrm>
          <a:prstGeom prst="rect">
            <a:avLst/>
          </a:prstGeom>
          <a:noFill/>
          <a:ln/>
        </p:spPr>
        <p:txBody>
          <a:bodyPr wrap="square" lIns="0" tIns="0" rIns="0" bIns="0" rtlCol="0" anchor="ctr"/>
          <a:lstStyle/>
          <a:p>
            <a:pPr marL="0" indent="0" algn="ctr">
              <a:buNone/>
              <a:defRPr/>
            </a:pPr>
            <a:r>
              <a:rPr lang="en-US" sz="1000" i="1">
                <a:solidFill>
                  <a:srgbClr val="6E6E6E"/>
                </a:solidFill>
                <a:latin typeface="IBM Plex Serif"/>
                <a:ea typeface="IBM Plex Serif"/>
                <a:cs typeface="IBM Plex Serif"/>
              </a:rPr>
              <a:t>cao nhất trong 2 mô hình</a:t>
            </a:r>
            <a:endParaRPr sz="1000">
              <a:latin typeface="IBM Plex Serif"/>
              <a:cs typeface="IBM Plex Serif"/>
            </a:endParaRPr>
          </a:p>
        </p:txBody>
      </p:sp>
      <p:sp>
        <p:nvSpPr>
          <p:cNvPr id="2058169663" name="Shape 14"/>
          <p:cNvSpPr/>
          <p:nvPr/>
        </p:nvSpPr>
        <p:spPr bwMode="auto">
          <a:xfrm>
            <a:off x="8001000" y="1371600"/>
            <a:ext cx="3639312" cy="3566160"/>
          </a:xfrm>
          <a:prstGeom prst="roundRect">
            <a:avLst>
              <a:gd name="adj" fmla="val 1795"/>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110532378" name="Text 15"/>
          <p:cNvSpPr/>
          <p:nvPr/>
        </p:nvSpPr>
        <p:spPr bwMode="auto">
          <a:xfrm>
            <a:off x="8229600" y="1554480"/>
            <a:ext cx="3291840" cy="502920"/>
          </a:xfrm>
          <a:prstGeom prst="rect">
            <a:avLst/>
          </a:prstGeom>
          <a:noFill/>
          <a:ln/>
        </p:spPr>
        <p:txBody>
          <a:bodyPr wrap="square" lIns="0" tIns="0" rIns="0" bIns="0" rtlCol="0" anchor="ctr"/>
          <a:lstStyle/>
          <a:p>
            <a:pPr marL="0" indent="0">
              <a:buNone/>
              <a:defRPr/>
            </a:pPr>
            <a:r>
              <a:rPr lang="en-US" sz="1300" b="1">
                <a:solidFill>
                  <a:srgbClr val="171717"/>
                </a:solidFill>
                <a:latin typeface="IBM Plex Serif"/>
                <a:ea typeface="IBM Plex Serif"/>
                <a:cs typeface="IBM Plex Serif"/>
              </a:rPr>
              <a:t>Classification Report — lớp Disease</a:t>
            </a:r>
            <a:endParaRPr sz="1300">
              <a:latin typeface="IBM Plex Serif"/>
              <a:cs typeface="IBM Plex Serif"/>
            </a:endParaRPr>
          </a:p>
        </p:txBody>
      </p:sp>
      <p:graphicFrame>
        <p:nvGraphicFramePr>
          <p:cNvPr id="1647645383" name="Table 0"/>
          <p:cNvGraphicFramePr>
            <a:graphicFrameLocks xmlns:a="http://schemas.openxmlformats.org/drawingml/2006/main" noGrp="1"/>
          </p:cNvGraphicFramePr>
          <p:nvPr/>
        </p:nvGraphicFramePr>
        <p:xfrm rot="0">
          <a:off x="8229600" y="2148840"/>
          <a:ext cx="3200400" cy="1554480"/>
        </p:xfrm>
        <a:graphic>
          <a:graphicData uri="http://schemas.openxmlformats.org/drawingml/2006/table">
            <a:tbl>
              <a:tblPr firstRow="0" firstCol="0" lastRow="0" lastCol="0" bandRow="0" bandCol="0"/>
              <a:tblGrid>
                <a:gridCol w="1280160"/>
                <a:gridCol w="960120"/>
                <a:gridCol w="960120"/>
              </a:tblGrid>
              <a:tr h="384048">
                <a:tc>
                  <a:txBody>
                    <a:bodyPr/>
                    <a:p>
                      <a:pPr marL="0" indent="0" algn="ctr">
                        <a:buNone/>
                        <a:defRPr/>
                      </a:pPr>
                      <a:r>
                        <a:rPr lang="en-US" sz="1200" b="1">
                          <a:solidFill>
                            <a:srgbClr val="FFFFFF"/>
                          </a:solidFill>
                          <a:latin typeface="IBM Plex Serif"/>
                          <a:ea typeface="IBM Plex Serif"/>
                          <a:cs typeface="IBM Plex Serif"/>
                        </a:rPr>
                        <a:t>Metric</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c>
                  <a:txBody>
                    <a:bodyPr/>
                    <a:p>
                      <a:pPr marL="0" indent="0" algn="ctr">
                        <a:buNone/>
                        <a:defRPr/>
                      </a:pPr>
                      <a:r>
                        <a:rPr lang="en-US" sz="1200" b="1">
                          <a:solidFill>
                            <a:srgbClr val="FFFFFF"/>
                          </a:solidFill>
                          <a:latin typeface="IBM Plex Serif"/>
                          <a:ea typeface="IBM Plex Serif"/>
                          <a:cs typeface="IBM Plex Serif"/>
                        </a:rPr>
                        <a:t>No</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c>
                  <a:txBody>
                    <a:bodyPr/>
                    <a:p>
                      <a:pPr marL="0" indent="0" algn="ctr">
                        <a:buNone/>
                        <a:defRPr/>
                      </a:pPr>
                      <a:r>
                        <a:rPr lang="en-US" sz="1200" b="1">
                          <a:solidFill>
                            <a:srgbClr val="FFFFFF"/>
                          </a:solidFill>
                          <a:latin typeface="IBM Plex Serif"/>
                          <a:ea typeface="IBM Plex Serif"/>
                          <a:cs typeface="IBM Plex Serif"/>
                        </a:rPr>
                        <a:t>Disease</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r>
              <a:tr h="384048">
                <a:tc>
                  <a:txBody>
                    <a:bodyPr/>
                    <a:p>
                      <a:pPr marL="0" indent="0" algn="ctr">
                        <a:buNone/>
                        <a:defRPr/>
                      </a:pPr>
                      <a:r>
                        <a:rPr lang="en-US" sz="1200">
                          <a:solidFill>
                            <a:srgbClr val="171717"/>
                          </a:solidFill>
                          <a:latin typeface="IBM Plex Serif"/>
                          <a:ea typeface="IBM Plex Serif"/>
                          <a:cs typeface="IBM Plex Serif"/>
                        </a:rPr>
                        <a:t>Precision</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0.98</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0.18</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84048">
                <a:tc>
                  <a:txBody>
                    <a:bodyPr/>
                    <a:p>
                      <a:pPr marL="0" indent="0" algn="ctr">
                        <a:buNone/>
                        <a:defRPr/>
                      </a:pPr>
                      <a:r>
                        <a:rPr lang="en-US" sz="1200">
                          <a:solidFill>
                            <a:srgbClr val="171717"/>
                          </a:solidFill>
                          <a:latin typeface="IBM Plex Serif"/>
                          <a:ea typeface="IBM Plex Serif"/>
                          <a:cs typeface="IBM Plex Serif"/>
                        </a:rPr>
                        <a:t>Recall</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0.51</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0.93</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84048">
                <a:tc>
                  <a:txBody>
                    <a:bodyPr/>
                    <a:p>
                      <a:pPr marL="0" indent="0" algn="ctr">
                        <a:buNone/>
                        <a:defRPr/>
                      </a:pPr>
                      <a:r>
                        <a:rPr lang="en-US" sz="1200">
                          <a:solidFill>
                            <a:srgbClr val="171717"/>
                          </a:solidFill>
                          <a:latin typeface="IBM Plex Serif"/>
                          <a:ea typeface="IBM Plex Serif"/>
                          <a:cs typeface="IBM Plex Serif"/>
                        </a:rPr>
                        <a:t>F1-score</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0.67</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00">
                          <a:solidFill>
                            <a:srgbClr val="171717"/>
                          </a:solidFill>
                          <a:latin typeface="IBM Plex Serif"/>
                          <a:ea typeface="IBM Plex Serif"/>
                          <a:cs typeface="IBM Plex Serif"/>
                        </a:rPr>
                        <a:t>0.31</a:t>
                      </a:r>
                      <a:endParaRPr sz="120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bl>
          </a:graphicData>
        </a:graphic>
      </p:graphicFrame>
      <p:sp>
        <p:nvSpPr>
          <p:cNvPr id="333135277" name="Text 16"/>
          <p:cNvSpPr/>
          <p:nvPr/>
        </p:nvSpPr>
        <p:spPr bwMode="auto">
          <a:xfrm>
            <a:off x="8229600" y="3886200"/>
            <a:ext cx="3246120" cy="960120"/>
          </a:xfrm>
          <a:prstGeom prst="rect">
            <a:avLst/>
          </a:prstGeom>
          <a:noFill/>
          <a:ln/>
        </p:spPr>
        <p:txBody>
          <a:bodyPr wrap="square" lIns="0" tIns="0" rIns="0" bIns="0" rtlCol="0" anchor="t"/>
          <a:lstStyle/>
          <a:p>
            <a:pPr marL="0" indent="0">
              <a:buNone/>
              <a:defRPr/>
            </a:pPr>
            <a:r>
              <a:rPr lang="en-US" sz="1150" i="1">
                <a:solidFill>
                  <a:srgbClr val="1F6E43"/>
                </a:solidFill>
                <a:latin typeface="IBM Plex Serif"/>
                <a:ea typeface="IBM Plex Serif"/>
                <a:cs typeface="IBM Plex Serif"/>
              </a:rPr>
              <a:t>Hạ ngưỡng xuống 0.25 giúp Recall lớp Disease tăng vượt bậc lên 0.93 — bắt được hầu hết ca bệnh, đổi lại nhiều cảnh báo giả hơn.</a:t>
            </a:r>
            <a:endParaRPr sz="1150">
              <a:latin typeface="IBM Plex Serif"/>
              <a:cs typeface="IBM Plex Serif"/>
            </a:endParaRPr>
          </a:p>
        </p:txBody>
      </p:sp>
      <p:sp>
        <p:nvSpPr>
          <p:cNvPr id="290796347" name="Text 17"/>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064838992" name="Text 18"/>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15</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FFFFFF"/>
        </a:solidFill>
      </p:bgPr>
    </p:bg>
    <p:spTree>
      <p:nvGrpSpPr>
        <p:cNvPr id="1" name=""/>
        <p:cNvGrpSpPr/>
        <p:nvPr/>
      </p:nvGrpSpPr>
      <p:grpSpPr bwMode="auto">
        <a:xfrm>
          <a:off x="0" y="0"/>
          <a:ext cx="0" cy="0"/>
          <a:chOff x="0" y="0"/>
          <a:chExt cx="0" cy="0"/>
        </a:xfrm>
      </p:grpSpPr>
      <p:sp>
        <p:nvSpPr>
          <p:cNvPr id="808432347"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05 · MODELING</a:t>
            </a:r>
            <a:endParaRPr sz="1250">
              <a:latin typeface="IBM Plex Serif"/>
              <a:cs typeface="IBM Plex Serif"/>
            </a:endParaRPr>
          </a:p>
        </p:txBody>
      </p:sp>
      <p:sp>
        <p:nvSpPr>
          <p:cNvPr id="245545949"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So sánh đường ROC</a:t>
            </a:r>
            <a:endParaRPr sz="3000">
              <a:latin typeface="IBM Plex Serif"/>
              <a:cs typeface="IBM Plex Serif"/>
            </a:endParaRPr>
          </a:p>
        </p:txBody>
      </p:sp>
      <p:sp>
        <p:nvSpPr>
          <p:cNvPr id="1355579173"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626684038"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16</a:t>
            </a:r>
            <a:endParaRPr sz="900">
              <a:latin typeface="IBM Plex Serif"/>
              <a:cs typeface="IBM Plex Serif"/>
            </a:endParaRPr>
          </a:p>
        </p:txBody>
      </p:sp>
      <p:sp>
        <p:nvSpPr>
          <p:cNvPr id="59535856" name="Shape 4"/>
          <p:cNvSpPr/>
          <p:nvPr/>
        </p:nvSpPr>
        <p:spPr bwMode="auto">
          <a:xfrm>
            <a:off x="475488" y="1321308"/>
            <a:ext cx="6455664" cy="4626864"/>
          </a:xfrm>
          <a:prstGeom prst="rect">
            <a:avLst/>
          </a:prstGeom>
          <a:solidFill>
            <a:srgbClr val="FFFFFF"/>
          </a:solidFill>
          <a:ln w="12700">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pic>
        <p:nvPicPr>
          <p:cNvPr id="834509353" name="Image 0" descr="images_v2/cell21_0.png"/>
          <p:cNvPicPr>
            <a:picLocks noChangeAspect="1"/>
          </p:cNvPicPr>
          <p:nvPr/>
        </p:nvPicPr>
        <p:blipFill rotWithShape="1">
          <a:blip r:embed="rId3"/>
          <a:stretch/>
        </p:blipFill>
        <p:spPr bwMode="auto">
          <a:xfrm>
            <a:off x="548640" y="1394460"/>
            <a:ext cx="6309360" cy="4480560"/>
          </a:xfrm>
          <a:prstGeom prst="rect">
            <a:avLst/>
          </a:prstGeom>
        </p:spPr>
      </p:pic>
      <p:sp>
        <p:nvSpPr>
          <p:cNvPr id="570482361" name="Text 5"/>
          <p:cNvSpPr/>
          <p:nvPr/>
        </p:nvSpPr>
        <p:spPr bwMode="auto">
          <a:xfrm>
            <a:off x="548640" y="5952744"/>
            <a:ext cx="6309360" cy="274320"/>
          </a:xfrm>
          <a:prstGeom prst="rect">
            <a:avLst/>
          </a:prstGeom>
          <a:noFill/>
          <a:ln/>
        </p:spPr>
        <p:txBody>
          <a:bodyPr wrap="square" lIns="0" tIns="0" rIns="0" bIns="0" rtlCol="0" anchor="ctr"/>
          <a:lstStyle/>
          <a:p>
            <a:pPr marL="0" indent="0" algn="ctr">
              <a:buNone/>
              <a:defRPr/>
            </a:pPr>
            <a:r>
              <a:rPr lang="en-US" sz="1050" i="1">
                <a:solidFill>
                  <a:srgbClr val="6E6E6E"/>
                </a:solidFill>
                <a:latin typeface="IBM Plex Serif"/>
                <a:ea typeface="IBM Plex Serif"/>
                <a:cs typeface="IBM Plex Serif"/>
              </a:rPr>
              <a:t>ROC Curve — Random Forest vs. Logistic Regression</a:t>
            </a:r>
            <a:endParaRPr sz="1050">
              <a:latin typeface="IBM Plex Serif"/>
              <a:cs typeface="IBM Plex Serif"/>
            </a:endParaRPr>
          </a:p>
        </p:txBody>
      </p:sp>
      <p:sp>
        <p:nvSpPr>
          <p:cNvPr id="323891819" name="Shape 6"/>
          <p:cNvSpPr/>
          <p:nvPr/>
        </p:nvSpPr>
        <p:spPr bwMode="auto">
          <a:xfrm>
            <a:off x="7360920" y="1371600"/>
            <a:ext cx="4279392" cy="4526280"/>
          </a:xfrm>
          <a:prstGeom prst="roundRect">
            <a:avLst>
              <a:gd name="adj" fmla="val 1496"/>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983779932" name="Text 7"/>
          <p:cNvSpPr/>
          <p:nvPr/>
        </p:nvSpPr>
        <p:spPr bwMode="auto">
          <a:xfrm>
            <a:off x="7616952" y="1554480"/>
            <a:ext cx="3657600" cy="32004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Diễn giải</a:t>
            </a:r>
            <a:endParaRPr sz="1500">
              <a:latin typeface="IBM Plex Serif"/>
              <a:cs typeface="IBM Plex Serif"/>
            </a:endParaRPr>
          </a:p>
        </p:txBody>
      </p:sp>
      <p:sp>
        <p:nvSpPr>
          <p:cNvPr id="1500286361" name="Text 8"/>
          <p:cNvSpPr/>
          <p:nvPr/>
        </p:nvSpPr>
        <p:spPr bwMode="auto">
          <a:xfrm>
            <a:off x="7616952" y="2011680"/>
            <a:ext cx="3749040" cy="3657600"/>
          </a:xfrm>
          <a:prstGeom prst="rect">
            <a:avLst/>
          </a:prstGeom>
          <a:noFill/>
          <a:ln/>
        </p:spPr>
        <p:txBody>
          <a:bodyPr wrap="square" lIns="0" tIns="0" rIns="0" bIns="0" rtlCol="0" anchor="t"/>
          <a:lstStyle/>
          <a:p>
            <a:pPr marL="177800" indent="-177800">
              <a:spcAft>
                <a:spcPts val="1200"/>
              </a:spcAft>
              <a:buSzPct val="100000"/>
              <a:buChar char="•"/>
              <a:defRPr/>
            </a:pPr>
            <a:r>
              <a:rPr lang="en-US" sz="1200">
                <a:solidFill>
                  <a:srgbClr val="171717"/>
                </a:solidFill>
                <a:latin typeface="IBM Plex Serif"/>
                <a:ea typeface="IBM Plex Serif"/>
                <a:cs typeface="IBM Plex Serif"/>
              </a:rPr>
              <a:t>ROC-AUC không phụ thuộc ngưỡng quyết định, phản ánh khả năng phân biệt 2 lớp một cách tổng quát.</a:t>
            </a:r>
            <a:endParaRPr sz="1200">
              <a:latin typeface="IBM Plex Serif"/>
              <a:cs typeface="IBM Plex Serif"/>
            </a:endParaRPr>
          </a:p>
          <a:p>
            <a:pPr marL="177800" indent="-177800">
              <a:spcAft>
                <a:spcPts val="1200"/>
              </a:spcAft>
              <a:buSzPct val="100000"/>
              <a:buChar char="•"/>
              <a:defRPr/>
            </a:pPr>
            <a:r>
              <a:rPr lang="en-US" sz="1200">
                <a:solidFill>
                  <a:srgbClr val="171717"/>
                </a:solidFill>
                <a:latin typeface="IBM Plex Serif"/>
                <a:ea typeface="IBM Plex Serif"/>
                <a:cs typeface="IBM Plex Serif"/>
              </a:rPr>
              <a:t>Logistic Regression đạt AUC = 0.828, cao hơn Random Forest (AUC = 0.803).</a:t>
            </a:r>
            <a:endParaRPr sz="1200">
              <a:latin typeface="IBM Plex Serif"/>
              <a:cs typeface="IBM Plex Serif"/>
            </a:endParaRPr>
          </a:p>
          <a:p>
            <a:pPr marL="177800" indent="-177800">
              <a:spcAft>
                <a:spcPts val="1200"/>
              </a:spcAft>
              <a:buSzPct val="100000"/>
              <a:buChar char="•"/>
              <a:defRPr/>
            </a:pPr>
            <a:r>
              <a:rPr lang="en-US" sz="1200">
                <a:solidFill>
                  <a:srgbClr val="171717"/>
                </a:solidFill>
                <a:latin typeface="IBM Plex Serif"/>
                <a:ea typeface="IBM Plex Serif"/>
                <a:cs typeface="IBM Plex Serif"/>
              </a:rPr>
              <a:t>Cả hai AUC đều cải thiện so với pipeline cũ (0.771 / 0.822) — kết quả từ tiền xử lý đúng thứ tự và bước chọn feature dựa trên tương quan train-only.</a:t>
            </a:r>
            <a:endParaRPr sz="1200">
              <a:latin typeface="IBM Plex Serif"/>
              <a:cs typeface="IBM Plex Serif"/>
            </a:endParaRPr>
          </a:p>
          <a:p>
            <a:pPr marL="177800" indent="-177800">
              <a:spcAft>
                <a:spcPts val="1200"/>
              </a:spcAft>
              <a:buSzPct val="100000"/>
              <a:buChar char="•"/>
              <a:defRPr/>
            </a:pPr>
            <a:r>
              <a:rPr lang="en-US" sz="1200">
                <a:solidFill>
                  <a:srgbClr val="171717"/>
                </a:solidFill>
                <a:latin typeface="IBM Plex Serif"/>
                <a:ea typeface="IBM Plex Serif"/>
                <a:cs typeface="IBM Plex Serif"/>
              </a:rPr>
              <a:t>Việc chọn ngưỡng phù hợp với bài toán quan trọng không kém việc chọn mô hình.</a:t>
            </a:r>
            <a:endParaRPr sz="1200">
              <a:latin typeface="IBM Plex Serif"/>
              <a:cs typeface="IBM Plex Serif"/>
            </a:endParaRPr>
          </a:p>
        </p:txBody>
      </p:sp>
      <p:sp>
        <p:nvSpPr>
          <p:cNvPr id="836151804" name="Text 9"/>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703365461" name="Text 10"/>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16</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bg>
      <p:bgPr shadeToTitle="0">
        <a:solidFill>
          <a:srgbClr val="FFFFFF"/>
        </a:solidFill>
      </p:bgPr>
    </p:bg>
    <p:spTree>
      <p:nvGrpSpPr>
        <p:cNvPr id="1" name=""/>
        <p:cNvGrpSpPr/>
        <p:nvPr/>
      </p:nvGrpSpPr>
      <p:grpSpPr bwMode="auto">
        <a:xfrm>
          <a:off x="0" y="0"/>
          <a:ext cx="0" cy="0"/>
          <a:chOff x="0" y="0"/>
          <a:chExt cx="0" cy="0"/>
        </a:xfrm>
      </p:grpSpPr>
      <p:sp>
        <p:nvSpPr>
          <p:cNvPr id="995904869"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05 · MODELING</a:t>
            </a:r>
            <a:endParaRPr sz="1250">
              <a:latin typeface="IBM Plex Serif"/>
              <a:cs typeface="IBM Plex Serif"/>
            </a:endParaRPr>
          </a:p>
        </p:txBody>
      </p:sp>
      <p:sp>
        <p:nvSpPr>
          <p:cNvPr id="349211864"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Trực quan: BMI và PhysicalHealth theo nhãn bệnh</a:t>
            </a:r>
            <a:endParaRPr sz="3000">
              <a:latin typeface="IBM Plex Serif"/>
              <a:cs typeface="IBM Plex Serif"/>
            </a:endParaRPr>
          </a:p>
        </p:txBody>
      </p:sp>
      <p:sp>
        <p:nvSpPr>
          <p:cNvPr id="92680004"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095597522"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17</a:t>
            </a:r>
            <a:endParaRPr sz="900">
              <a:latin typeface="IBM Plex Serif"/>
              <a:cs typeface="IBM Plex Serif"/>
            </a:endParaRPr>
          </a:p>
        </p:txBody>
      </p:sp>
      <p:sp>
        <p:nvSpPr>
          <p:cNvPr id="111968456" name="Shape 4"/>
          <p:cNvSpPr/>
          <p:nvPr/>
        </p:nvSpPr>
        <p:spPr bwMode="auto">
          <a:xfrm>
            <a:off x="475488" y="1321308"/>
            <a:ext cx="6455664" cy="4626864"/>
          </a:xfrm>
          <a:prstGeom prst="rect">
            <a:avLst/>
          </a:prstGeom>
          <a:solidFill>
            <a:srgbClr val="FFFFFF"/>
          </a:solidFill>
          <a:ln w="12700">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pic>
        <p:nvPicPr>
          <p:cNvPr id="1019871268" name="Image 0" descr="images_v2/cell22_0.png"/>
          <p:cNvPicPr>
            <a:picLocks noChangeAspect="1"/>
          </p:cNvPicPr>
          <p:nvPr/>
        </p:nvPicPr>
        <p:blipFill rotWithShape="1">
          <a:blip r:embed="rId3"/>
          <a:stretch/>
        </p:blipFill>
        <p:spPr bwMode="auto">
          <a:xfrm>
            <a:off x="548640" y="1394460"/>
            <a:ext cx="6309360" cy="4480560"/>
          </a:xfrm>
          <a:prstGeom prst="rect">
            <a:avLst/>
          </a:prstGeom>
        </p:spPr>
      </p:pic>
      <p:sp>
        <p:nvSpPr>
          <p:cNvPr id="1869483502" name="Text 5"/>
          <p:cNvSpPr/>
          <p:nvPr/>
        </p:nvSpPr>
        <p:spPr bwMode="auto">
          <a:xfrm>
            <a:off x="548640" y="5952744"/>
            <a:ext cx="6309360" cy="274320"/>
          </a:xfrm>
          <a:prstGeom prst="rect">
            <a:avLst/>
          </a:prstGeom>
          <a:noFill/>
          <a:ln/>
        </p:spPr>
        <p:txBody>
          <a:bodyPr wrap="square" lIns="0" tIns="0" rIns="0" bIns="0" rtlCol="0" anchor="ctr"/>
          <a:lstStyle/>
          <a:p>
            <a:pPr marL="0" indent="0" algn="ctr">
              <a:buNone/>
              <a:defRPr/>
            </a:pPr>
            <a:r>
              <a:rPr lang="en-US" sz="1050" i="1">
                <a:solidFill>
                  <a:srgbClr val="6E6E6E"/>
                </a:solidFill>
                <a:latin typeface="IBM Plex Serif"/>
                <a:ea typeface="IBM Plex Serif"/>
                <a:cs typeface="IBM Plex Serif"/>
              </a:rPr>
              <a:t>BMI vs. PhysicalHealth (đã chuẩn hoá), phân theo HeartDisease</a:t>
            </a:r>
            <a:endParaRPr sz="1050">
              <a:latin typeface="IBM Plex Serif"/>
              <a:cs typeface="IBM Plex Serif"/>
            </a:endParaRPr>
          </a:p>
        </p:txBody>
      </p:sp>
      <p:sp>
        <p:nvSpPr>
          <p:cNvPr id="1552743560" name="Shape 6"/>
          <p:cNvSpPr/>
          <p:nvPr/>
        </p:nvSpPr>
        <p:spPr bwMode="auto">
          <a:xfrm>
            <a:off x="7360920" y="1371600"/>
            <a:ext cx="4279392" cy="4526280"/>
          </a:xfrm>
          <a:prstGeom prst="roundRect">
            <a:avLst>
              <a:gd name="adj" fmla="val 1496"/>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127692329" name="Text 7"/>
          <p:cNvSpPr/>
          <p:nvPr/>
        </p:nvSpPr>
        <p:spPr bwMode="auto">
          <a:xfrm>
            <a:off x="7616952" y="1554480"/>
            <a:ext cx="3657600" cy="32004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Nhận xét</a:t>
            </a:r>
            <a:endParaRPr sz="1500">
              <a:latin typeface="IBM Plex Serif"/>
              <a:cs typeface="IBM Plex Serif"/>
            </a:endParaRPr>
          </a:p>
        </p:txBody>
      </p:sp>
      <p:sp>
        <p:nvSpPr>
          <p:cNvPr id="1222331267" name="Text 8"/>
          <p:cNvSpPr/>
          <p:nvPr/>
        </p:nvSpPr>
        <p:spPr bwMode="auto">
          <a:xfrm>
            <a:off x="7616952" y="2011680"/>
            <a:ext cx="3749040" cy="3657600"/>
          </a:xfrm>
          <a:prstGeom prst="rect">
            <a:avLst/>
          </a:prstGeom>
          <a:noFill/>
          <a:ln/>
        </p:spPr>
        <p:txBody>
          <a:bodyPr wrap="square" lIns="0" tIns="0" rIns="0" bIns="0" rtlCol="0" anchor="t"/>
          <a:lstStyle/>
          <a:p>
            <a:pPr marL="177800" indent="-177800">
              <a:spcAft>
                <a:spcPts val="1300"/>
              </a:spcAft>
              <a:buSzPct val="100000"/>
              <a:buChar char="•"/>
              <a:defRPr/>
            </a:pPr>
            <a:r>
              <a:rPr lang="en-US" sz="1250">
                <a:solidFill>
                  <a:srgbClr val="171717"/>
                </a:solidFill>
                <a:latin typeface="IBM Plex Serif"/>
                <a:ea typeface="IBM Plex Serif"/>
                <a:cs typeface="IBM Plex Serif"/>
              </a:rPr>
              <a:t>Không có đường phân tách rõ ràng giữa 2 nhóm trên mặt phẳng BMI–PhysicalHealth — bệnh tim không thể dự đoán chỉ từ 2 biến này.</a:t>
            </a:r>
            <a:endParaRPr sz="1250">
              <a:latin typeface="IBM Plex Serif"/>
              <a:cs typeface="IBM Plex Serif"/>
            </a:endParaRPr>
          </a:p>
          <a:p>
            <a:pPr marL="177800" indent="-177800">
              <a:spcAft>
                <a:spcPts val="1300"/>
              </a:spcAft>
              <a:buSzPct val="100000"/>
              <a:buChar char="•"/>
              <a:defRPr/>
            </a:pPr>
            <a:r>
              <a:rPr lang="en-US" sz="1250">
                <a:solidFill>
                  <a:srgbClr val="171717"/>
                </a:solidFill>
                <a:latin typeface="IBM Plex Serif"/>
                <a:ea typeface="IBM Plex Serif"/>
                <a:cs typeface="IBM Plex Serif"/>
              </a:rPr>
              <a:t>Nhóm mắc bệnh (đỏ) có xu hướng tập trung nhiều hơn ở vùng PhysicalHealth cao (nhiều ngày sức khỏe thể chất kém).</a:t>
            </a:r>
            <a:endParaRPr sz="1250">
              <a:latin typeface="IBM Plex Serif"/>
              <a:cs typeface="IBM Plex Serif"/>
            </a:endParaRPr>
          </a:p>
          <a:p>
            <a:pPr marL="177800" indent="-177800">
              <a:spcAft>
                <a:spcPts val="1300"/>
              </a:spcAft>
              <a:buSzPct val="100000"/>
              <a:buChar char="•"/>
              <a:defRPr/>
            </a:pPr>
            <a:r>
              <a:rPr lang="en-US" sz="1250">
                <a:solidFill>
                  <a:srgbClr val="171717"/>
                </a:solidFill>
                <a:latin typeface="IBM Plex Serif"/>
                <a:ea typeface="IBM Plex Serif"/>
                <a:cs typeface="IBM Plex Serif"/>
              </a:rPr>
              <a:t>Cho thấy cần kết hợp nhiều đặc trưng (tiền sử bệnh, tuổi, GenHealth…) để mô hình hoá chính xác hơn, đúng như kết quả Feature Importance ở Slide 12.</a:t>
            </a:r>
            <a:endParaRPr sz="1250">
              <a:latin typeface="IBM Plex Serif"/>
              <a:cs typeface="IBM Plex Serif"/>
            </a:endParaRPr>
          </a:p>
        </p:txBody>
      </p:sp>
      <p:sp>
        <p:nvSpPr>
          <p:cNvPr id="1663846824" name="Text 9"/>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717855013" name="Text 10"/>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17</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bg>
      <p:bgPr shadeToTitle="0">
        <a:solidFill>
          <a:srgbClr val="FFFFFF"/>
        </a:solidFill>
      </p:bgPr>
    </p:bg>
    <p:spTree>
      <p:nvGrpSpPr>
        <p:cNvPr id="1" name=""/>
        <p:cNvGrpSpPr/>
        <p:nvPr/>
      </p:nvGrpSpPr>
      <p:grpSpPr bwMode="auto">
        <a:xfrm>
          <a:off x="0" y="0"/>
          <a:ext cx="0" cy="0"/>
          <a:chOff x="0" y="0"/>
          <a:chExt cx="0" cy="0"/>
        </a:xfrm>
      </p:grpSpPr>
      <p:sp>
        <p:nvSpPr>
          <p:cNvPr id="1543003045"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05 · MODELING</a:t>
            </a:r>
            <a:endParaRPr sz="1250">
              <a:latin typeface="IBM Plex Serif"/>
              <a:cs typeface="IBM Plex Serif"/>
            </a:endParaRPr>
          </a:p>
        </p:txBody>
      </p:sp>
      <p:sp>
        <p:nvSpPr>
          <p:cNvPr id="750510474"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Phân bố tuổi ở nhóm mắc bệnh tim</a:t>
            </a:r>
            <a:endParaRPr sz="3000">
              <a:latin typeface="IBM Plex Serif"/>
              <a:cs typeface="IBM Plex Serif"/>
            </a:endParaRPr>
          </a:p>
        </p:txBody>
      </p:sp>
      <p:sp>
        <p:nvSpPr>
          <p:cNvPr id="264443795"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321864726"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18</a:t>
            </a:r>
            <a:endParaRPr sz="900">
              <a:latin typeface="IBM Plex Serif"/>
              <a:cs typeface="IBM Plex Serif"/>
            </a:endParaRPr>
          </a:p>
        </p:txBody>
      </p:sp>
      <p:sp>
        <p:nvSpPr>
          <p:cNvPr id="1453712999" name="Shape 4"/>
          <p:cNvSpPr/>
          <p:nvPr/>
        </p:nvSpPr>
        <p:spPr bwMode="auto">
          <a:xfrm>
            <a:off x="761961" y="1298448"/>
            <a:ext cx="4099637" cy="4672584"/>
          </a:xfrm>
          <a:prstGeom prst="rect">
            <a:avLst/>
          </a:prstGeom>
          <a:solidFill>
            <a:srgbClr val="FFFFFF"/>
          </a:solidFill>
          <a:ln w="12700">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pic>
        <p:nvPicPr>
          <p:cNvPr id="1483082147" name="Image 0" descr="images_v2/cell23_0.png"/>
          <p:cNvPicPr>
            <a:picLocks noChangeAspect="1"/>
          </p:cNvPicPr>
          <p:nvPr/>
        </p:nvPicPr>
        <p:blipFill rotWithShape="1">
          <a:blip r:embed="rId3"/>
          <a:stretch/>
        </p:blipFill>
        <p:spPr bwMode="auto">
          <a:xfrm>
            <a:off x="835113" y="1371600"/>
            <a:ext cx="3953333" cy="4526280"/>
          </a:xfrm>
          <a:prstGeom prst="rect">
            <a:avLst/>
          </a:prstGeom>
        </p:spPr>
      </p:pic>
      <p:sp>
        <p:nvSpPr>
          <p:cNvPr id="539433912" name="Text 5"/>
          <p:cNvSpPr/>
          <p:nvPr/>
        </p:nvSpPr>
        <p:spPr bwMode="auto">
          <a:xfrm>
            <a:off x="548640" y="5952744"/>
            <a:ext cx="4526280" cy="274320"/>
          </a:xfrm>
          <a:prstGeom prst="rect">
            <a:avLst/>
          </a:prstGeom>
          <a:noFill/>
          <a:ln/>
        </p:spPr>
        <p:txBody>
          <a:bodyPr wrap="square" lIns="0" tIns="0" rIns="0" bIns="0" rtlCol="0" anchor="ctr"/>
          <a:lstStyle/>
          <a:p>
            <a:pPr marL="0" indent="0" algn="ctr">
              <a:buNone/>
              <a:defRPr/>
            </a:pPr>
            <a:r>
              <a:rPr lang="en-US" sz="1050" i="1">
                <a:solidFill>
                  <a:srgbClr val="6E6E6E"/>
                </a:solidFill>
                <a:latin typeface="IBM Plex Serif"/>
                <a:ea typeface="IBM Plex Serif"/>
                <a:cs typeface="IBM Plex Serif"/>
              </a:rPr>
              <a:t>Tỉ lệ nhóm tuổi trong số bệnh nhân mắc bệnh tim (train + test)</a:t>
            </a:r>
            <a:endParaRPr sz="1050">
              <a:latin typeface="IBM Plex Serif"/>
              <a:cs typeface="IBM Plex Serif"/>
            </a:endParaRPr>
          </a:p>
        </p:txBody>
      </p:sp>
      <p:sp>
        <p:nvSpPr>
          <p:cNvPr id="881757944" name="Shape 6"/>
          <p:cNvSpPr/>
          <p:nvPr/>
        </p:nvSpPr>
        <p:spPr bwMode="auto">
          <a:xfrm>
            <a:off x="5394960" y="1371600"/>
            <a:ext cx="6245352" cy="4526280"/>
          </a:xfrm>
          <a:prstGeom prst="roundRect">
            <a:avLst>
              <a:gd name="adj" fmla="val 1414"/>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806354303" name="Text 7"/>
          <p:cNvSpPr/>
          <p:nvPr/>
        </p:nvSpPr>
        <p:spPr bwMode="auto">
          <a:xfrm>
            <a:off x="5650992" y="1554480"/>
            <a:ext cx="3657600" cy="320040"/>
          </a:xfrm>
          <a:prstGeom prst="rect">
            <a:avLst/>
          </a:prstGeom>
          <a:noFill/>
          <a:ln/>
        </p:spPr>
        <p:txBody>
          <a:bodyPr wrap="square" lIns="0" tIns="0" rIns="0" bIns="0" rtlCol="0" anchor="ctr"/>
          <a:lstStyle/>
          <a:p>
            <a:pPr marL="0" indent="0">
              <a:buNone/>
              <a:defRPr/>
            </a:pPr>
            <a:r>
              <a:rPr lang="en-US" sz="1500" b="1">
                <a:solidFill>
                  <a:srgbClr val="171717"/>
                </a:solidFill>
                <a:latin typeface="IBM Plex Serif"/>
                <a:ea typeface="IBM Plex Serif"/>
                <a:cs typeface="IBM Plex Serif"/>
              </a:rPr>
              <a:t>Nhận xét</a:t>
            </a:r>
            <a:endParaRPr sz="1500">
              <a:latin typeface="IBM Plex Serif"/>
              <a:cs typeface="IBM Plex Serif"/>
            </a:endParaRPr>
          </a:p>
        </p:txBody>
      </p:sp>
      <p:sp>
        <p:nvSpPr>
          <p:cNvPr id="1740137356" name="Text 8"/>
          <p:cNvSpPr/>
          <p:nvPr/>
        </p:nvSpPr>
        <p:spPr bwMode="auto">
          <a:xfrm>
            <a:off x="5650992" y="2011680"/>
            <a:ext cx="5760720" cy="3657600"/>
          </a:xfrm>
          <a:prstGeom prst="rect">
            <a:avLst/>
          </a:prstGeom>
          <a:noFill/>
          <a:ln/>
        </p:spPr>
        <p:txBody>
          <a:bodyPr wrap="square" lIns="0" tIns="0" rIns="0" bIns="0" rtlCol="0" anchor="t"/>
          <a:lstStyle/>
          <a:p>
            <a:pPr marL="177800" indent="-177800">
              <a:spcAft>
                <a:spcPts val="1300"/>
              </a:spcAft>
              <a:buSzPct val="100000"/>
              <a:buChar char="•"/>
              <a:defRPr/>
            </a:pPr>
            <a:r>
              <a:rPr lang="en-US" sz="1300">
                <a:solidFill>
                  <a:srgbClr val="171717"/>
                </a:solidFill>
                <a:latin typeface="IBM Plex Serif"/>
                <a:ea typeface="IBM Plex Serif"/>
                <a:cs typeface="IBM Plex Serif"/>
              </a:rPr>
              <a:t>Tỉ lệ mắc bệnh tim tăng rõ rệt theo độ tuổi — các nhóm tuổi cao (65 trở lên) chiếm phần lớn trong số ca bệnh.</a:t>
            </a:r>
            <a:endParaRPr sz="1300">
              <a:latin typeface="IBM Plex Serif"/>
              <a:cs typeface="IBM Plex Serif"/>
            </a:endParaRPr>
          </a:p>
          <a:p>
            <a:pPr marL="177800" indent="-177800">
              <a:spcAft>
                <a:spcPts val="1300"/>
              </a:spcAft>
              <a:buSzPct val="100000"/>
              <a:buChar char="•"/>
              <a:defRPr/>
            </a:pPr>
            <a:r>
              <a:rPr lang="en-US" sz="1300">
                <a:solidFill>
                  <a:srgbClr val="171717"/>
                </a:solidFill>
                <a:latin typeface="IBM Plex Serif"/>
                <a:ea typeface="IBM Plex Serif"/>
                <a:cs typeface="IBM Plex Serif"/>
              </a:rPr>
              <a:t>Nhóm tuổi trẻ (dưới 40) chiếm tỉ trọng rất nhỏ trong số người mắc bệnh tim của tập dữ liệu.</a:t>
            </a:r>
            <a:endParaRPr sz="1300">
              <a:latin typeface="IBM Plex Serif"/>
              <a:cs typeface="IBM Plex Serif"/>
            </a:endParaRPr>
          </a:p>
          <a:p>
            <a:pPr marL="177800" indent="-177800">
              <a:spcAft>
                <a:spcPts val="1300"/>
              </a:spcAft>
              <a:buSzPct val="100000"/>
              <a:buChar char="•"/>
              <a:defRPr/>
            </a:pPr>
            <a:r>
              <a:rPr lang="en-US" sz="1300">
                <a:solidFill>
                  <a:srgbClr val="171717"/>
                </a:solidFill>
                <a:latin typeface="IBM Plex Serif"/>
                <a:ea typeface="IBM Plex Serif"/>
                <a:cs typeface="IBM Plex Serif"/>
              </a:rPr>
              <a:t>Biểu đồ được tính trên toàn bộ dữ liệu đã encode (ghép lại train + test chỉ để mô tả, không dùng lại cho việc huấn luyện).</a:t>
            </a:r>
            <a:endParaRPr sz="1300">
              <a:latin typeface="IBM Plex Serif"/>
              <a:cs typeface="IBM Plex Serif"/>
            </a:endParaRPr>
          </a:p>
          <a:p>
            <a:pPr marL="177800" indent="-177800">
              <a:spcAft>
                <a:spcPts val="1300"/>
              </a:spcAft>
              <a:buSzPct val="100000"/>
              <a:buChar char="•"/>
              <a:defRPr/>
            </a:pPr>
            <a:r>
              <a:rPr lang="en-US" sz="1300">
                <a:solidFill>
                  <a:srgbClr val="171717"/>
                </a:solidFill>
                <a:latin typeface="IBM Plex Serif"/>
                <a:ea typeface="IBM Plex Serif"/>
                <a:cs typeface="IBM Plex Serif"/>
              </a:rPr>
              <a:t>Phù hợp với kết quả tương quan ở Slide 10, nơi AgeCategory_80+ và AgeCategory_75-79 đều có tương quan dương với HeartDisease.</a:t>
            </a:r>
            <a:endParaRPr sz="1300">
              <a:latin typeface="IBM Plex Serif"/>
              <a:cs typeface="IBM Plex Serif"/>
            </a:endParaRPr>
          </a:p>
        </p:txBody>
      </p:sp>
      <p:sp>
        <p:nvSpPr>
          <p:cNvPr id="1995611438" name="Text 9"/>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725371153" name="Text 10"/>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18</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bg>
      <p:bgPr shadeToTitle="0">
        <a:solidFill>
          <a:srgbClr val="FFFFFF"/>
        </a:solidFill>
      </p:bgPr>
    </p:bg>
    <p:spTree>
      <p:nvGrpSpPr>
        <p:cNvPr id="1" name=""/>
        <p:cNvGrpSpPr/>
        <p:nvPr/>
      </p:nvGrpSpPr>
      <p:grpSpPr bwMode="auto">
        <a:xfrm>
          <a:off x="0" y="0"/>
          <a:ext cx="0" cy="0"/>
          <a:chOff x="0" y="0"/>
          <a:chExt cx="0" cy="0"/>
        </a:xfrm>
      </p:grpSpPr>
      <p:sp>
        <p:nvSpPr>
          <p:cNvPr id="1817685684"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05 · MODELING</a:t>
            </a:r>
            <a:endParaRPr sz="1250">
              <a:latin typeface="IBM Plex Serif"/>
              <a:cs typeface="IBM Plex Serif"/>
            </a:endParaRPr>
          </a:p>
        </p:txBody>
      </p:sp>
      <p:sp>
        <p:nvSpPr>
          <p:cNvPr id="2134276239"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So sánh tổng hợp 2 mô hình</a:t>
            </a:r>
            <a:endParaRPr sz="3000">
              <a:latin typeface="IBM Plex Serif"/>
              <a:cs typeface="IBM Plex Serif"/>
            </a:endParaRPr>
          </a:p>
        </p:txBody>
      </p:sp>
      <p:sp>
        <p:nvSpPr>
          <p:cNvPr id="1250192153"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820246130"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19</a:t>
            </a:r>
            <a:endParaRPr sz="900">
              <a:latin typeface="IBM Plex Serif"/>
              <a:cs typeface="IBM Plex Serif"/>
            </a:endParaRPr>
          </a:p>
        </p:txBody>
      </p:sp>
      <p:sp>
        <p:nvSpPr>
          <p:cNvPr id="193945468" name="Shape 4"/>
          <p:cNvSpPr/>
          <p:nvPr/>
        </p:nvSpPr>
        <p:spPr bwMode="auto">
          <a:xfrm>
            <a:off x="478287" y="1298448"/>
            <a:ext cx="6632946" cy="4169664"/>
          </a:xfrm>
          <a:prstGeom prst="rect">
            <a:avLst/>
          </a:prstGeom>
          <a:solidFill>
            <a:srgbClr val="FFFFFF"/>
          </a:solidFill>
          <a:ln w="12700">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pic>
        <p:nvPicPr>
          <p:cNvPr id="1734327522" name="Image 0" descr="images_v2/cell24_0.png"/>
          <p:cNvPicPr>
            <a:picLocks noChangeAspect="1"/>
          </p:cNvPicPr>
          <p:nvPr/>
        </p:nvPicPr>
        <p:blipFill rotWithShape="1">
          <a:blip r:embed="rId3"/>
          <a:stretch/>
        </p:blipFill>
        <p:spPr bwMode="auto">
          <a:xfrm>
            <a:off x="551439" y="1371600"/>
            <a:ext cx="6486642" cy="4023360"/>
          </a:xfrm>
          <a:prstGeom prst="rect">
            <a:avLst/>
          </a:prstGeom>
        </p:spPr>
      </p:pic>
      <p:sp>
        <p:nvSpPr>
          <p:cNvPr id="1503911254" name="Text 5"/>
          <p:cNvSpPr/>
          <p:nvPr/>
        </p:nvSpPr>
        <p:spPr bwMode="auto">
          <a:xfrm>
            <a:off x="548640" y="5449823"/>
            <a:ext cx="6492240" cy="274320"/>
          </a:xfrm>
          <a:prstGeom prst="rect">
            <a:avLst/>
          </a:prstGeom>
          <a:noFill/>
          <a:ln/>
        </p:spPr>
        <p:txBody>
          <a:bodyPr wrap="square" lIns="0" tIns="0" rIns="0" bIns="0" rtlCol="0" anchor="ctr"/>
          <a:lstStyle/>
          <a:p>
            <a:pPr marL="0" indent="0" algn="ctr">
              <a:buNone/>
              <a:defRPr/>
            </a:pPr>
            <a:r>
              <a:rPr lang="en-US" sz="1050" i="1">
                <a:solidFill>
                  <a:srgbClr val="6E6E6E"/>
                </a:solidFill>
                <a:latin typeface="IBM Plex Serif"/>
                <a:ea typeface="IBM Plex Serif"/>
                <a:cs typeface="IBM Plex Serif"/>
              </a:rPr>
              <a:t>Recall, Precision, F1 (lớp Disease) &amp; ROC-AUC — ngưỡng 0.25</a:t>
            </a:r>
            <a:endParaRPr sz="1050">
              <a:latin typeface="IBM Plex Serif"/>
              <a:cs typeface="IBM Plex Serif"/>
            </a:endParaRPr>
          </a:p>
        </p:txBody>
      </p:sp>
      <p:sp>
        <p:nvSpPr>
          <p:cNvPr id="461660397" name="Shape 6"/>
          <p:cNvSpPr/>
          <p:nvPr/>
        </p:nvSpPr>
        <p:spPr bwMode="auto">
          <a:xfrm>
            <a:off x="7543800" y="1371600"/>
            <a:ext cx="4096512" cy="4023360"/>
          </a:xfrm>
          <a:prstGeom prst="roundRect">
            <a:avLst>
              <a:gd name="adj" fmla="val 1591"/>
            </a:avLst>
          </a:prstGeom>
          <a:solidFill>
            <a:srgbClr val="FFFFFF"/>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1773308745" name="Text 7"/>
          <p:cNvSpPr/>
          <p:nvPr/>
        </p:nvSpPr>
        <p:spPr bwMode="auto">
          <a:xfrm>
            <a:off x="7772400" y="1554480"/>
            <a:ext cx="3657600" cy="320040"/>
          </a:xfrm>
          <a:prstGeom prst="rect">
            <a:avLst/>
          </a:prstGeom>
          <a:noFill/>
          <a:ln/>
        </p:spPr>
        <p:txBody>
          <a:bodyPr wrap="square" lIns="0" tIns="0" rIns="0" bIns="0" rtlCol="0" anchor="ctr"/>
          <a:lstStyle/>
          <a:p>
            <a:pPr marL="0" indent="0">
              <a:buNone/>
              <a:defRPr/>
            </a:pPr>
            <a:r>
              <a:rPr lang="en-US" sz="1400" b="1">
                <a:solidFill>
                  <a:srgbClr val="171717"/>
                </a:solidFill>
                <a:latin typeface="IBM Plex Serif"/>
                <a:ea typeface="IBM Plex Serif"/>
                <a:cs typeface="IBM Plex Serif"/>
              </a:rPr>
              <a:t>Bảng số liệu (ngưỡng 0.25)</a:t>
            </a:r>
            <a:endParaRPr sz="1400">
              <a:latin typeface="IBM Plex Serif"/>
              <a:cs typeface="IBM Plex Serif"/>
            </a:endParaRPr>
          </a:p>
        </p:txBody>
      </p:sp>
      <p:graphicFrame>
        <p:nvGraphicFramePr>
          <p:cNvPr id="1530980354" name="Table 0"/>
          <p:cNvGraphicFramePr>
            <a:graphicFrameLocks xmlns:a="http://schemas.openxmlformats.org/drawingml/2006/main" noGrp="1"/>
          </p:cNvGraphicFramePr>
          <p:nvPr/>
        </p:nvGraphicFramePr>
        <p:xfrm rot="0">
          <a:off x="7772400" y="1965960"/>
          <a:ext cx="3566160" cy="1920240"/>
        </p:xfrm>
        <a:graphic>
          <a:graphicData uri="http://schemas.openxmlformats.org/drawingml/2006/table">
            <a:tbl>
              <a:tblPr firstRow="0" firstCol="0" lastRow="0" lastCol="0" bandRow="0" bandCol="0"/>
              <a:tblGrid>
                <a:gridCol w="1371600"/>
                <a:gridCol w="1097280"/>
                <a:gridCol w="1097280"/>
              </a:tblGrid>
              <a:tr h="384048">
                <a:tc>
                  <a:txBody>
                    <a:bodyPr/>
                    <a:p>
                      <a:pPr marL="0" indent="0" algn="ctr">
                        <a:buNone/>
                        <a:defRPr/>
                      </a:pPr>
                      <a:r>
                        <a:rPr lang="en-US" sz="1250" b="1">
                          <a:solidFill>
                            <a:srgbClr val="FFFFFF"/>
                          </a:solidFill>
                          <a:latin typeface="IBM Plex Serif"/>
                          <a:ea typeface="IBM Plex Serif"/>
                          <a:cs typeface="IBM Plex Serif"/>
                        </a:rPr>
                        <a:t>Metric</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c>
                  <a:txBody>
                    <a:bodyPr/>
                    <a:p>
                      <a:pPr marL="0" indent="0" algn="ctr">
                        <a:buNone/>
                        <a:defRPr/>
                      </a:pPr>
                      <a:r>
                        <a:rPr lang="en-US" sz="1250" b="1">
                          <a:solidFill>
                            <a:srgbClr val="FFFFFF"/>
                          </a:solidFill>
                          <a:latin typeface="IBM Plex Serif"/>
                          <a:ea typeface="IBM Plex Serif"/>
                          <a:cs typeface="IBM Plex Serif"/>
                        </a:rPr>
                        <a:t>RF</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c>
                  <a:txBody>
                    <a:bodyPr/>
                    <a:p>
                      <a:pPr marL="0" indent="0" algn="ctr">
                        <a:buNone/>
                        <a:defRPr/>
                      </a:pPr>
                      <a:r>
                        <a:rPr lang="en-US" sz="1250" b="1">
                          <a:solidFill>
                            <a:srgbClr val="FFFFFF"/>
                          </a:solidFill>
                          <a:latin typeface="IBM Plex Serif"/>
                          <a:ea typeface="IBM Plex Serif"/>
                          <a:cs typeface="IBM Plex Serif"/>
                        </a:rPr>
                        <a:t>LR</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A6192E"/>
                    </a:solidFill>
                  </a:tcPr>
                </a:tc>
              </a:tr>
              <a:tr h="384048">
                <a:tc>
                  <a:txBody>
                    <a:bodyPr/>
                    <a:p>
                      <a:pPr marL="0" indent="0" algn="ctr">
                        <a:buNone/>
                        <a:defRPr/>
                      </a:pPr>
                      <a:r>
                        <a:rPr lang="en-US" sz="1250">
                          <a:solidFill>
                            <a:srgbClr val="171717"/>
                          </a:solidFill>
                          <a:latin typeface="IBM Plex Serif"/>
                          <a:ea typeface="IBM Plex Serif"/>
                          <a:cs typeface="IBM Plex Serif"/>
                        </a:rPr>
                        <a:t>Recall</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0.352</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0.933</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84048">
                <a:tc>
                  <a:txBody>
                    <a:bodyPr/>
                    <a:p>
                      <a:pPr marL="0" indent="0" algn="ctr">
                        <a:buNone/>
                        <a:defRPr/>
                      </a:pPr>
                      <a:r>
                        <a:rPr lang="en-US" sz="1250">
                          <a:solidFill>
                            <a:srgbClr val="171717"/>
                          </a:solidFill>
                          <a:latin typeface="IBM Plex Serif"/>
                          <a:ea typeface="IBM Plex Serif"/>
                          <a:cs typeface="IBM Plex Serif"/>
                        </a:rPr>
                        <a:t>Precision</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0.319</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0.183</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84048">
                <a:tc>
                  <a:txBody>
                    <a:bodyPr/>
                    <a:p>
                      <a:pPr marL="0" indent="0" algn="ctr">
                        <a:buNone/>
                        <a:defRPr/>
                      </a:pPr>
                      <a:r>
                        <a:rPr lang="en-US" sz="1250">
                          <a:solidFill>
                            <a:srgbClr val="171717"/>
                          </a:solidFill>
                          <a:latin typeface="IBM Plex Serif"/>
                          <a:ea typeface="IBM Plex Serif"/>
                          <a:cs typeface="IBM Plex Serif"/>
                        </a:rPr>
                        <a:t>F1-score</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0.335</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0.306</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r h="384048">
                <a:tc>
                  <a:txBody>
                    <a:bodyPr/>
                    <a:p>
                      <a:pPr marL="0" indent="0" algn="ctr">
                        <a:buNone/>
                        <a:defRPr/>
                      </a:pPr>
                      <a:r>
                        <a:rPr lang="en-US" sz="1250">
                          <a:solidFill>
                            <a:srgbClr val="171717"/>
                          </a:solidFill>
                          <a:latin typeface="IBM Plex Serif"/>
                          <a:ea typeface="IBM Plex Serif"/>
                          <a:cs typeface="IBM Plex Serif"/>
                        </a:rPr>
                        <a:t>ROC-AUC</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0.803</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c>
                  <a:txBody>
                    <a:bodyPr/>
                    <a:p>
                      <a:pPr marL="0" indent="0" algn="ctr">
                        <a:buNone/>
                        <a:defRPr/>
                      </a:pPr>
                      <a:r>
                        <a:rPr lang="en-US" sz="1250">
                          <a:solidFill>
                            <a:srgbClr val="171717"/>
                          </a:solidFill>
                          <a:latin typeface="IBM Plex Serif"/>
                          <a:ea typeface="IBM Plex Serif"/>
                          <a:cs typeface="IBM Plex Serif"/>
                        </a:rPr>
                        <a:t>0.828</a:t>
                      </a:r>
                      <a:endParaRPr sz="1250">
                        <a:latin typeface="IBM Plex Serif"/>
                        <a:cs typeface="IBM Plex Serif"/>
                      </a:endParaRPr>
                    </a:p>
                  </a:txBody>
                  <a:tcPr marL="91440" marR="91440" marT="45720" marB="45720" anchor="ctr">
                    <a:lnL w="9525" algn="ctr">
                      <a:solidFill>
                        <a:srgbClr val="E3E3E3"/>
                      </a:solidFill>
                    </a:lnL>
                    <a:lnR w="9525" algn="ctr">
                      <a:solidFill>
                        <a:srgbClr val="E3E3E3"/>
                      </a:solidFill>
                    </a:lnR>
                    <a:lnT w="9525" algn="ctr">
                      <a:solidFill>
                        <a:srgbClr val="E3E3E3"/>
                      </a:solidFill>
                    </a:lnT>
                    <a:lnB w="9525" algn="ctr">
                      <a:solidFill>
                        <a:srgbClr val="E3E3E3"/>
                      </a:solidFill>
                    </a:lnB>
                    <a:solidFill>
                      <a:srgbClr val="FFFFFF"/>
                    </a:solidFill>
                  </a:tcPr>
                </a:tc>
              </a:tr>
            </a:tbl>
          </a:graphicData>
        </a:graphic>
      </p:graphicFrame>
      <p:sp>
        <p:nvSpPr>
          <p:cNvPr id="235591152" name="Text 8"/>
          <p:cNvSpPr/>
          <p:nvPr/>
        </p:nvSpPr>
        <p:spPr bwMode="auto">
          <a:xfrm>
            <a:off x="7772400" y="4114800"/>
            <a:ext cx="3657600" cy="1188720"/>
          </a:xfrm>
          <a:prstGeom prst="rect">
            <a:avLst/>
          </a:prstGeom>
          <a:noFill/>
          <a:ln/>
        </p:spPr>
        <p:txBody>
          <a:bodyPr wrap="square" lIns="0" tIns="0" rIns="0" bIns="0" rtlCol="0" anchor="t"/>
          <a:lstStyle/>
          <a:p>
            <a:pPr marL="0" indent="0">
              <a:buNone/>
              <a:defRPr/>
            </a:pPr>
            <a:r>
              <a:rPr lang="en-US" sz="1200" i="1">
                <a:solidFill>
                  <a:srgbClr val="6E6E6E"/>
                </a:solidFill>
                <a:latin typeface="IBM Plex Serif"/>
                <a:ea typeface="IBM Plex Serif"/>
                <a:cs typeface="IBM Plex Serif"/>
              </a:rPr>
              <a:t>RF: cân bằng hơn giữa Precision/Recall. LR (ngưỡng thấp): ưu tiên tối đa Recall — phù hợp bài toán sàng lọc y tế.</a:t>
            </a:r>
            <a:endParaRPr sz="1200">
              <a:latin typeface="IBM Plex Serif"/>
              <a:cs typeface="IBM Plex Serif"/>
            </a:endParaRPr>
          </a:p>
        </p:txBody>
      </p:sp>
      <p:sp>
        <p:nvSpPr>
          <p:cNvPr id="1631850447" name="Text 9"/>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857383271" name="Text 10"/>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19</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bg>
      <p:bgPr shadeToTitle="0">
        <a:solidFill>
          <a:srgbClr val="FFFFFF"/>
        </a:solidFill>
      </p:bgPr>
    </p:bg>
    <p:spTree>
      <p:nvGrpSpPr>
        <p:cNvPr id="1" name=""/>
        <p:cNvGrpSpPr/>
        <p:nvPr/>
      </p:nvGrpSpPr>
      <p:grpSpPr bwMode="auto">
        <a:xfrm>
          <a:off x="0" y="0"/>
          <a:ext cx="0" cy="0"/>
          <a:chOff x="0" y="0"/>
          <a:chExt cx="0" cy="0"/>
        </a:xfrm>
      </p:grpSpPr>
      <p:sp>
        <p:nvSpPr>
          <p:cNvPr id="1936616511"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50" b="1" spc="200">
                <a:solidFill>
                  <a:srgbClr val="A6192E"/>
                </a:solidFill>
                <a:latin typeface="IBM Plex Serif"/>
                <a:ea typeface="IBM Plex Serif"/>
                <a:cs typeface="IBM Plex Serif"/>
              </a:rPr>
              <a:t>06 · CONCLUSION</a:t>
            </a:r>
            <a:endParaRPr sz="1250">
              <a:latin typeface="IBM Plex Serif"/>
              <a:cs typeface="IBM Plex Serif"/>
            </a:endParaRPr>
          </a:p>
        </p:txBody>
      </p:sp>
      <p:sp>
        <p:nvSpPr>
          <p:cNvPr id="858383497" name="Text 1"/>
          <p:cNvSpPr/>
          <p:nvPr/>
        </p:nvSpPr>
        <p:spPr bwMode="auto">
          <a:xfrm>
            <a:off x="548640" y="658368"/>
            <a:ext cx="10607040" cy="685800"/>
          </a:xfrm>
          <a:prstGeom prst="rect">
            <a:avLst/>
          </a:prstGeom>
          <a:noFill/>
          <a:ln/>
        </p:spPr>
        <p:txBody>
          <a:bodyPr wrap="square" lIns="0" tIns="0" rIns="0" bIns="0" rtlCol="0" anchor="ctr"/>
          <a:lstStyle/>
          <a:p>
            <a:pPr marL="0" indent="0">
              <a:buNone/>
              <a:defRPr/>
            </a:pPr>
            <a:r>
              <a:rPr lang="en-US" sz="3000" b="1">
                <a:solidFill>
                  <a:srgbClr val="171717"/>
                </a:solidFill>
                <a:latin typeface="IBM Plex Serif"/>
                <a:ea typeface="IBM Plex Serif"/>
                <a:cs typeface="IBM Plex Serif"/>
              </a:rPr>
              <a:t>Kết luận &amp; Đề xuất</a:t>
            </a:r>
            <a:endParaRPr sz="3000">
              <a:latin typeface="IBM Plex Serif"/>
              <a:cs typeface="IBM Plex Serif"/>
            </a:endParaRPr>
          </a:p>
        </p:txBody>
      </p:sp>
      <p:sp>
        <p:nvSpPr>
          <p:cNvPr id="944312849" name="Text 2"/>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1693382285" name="Text 3"/>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20</a:t>
            </a:r>
            <a:endParaRPr sz="900">
              <a:latin typeface="IBM Plex Serif"/>
              <a:cs typeface="IBM Plex Serif"/>
            </a:endParaRPr>
          </a:p>
        </p:txBody>
      </p:sp>
      <p:sp>
        <p:nvSpPr>
          <p:cNvPr id="964102245" name="Shape 4"/>
          <p:cNvSpPr/>
          <p:nvPr/>
        </p:nvSpPr>
        <p:spPr bwMode="auto">
          <a:xfrm>
            <a:off x="548640" y="1371600"/>
            <a:ext cx="5349240" cy="2194560"/>
          </a:xfrm>
          <a:prstGeom prst="roundRect">
            <a:avLst>
              <a:gd name="adj" fmla="val 291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066910356" name="Shape 5"/>
          <p:cNvSpPr/>
          <p:nvPr/>
        </p:nvSpPr>
        <p:spPr bwMode="auto">
          <a:xfrm>
            <a:off x="777240" y="1572768"/>
            <a:ext cx="566928" cy="566928"/>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2109402377" name="Image 0" descr="preencoded.png"/>
          <p:cNvPicPr>
            <a:picLocks noChangeAspect="1"/>
          </p:cNvPicPr>
          <p:nvPr/>
        </p:nvPicPr>
        <p:blipFill rotWithShape="1">
          <a:blip r:embed="rId3"/>
          <a:stretch/>
        </p:blipFill>
        <p:spPr bwMode="auto">
          <a:xfrm>
            <a:off x="914400" y="1709928"/>
            <a:ext cx="292608" cy="292608"/>
          </a:xfrm>
          <a:prstGeom prst="rect">
            <a:avLst/>
          </a:prstGeom>
        </p:spPr>
      </p:pic>
      <p:sp>
        <p:nvSpPr>
          <p:cNvPr id="677285634" name="Text 6"/>
          <p:cNvSpPr/>
          <p:nvPr/>
        </p:nvSpPr>
        <p:spPr bwMode="auto">
          <a:xfrm>
            <a:off x="1508759" y="1554480"/>
            <a:ext cx="4160519" cy="502920"/>
          </a:xfrm>
          <a:prstGeom prst="rect">
            <a:avLst/>
          </a:prstGeom>
          <a:noFill/>
          <a:ln/>
        </p:spPr>
        <p:txBody>
          <a:bodyPr wrap="square" lIns="0" tIns="0" rIns="0" bIns="0" rtlCol="0" anchor="ctr"/>
          <a:lstStyle/>
          <a:p>
            <a:pPr marL="0" indent="0">
              <a:buNone/>
              <a:defRPr/>
            </a:pPr>
            <a:r>
              <a:rPr lang="en-US" sz="1450" b="1">
                <a:solidFill>
                  <a:srgbClr val="171717"/>
                </a:solidFill>
                <a:latin typeface="IBM Plex Serif"/>
                <a:ea typeface="IBM Plex Serif"/>
                <a:cs typeface="IBM Plex Serif"/>
              </a:rPr>
              <a:t>Pipeline an toàn, không leakage</a:t>
            </a:r>
            <a:endParaRPr sz="1450">
              <a:latin typeface="IBM Plex Serif"/>
              <a:cs typeface="IBM Plex Serif"/>
            </a:endParaRPr>
          </a:p>
        </p:txBody>
      </p:sp>
      <p:sp>
        <p:nvSpPr>
          <p:cNvPr id="136010962" name="Text 7"/>
          <p:cNvSpPr/>
          <p:nvPr/>
        </p:nvSpPr>
        <p:spPr bwMode="auto">
          <a:xfrm>
            <a:off x="777240" y="2240280"/>
            <a:ext cx="4892039" cy="1143000"/>
          </a:xfrm>
          <a:prstGeom prst="rect">
            <a:avLst/>
          </a:prstGeom>
          <a:noFill/>
          <a:ln/>
        </p:spPr>
        <p:txBody>
          <a:bodyPr wrap="square" lIns="0" tIns="0" rIns="0" bIns="0" rtlCol="0" anchor="t"/>
          <a:lstStyle/>
          <a:p>
            <a:pPr marL="0" indent="0">
              <a:lnSpc>
                <a:spcPct val="118000"/>
              </a:lnSpc>
              <a:buNone/>
              <a:defRPr/>
            </a:pPr>
            <a:r>
              <a:rPr lang="en-US" sz="1150">
                <a:solidFill>
                  <a:srgbClr val="6E6E6E"/>
                </a:solidFill>
                <a:latin typeface="IBM Plex Serif"/>
                <a:ea typeface="IBM Plex Serif"/>
                <a:cs typeface="IBM Plex Serif"/>
              </a:rPr>
              <a:t>Toàn bộ bước học thống kê (encode, impute, scale, chọn feature theo tương quan) đều fit trên train, transform trên test — kết quả đánh giá phản ánh đúng khả năng tổng quát hoá.</a:t>
            </a:r>
            <a:endParaRPr sz="1150">
              <a:latin typeface="IBM Plex Serif"/>
              <a:cs typeface="IBM Plex Serif"/>
            </a:endParaRPr>
          </a:p>
        </p:txBody>
      </p:sp>
      <p:sp>
        <p:nvSpPr>
          <p:cNvPr id="1041694313" name="Shape 8"/>
          <p:cNvSpPr/>
          <p:nvPr/>
        </p:nvSpPr>
        <p:spPr bwMode="auto">
          <a:xfrm>
            <a:off x="6172200" y="1371600"/>
            <a:ext cx="5349240" cy="2194560"/>
          </a:xfrm>
          <a:prstGeom prst="roundRect">
            <a:avLst>
              <a:gd name="adj" fmla="val 291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81035236" name="Shape 9"/>
          <p:cNvSpPr/>
          <p:nvPr/>
        </p:nvSpPr>
        <p:spPr bwMode="auto">
          <a:xfrm>
            <a:off x="6400800" y="1572768"/>
            <a:ext cx="566928" cy="566928"/>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144182332" name="Image 1" descr="preencoded.png"/>
          <p:cNvPicPr>
            <a:picLocks noChangeAspect="1"/>
          </p:cNvPicPr>
          <p:nvPr/>
        </p:nvPicPr>
        <p:blipFill rotWithShape="1">
          <a:blip r:embed="rId4"/>
          <a:stretch/>
        </p:blipFill>
        <p:spPr bwMode="auto">
          <a:xfrm>
            <a:off x="6537960" y="1709928"/>
            <a:ext cx="292608" cy="292608"/>
          </a:xfrm>
          <a:prstGeom prst="rect">
            <a:avLst/>
          </a:prstGeom>
        </p:spPr>
      </p:pic>
      <p:sp>
        <p:nvSpPr>
          <p:cNvPr id="219233647" name="Text 10"/>
          <p:cNvSpPr/>
          <p:nvPr/>
        </p:nvSpPr>
        <p:spPr bwMode="auto">
          <a:xfrm>
            <a:off x="7132320" y="1554480"/>
            <a:ext cx="4160519" cy="502920"/>
          </a:xfrm>
          <a:prstGeom prst="rect">
            <a:avLst/>
          </a:prstGeom>
          <a:noFill/>
          <a:ln/>
        </p:spPr>
        <p:txBody>
          <a:bodyPr wrap="square" lIns="0" tIns="0" rIns="0" bIns="0" rtlCol="0" anchor="ctr"/>
          <a:lstStyle/>
          <a:p>
            <a:pPr marL="0" indent="0">
              <a:buNone/>
              <a:defRPr/>
            </a:pPr>
            <a:r>
              <a:rPr lang="en-US" sz="1450" b="1">
                <a:solidFill>
                  <a:srgbClr val="171717"/>
                </a:solidFill>
                <a:latin typeface="IBM Plex Serif"/>
                <a:ea typeface="IBM Plex Serif"/>
                <a:cs typeface="IBM Plex Serif"/>
              </a:rPr>
              <a:t>Yếu tố nguy cơ hàng đầu</a:t>
            </a:r>
            <a:endParaRPr sz="1450">
              <a:latin typeface="IBM Plex Serif"/>
              <a:cs typeface="IBM Plex Serif"/>
            </a:endParaRPr>
          </a:p>
        </p:txBody>
      </p:sp>
      <p:sp>
        <p:nvSpPr>
          <p:cNvPr id="1012600785" name="Text 11"/>
          <p:cNvSpPr/>
          <p:nvPr/>
        </p:nvSpPr>
        <p:spPr bwMode="auto">
          <a:xfrm>
            <a:off x="6400800" y="2240280"/>
            <a:ext cx="4892039" cy="1143000"/>
          </a:xfrm>
          <a:prstGeom prst="rect">
            <a:avLst/>
          </a:prstGeom>
          <a:noFill/>
          <a:ln/>
        </p:spPr>
        <p:txBody>
          <a:bodyPr wrap="square" lIns="0" tIns="0" rIns="0" bIns="0" rtlCol="0" anchor="t"/>
          <a:lstStyle/>
          <a:p>
            <a:pPr marL="0" indent="0">
              <a:lnSpc>
                <a:spcPct val="118000"/>
              </a:lnSpc>
              <a:buNone/>
              <a:defRPr/>
            </a:pPr>
            <a:r>
              <a:rPr lang="en-US" sz="1150">
                <a:solidFill>
                  <a:srgbClr val="6E6E6E"/>
                </a:solidFill>
                <a:latin typeface="IBM Plex Serif"/>
                <a:ea typeface="IBM Plex Serif"/>
                <a:cs typeface="IBM Plex Serif"/>
              </a:rPr>
              <a:t>DiffWalking, GenHealth kém, Diabetic, Stroke (theo tương quan) và BMI, SleepTime, PhysicalHealth (theo Random Forest) là các yếu tố dự báo mạnh nhất.</a:t>
            </a:r>
            <a:endParaRPr sz="1150">
              <a:latin typeface="IBM Plex Serif"/>
              <a:cs typeface="IBM Plex Serif"/>
            </a:endParaRPr>
          </a:p>
        </p:txBody>
      </p:sp>
      <p:sp>
        <p:nvSpPr>
          <p:cNvPr id="623099633" name="Shape 12"/>
          <p:cNvSpPr/>
          <p:nvPr/>
        </p:nvSpPr>
        <p:spPr bwMode="auto">
          <a:xfrm>
            <a:off x="548640" y="3794760"/>
            <a:ext cx="5349240" cy="2194560"/>
          </a:xfrm>
          <a:prstGeom prst="roundRect">
            <a:avLst>
              <a:gd name="adj" fmla="val 291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911357615" name="Shape 13"/>
          <p:cNvSpPr/>
          <p:nvPr/>
        </p:nvSpPr>
        <p:spPr bwMode="auto">
          <a:xfrm>
            <a:off x="777240" y="3995928"/>
            <a:ext cx="566928" cy="566928"/>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1530772389" name="Image 2" descr="preencoded.png"/>
          <p:cNvPicPr>
            <a:picLocks noChangeAspect="1"/>
          </p:cNvPicPr>
          <p:nvPr/>
        </p:nvPicPr>
        <p:blipFill rotWithShape="1">
          <a:blip r:embed="rId5"/>
          <a:stretch/>
        </p:blipFill>
        <p:spPr bwMode="auto">
          <a:xfrm>
            <a:off x="914400" y="4133088"/>
            <a:ext cx="292608" cy="292608"/>
          </a:xfrm>
          <a:prstGeom prst="rect">
            <a:avLst/>
          </a:prstGeom>
        </p:spPr>
      </p:pic>
      <p:sp>
        <p:nvSpPr>
          <p:cNvPr id="972741652" name="Text 14"/>
          <p:cNvSpPr/>
          <p:nvPr/>
        </p:nvSpPr>
        <p:spPr bwMode="auto">
          <a:xfrm>
            <a:off x="1508759" y="3977640"/>
            <a:ext cx="4160519" cy="502920"/>
          </a:xfrm>
          <a:prstGeom prst="rect">
            <a:avLst/>
          </a:prstGeom>
          <a:noFill/>
          <a:ln/>
        </p:spPr>
        <p:txBody>
          <a:bodyPr wrap="square" lIns="0" tIns="0" rIns="0" bIns="0" rtlCol="0" anchor="ctr"/>
          <a:lstStyle/>
          <a:p>
            <a:pPr marL="0" indent="0">
              <a:buNone/>
              <a:defRPr/>
            </a:pPr>
            <a:r>
              <a:rPr lang="en-US" sz="1450" b="1">
                <a:solidFill>
                  <a:srgbClr val="171717"/>
                </a:solidFill>
                <a:latin typeface="IBM Plex Serif"/>
                <a:ea typeface="IBM Plex Serif"/>
                <a:cs typeface="IBM Plex Serif"/>
              </a:rPr>
              <a:t>Đánh đổi giữa 2 mô hình</a:t>
            </a:r>
            <a:endParaRPr sz="1450">
              <a:latin typeface="IBM Plex Serif"/>
              <a:cs typeface="IBM Plex Serif"/>
            </a:endParaRPr>
          </a:p>
        </p:txBody>
      </p:sp>
      <p:sp>
        <p:nvSpPr>
          <p:cNvPr id="1933826135" name="Text 15"/>
          <p:cNvSpPr/>
          <p:nvPr/>
        </p:nvSpPr>
        <p:spPr bwMode="auto">
          <a:xfrm>
            <a:off x="777240" y="4663440"/>
            <a:ext cx="4892039" cy="1143000"/>
          </a:xfrm>
          <a:prstGeom prst="rect">
            <a:avLst/>
          </a:prstGeom>
          <a:noFill/>
          <a:ln/>
        </p:spPr>
        <p:txBody>
          <a:bodyPr wrap="square" lIns="0" tIns="0" rIns="0" bIns="0" rtlCol="0" anchor="t"/>
          <a:lstStyle/>
          <a:p>
            <a:pPr marL="0" indent="0">
              <a:lnSpc>
                <a:spcPct val="118000"/>
              </a:lnSpc>
              <a:buNone/>
              <a:defRPr/>
            </a:pPr>
            <a:r>
              <a:rPr lang="en-US" sz="1150">
                <a:solidFill>
                  <a:srgbClr val="6E6E6E"/>
                </a:solidFill>
                <a:latin typeface="IBM Plex Serif"/>
                <a:ea typeface="IBM Plex Serif"/>
                <a:cs typeface="IBM Plex Serif"/>
              </a:rPr>
              <a:t>Random Forest cho kết quả cân bằng hơn; Logistic Regression với ngưỡng thấp đạt Recall 0.933 — phù hợp khi mục tiêu là không bỏ sót ca bệnh.</a:t>
            </a:r>
            <a:endParaRPr sz="1150">
              <a:latin typeface="IBM Plex Serif"/>
              <a:cs typeface="IBM Plex Serif"/>
            </a:endParaRPr>
          </a:p>
        </p:txBody>
      </p:sp>
      <p:sp>
        <p:nvSpPr>
          <p:cNvPr id="730339214" name="Shape 16"/>
          <p:cNvSpPr/>
          <p:nvPr/>
        </p:nvSpPr>
        <p:spPr bwMode="auto">
          <a:xfrm>
            <a:off x="6172200" y="3794760"/>
            <a:ext cx="5349240" cy="2194560"/>
          </a:xfrm>
          <a:prstGeom prst="roundRect">
            <a:avLst>
              <a:gd name="adj" fmla="val 2917"/>
            </a:avLst>
          </a:prstGeom>
          <a:solidFill>
            <a:srgbClr val="F7F7F7"/>
          </a:solidFill>
          <a:ln w="9525">
            <a:solidFill>
              <a:srgbClr val="E3E3E3"/>
            </a:solidFill>
            <a:prstDash val="solid"/>
          </a:ln>
          <a:effectLst>
            <a:outerShdw blurRad="88900" dist="25400" dir="2700000" sx="100000" sy="100000" kx="0" ky="0" algn="bl" rotWithShape="0">
              <a:srgbClr val="000000">
                <a:alpha val="8000"/>
              </a:srgbClr>
            </a:outerShdw>
          </a:effectLst>
        </p:spPr>
        <p:txBody>
          <a:bodyPr anchor="ctr"/>
          <a:p>
            <a:pPr algn="ctr">
              <a:defRPr/>
            </a:pPr>
            <a:endParaRPr>
              <a:latin typeface="IBM Plex Serif"/>
              <a:cs typeface="IBM Plex Serif"/>
            </a:endParaRPr>
          </a:p>
        </p:txBody>
      </p:sp>
      <p:sp>
        <p:nvSpPr>
          <p:cNvPr id="234695847" name="Shape 17"/>
          <p:cNvSpPr/>
          <p:nvPr/>
        </p:nvSpPr>
        <p:spPr bwMode="auto">
          <a:xfrm>
            <a:off x="6400800" y="3995928"/>
            <a:ext cx="566928" cy="566928"/>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365822600" name="Image 3" descr="preencoded.png"/>
          <p:cNvPicPr>
            <a:picLocks noChangeAspect="1"/>
          </p:cNvPicPr>
          <p:nvPr/>
        </p:nvPicPr>
        <p:blipFill rotWithShape="1">
          <a:blip r:embed="rId6"/>
          <a:stretch/>
        </p:blipFill>
        <p:spPr bwMode="auto">
          <a:xfrm>
            <a:off x="6537960" y="4133088"/>
            <a:ext cx="292608" cy="292608"/>
          </a:xfrm>
          <a:prstGeom prst="rect">
            <a:avLst/>
          </a:prstGeom>
        </p:spPr>
      </p:pic>
      <p:sp>
        <p:nvSpPr>
          <p:cNvPr id="797197756" name="Text 18"/>
          <p:cNvSpPr/>
          <p:nvPr/>
        </p:nvSpPr>
        <p:spPr bwMode="auto">
          <a:xfrm>
            <a:off x="7132320" y="3977640"/>
            <a:ext cx="4160519" cy="502920"/>
          </a:xfrm>
          <a:prstGeom prst="rect">
            <a:avLst/>
          </a:prstGeom>
          <a:noFill/>
          <a:ln/>
        </p:spPr>
        <p:txBody>
          <a:bodyPr wrap="square" lIns="0" tIns="0" rIns="0" bIns="0" rtlCol="0" anchor="ctr"/>
          <a:lstStyle/>
          <a:p>
            <a:pPr marL="0" indent="0">
              <a:buNone/>
              <a:defRPr/>
            </a:pPr>
            <a:r>
              <a:rPr lang="en-US" sz="1450" b="1">
                <a:solidFill>
                  <a:srgbClr val="171717"/>
                </a:solidFill>
                <a:latin typeface="IBM Plex Serif"/>
                <a:ea typeface="IBM Plex Serif"/>
                <a:cs typeface="IBM Plex Serif"/>
              </a:rPr>
              <a:t>Hướng cải thiện tiếp theo</a:t>
            </a:r>
            <a:endParaRPr sz="1450">
              <a:latin typeface="IBM Plex Serif"/>
              <a:cs typeface="IBM Plex Serif"/>
            </a:endParaRPr>
          </a:p>
        </p:txBody>
      </p:sp>
      <p:sp>
        <p:nvSpPr>
          <p:cNvPr id="747883429" name="Text 19"/>
          <p:cNvSpPr/>
          <p:nvPr/>
        </p:nvSpPr>
        <p:spPr bwMode="auto">
          <a:xfrm>
            <a:off x="6400800" y="4663440"/>
            <a:ext cx="4892039" cy="1143000"/>
          </a:xfrm>
          <a:prstGeom prst="rect">
            <a:avLst/>
          </a:prstGeom>
          <a:noFill/>
          <a:ln/>
        </p:spPr>
        <p:txBody>
          <a:bodyPr wrap="square" lIns="0" tIns="0" rIns="0" bIns="0" rtlCol="0" anchor="t"/>
          <a:lstStyle/>
          <a:p>
            <a:pPr marL="0" indent="0">
              <a:lnSpc>
                <a:spcPct val="118000"/>
              </a:lnSpc>
              <a:buNone/>
              <a:defRPr/>
            </a:pPr>
            <a:r>
              <a:rPr lang="en-US" sz="1150">
                <a:solidFill>
                  <a:srgbClr val="6E6E6E"/>
                </a:solidFill>
                <a:latin typeface="IBM Plex Serif"/>
                <a:ea typeface="IBM Plex Serif"/>
                <a:cs typeface="IBM Plex Serif"/>
              </a:rPr>
              <a:t>Gộp lại bước StandardScaler trùng lặp; thử SMOTE trên X_train (sau split) để so sánh với class_weight='balanced'; thử thêm XGBoost/LightGBM.</a:t>
            </a:r>
            <a:endParaRPr sz="1150">
              <a:latin typeface="IBM Plex Serif"/>
              <a:cs typeface="IBM Plex Serif"/>
            </a:endParaRPr>
          </a:p>
        </p:txBody>
      </p:sp>
      <p:sp>
        <p:nvSpPr>
          <p:cNvPr id="289616341" name="Text 20"/>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780008096" name="Text 21"/>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20</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bg>
      <p:bgPr shadeToTitle="0">
        <a:solidFill>
          <a:srgbClr val="FFFFFF"/>
        </a:solidFill>
      </p:bgPr>
    </p:bg>
    <p:spTree>
      <p:nvGrpSpPr>
        <p:cNvPr id="1" name=""/>
        <p:cNvGrpSpPr/>
        <p:nvPr/>
      </p:nvGrpSpPr>
      <p:grpSpPr bwMode="auto">
        <a:xfrm>
          <a:off x="0" y="0"/>
          <a:ext cx="0" cy="0"/>
          <a:chOff x="0" y="0"/>
          <a:chExt cx="0" cy="0"/>
        </a:xfrm>
      </p:grpSpPr>
      <p:sp>
        <p:nvSpPr>
          <p:cNvPr id="808894696" name="Shape 0"/>
          <p:cNvSpPr/>
          <p:nvPr/>
        </p:nvSpPr>
        <p:spPr bwMode="auto">
          <a:xfrm>
            <a:off x="5638648" y="1828800"/>
            <a:ext cx="914400" cy="914400"/>
          </a:xfrm>
          <a:prstGeom prst="ellipse">
            <a:avLst/>
          </a:prstGeom>
          <a:solidFill>
            <a:srgbClr val="FFFFFF"/>
          </a:solidFill>
          <a:ln w="9525">
            <a:solidFill>
              <a:srgbClr val="E3E3E3"/>
            </a:solidFill>
            <a:prstDash val="solid"/>
          </a:ln>
        </p:spPr>
        <p:txBody>
          <a:bodyPr anchor="ctr"/>
          <a:p>
            <a:pPr algn="ctr">
              <a:defRPr/>
            </a:pPr>
            <a:endParaRPr>
              <a:latin typeface="IBM Plex Serif"/>
              <a:cs typeface="IBM Plex Serif"/>
            </a:endParaRPr>
          </a:p>
        </p:txBody>
      </p:sp>
      <p:pic>
        <p:nvPicPr>
          <p:cNvPr id="643893832" name="Image 0" descr="preencoded.png"/>
          <p:cNvPicPr>
            <a:picLocks noChangeAspect="1"/>
          </p:cNvPicPr>
          <p:nvPr/>
        </p:nvPicPr>
        <p:blipFill rotWithShape="1">
          <a:blip r:embed="rId3"/>
          <a:stretch/>
        </p:blipFill>
        <p:spPr bwMode="auto">
          <a:xfrm>
            <a:off x="5858104" y="2048256"/>
            <a:ext cx="475488" cy="475488"/>
          </a:xfrm>
          <a:prstGeom prst="rect">
            <a:avLst/>
          </a:prstGeom>
        </p:spPr>
      </p:pic>
      <p:sp>
        <p:nvSpPr>
          <p:cNvPr id="312397877" name="Text 1"/>
          <p:cNvSpPr/>
          <p:nvPr/>
        </p:nvSpPr>
        <p:spPr bwMode="auto">
          <a:xfrm>
            <a:off x="0" y="2971800"/>
            <a:ext cx="12191695" cy="822960"/>
          </a:xfrm>
          <a:prstGeom prst="rect">
            <a:avLst/>
          </a:prstGeom>
          <a:noFill/>
          <a:ln/>
        </p:spPr>
        <p:txBody>
          <a:bodyPr wrap="square" lIns="0" tIns="0" rIns="0" bIns="0" rtlCol="0" anchor="ctr"/>
          <a:lstStyle/>
          <a:p>
            <a:pPr marL="0" indent="0" algn="ctr">
              <a:buNone/>
              <a:defRPr/>
            </a:pPr>
            <a:r>
              <a:rPr lang="en-US" sz="3800" b="1">
                <a:solidFill>
                  <a:srgbClr val="171717"/>
                </a:solidFill>
                <a:latin typeface="IBM Plex Serif"/>
                <a:ea typeface="IBM Plex Serif"/>
                <a:cs typeface="IBM Plex Serif"/>
              </a:rPr>
              <a:t>Cảm ơn đã theo dõi</a:t>
            </a:r>
            <a:endParaRPr sz="3800">
              <a:latin typeface="IBM Plex Serif"/>
              <a:cs typeface="IBM Plex Serif"/>
            </a:endParaRPr>
          </a:p>
        </p:txBody>
      </p:sp>
      <p:sp>
        <p:nvSpPr>
          <p:cNvPr id="1886947571" name="Text 2"/>
          <p:cNvSpPr/>
          <p:nvPr/>
        </p:nvSpPr>
        <p:spPr bwMode="auto">
          <a:xfrm>
            <a:off x="0" y="3794760"/>
            <a:ext cx="12191695" cy="365760"/>
          </a:xfrm>
          <a:prstGeom prst="rect">
            <a:avLst/>
          </a:prstGeom>
          <a:noFill/>
          <a:ln/>
        </p:spPr>
        <p:txBody>
          <a:bodyPr wrap="square" lIns="0" tIns="0" rIns="0" bIns="0" rtlCol="0" anchor="ctr"/>
          <a:lstStyle/>
          <a:p>
            <a:pPr marL="0" indent="0" algn="ctr">
              <a:buNone/>
              <a:defRPr/>
            </a:pPr>
            <a:r>
              <a:rPr lang="en-US" sz="1500">
                <a:solidFill>
                  <a:srgbClr val="6E6E6E"/>
                </a:solidFill>
                <a:latin typeface="IBM Plex Serif"/>
                <a:ea typeface="IBM Plex Serif"/>
                <a:cs typeface="IBM Plex Serif"/>
              </a:rPr>
              <a:t>Heart Disease Prediction — Data Analysis Project</a:t>
            </a:r>
            <a:endParaRPr sz="1500">
              <a:latin typeface="IBM Plex Serif"/>
              <a:cs typeface="IBM Plex Serif"/>
            </a:endParaRPr>
          </a:p>
        </p:txBody>
      </p:sp>
      <p:sp>
        <p:nvSpPr>
          <p:cNvPr id="586779447" name="Shape 3"/>
          <p:cNvSpPr/>
          <p:nvPr/>
        </p:nvSpPr>
        <p:spPr bwMode="auto">
          <a:xfrm>
            <a:off x="5181447" y="4343400"/>
            <a:ext cx="1828800" cy="0"/>
          </a:xfrm>
          <a:prstGeom prst="line">
            <a:avLst/>
          </a:prstGeom>
          <a:noFill/>
          <a:ln w="12700">
            <a:solidFill>
              <a:srgbClr val="E3E3E3"/>
            </a:solidFill>
            <a:prstDash val="solid"/>
          </a:ln>
        </p:spPr>
      </p:sp>
      <p:sp>
        <p:nvSpPr>
          <p:cNvPr id="365520280" name="Text 4"/>
          <p:cNvSpPr/>
          <p:nvPr/>
        </p:nvSpPr>
        <p:spPr bwMode="auto">
          <a:xfrm>
            <a:off x="0" y="4526280"/>
            <a:ext cx="12191695" cy="365760"/>
          </a:xfrm>
          <a:prstGeom prst="rect">
            <a:avLst/>
          </a:prstGeom>
          <a:noFill/>
          <a:ln/>
        </p:spPr>
        <p:txBody>
          <a:bodyPr wrap="square" lIns="0" tIns="0" rIns="0" bIns="0" rtlCol="0" anchor="ctr"/>
          <a:lstStyle/>
          <a:p>
            <a:pPr marL="0" indent="0" algn="ctr">
              <a:buNone/>
              <a:defRPr/>
            </a:pPr>
            <a:r>
              <a:rPr lang="en-US" sz="1300" b="1">
                <a:solidFill>
                  <a:srgbClr val="A6192E"/>
                </a:solidFill>
                <a:latin typeface="IBM Plex Serif"/>
                <a:ea typeface="IBM Plex Serif"/>
                <a:cs typeface="IBM Plex Serif"/>
              </a:rPr>
              <a:t>Nguyễn Phước Mai Bảo  ·  Nguyễn Phúc Minh Châu</a:t>
            </a:r>
            <a:endParaRPr sz="1300">
              <a:latin typeface="IBM Plex Serif"/>
              <a:cs typeface="IBM Plex Serif"/>
            </a:endParaRPr>
          </a:p>
        </p:txBody>
      </p:sp>
      <p:sp>
        <p:nvSpPr>
          <p:cNvPr id="1002274191" name="Text 5"/>
          <p:cNvSpPr/>
          <p:nvPr/>
        </p:nvSpPr>
        <p:spPr bwMode="auto">
          <a:xfrm>
            <a:off x="548640" y="6510528"/>
            <a:ext cx="7315200" cy="274320"/>
          </a:xfrm>
          <a:prstGeom prst="rect">
            <a:avLst/>
          </a:prstGeom>
          <a:noFill/>
          <a:ln/>
        </p:spPr>
        <p:txBody>
          <a:bodyPr wrap="square" lIns="0" tIns="0" rIns="0" bIns="0" rtlCol="0" anchor="ctr"/>
          <a:lstStyle/>
          <a:p>
            <a:pPr marL="0" indent="0">
              <a:buNone/>
              <a:defRPr/>
            </a:pPr>
            <a:r>
              <a:rPr lang="en-US" sz="900">
                <a:solidFill>
                  <a:srgbClr val="6E6E6E"/>
                </a:solidFill>
                <a:latin typeface="IBM Plex Serif"/>
                <a:ea typeface="IBM Plex Serif"/>
                <a:cs typeface="IBM Plex Serif"/>
              </a:rPr>
              <a:t>HEART DISEASE PREDICTION  ·  DATA ANALYSIS PROJECT</a:t>
            </a:r>
            <a:endParaRPr sz="900">
              <a:latin typeface="IBM Plex Serif"/>
              <a:cs typeface="IBM Plex Serif"/>
            </a:endParaRPr>
          </a:p>
        </p:txBody>
      </p:sp>
      <p:sp>
        <p:nvSpPr>
          <p:cNvPr id="351365973" name="Text 6"/>
          <p:cNvSpPr/>
          <p:nvPr/>
        </p:nvSpPr>
        <p:spPr bwMode="auto">
          <a:xfrm>
            <a:off x="11094415" y="6510528"/>
            <a:ext cx="548640" cy="274320"/>
          </a:xfrm>
          <a:prstGeom prst="rect">
            <a:avLst/>
          </a:prstGeom>
          <a:noFill/>
          <a:ln/>
        </p:spPr>
        <p:txBody>
          <a:bodyPr wrap="square" lIns="0" tIns="0" rIns="0" bIns="0" rtlCol="0" anchor="ctr"/>
          <a:lstStyle/>
          <a:p>
            <a:pPr marL="0" indent="0" algn="r">
              <a:buNone/>
              <a:defRPr/>
            </a:pPr>
            <a:r>
              <a:rPr lang="en-US" sz="900">
                <a:solidFill>
                  <a:srgbClr val="6E6E6E"/>
                </a:solidFill>
                <a:latin typeface="IBM Plex Serif"/>
                <a:ea typeface="IBM Plex Serif"/>
                <a:cs typeface="IBM Plex Serif"/>
              </a:rPr>
              <a:t>21</a:t>
            </a:r>
            <a:endParaRPr sz="900">
              <a:latin typeface="IBM Plex Serif"/>
              <a:cs typeface="IBM Plex Serif"/>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21</Slides>
  <Notes>21</Notes>
  <HiddenSlides>0</HiddenSlides>
  <MMClips>2</MMClips>
  <ScaleCrop>0</ScaleCrop>
  <HeadingPairs>
    <vt:vector size="4" baseType="variant">
      <vt:variant>
        <vt:lpstr>Theme</vt:lpstr>
      </vt:variant>
      <vt:variant>
        <vt:i4>1</vt:i4>
      </vt:variant>
      <vt:variant>
        <vt:lpstr>Slide Titles</vt:lpstr>
      </vt:variant>
      <vt:variant>
        <vt:i4>21</vt:i4>
      </vt:variant>
    </vt:vector>
  </HeadingPairs>
  <TitlesOfParts>
    <vt:vector size="2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Prediction — Data Analysis Project</dc:title>
  <dc:subject>PptxGenJS Presentation</dc:subject>
  <dc:creator>Nguyễn Phúc Minh Châu, Nguyễn Phước Mai Bảo</dc:creator>
  <cp:lastModifiedBy/>
  <cp:revision>2</cp:revision>
  <dcterms:created xsi:type="dcterms:W3CDTF">2026-06-27T07:23:17Z</dcterms:created>
  <dcterms:modified xsi:type="dcterms:W3CDTF">2026-06-27T07:42:40Z</dcterms:modified>
</cp:coreProperties>
</file>