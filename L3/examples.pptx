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73" r:id="rId2"/>
    <p:sldId id="274" r:id="rId3"/>
    <p:sldId id="279" r:id="rId4"/>
    <p:sldId id="295" r:id="rId5"/>
    <p:sldId id="277" r:id="rId6"/>
    <p:sldId id="278" r:id="rId7"/>
    <p:sldId id="280" r:id="rId8"/>
    <p:sldId id="281" r:id="rId9"/>
    <p:sldId id="282" r:id="rId10"/>
    <p:sldId id="29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9" r:id="rId20"/>
    <p:sldId id="302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00" r:id="rId31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61" autoAdjust="0"/>
    <p:restoredTop sz="67344" autoAdjust="0"/>
  </p:normalViewPr>
  <p:slideViewPr>
    <p:cSldViewPr snapToGrid="0">
      <p:cViewPr varScale="1">
        <p:scale>
          <a:sx n="74" d="100"/>
          <a:sy n="74" d="100"/>
        </p:scale>
        <p:origin x="1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5C7C6-E753-477C-B23A-FF3A3BB858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036E9-13C5-4F79-8F73-A7CEE230E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2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F61AC-41ED-4A58-8C2E-B33AF9480D9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3DC1F-6FA4-49FA-BAF7-5EF53804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82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https://www.tutorialandexample.com/minimax-strategy</a:t>
            </a:r>
          </a:p>
          <a:p>
            <a:r>
              <a:rPr lang="en-US"/>
              <a:t>https://www.javatpoint.com/mini-max-algorithm-in-ai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23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65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07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49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7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31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37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86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32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5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3DC1F-6FA4-49FA-BAF7-5EF53804C7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2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497" y="2809580"/>
            <a:ext cx="11132061" cy="1934672"/>
          </a:xfrm>
        </p:spPr>
        <p:txBody>
          <a:bodyPr anchor="t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algn="r">
              <a:lnSpc>
                <a:spcPct val="80000"/>
              </a:lnSpc>
              <a:defRPr sz="6600" b="0" cap="none" spc="0">
                <a:ln w="0"/>
                <a:solidFill>
                  <a:srgbClr val="C8560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A1BF0-794A-4D0F-B9EB-122AB0A2F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04776"/>
            <a:ext cx="3333750" cy="13890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7103459-6CD3-42D3-B11B-498D3D53D60C}"/>
              </a:ext>
            </a:extLst>
          </p:cNvPr>
          <p:cNvGrpSpPr/>
          <p:nvPr userDrawn="1"/>
        </p:nvGrpSpPr>
        <p:grpSpPr>
          <a:xfrm>
            <a:off x="8485395" y="104776"/>
            <a:ext cx="3611355" cy="1222513"/>
            <a:chOff x="3054154" y="4685464"/>
            <a:chExt cx="2989898" cy="97726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13580D-26DE-41A2-AD9B-5D0A5BD54975}"/>
                </a:ext>
              </a:extLst>
            </p:cNvPr>
            <p:cNvSpPr/>
            <p:nvPr userDrawn="1"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6AE779-831E-4029-9985-996CAC2BD9F2}"/>
                </a:ext>
              </a:extLst>
            </p:cNvPr>
            <p:cNvSpPr/>
            <p:nvPr userDrawn="1"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E316E9-644F-4EBC-930D-C0D1EA540865}"/>
                </a:ext>
              </a:extLst>
            </p:cNvPr>
            <p:cNvSpPr/>
            <p:nvPr userDrawn="1"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137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2" y="2670047"/>
            <a:ext cx="11261655" cy="1642399"/>
          </a:xfrm>
        </p:spPr>
        <p:txBody>
          <a:bodyPr anchor="t">
            <a:normAutofit/>
          </a:bodyPr>
          <a:lstStyle>
            <a:lvl1pPr algn="r">
              <a:defRPr sz="4400" b="0" cap="none" baseline="0">
                <a:solidFill>
                  <a:srgbClr val="C8560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B77FF9-4CD0-492D-BBC0-5B328675F2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04776"/>
            <a:ext cx="3333750" cy="138906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5A2F8-45EB-4464-8166-B1A246D6133F}"/>
              </a:ext>
            </a:extLst>
          </p:cNvPr>
          <p:cNvGrpSpPr/>
          <p:nvPr userDrawn="1"/>
        </p:nvGrpSpPr>
        <p:grpSpPr>
          <a:xfrm>
            <a:off x="8485395" y="104776"/>
            <a:ext cx="3611355" cy="1222513"/>
            <a:chOff x="3054154" y="4685464"/>
            <a:chExt cx="2989898" cy="97726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F6CCE9-9FC9-4BBD-9998-12376214E0D1}"/>
                </a:ext>
              </a:extLst>
            </p:cNvPr>
            <p:cNvSpPr/>
            <p:nvPr userDrawn="1"/>
          </p:nvSpPr>
          <p:spPr>
            <a:xfrm>
              <a:off x="3331332" y="5066464"/>
              <a:ext cx="2331720" cy="3200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www.hoasen.edu.vn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F4EE92-A96A-432B-B4AC-E7866AA3E517}"/>
                </a:ext>
              </a:extLst>
            </p:cNvPr>
            <p:cNvSpPr/>
            <p:nvPr userDrawn="1"/>
          </p:nvSpPr>
          <p:spPr>
            <a:xfrm>
              <a:off x="3054154" y="5385551"/>
              <a:ext cx="277178" cy="27717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E3193FF-6A96-4BDE-B0C1-7FF5C07A966F}"/>
                </a:ext>
              </a:extLst>
            </p:cNvPr>
            <p:cNvSpPr/>
            <p:nvPr userDrawn="1"/>
          </p:nvSpPr>
          <p:spPr>
            <a:xfrm>
              <a:off x="5663052" y="4685464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ubtitle 2">
            <a:extLst>
              <a:ext uri="{FF2B5EF4-FFF2-40B4-BE49-F238E27FC236}">
                <a16:creationId xmlns:a16="http://schemas.microsoft.com/office/drawing/2014/main" id="{AF31AAFE-9A39-49FB-B8B1-871C28B00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1" y="4478996"/>
            <a:ext cx="11261654" cy="822960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lvl1pPr marL="0" indent="0" algn="r">
              <a:buNone/>
              <a:defRPr sz="2400">
                <a:solidFill>
                  <a:srgbClr val="002060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416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76" y="824067"/>
            <a:ext cx="10972800" cy="70656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CF7630B-8829-4FD3-B35A-6FAAF3D96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2501" y="347705"/>
            <a:ext cx="5565775" cy="456728"/>
          </a:xfrm>
        </p:spPr>
        <p:txBody>
          <a:bodyPr/>
          <a:lstStyle>
            <a:lvl1pPr marL="0" indent="0" algn="r">
              <a:buNone/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46762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76" y="824067"/>
            <a:ext cx="10972800" cy="70656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2037526"/>
            <a:ext cx="5431536" cy="4244404"/>
          </a:xfrm>
        </p:spPr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CF7630B-8829-4FD3-B35A-6FAAF3D96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2501" y="347705"/>
            <a:ext cx="5565775" cy="456728"/>
          </a:xfrm>
        </p:spPr>
        <p:txBody>
          <a:bodyPr/>
          <a:lstStyle>
            <a:lvl1pPr marL="0" indent="0" algn="r">
              <a:buNone/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sub-title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4A26A5-4F6C-4D26-A151-65930EB44A3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6690" y="2037526"/>
            <a:ext cx="5431586" cy="4244404"/>
          </a:xfrm>
        </p:spPr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01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76" y="824067"/>
            <a:ext cx="10972800" cy="70656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2037526"/>
            <a:ext cx="4037672" cy="4244404"/>
          </a:xfrm>
        </p:spPr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E533E-82C4-4D67-B3F9-5EAC11178B73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CF7630B-8829-4FD3-B35A-6FAAF3D96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2501" y="347705"/>
            <a:ext cx="5565775" cy="456728"/>
          </a:xfrm>
        </p:spPr>
        <p:txBody>
          <a:bodyPr/>
          <a:lstStyle>
            <a:lvl1pPr marL="0" indent="0" algn="r">
              <a:buNone/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sub-title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4A26A5-4F6C-4D26-A151-65930EB44A3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885996" y="2037526"/>
            <a:ext cx="6812280" cy="4244404"/>
          </a:xfrm>
        </p:spPr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762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476" y="824067"/>
            <a:ext cx="10972800" cy="70656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0604" y="2037526"/>
            <a:ext cx="4037672" cy="4244404"/>
          </a:xfrm>
        </p:spPr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F32C-1D72-4FCC-9472-FAA54D21EBE6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CF7630B-8829-4FD3-B35A-6FAAF3D96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2501" y="347705"/>
            <a:ext cx="5565775" cy="456728"/>
          </a:xfrm>
        </p:spPr>
        <p:txBody>
          <a:bodyPr/>
          <a:lstStyle>
            <a:lvl1pPr marL="0" indent="0" algn="r">
              <a:buNone/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sub-title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4A26A5-4F6C-4D26-A151-65930EB44A3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25476" y="2037526"/>
            <a:ext cx="6812280" cy="4244404"/>
          </a:xfrm>
        </p:spPr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933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DAAE01-FAC5-4EC5-A725-D1227B6BC6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" y="104776"/>
            <a:ext cx="2011846" cy="83826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4C5941F-BFD1-4484-8FAA-59C89562305B}"/>
              </a:ext>
            </a:extLst>
          </p:cNvPr>
          <p:cNvCxnSpPr/>
          <p:nvPr userDrawn="1"/>
        </p:nvCxnSpPr>
        <p:spPr>
          <a:xfrm>
            <a:off x="725476" y="1774548"/>
            <a:ext cx="10972800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1C7C8-2DDF-40F3-A421-F3AB7C73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BB1B4-6D73-46F8-824B-B8AD6C836854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59899-7CFC-4E12-8231-99D05CC7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4E0C-2153-427F-865B-FBE796BD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6A5EE3C-7502-4EA1-814A-C0B8D4B21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983" y="2501461"/>
            <a:ext cx="7613292" cy="3780467"/>
          </a:xfrm>
        </p:spPr>
        <p:txBody>
          <a:bodyPr/>
          <a:lstStyle>
            <a:lvl1pPr algn="l">
              <a:buClr>
                <a:schemeClr val="accent4">
                  <a:lumMod val="50000"/>
                </a:schemeClr>
              </a:buClr>
              <a:defRPr/>
            </a:lvl1pPr>
            <a:lvl2pPr algn="l">
              <a:buClr>
                <a:schemeClr val="accent4">
                  <a:lumMod val="50000"/>
                </a:schemeClr>
              </a:buClr>
              <a:defRPr/>
            </a:lvl2pPr>
            <a:lvl3pPr algn="l">
              <a:buClr>
                <a:schemeClr val="accent4">
                  <a:lumMod val="50000"/>
                </a:schemeClr>
              </a:buClr>
              <a:defRPr/>
            </a:lvl3pPr>
            <a:lvl4pPr algn="l">
              <a:buClr>
                <a:schemeClr val="accent4">
                  <a:lumMod val="50000"/>
                </a:schemeClr>
              </a:buClr>
              <a:defRPr/>
            </a:lvl4pPr>
            <a:lvl5pPr algn="l"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077C6D-FF40-4B96-B713-BF10942F1F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3232" y="2245241"/>
            <a:ext cx="2686050" cy="291465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D6C2C21-6C86-4A50-8082-8AABFB0F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476" y="824067"/>
            <a:ext cx="10972800" cy="718330"/>
          </a:xfrm>
        </p:spPr>
        <p:txBody>
          <a:bodyPr>
            <a:normAutofit/>
          </a:bodyPr>
          <a:lstStyle>
            <a:lvl1pPr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5DD543B-4256-4562-8DFE-18E172DE9C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2501" y="347705"/>
            <a:ext cx="5565775" cy="456728"/>
          </a:xfrm>
        </p:spPr>
        <p:txBody>
          <a:bodyPr/>
          <a:lstStyle>
            <a:lvl1pPr marL="0" indent="0" algn="r">
              <a:buNone/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7552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-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4">
                  <a:lumMod val="50000"/>
                </a:schemeClr>
              </a:buClr>
              <a:defRPr/>
            </a:lvl1pPr>
            <a:lvl2pPr>
              <a:buClr>
                <a:schemeClr val="accent4">
                  <a:lumMod val="50000"/>
                </a:schemeClr>
              </a:buClr>
              <a:defRPr/>
            </a:lvl2pPr>
            <a:lvl3pPr>
              <a:buClr>
                <a:schemeClr val="accent4">
                  <a:lumMod val="50000"/>
                </a:schemeClr>
              </a:buClr>
              <a:defRPr/>
            </a:lvl3pPr>
            <a:lvl4pPr>
              <a:buClr>
                <a:schemeClr val="accent4">
                  <a:lumMod val="50000"/>
                </a:schemeClr>
              </a:buClr>
              <a:defRPr/>
            </a:lvl4pPr>
            <a:lvl5pPr>
              <a:buClr>
                <a:schemeClr val="accent4">
                  <a:lumMod val="50000"/>
                </a:schemeClr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85DE9-32D3-4EEB-959D-7AAFBCC67DD7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87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F6EB-C442-4125-A93D-90A291057C44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311551-6A8F-445A-8EC0-2F935B4166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257" y="202267"/>
            <a:ext cx="5565775" cy="502401"/>
          </a:xfrm>
        </p:spPr>
        <p:txBody>
          <a:bodyPr/>
          <a:lstStyle>
            <a:lvl1pPr marL="0" indent="0" algn="r">
              <a:buNone/>
              <a:defRPr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sub-title</a:t>
            </a:r>
          </a:p>
        </p:txBody>
      </p:sp>
    </p:spTree>
    <p:extLst>
      <p:ext uri="{BB962C8B-B14F-4D97-AF65-F5344CB8AC3E}">
        <p14:creationId xmlns:p14="http://schemas.microsoft.com/office/powerpoint/2010/main" val="302495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7815D-2D26-4772-8B9C-6A040AF8473D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5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DAAE01-FAC5-4EC5-A725-D1227B6BC6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" y="104776"/>
            <a:ext cx="2011846" cy="83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37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476" y="824066"/>
            <a:ext cx="10972800" cy="825829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2037526"/>
            <a:ext cx="10972800" cy="4244404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3232" y="6448425"/>
            <a:ext cx="8290555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rgbClr val="002060"/>
                </a:solidFill>
              </a:defRPr>
            </a:lvl1pPr>
          </a:lstStyle>
          <a:p>
            <a:r>
              <a:rPr lang="en-US"/>
              <a:t>Artificial Intelligence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92591" y="6448425"/>
            <a:ext cx="14224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7A8D91A0-91E2-4A88-AF24-89C701804B46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85476" y="6448425"/>
            <a:ext cx="812800" cy="180976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4FA8FDC4-5BA6-4632-9F24-76B589377012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E68FC5-648F-42FD-B3A1-4A4175E6CA61}"/>
              </a:ext>
            </a:extLst>
          </p:cNvPr>
          <p:cNvCxnSpPr/>
          <p:nvPr/>
        </p:nvCxnSpPr>
        <p:spPr>
          <a:xfrm>
            <a:off x="725476" y="1764610"/>
            <a:ext cx="10972800" cy="0"/>
          </a:xfrm>
          <a:prstGeom prst="line">
            <a:avLst/>
          </a:prstGeom>
          <a:ln w="19050">
            <a:solidFill>
              <a:srgbClr val="0000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2E7B6B3-3D43-41FF-BB7D-55D85212287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" y="104776"/>
            <a:ext cx="2011846" cy="83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1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80" r:id="rId4"/>
    <p:sldLayoutId id="2147483681" r:id="rId5"/>
    <p:sldLayoutId id="2147483682" r:id="rId6"/>
    <p:sldLayoutId id="2147483678" r:id="rId7"/>
    <p:sldLayoutId id="2147483675" r:id="rId8"/>
    <p:sldLayoutId id="2147483676" r:id="rId9"/>
    <p:sldLayoutId id="2147483670" r:id="rId10"/>
    <p:sldLayoutId id="2147483672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rgbClr val="C8560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304747" indent="-304747" algn="just" defTabSz="1218987" rtl="0" eaLnBrk="1" latinLnBrk="0" hangingPunct="1">
        <a:lnSpc>
          <a:spcPct val="110000"/>
        </a:lnSpc>
        <a:spcBef>
          <a:spcPts val="1800"/>
        </a:spcBef>
        <a:buClr>
          <a:schemeClr val="accent4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755772" indent="-304747" algn="just" defTabSz="1218987" rtl="0" eaLnBrk="1" latinLnBrk="0" hangingPunct="1">
        <a:lnSpc>
          <a:spcPct val="110000"/>
        </a:lnSpc>
        <a:spcBef>
          <a:spcPts val="1200"/>
        </a:spcBef>
        <a:buClr>
          <a:schemeClr val="accent4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20679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Verdana" panose="020B0604030504040204" pitchFamily="34" charset="0"/>
        <a:buChar char="−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57822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108847" indent="-304747" algn="just" defTabSz="1218987" rtl="0" eaLnBrk="1" latinLnBrk="0" hangingPunct="1">
        <a:lnSpc>
          <a:spcPct val="110000"/>
        </a:lnSpc>
        <a:spcBef>
          <a:spcPts val="8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1800" kern="1200">
          <a:solidFill>
            <a:srgbClr val="002060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5987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01089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61922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12947" indent="-30474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AE8C-4870-463E-A61E-473E3ED7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Minimax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1B54A-DF0F-4F4D-9BD7-1C8E8C672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7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5957-08E6-470E-ADD5-91D1FB1F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A21EF-4165-4693-B1AE-E7EBE6A55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It aims to find the optimal strategy for MAX to win the game.</a:t>
            </a:r>
          </a:p>
          <a:p>
            <a:r>
              <a:rPr lang="en-US"/>
              <a:t>It follows the approach of DFS.</a:t>
            </a:r>
          </a:p>
          <a:p>
            <a:r>
              <a:rPr lang="en-US"/>
              <a:t>In the game tree, optimal leaf node could appear at any depth of the tree.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95BC3-EBC4-4775-84E5-7D859BC2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0E3E6-DFFC-42C8-A04D-7572A1B1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BA2E-6E07-411C-B6C0-6CEF9D8F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B51F45-9617-4B4C-849D-5013FE4D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Minimax Algorithm</a:t>
            </a:r>
          </a:p>
        </p:txBody>
      </p:sp>
      <p:pic>
        <p:nvPicPr>
          <p:cNvPr id="2050" name="Picture 2" descr="Mini-Max Algorithm in AI">
            <a:extLst>
              <a:ext uri="{FF2B5EF4-FFF2-40B4-BE49-F238E27FC236}">
                <a16:creationId xmlns:a16="http://schemas.microsoft.com/office/drawing/2014/main" id="{DE49BD71-7CC2-4CAA-9F99-DE3DBC299C89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722" y="2036763"/>
            <a:ext cx="4748294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66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5957-08E6-470E-ADD5-91D1FB1F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Minimax Algorithm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7CE115-A420-4458-B929-88443563C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95BC3-EBC4-4775-84E5-7D859BC2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0E3E6-DFFC-42C8-A04D-7572A1B1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BA2E-6E07-411C-B6C0-6CEF9D8F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B51F45-9617-4B4C-849D-5013FE4D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Minimax Algorithm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BB4315A-A0B5-44B0-BB90-AE739E62202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Keep on generating the game tree/ search tree till a limit </a:t>
            </a:r>
            <a:r>
              <a:rPr lang="en-US" b="1" dirty="0"/>
              <a:t>d.</a:t>
            </a:r>
            <a:endParaRPr lang="en-US" dirty="0"/>
          </a:p>
          <a:p>
            <a:r>
              <a:rPr lang="en-US" dirty="0"/>
              <a:t>Compute the values of the leaf nodes using a heuristic function.</a:t>
            </a:r>
          </a:p>
          <a:p>
            <a:r>
              <a:rPr lang="en-US" dirty="0"/>
              <a:t>Propagate the values from the leaf node till the current position following the minimax strategy.</a:t>
            </a:r>
          </a:p>
          <a:p>
            <a:r>
              <a:rPr lang="en-US" dirty="0"/>
              <a:t>Make the best move from the choices.</a:t>
            </a:r>
          </a:p>
        </p:txBody>
      </p:sp>
      <p:pic>
        <p:nvPicPr>
          <p:cNvPr id="3074" name="Picture 2" descr="https://www.ocf.berkeley.edu/~yosenl/extras/alphabeta/alphabeta.jpg">
            <a:extLst>
              <a:ext uri="{FF2B5EF4-FFF2-40B4-BE49-F238E27FC236}">
                <a16:creationId xmlns:a16="http://schemas.microsoft.com/office/drawing/2014/main" id="{FB2F3BC2-6D83-4FCA-BE0C-C0168BAA3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24" y="1916590"/>
            <a:ext cx="5715000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6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Minimax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E2CE-A600-4163-9D92-8F033FCE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l"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b="1">
                <a:solidFill>
                  <a:srgbClr val="0070C0"/>
                </a:solidFill>
              </a:rPr>
              <a:t>function</a:t>
            </a:r>
            <a:r>
              <a:rPr lang="en-US"/>
              <a:t> minimax(node, depth, max_player): </a:t>
            </a:r>
            <a:br>
              <a:rPr lang="en-US"/>
            </a:br>
            <a:r>
              <a:rPr lang="en-US"/>
              <a:t>	</a:t>
            </a:r>
            <a:r>
              <a:rPr lang="en-US" b="1">
                <a:solidFill>
                  <a:srgbClr val="0070C0"/>
                </a:solidFill>
              </a:rPr>
              <a:t>if</a:t>
            </a:r>
            <a:r>
              <a:rPr lang="en-US"/>
              <a:t> depth == 0 </a:t>
            </a:r>
            <a:r>
              <a:rPr lang="en-US" b="1">
                <a:solidFill>
                  <a:srgbClr val="0070C0"/>
                </a:solidFill>
              </a:rPr>
              <a:t>or</a:t>
            </a:r>
            <a:r>
              <a:rPr lang="en-US"/>
              <a:t> node is a terminal node:</a:t>
            </a:r>
            <a:br>
              <a:rPr lang="en-US"/>
            </a:br>
            <a:r>
              <a:rPr lang="en-US"/>
              <a:t>		</a:t>
            </a:r>
            <a:r>
              <a:rPr lang="en-US" b="1">
                <a:solidFill>
                  <a:srgbClr val="0070C0"/>
                </a:solidFill>
              </a:rPr>
              <a:t>return</a:t>
            </a:r>
            <a:r>
              <a:rPr lang="en-US"/>
              <a:t> h(node)  </a:t>
            </a:r>
            <a:br>
              <a:rPr lang="en-US"/>
            </a:br>
            <a:r>
              <a:rPr lang="en-US"/>
              <a:t>	</a:t>
            </a:r>
            <a:r>
              <a:rPr lang="en-US" b="1">
                <a:solidFill>
                  <a:srgbClr val="0070C0"/>
                </a:solidFill>
              </a:rPr>
              <a:t>if</a:t>
            </a:r>
            <a:r>
              <a:rPr lang="en-US"/>
              <a:t>  max_player: </a:t>
            </a:r>
            <a:r>
              <a:rPr lang="en-US">
                <a:solidFill>
                  <a:srgbClr val="00B050"/>
                </a:solidFill>
              </a:rPr>
              <a:t># for MAX player</a:t>
            </a:r>
            <a:br>
              <a:rPr lang="en-US"/>
            </a:br>
            <a:r>
              <a:rPr lang="en-US"/>
              <a:t>		max_val = -∞            </a:t>
            </a:r>
            <a:br>
              <a:rPr lang="en-US"/>
            </a:br>
            <a:r>
              <a:rPr lang="en-US"/>
              <a:t>		</a:t>
            </a:r>
            <a:r>
              <a:rPr lang="en-US" b="1">
                <a:solidFill>
                  <a:srgbClr val="0070C0"/>
                </a:solidFill>
              </a:rPr>
              <a:t>for</a:t>
            </a:r>
            <a:r>
              <a:rPr lang="en-US"/>
              <a:t> each child of node </a:t>
            </a:r>
            <a:r>
              <a:rPr lang="en-US" b="1">
                <a:solidFill>
                  <a:srgbClr val="0070C0"/>
                </a:solidFill>
              </a:rPr>
              <a:t>do</a:t>
            </a:r>
            <a:r>
              <a:rPr lang="en-US"/>
              <a:t>:  </a:t>
            </a:r>
            <a:br>
              <a:rPr lang="en-US"/>
            </a:br>
            <a:r>
              <a:rPr lang="en-US"/>
              <a:t>			val = minimax(child, depth-1, false)  </a:t>
            </a:r>
            <a:br>
              <a:rPr lang="en-US"/>
            </a:br>
            <a:r>
              <a:rPr lang="en-US"/>
              <a:t>			max_val = </a:t>
            </a:r>
            <a:r>
              <a:rPr lang="en-US" b="1">
                <a:solidFill>
                  <a:srgbClr val="0070C0"/>
                </a:solidFill>
              </a:rPr>
              <a:t>max</a:t>
            </a:r>
            <a:r>
              <a:rPr lang="en-US"/>
              <a:t>(max_val , val)   </a:t>
            </a:r>
            <a:br>
              <a:rPr lang="en-US"/>
            </a:br>
            <a:r>
              <a:rPr lang="en-US"/>
              <a:t>		</a:t>
            </a:r>
            <a:r>
              <a:rPr lang="en-US" b="1">
                <a:solidFill>
                  <a:srgbClr val="0070C0"/>
                </a:solidFill>
              </a:rPr>
              <a:t>return</a:t>
            </a:r>
            <a:r>
              <a:rPr lang="en-US"/>
              <a:t>  max_val  </a:t>
            </a:r>
            <a:br>
              <a:rPr lang="en-US"/>
            </a:br>
            <a:r>
              <a:rPr lang="en-US"/>
              <a:t>	</a:t>
            </a:r>
            <a:r>
              <a:rPr lang="en-US" b="1">
                <a:solidFill>
                  <a:srgbClr val="0070C0"/>
                </a:solidFill>
              </a:rPr>
              <a:t>else</a:t>
            </a:r>
            <a:r>
              <a:rPr lang="en-US" b="1"/>
              <a:t>:</a:t>
            </a:r>
            <a:r>
              <a:rPr lang="en-US" b="1">
                <a:solidFill>
                  <a:srgbClr val="0070C0"/>
                </a:solidFill>
              </a:rPr>
              <a:t> </a:t>
            </a:r>
            <a:r>
              <a:rPr lang="en-US">
                <a:solidFill>
                  <a:srgbClr val="00B050"/>
                </a:solidFill>
              </a:rPr>
              <a:t># for MIN player</a:t>
            </a:r>
            <a:r>
              <a:rPr lang="en-US"/>
              <a:t> </a:t>
            </a:r>
            <a:br>
              <a:rPr lang="en-US"/>
            </a:br>
            <a:r>
              <a:rPr lang="en-US"/>
              <a:t>		min_val = +∞</a:t>
            </a:r>
            <a:br>
              <a:rPr lang="en-US"/>
            </a:br>
            <a:r>
              <a:rPr lang="en-US"/>
              <a:t>		</a:t>
            </a:r>
            <a:r>
              <a:rPr lang="en-US" b="1">
                <a:solidFill>
                  <a:srgbClr val="0070C0"/>
                </a:solidFill>
              </a:rPr>
              <a:t>for</a:t>
            </a:r>
            <a:r>
              <a:rPr lang="en-US"/>
              <a:t> each child of node </a:t>
            </a:r>
            <a:r>
              <a:rPr lang="en-US" b="1">
                <a:solidFill>
                  <a:srgbClr val="0070C0"/>
                </a:solidFill>
              </a:rPr>
              <a:t>do</a:t>
            </a:r>
            <a:r>
              <a:rPr lang="en-US"/>
              <a:t>:  </a:t>
            </a:r>
            <a:br>
              <a:rPr lang="en-US"/>
            </a:br>
            <a:r>
              <a:rPr lang="en-US"/>
              <a:t>			val = minimax(child, depth-1, true)  </a:t>
            </a:r>
            <a:br>
              <a:rPr lang="en-US"/>
            </a:br>
            <a:r>
              <a:rPr lang="en-US"/>
              <a:t>			min_val = </a:t>
            </a:r>
            <a:r>
              <a:rPr lang="en-US" b="1">
                <a:solidFill>
                  <a:srgbClr val="0070C0"/>
                </a:solidFill>
              </a:rPr>
              <a:t>min</a:t>
            </a:r>
            <a:r>
              <a:rPr lang="en-US"/>
              <a:t>(min_val, val)            </a:t>
            </a:r>
            <a:br>
              <a:rPr lang="en-US"/>
            </a:br>
            <a:r>
              <a:rPr lang="en-US"/>
              <a:t>		</a:t>
            </a:r>
            <a:r>
              <a:rPr lang="en-US" b="1">
                <a:solidFill>
                  <a:srgbClr val="0070C0"/>
                </a:solidFill>
              </a:rPr>
              <a:t>return</a:t>
            </a:r>
            <a:r>
              <a:rPr lang="en-US"/>
              <a:t> min_val </a:t>
            </a:r>
          </a:p>
          <a:p>
            <a:pPr algn="l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/>
              <a:t>Initial call: </a:t>
            </a:r>
            <a:r>
              <a:rPr lang="en-US">
                <a:solidFill>
                  <a:srgbClr val="C00000"/>
                </a:solidFill>
              </a:rPr>
              <a:t>minimax(root, depth, true)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Minimax Algorithm</a:t>
            </a:r>
          </a:p>
        </p:txBody>
      </p:sp>
      <p:pic>
        <p:nvPicPr>
          <p:cNvPr id="8" name="Picture 2" descr="Mini-Max Algorithm in AI">
            <a:extLst>
              <a:ext uri="{FF2B5EF4-FFF2-40B4-BE49-F238E27FC236}">
                <a16:creationId xmlns:a16="http://schemas.microsoft.com/office/drawing/2014/main" id="{881BCB13-EED5-4D28-8DBD-27875AA49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982" y="2036763"/>
            <a:ext cx="4748294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75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31FFA64-D044-4AEE-8D44-0C08E1F2338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47" y="2122686"/>
            <a:ext cx="6313753" cy="4735314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2E48666-03E5-4982-A4CC-7E69DC5A0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2091"/>
            <a:ext cx="6314546" cy="4735909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3216053-49A6-4FBC-9EB6-AB6591AD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95BC3-EBC4-4775-84E5-7D859BC2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0E3E6-DFFC-42C8-A04D-7572A1B1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BA2E-6E07-411C-B6C0-6CEF9D8F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B51F45-9617-4B4C-849D-5013FE4D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Minimax Algorithm</a:t>
            </a:r>
          </a:p>
        </p:txBody>
      </p:sp>
    </p:spTree>
    <p:extLst>
      <p:ext uri="{BB962C8B-B14F-4D97-AF65-F5344CB8AC3E}">
        <p14:creationId xmlns:p14="http://schemas.microsoft.com/office/powerpoint/2010/main" val="271023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278E246-F7EA-4D90-9C8D-A7A5D18A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CD2EB8F-A477-45DA-8376-9C7A0537C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73" y="2254250"/>
            <a:ext cx="4766309" cy="381304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95BC3-EBC4-4775-84E5-7D859BC2D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0E3E6-DFFC-42C8-A04D-7572A1B1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8BA2E-6E07-411C-B6C0-6CEF9D8F9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6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B51F45-9617-4B4C-849D-5013FE4D27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Minimax Algorithm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14AF0FC-F62A-4FAF-8ACB-731FB9EBB57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619" y="2254250"/>
            <a:ext cx="4762500" cy="3810000"/>
          </a:xfrm>
        </p:spPr>
      </p:pic>
    </p:spTree>
    <p:extLst>
      <p:ext uri="{BB962C8B-B14F-4D97-AF65-F5344CB8AC3E}">
        <p14:creationId xmlns:p14="http://schemas.microsoft.com/office/powerpoint/2010/main" val="14041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D7BC-F89A-4F1A-B513-9D9AE391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Alpha-Beta Pruning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A2165-1341-4718-B8FA-5FE1D22D08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7FAEFD-3E99-4AB7-8FE7-29103F2EE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2997D3-43E1-4245-8FF4-5690BC9B2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is an optimization technique for the minimax algorithm.</a:t>
            </a:r>
          </a:p>
          <a:p>
            <a:r>
              <a:rPr lang="en-US"/>
              <a:t>It removes all the nodes which are not really affecting the final decision </a:t>
            </a:r>
            <a:r>
              <a:rPr lang="en-US">
                <a:sym typeface="Wingdings" panose="05000000000000000000" pitchFamily="2" charset="2"/>
              </a:rPr>
              <a:t></a:t>
            </a:r>
            <a:r>
              <a:rPr lang="en-US"/>
              <a:t> it makes the algorithm fast.</a:t>
            </a:r>
          </a:p>
          <a:p>
            <a:r>
              <a:rPr lang="en-US"/>
              <a:t>The two-parameter can be defined as:</a:t>
            </a:r>
          </a:p>
          <a:p>
            <a:pPr lvl="1"/>
            <a:r>
              <a:rPr lang="en-US" b="1"/>
              <a:t>Alpha:</a:t>
            </a:r>
            <a:r>
              <a:rPr lang="en-US"/>
              <a:t> The best (highest-value) choice we have found so far at any point along the path of </a:t>
            </a:r>
            <a:r>
              <a:rPr lang="en-US" b="1"/>
              <a:t>Maximizer</a:t>
            </a:r>
            <a:r>
              <a:rPr lang="en-US"/>
              <a:t>. The initial value of alpha is </a:t>
            </a:r>
            <a:r>
              <a:rPr lang="en-US" b="1"/>
              <a:t>-∞</a:t>
            </a:r>
            <a:r>
              <a:rPr lang="en-US"/>
              <a:t>.</a:t>
            </a:r>
          </a:p>
          <a:p>
            <a:pPr lvl="1"/>
            <a:r>
              <a:rPr lang="en-US" b="1"/>
              <a:t>Beta:</a:t>
            </a:r>
            <a:r>
              <a:rPr lang="en-US"/>
              <a:t> The best (lowest-value) choice we have found so far at any point along the path of </a:t>
            </a:r>
            <a:r>
              <a:rPr lang="en-US" b="1"/>
              <a:t>Minimizer</a:t>
            </a:r>
            <a:r>
              <a:rPr lang="en-US"/>
              <a:t>. The initial value of beta is </a:t>
            </a:r>
            <a:r>
              <a:rPr lang="en-US" b="1"/>
              <a:t>+∞</a:t>
            </a:r>
            <a:r>
              <a:rPr lang="en-US"/>
              <a:t>.</a:t>
            </a:r>
          </a:p>
          <a:p>
            <a:r>
              <a:rPr lang="en-US">
                <a:solidFill>
                  <a:srgbClr val="C00000"/>
                </a:solidFill>
              </a:rPr>
              <a:t>The main condition which required for alpha-beta pruning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r>
              <a:rPr lang="el-GR"/>
              <a:t>  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627CE7-3C3D-475C-A21F-AB27B70CB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</p:spTree>
    <p:extLst>
      <p:ext uri="{BB962C8B-B14F-4D97-AF65-F5344CB8AC3E}">
        <p14:creationId xmlns:p14="http://schemas.microsoft.com/office/powerpoint/2010/main" val="260027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 about Alpha-Beta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E2CE-A600-4163-9D92-8F033FCE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Max player will only update the value of alpha.</a:t>
            </a:r>
          </a:p>
          <a:p>
            <a:r>
              <a:rPr lang="en-US" dirty="0"/>
              <a:t>The Min player will only update the value of beta.</a:t>
            </a:r>
          </a:p>
          <a:p>
            <a:r>
              <a:rPr lang="en-US" dirty="0"/>
              <a:t>While backtracking the tree, the node values will be passed to upper nodes instead of values of alpha and beta.</a:t>
            </a:r>
          </a:p>
          <a:p>
            <a:r>
              <a:rPr lang="en-US" dirty="0"/>
              <a:t>The alpha &amp; beta will only be passed to the child nodes.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</p:spTree>
    <p:extLst>
      <p:ext uri="{BB962C8B-B14F-4D97-AF65-F5344CB8AC3E}">
        <p14:creationId xmlns:p14="http://schemas.microsoft.com/office/powerpoint/2010/main" val="307116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Alpha-Beta Pruning">
            <a:extLst>
              <a:ext uri="{FF2B5EF4-FFF2-40B4-BE49-F238E27FC236}">
                <a16:creationId xmlns:a16="http://schemas.microsoft.com/office/drawing/2014/main" id="{C03EEBB4-D6DB-4028-B9D2-3F2FEED2B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2987" y="2036764"/>
            <a:ext cx="4655288" cy="38827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Alpha-Beta Pruning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EE2CE-A600-4163-9D92-8F033FCE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b="1" dirty="0">
                <a:solidFill>
                  <a:srgbClr val="0070C0"/>
                </a:solidFill>
              </a:rPr>
              <a:t>function</a:t>
            </a:r>
            <a:r>
              <a:rPr lang="en-US" dirty="0"/>
              <a:t> </a:t>
            </a:r>
            <a:r>
              <a:rPr lang="en-US" dirty="0" err="1"/>
              <a:t>alpha_beta</a:t>
            </a:r>
            <a:r>
              <a:rPr lang="en-US" dirty="0"/>
              <a:t>(node, depth, alpha, beta, </a:t>
            </a:r>
            <a:r>
              <a:rPr lang="en-US" dirty="0" err="1"/>
              <a:t>max_player</a:t>
            </a:r>
            <a:r>
              <a:rPr lang="en-US" dirty="0"/>
              <a:t>): 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 depth == 0 </a:t>
            </a:r>
            <a:r>
              <a:rPr lang="en-US" b="1" dirty="0">
                <a:solidFill>
                  <a:srgbClr val="0070C0"/>
                </a:solidFill>
              </a:rPr>
              <a:t>or</a:t>
            </a:r>
            <a:r>
              <a:rPr lang="en-US" dirty="0"/>
              <a:t> node is a terminal node: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return</a:t>
            </a:r>
            <a:r>
              <a:rPr lang="en-US" dirty="0"/>
              <a:t> h(node)  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  </a:t>
            </a:r>
            <a:r>
              <a:rPr lang="en-US" dirty="0" err="1"/>
              <a:t>max_player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# for MAX player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max_val</a:t>
            </a:r>
            <a:r>
              <a:rPr lang="en-US" dirty="0"/>
              <a:t> = -∞            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for</a:t>
            </a:r>
            <a:r>
              <a:rPr lang="en-US" dirty="0"/>
              <a:t> each child of node </a:t>
            </a:r>
            <a:r>
              <a:rPr lang="en-US" b="1" dirty="0">
                <a:solidFill>
                  <a:srgbClr val="0070C0"/>
                </a:solidFill>
              </a:rPr>
              <a:t>do</a:t>
            </a:r>
            <a:r>
              <a:rPr lang="en-US" dirty="0"/>
              <a:t>: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val</a:t>
            </a:r>
            <a:r>
              <a:rPr lang="en-US" dirty="0"/>
              <a:t> =  </a:t>
            </a:r>
            <a:r>
              <a:rPr lang="en-US" dirty="0" err="1"/>
              <a:t>alpha_beta</a:t>
            </a:r>
            <a:r>
              <a:rPr lang="en-US" dirty="0"/>
              <a:t>(child, depth-1, alpha, beta, false)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max_val</a:t>
            </a:r>
            <a:r>
              <a:rPr lang="en-US" dirty="0"/>
              <a:t> = max(</a:t>
            </a:r>
            <a:r>
              <a:rPr lang="en-US" dirty="0" err="1"/>
              <a:t>max_val</a:t>
            </a:r>
            <a:r>
              <a:rPr lang="en-US" dirty="0"/>
              <a:t> , </a:t>
            </a:r>
            <a:r>
              <a:rPr lang="en-US" dirty="0" err="1"/>
              <a:t>val</a:t>
            </a:r>
            <a:r>
              <a:rPr lang="en-US" dirty="0"/>
              <a:t>)   </a:t>
            </a:r>
            <a:br>
              <a:rPr lang="en-US" dirty="0"/>
            </a:br>
            <a:r>
              <a:rPr lang="en-US" dirty="0"/>
              <a:t>			alpha = </a:t>
            </a:r>
            <a:r>
              <a:rPr lang="en-US" b="1" dirty="0">
                <a:solidFill>
                  <a:srgbClr val="0070C0"/>
                </a:solidFill>
              </a:rPr>
              <a:t>max</a:t>
            </a:r>
            <a:r>
              <a:rPr lang="en-US" dirty="0"/>
              <a:t>(alpha, </a:t>
            </a:r>
            <a:r>
              <a:rPr lang="en-US" dirty="0" err="1"/>
              <a:t>max_val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	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/>
              <a:t> alpha&gt;=beta: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return</a:t>
            </a:r>
            <a:r>
              <a:rPr lang="en-US" dirty="0"/>
              <a:t>  </a:t>
            </a:r>
            <a:r>
              <a:rPr lang="en-US" dirty="0" err="1"/>
              <a:t>max_val</a:t>
            </a:r>
            <a:r>
              <a:rPr lang="en-US" dirty="0"/>
              <a:t>  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else</a:t>
            </a:r>
            <a:r>
              <a:rPr lang="en-US" b="1" dirty="0"/>
              <a:t>: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# for MIN player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min_val</a:t>
            </a:r>
            <a:r>
              <a:rPr lang="en-US" dirty="0"/>
              <a:t> = +∞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for</a:t>
            </a:r>
            <a:r>
              <a:rPr lang="en-US" dirty="0"/>
              <a:t> each child of node </a:t>
            </a:r>
            <a:r>
              <a:rPr lang="en-US" b="1" dirty="0">
                <a:solidFill>
                  <a:srgbClr val="0070C0"/>
                </a:solidFill>
              </a:rPr>
              <a:t>do</a:t>
            </a:r>
            <a:r>
              <a:rPr lang="en-US" dirty="0"/>
              <a:t>: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val</a:t>
            </a:r>
            <a:r>
              <a:rPr lang="en-US" dirty="0"/>
              <a:t> =  </a:t>
            </a:r>
            <a:r>
              <a:rPr lang="en-US" dirty="0" err="1"/>
              <a:t>alpha_beta</a:t>
            </a:r>
            <a:r>
              <a:rPr lang="en-US" dirty="0"/>
              <a:t>(child, depth-1, alpha, beta, true)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min_val</a:t>
            </a:r>
            <a:r>
              <a:rPr lang="en-US" dirty="0"/>
              <a:t> = </a:t>
            </a:r>
            <a:r>
              <a:rPr lang="en-US" b="1" dirty="0">
                <a:solidFill>
                  <a:srgbClr val="0070C0"/>
                </a:solidFill>
              </a:rPr>
              <a:t>min</a:t>
            </a:r>
            <a:r>
              <a:rPr lang="en-US" dirty="0"/>
              <a:t>(</a:t>
            </a:r>
            <a:r>
              <a:rPr lang="en-US" dirty="0" err="1"/>
              <a:t>min_val</a:t>
            </a:r>
            <a:r>
              <a:rPr lang="en-US" dirty="0"/>
              <a:t>, </a:t>
            </a:r>
            <a:r>
              <a:rPr lang="en-US" dirty="0" err="1"/>
              <a:t>val</a:t>
            </a:r>
            <a:r>
              <a:rPr lang="en-US" dirty="0"/>
              <a:t>)   </a:t>
            </a:r>
            <a:br>
              <a:rPr lang="en-US" dirty="0"/>
            </a:br>
            <a:r>
              <a:rPr lang="en-US" dirty="0"/>
              <a:t>			beta = min(beta, </a:t>
            </a:r>
            <a:r>
              <a:rPr lang="en-US" dirty="0" err="1"/>
              <a:t>min_val</a:t>
            </a:r>
            <a:r>
              <a:rPr lang="en-US" dirty="0"/>
              <a:t>)  </a:t>
            </a:r>
            <a:br>
              <a:rPr lang="en-US" dirty="0"/>
            </a:br>
            <a:r>
              <a:rPr lang="en-US" dirty="0"/>
              <a:t>		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/>
              <a:t> alpha&gt;=beta: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r>
              <a:rPr lang="en-US" dirty="0"/>
              <a:t>          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return</a:t>
            </a:r>
            <a:r>
              <a:rPr lang="en-US" dirty="0"/>
              <a:t> </a:t>
            </a:r>
            <a:r>
              <a:rPr lang="en-US" dirty="0" err="1"/>
              <a:t>min_val</a:t>
            </a:r>
            <a:r>
              <a:rPr lang="en-US" dirty="0"/>
              <a:t> </a:t>
            </a:r>
          </a:p>
          <a:p>
            <a:pPr algn="l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dirty="0"/>
              <a:t>Initial call: </a:t>
            </a:r>
            <a:r>
              <a:rPr lang="en-US" dirty="0" err="1">
                <a:solidFill>
                  <a:srgbClr val="C00000"/>
                </a:solidFill>
              </a:rPr>
              <a:t>alpha_beta</a:t>
            </a:r>
            <a:r>
              <a:rPr lang="en-US" dirty="0">
                <a:solidFill>
                  <a:srgbClr val="C00000"/>
                </a:solidFill>
              </a:rPr>
              <a:t>(root, depth, -∞, +∞, true)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87166A-1B1B-41DE-95E2-FA5460709D83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2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464EB6-3383-446B-BD1D-1785009E4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Max player will start first move from node A where α=-∞, β=+∞</a:t>
            </a:r>
          </a:p>
          <a:p>
            <a:r>
              <a:rPr lang="en-US"/>
              <a:t>Node A passes down α=-∞, β=+∞ to node B </a:t>
            </a:r>
          </a:p>
          <a:p>
            <a:r>
              <a:rPr lang="en-US"/>
              <a:t>Node B passes down the same values to its child 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4098" name="Picture 2" descr="Alpha-Beta Pruning">
            <a:extLst>
              <a:ext uri="{FF2B5EF4-FFF2-40B4-BE49-F238E27FC236}">
                <a16:creationId xmlns:a16="http://schemas.microsoft.com/office/drawing/2014/main" id="{7AA3CC56-3BC6-4B48-8806-14BBCCBF45BB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8722" y="2036763"/>
            <a:ext cx="5089554" cy="4244975"/>
          </a:xfr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8B3E5D-A0F9-4341-8C19-A2622F53067B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40FE54-95C3-48FB-AD35-44D35FD36F61}"/>
              </a:ext>
            </a:extLst>
          </p:cNvPr>
          <p:cNvSpPr/>
          <p:nvPr/>
        </p:nvSpPr>
        <p:spPr bwMode="auto">
          <a:xfrm>
            <a:off x="6608722" y="3784599"/>
            <a:ext cx="802640" cy="595468"/>
          </a:xfrm>
          <a:prstGeom prst="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6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=-</a:t>
            </a:r>
          </a:p>
          <a:p>
            <a:r>
              <a:rPr lang="en-US" sz="16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=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579EC-788B-41D5-900A-32AF679BB4EB}"/>
              </a:ext>
            </a:extLst>
          </p:cNvPr>
          <p:cNvSpPr/>
          <p:nvPr/>
        </p:nvSpPr>
        <p:spPr bwMode="auto">
          <a:xfrm>
            <a:off x="6132501" y="4546562"/>
            <a:ext cx="802640" cy="595468"/>
          </a:xfrm>
          <a:prstGeom prst="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6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=-</a:t>
            </a:r>
          </a:p>
          <a:p>
            <a:r>
              <a:rPr lang="en-US" sz="16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=</a:t>
            </a:r>
          </a:p>
        </p:txBody>
      </p:sp>
    </p:spTree>
    <p:extLst>
      <p:ext uri="{BB962C8B-B14F-4D97-AF65-F5344CB8AC3E}">
        <p14:creationId xmlns:p14="http://schemas.microsoft.com/office/powerpoint/2010/main" val="153927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2">
            <a:extLst>
              <a:ext uri="{FF2B5EF4-FFF2-40B4-BE49-F238E27FC236}">
                <a16:creationId xmlns:a16="http://schemas.microsoft.com/office/drawing/2014/main" id="{A77C6575-A3D1-4572-929B-13A7F0D45E68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440" y="2037526"/>
            <a:ext cx="5126036" cy="424281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464EB6-3383-446B-BD1D-1785009E4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6713728" cy="4244404"/>
          </a:xfrm>
        </p:spPr>
        <p:txBody>
          <a:bodyPr>
            <a:normAutofit/>
          </a:bodyPr>
          <a:lstStyle/>
          <a:p>
            <a:r>
              <a:rPr lang="en-US"/>
              <a:t>At Node D, α will be calculated for Max</a:t>
            </a:r>
          </a:p>
          <a:p>
            <a:r>
              <a:rPr lang="en-US"/>
              <a:t>α = max(α, 2) = max(-∞, 2) = 2</a:t>
            </a:r>
          </a:p>
          <a:p>
            <a:r>
              <a:rPr lang="en-US"/>
              <a:t>α = max(α, 3) = max(2, 3) = 3</a:t>
            </a:r>
          </a:p>
          <a:p>
            <a:r>
              <a:rPr lang="en-US"/>
              <a:t>Now α=3, β=∞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414524-8639-4C41-BA69-E59D1D4335DB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ABA4A5-4A54-468F-9140-B539C178F076}"/>
              </a:ext>
            </a:extLst>
          </p:cNvPr>
          <p:cNvSpPr/>
          <p:nvPr/>
        </p:nvSpPr>
        <p:spPr bwMode="auto">
          <a:xfrm>
            <a:off x="6710322" y="3640133"/>
            <a:ext cx="802640" cy="595468"/>
          </a:xfrm>
          <a:prstGeom prst="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6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=-</a:t>
            </a:r>
          </a:p>
          <a:p>
            <a:r>
              <a:rPr lang="en-US" sz="16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=</a:t>
            </a:r>
          </a:p>
        </p:txBody>
      </p:sp>
    </p:spTree>
    <p:extLst>
      <p:ext uri="{BB962C8B-B14F-4D97-AF65-F5344CB8AC3E}">
        <p14:creationId xmlns:p14="http://schemas.microsoft.com/office/powerpoint/2010/main" val="241940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3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464EB6-3383-446B-BD1D-1785009E4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758688" cy="4244404"/>
          </a:xfrm>
        </p:spPr>
        <p:txBody>
          <a:bodyPr>
            <a:normAutofit/>
          </a:bodyPr>
          <a:lstStyle/>
          <a:p>
            <a:r>
              <a:rPr lang="en-US" dirty="0"/>
              <a:t>At node B, β will be calculated for Min </a:t>
            </a:r>
          </a:p>
          <a:p>
            <a:pPr algn="l"/>
            <a:r>
              <a:rPr lang="en-US" dirty="0"/>
              <a:t>β = min(β, 3) = min(+∞, 3) = 3</a:t>
            </a:r>
          </a:p>
          <a:p>
            <a:pPr algn="l"/>
            <a:r>
              <a:rPr lang="en-US" dirty="0"/>
              <a:t>Now α=-∞, β=3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5122" name="Picture 2" descr="Alpha-Beta Pruning">
            <a:extLst>
              <a:ext uri="{FF2B5EF4-FFF2-40B4-BE49-F238E27FC236}">
                <a16:creationId xmlns:a16="http://schemas.microsoft.com/office/drawing/2014/main" id="{3AE48FFA-F3A3-4A20-AB0A-3DE76D48EFD0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775" y="2036763"/>
            <a:ext cx="5091501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EFADED-FD02-47FF-9258-6591DC8A6D9A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8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4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D9A306-E304-4A59-97BF-5F0DA085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At node E, α will be calculated for Max</a:t>
            </a:r>
          </a:p>
          <a:p>
            <a:r>
              <a:rPr lang="en-US"/>
              <a:t>α=-∞, β=3</a:t>
            </a:r>
          </a:p>
          <a:p>
            <a:r>
              <a:rPr lang="en-US"/>
              <a:t>α = max(α, 5) = max(-∞, 5) = 5</a:t>
            </a:r>
          </a:p>
          <a:p>
            <a:r>
              <a:rPr lang="en-US"/>
              <a:t>Because α&gt;=β, so the right successor of E will be pruned, and algorithm will not traverse it, and the value at node E will be 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7170" name="Picture 2" descr="Alpha-Beta Pruning">
            <a:extLst>
              <a:ext uri="{FF2B5EF4-FFF2-40B4-BE49-F238E27FC236}">
                <a16:creationId xmlns:a16="http://schemas.microsoft.com/office/drawing/2014/main" id="{F4874C7E-686E-4172-B40B-3AA2B45F9156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722" y="2036763"/>
            <a:ext cx="5089554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CFF117-B525-45D2-A70B-90EDE6D33047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20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5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D9A306-E304-4A59-97BF-5F0DA085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Algorithm again backtrack the tree, from node B to node A. </a:t>
            </a:r>
          </a:p>
          <a:p>
            <a:r>
              <a:rPr lang="en-US"/>
              <a:t>At node A, α will be calculated for Max</a:t>
            </a:r>
          </a:p>
          <a:p>
            <a:r>
              <a:rPr lang="en-US"/>
              <a:t>α = max(α, 3) = max(-∞, 3) = 3</a:t>
            </a:r>
          </a:p>
          <a:p>
            <a:r>
              <a:rPr lang="en-US"/>
              <a:t>β = +∞</a:t>
            </a:r>
          </a:p>
          <a:p>
            <a:r>
              <a:rPr lang="en-US"/>
              <a:t>α, β are passed to right successor of A which is Node C</a:t>
            </a:r>
          </a:p>
          <a:p>
            <a:r>
              <a:rPr lang="en-US"/>
              <a:t>At node C, α = 3 and β = +∞, and the same values will be passed on to node 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2B1478-8367-49AA-8D2B-B2F0D714115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501" y="1891325"/>
            <a:ext cx="5499741" cy="4390605"/>
          </a:xfr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0C2583-8445-4DC1-BA24-1B02ED93F605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9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6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D9A306-E304-4A59-97BF-5F0DA085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At node F, again α will be compared with left child which is 0, and max(3,0) = 3, and then compared with right child which is 1, and max(3,1)= 3 still α remains 3, but the node value of F will become 1.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8194" name="Picture 2" descr="Alpha-Beta Pruning">
            <a:extLst>
              <a:ext uri="{FF2B5EF4-FFF2-40B4-BE49-F238E27FC236}">
                <a16:creationId xmlns:a16="http://schemas.microsoft.com/office/drawing/2014/main" id="{73D52626-A853-49E7-A509-72181164E38F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722" y="2036763"/>
            <a:ext cx="5089554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EF91BD-11D6-49CA-B6B7-430772D67036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1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7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D9A306-E304-4A59-97BF-5F0DA085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Node F returns the node value 1 to node C</a:t>
            </a:r>
          </a:p>
          <a:p>
            <a:r>
              <a:rPr lang="en-US"/>
              <a:t>At C, α = 3 and β = +∞, here β will be changed.</a:t>
            </a:r>
          </a:p>
          <a:p>
            <a:r>
              <a:rPr lang="en-US"/>
              <a:t>β = min(β, 1) = min(+∞, 1) = 1</a:t>
            </a:r>
            <a:endParaRPr lang="en-US" b="1"/>
          </a:p>
          <a:p>
            <a:r>
              <a:rPr lang="en-US"/>
              <a:t>Now at C, α =3 and β = 1, satisfies the condition α&gt;=β, so the next child of C which is G will be pruned, and the algorithm will not compute the entire sub-tree 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218" name="Picture 2" descr="Alpha-Beta Pruning">
            <a:extLst>
              <a:ext uri="{FF2B5EF4-FFF2-40B4-BE49-F238E27FC236}">
                <a16:creationId xmlns:a16="http://schemas.microsoft.com/office/drawing/2014/main" id="{B1D394AB-0676-4AA6-A087-2FE980960994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722" y="2036763"/>
            <a:ext cx="5089554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A6A785-6864-45EC-9B8D-A1F5EB221A95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3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590E-2B2D-4828-97CE-F37CB150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– Step 8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D9A306-E304-4A59-97BF-5F0DA085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C now returns the value of 1 to A here the best value for A is max (3, 1) = 3. </a:t>
            </a:r>
          </a:p>
          <a:p>
            <a:r>
              <a:rPr lang="en-US"/>
              <a:t>The final game tree which is the showing the nodes which are computed and nodes which has never computed. </a:t>
            </a:r>
          </a:p>
          <a:p>
            <a:r>
              <a:rPr lang="en-US"/>
              <a:t>Hence the optimal value for the maximizer is 3 for this example.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BF72F-006E-4F5B-AE5C-B59C9CF8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357AD-D8D7-4DCE-9A91-B7F1AE8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9AC1D-D83D-4CED-A32C-D52D692521DC}" type="datetime1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10B23-AA1C-4FFE-8283-B24F08FEC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3F79D6-3499-4B8D-983C-75C62D9125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11266" name="Picture 2" descr="Alpha-Beta Pruning">
            <a:extLst>
              <a:ext uri="{FF2B5EF4-FFF2-40B4-BE49-F238E27FC236}">
                <a16:creationId xmlns:a16="http://schemas.microsoft.com/office/drawing/2014/main" id="{14017208-6683-4A3A-B7B9-F27431E85AE1}"/>
              </a:ext>
            </a:extLst>
          </p:cNvPr>
          <p:cNvPicPr>
            <a:picLocks noGrp="1" noChangeAspect="1" noChangeArrowheads="1"/>
          </p:cNvPicPr>
          <p:nvPr>
            <p:ph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722" y="2036763"/>
            <a:ext cx="5089554" cy="424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9418C0-8F0E-40F5-8FB3-C2144374594C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9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19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E806B60-5103-4C82-AEE6-FFAA4115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10972800" cy="4244404"/>
          </a:xfrm>
        </p:spPr>
        <p:txBody>
          <a:bodyPr>
            <a:normAutofit fontScale="55000" lnSpcReduction="20000"/>
          </a:bodyPr>
          <a:lstStyle/>
          <a:p>
            <a:pPr marL="0" indent="0" algn="l">
              <a:buNone/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b="1" dirty="0">
                <a:solidFill>
                  <a:srgbClr val="0070C0"/>
                </a:solidFill>
              </a:rPr>
              <a:t>function</a:t>
            </a:r>
            <a:r>
              <a:rPr lang="en-US" dirty="0"/>
              <a:t> </a:t>
            </a:r>
            <a:r>
              <a:rPr lang="en-US" dirty="0" err="1"/>
              <a:t>alpha_beta</a:t>
            </a:r>
            <a:r>
              <a:rPr lang="en-US" dirty="0"/>
              <a:t>(node, depth, alpha, beta, </a:t>
            </a:r>
            <a:r>
              <a:rPr lang="en-US" dirty="0" err="1"/>
              <a:t>max_player</a:t>
            </a:r>
            <a:r>
              <a:rPr lang="en-US" dirty="0"/>
              <a:t>): 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 depth == 0 </a:t>
            </a:r>
            <a:r>
              <a:rPr lang="en-US" b="1" dirty="0">
                <a:solidFill>
                  <a:srgbClr val="0070C0"/>
                </a:solidFill>
              </a:rPr>
              <a:t>or</a:t>
            </a:r>
            <a:r>
              <a:rPr lang="en-US" dirty="0"/>
              <a:t> node is a terminal node: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return</a:t>
            </a:r>
            <a:r>
              <a:rPr lang="en-US" dirty="0"/>
              <a:t> h(node)  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 dirty="0"/>
              <a:t>  </a:t>
            </a:r>
            <a:r>
              <a:rPr lang="en-US" dirty="0" err="1"/>
              <a:t>max_player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# for MAX player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max_val</a:t>
            </a:r>
            <a:r>
              <a:rPr lang="en-US" dirty="0"/>
              <a:t> = -∞            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for</a:t>
            </a:r>
            <a:r>
              <a:rPr lang="en-US" dirty="0"/>
              <a:t> each child of node </a:t>
            </a:r>
            <a:r>
              <a:rPr lang="en-US" b="1" dirty="0">
                <a:solidFill>
                  <a:srgbClr val="0070C0"/>
                </a:solidFill>
              </a:rPr>
              <a:t>do</a:t>
            </a:r>
            <a:r>
              <a:rPr lang="en-US" dirty="0"/>
              <a:t>: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val</a:t>
            </a:r>
            <a:r>
              <a:rPr lang="en-US" dirty="0"/>
              <a:t> =  </a:t>
            </a:r>
            <a:r>
              <a:rPr lang="en-US" dirty="0" err="1"/>
              <a:t>alpha_beta</a:t>
            </a:r>
            <a:r>
              <a:rPr lang="en-US" dirty="0"/>
              <a:t>(child, depth-1, alpha, beta, false)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max_val</a:t>
            </a:r>
            <a:r>
              <a:rPr lang="en-US" dirty="0"/>
              <a:t> = max(</a:t>
            </a:r>
            <a:r>
              <a:rPr lang="en-US" dirty="0" err="1"/>
              <a:t>max_val</a:t>
            </a:r>
            <a:r>
              <a:rPr lang="en-US" dirty="0"/>
              <a:t> , </a:t>
            </a:r>
            <a:r>
              <a:rPr lang="en-US" dirty="0" err="1"/>
              <a:t>val</a:t>
            </a:r>
            <a:r>
              <a:rPr lang="en-US" dirty="0"/>
              <a:t>)   </a:t>
            </a:r>
            <a:br>
              <a:rPr lang="en-US" dirty="0"/>
            </a:br>
            <a:r>
              <a:rPr lang="en-US" dirty="0"/>
              <a:t>			alpha = </a:t>
            </a:r>
            <a:r>
              <a:rPr lang="en-US" b="1" dirty="0">
                <a:solidFill>
                  <a:srgbClr val="0070C0"/>
                </a:solidFill>
              </a:rPr>
              <a:t>max</a:t>
            </a:r>
            <a:r>
              <a:rPr lang="en-US" dirty="0"/>
              <a:t>(alpha, </a:t>
            </a:r>
            <a:r>
              <a:rPr lang="en-US" dirty="0" err="1"/>
              <a:t>max_val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		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/>
              <a:t> alpha&gt;=beta: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return</a:t>
            </a:r>
            <a:r>
              <a:rPr lang="en-US" dirty="0"/>
              <a:t>  </a:t>
            </a:r>
            <a:r>
              <a:rPr lang="en-US" dirty="0" err="1"/>
              <a:t>max_val</a:t>
            </a:r>
            <a:r>
              <a:rPr lang="en-US" dirty="0"/>
              <a:t>  </a:t>
            </a:r>
            <a:br>
              <a:rPr lang="en-US" dirty="0"/>
            </a:br>
            <a:r>
              <a:rPr lang="en-US" dirty="0"/>
              <a:t>	</a:t>
            </a:r>
            <a:r>
              <a:rPr lang="en-US" b="1" dirty="0">
                <a:solidFill>
                  <a:srgbClr val="0070C0"/>
                </a:solidFill>
              </a:rPr>
              <a:t>else</a:t>
            </a:r>
            <a:r>
              <a:rPr lang="en-US" b="1" dirty="0"/>
              <a:t>: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# for MIN player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min_val</a:t>
            </a:r>
            <a:r>
              <a:rPr lang="en-US" dirty="0"/>
              <a:t> = +∞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for</a:t>
            </a:r>
            <a:r>
              <a:rPr lang="en-US" dirty="0"/>
              <a:t> each child of node </a:t>
            </a:r>
            <a:r>
              <a:rPr lang="en-US" b="1" dirty="0">
                <a:solidFill>
                  <a:srgbClr val="0070C0"/>
                </a:solidFill>
              </a:rPr>
              <a:t>do</a:t>
            </a:r>
            <a:r>
              <a:rPr lang="en-US" dirty="0"/>
              <a:t>: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val</a:t>
            </a:r>
            <a:r>
              <a:rPr lang="en-US" dirty="0"/>
              <a:t> =  </a:t>
            </a:r>
            <a:r>
              <a:rPr lang="en-US" dirty="0" err="1"/>
              <a:t>alpha_beta</a:t>
            </a:r>
            <a:r>
              <a:rPr lang="en-US" dirty="0"/>
              <a:t>(child, depth-1, alpha, beta, true)  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min_val</a:t>
            </a:r>
            <a:r>
              <a:rPr lang="en-US" dirty="0"/>
              <a:t> = </a:t>
            </a:r>
            <a:r>
              <a:rPr lang="en-US" b="1" dirty="0">
                <a:solidFill>
                  <a:srgbClr val="0070C0"/>
                </a:solidFill>
              </a:rPr>
              <a:t>min</a:t>
            </a:r>
            <a:r>
              <a:rPr lang="en-US" dirty="0"/>
              <a:t>(</a:t>
            </a:r>
            <a:r>
              <a:rPr lang="en-US" dirty="0" err="1"/>
              <a:t>min_val</a:t>
            </a:r>
            <a:r>
              <a:rPr lang="en-US" dirty="0"/>
              <a:t>, </a:t>
            </a:r>
            <a:r>
              <a:rPr lang="en-US" dirty="0" err="1"/>
              <a:t>val</a:t>
            </a:r>
            <a:r>
              <a:rPr lang="en-US" dirty="0"/>
              <a:t>)   </a:t>
            </a:r>
            <a:br>
              <a:rPr lang="en-US" dirty="0"/>
            </a:br>
            <a:r>
              <a:rPr lang="en-US" dirty="0"/>
              <a:t>			beta = min(beta, </a:t>
            </a:r>
            <a:r>
              <a:rPr lang="en-US" dirty="0" err="1"/>
              <a:t>min_val</a:t>
            </a:r>
            <a:r>
              <a:rPr lang="en-US" dirty="0"/>
              <a:t>)  </a:t>
            </a:r>
            <a:br>
              <a:rPr lang="en-US" dirty="0"/>
            </a:br>
            <a:r>
              <a:rPr lang="en-US" dirty="0"/>
              <a:t>			</a:t>
            </a:r>
            <a:r>
              <a:rPr lang="en-US" b="1" dirty="0">
                <a:solidFill>
                  <a:srgbClr val="0070C0"/>
                </a:solidFill>
              </a:rPr>
              <a:t>if</a:t>
            </a:r>
            <a:r>
              <a:rPr lang="en-US"/>
              <a:t> alpha&gt;=beta: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r>
              <a:rPr lang="en-US" dirty="0"/>
              <a:t>          </a:t>
            </a:r>
            <a:br>
              <a:rPr lang="en-US" dirty="0"/>
            </a:b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return</a:t>
            </a:r>
            <a:r>
              <a:rPr lang="en-US" dirty="0"/>
              <a:t> </a:t>
            </a:r>
            <a:r>
              <a:rPr lang="en-US" dirty="0" err="1"/>
              <a:t>min_val</a:t>
            </a:r>
            <a:r>
              <a:rPr lang="en-US" dirty="0"/>
              <a:t> </a:t>
            </a:r>
          </a:p>
          <a:p>
            <a:pPr algn="l">
              <a:tabLst>
                <a:tab pos="457200" algn="l"/>
                <a:tab pos="914400" algn="l"/>
                <a:tab pos="1371600" algn="l"/>
                <a:tab pos="1828800" algn="l"/>
              </a:tabLst>
            </a:pPr>
            <a:r>
              <a:rPr lang="en-US" dirty="0"/>
              <a:t>Initial call: </a:t>
            </a:r>
            <a:r>
              <a:rPr lang="en-US" dirty="0" err="1">
                <a:solidFill>
                  <a:srgbClr val="C00000"/>
                </a:solidFill>
              </a:rPr>
              <a:t>alpha_beta</a:t>
            </a:r>
            <a:r>
              <a:rPr lang="en-US" dirty="0">
                <a:solidFill>
                  <a:srgbClr val="C00000"/>
                </a:solidFill>
              </a:rPr>
              <a:t>(root, depth, -∞, +∞, true)</a:t>
            </a:r>
          </a:p>
        </p:txBody>
      </p:sp>
      <p:pic>
        <p:nvPicPr>
          <p:cNvPr id="25" name="Picture 4" descr="Alpha Beta Pruning">
            <a:extLst>
              <a:ext uri="{FF2B5EF4-FFF2-40B4-BE49-F238E27FC236}">
                <a16:creationId xmlns:a16="http://schemas.microsoft.com/office/drawing/2014/main" id="{E1D916A3-900E-4CC5-843C-A11195A86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EBA3D3E-0FCA-47DF-8240-FD24B4BB1E16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4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20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-</a:t>
            </a:r>
            <a:r>
              <a:rPr lang="en-US" sz="1400"/>
              <a:t> ∞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+</a:t>
            </a:r>
            <a:r>
              <a:rPr lang="en-US" sz="140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-</a:t>
            </a:r>
            <a:r>
              <a:rPr lang="en-US" sz="1400"/>
              <a:t> ∞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Max player will start first move from node A where α=-∞, β=+∞</a:t>
            </a:r>
          </a:p>
          <a:p>
            <a:r>
              <a:rPr lang="en-US"/>
              <a:t>Node A passes down α=-∞, β=+∞ to node B </a:t>
            </a:r>
          </a:p>
          <a:p>
            <a:r>
              <a:rPr lang="en-US"/>
              <a:t>Node B passes down the same values to its child D</a:t>
            </a:r>
          </a:p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50253D-A556-4D97-AA8F-ADAA44C00A26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1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21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-</a:t>
            </a:r>
            <a:r>
              <a:rPr lang="en-US" sz="1400"/>
              <a:t> ∞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+</a:t>
            </a:r>
            <a:r>
              <a:rPr lang="en-US" sz="140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244404"/>
          </a:xfrm>
        </p:spPr>
        <p:txBody>
          <a:bodyPr/>
          <a:lstStyle/>
          <a:p>
            <a:r>
              <a:rPr lang="en-US"/>
              <a:t>At Node D, α will be calculated for Max</a:t>
            </a:r>
          </a:p>
          <a:p>
            <a:r>
              <a:rPr lang="en-US"/>
              <a:t>α = max(α, 3) = max(-∞, 3) = 3</a:t>
            </a:r>
          </a:p>
          <a:p>
            <a:r>
              <a:rPr lang="en-US"/>
              <a:t>α = max(α, 5) = max(3, 5) = 5</a:t>
            </a:r>
          </a:p>
          <a:p>
            <a:r>
              <a:rPr lang="en-US"/>
              <a:t>Now α=5, β=∞</a:t>
            </a:r>
          </a:p>
          <a:p>
            <a:endParaRPr lang="en-US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873278" y="437538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84C601-DF0C-43C5-AE68-8683C4522A40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3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-</a:t>
            </a:r>
            <a:r>
              <a:rPr lang="en-US" sz="1400"/>
              <a:t> ∞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244404"/>
          </a:xfrm>
        </p:spPr>
        <p:txBody>
          <a:bodyPr/>
          <a:lstStyle/>
          <a:p>
            <a:r>
              <a:rPr lang="en-US"/>
              <a:t>At node B, β will be calculated for Min </a:t>
            </a:r>
          </a:p>
          <a:p>
            <a:pPr algn="l"/>
            <a:r>
              <a:rPr lang="en-US"/>
              <a:t>β = min(β, 5) = min(+∞, 5) = 5</a:t>
            </a:r>
          </a:p>
          <a:p>
            <a:pPr algn="l"/>
            <a:r>
              <a:rPr lang="en-US"/>
              <a:t>Now α=-∞, β=5</a:t>
            </a:r>
            <a:endParaRPr lang="en-US" dirty="0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873278" y="437538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509202" y="370020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C600E4-3561-4DC0-B966-348887030B8F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0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23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-</a:t>
            </a:r>
            <a:r>
              <a:rPr lang="en-US" sz="1400"/>
              <a:t> ∞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244404"/>
          </a:xfrm>
        </p:spPr>
        <p:txBody>
          <a:bodyPr/>
          <a:lstStyle/>
          <a:p>
            <a:r>
              <a:rPr lang="en-US"/>
              <a:t>At node E, α will be calculated for Max</a:t>
            </a:r>
          </a:p>
          <a:p>
            <a:r>
              <a:rPr lang="en-US"/>
              <a:t>Currently α=-∞, β=5</a:t>
            </a:r>
          </a:p>
          <a:p>
            <a:r>
              <a:rPr lang="en-US"/>
              <a:t>α = max(α, 6) = max(-∞, 6) = 6</a:t>
            </a:r>
          </a:p>
          <a:p>
            <a:r>
              <a:rPr lang="en-US"/>
              <a:t>Because α&gt;=β, so the right successor of E will be pruned, and algorithm will not traverse it, and the value at node E will be 6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2">
            <a:extLst>
              <a:ext uri="{FF2B5EF4-FFF2-40B4-BE49-F238E27FC236}">
                <a16:creationId xmlns:a16="http://schemas.microsoft.com/office/drawing/2014/main" id="{0F72D2BF-5099-4E25-8D27-A297F7ADD1E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09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160074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Algorithm again backtrack the tree, from node B to node A. </a:t>
            </a:r>
          </a:p>
          <a:p>
            <a:r>
              <a:rPr lang="en-US"/>
              <a:t>At node A, α will be calculated for Max</a:t>
            </a:r>
          </a:p>
          <a:p>
            <a:r>
              <a:rPr lang="en-US"/>
              <a:t>α = max(α, 5) = max(-∞, 5) = 5</a:t>
            </a:r>
          </a:p>
          <a:p>
            <a:r>
              <a:rPr lang="en-US"/>
              <a:t>β = +∞</a:t>
            </a:r>
          </a:p>
          <a:p>
            <a:r>
              <a:rPr lang="en-US"/>
              <a:t>α, β are passed to right successor of A which is Node C</a:t>
            </a:r>
          </a:p>
          <a:p>
            <a:r>
              <a:rPr lang="en-US"/>
              <a:t>At node C, α = 5 and β = +∞, and the same values will be passed on to node F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D250AFF-8841-4B76-8AF8-DA8A94BF6F97}"/>
              </a:ext>
            </a:extLst>
          </p:cNvPr>
          <p:cNvSpPr/>
          <p:nvPr/>
        </p:nvSpPr>
        <p:spPr bwMode="auto">
          <a:xfrm>
            <a:off x="9419445" y="336937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4DECF6-600F-4F22-8C2D-4133749BF785}"/>
              </a:ext>
            </a:extLst>
          </p:cNvPr>
          <p:cNvSpPr/>
          <p:nvPr/>
        </p:nvSpPr>
        <p:spPr bwMode="auto">
          <a:xfrm>
            <a:off x="10344225" y="3126353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ED15103D-57B8-4686-B463-682087F67FC7}"/>
              </a:ext>
            </a:extLst>
          </p:cNvPr>
          <p:cNvSpPr/>
          <p:nvPr/>
        </p:nvSpPr>
        <p:spPr bwMode="auto">
          <a:xfrm>
            <a:off x="9667340" y="3699896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8CFE165-B5C0-4EE0-A4C4-B3CDAD94A51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5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160074"/>
          </a:xfrm>
        </p:spPr>
        <p:txBody>
          <a:bodyPr>
            <a:normAutofit/>
          </a:bodyPr>
          <a:lstStyle/>
          <a:p>
            <a:r>
              <a:rPr lang="en-US"/>
              <a:t>At F, again α will be compared with left child which is 1, and max(5,1) = 5, and then compared with right child which is 2, and max(5,2)= 5 still α remains 5, but the node value of F will become 2.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D250AFF-8841-4B76-8AF8-DA8A94BF6F97}"/>
              </a:ext>
            </a:extLst>
          </p:cNvPr>
          <p:cNvSpPr/>
          <p:nvPr/>
        </p:nvSpPr>
        <p:spPr bwMode="auto">
          <a:xfrm>
            <a:off x="9419445" y="336937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4DECF6-600F-4F22-8C2D-4133749BF785}"/>
              </a:ext>
            </a:extLst>
          </p:cNvPr>
          <p:cNvSpPr/>
          <p:nvPr/>
        </p:nvSpPr>
        <p:spPr bwMode="auto">
          <a:xfrm>
            <a:off x="10344225" y="3126353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ED15103D-57B8-4686-B463-682087F67FC7}"/>
              </a:ext>
            </a:extLst>
          </p:cNvPr>
          <p:cNvSpPr/>
          <p:nvPr/>
        </p:nvSpPr>
        <p:spPr bwMode="auto">
          <a:xfrm>
            <a:off x="9667340" y="3699896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8CFE165-B5C0-4EE0-A4C4-B3CDAD94A51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E959B6E2-EB59-4BE5-9DDF-91FD017C3BE1}"/>
              </a:ext>
            </a:extLst>
          </p:cNvPr>
          <p:cNvSpPr/>
          <p:nvPr/>
        </p:nvSpPr>
        <p:spPr bwMode="auto">
          <a:xfrm>
            <a:off x="10055369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51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26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160074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Node F returns the node value 2 to node C</a:t>
            </a:r>
          </a:p>
          <a:p>
            <a:r>
              <a:rPr lang="en-US"/>
              <a:t>At C, α = 5 and β = +∞, here β will be changed.</a:t>
            </a:r>
          </a:p>
          <a:p>
            <a:r>
              <a:rPr lang="en-US"/>
              <a:t>β = min(β, 2) = min(+∞, 2) = 2</a:t>
            </a:r>
            <a:endParaRPr lang="en-US" b="1"/>
          </a:p>
          <a:p>
            <a:r>
              <a:rPr lang="en-US"/>
              <a:t>Now at C, α =5 and β = 2, satisfies the condition α&gt;=β, so the next child of C which is G will be pruned, and the algorithm will not compute the entire sub-tree G.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D250AFF-8841-4B76-8AF8-DA8A94BF6F97}"/>
              </a:ext>
            </a:extLst>
          </p:cNvPr>
          <p:cNvSpPr/>
          <p:nvPr/>
        </p:nvSpPr>
        <p:spPr bwMode="auto">
          <a:xfrm>
            <a:off x="9419445" y="336937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4DECF6-600F-4F22-8C2D-4133749BF785}"/>
              </a:ext>
            </a:extLst>
          </p:cNvPr>
          <p:cNvSpPr/>
          <p:nvPr/>
        </p:nvSpPr>
        <p:spPr bwMode="auto">
          <a:xfrm>
            <a:off x="10344225" y="3126353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ED15103D-57B8-4686-B463-682087F67FC7}"/>
              </a:ext>
            </a:extLst>
          </p:cNvPr>
          <p:cNvSpPr/>
          <p:nvPr/>
        </p:nvSpPr>
        <p:spPr bwMode="auto">
          <a:xfrm>
            <a:off x="9667340" y="3699896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8CFE165-B5C0-4EE0-A4C4-B3CDAD94A51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E959B6E2-EB59-4BE5-9DDF-91FD017C3BE1}"/>
              </a:ext>
            </a:extLst>
          </p:cNvPr>
          <p:cNvSpPr/>
          <p:nvPr/>
        </p:nvSpPr>
        <p:spPr bwMode="auto">
          <a:xfrm>
            <a:off x="10055369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AE39543-96A1-4257-8A26-11D2D31AED5F}"/>
              </a:ext>
            </a:extLst>
          </p:cNvPr>
          <p:cNvSpPr/>
          <p:nvPr/>
        </p:nvSpPr>
        <p:spPr bwMode="auto">
          <a:xfrm>
            <a:off x="10659268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0B86AF7D-C94E-48BB-B78C-48D68CE5C567}"/>
              </a:ext>
            </a:extLst>
          </p:cNvPr>
          <p:cNvSpPr/>
          <p:nvPr/>
        </p:nvSpPr>
        <p:spPr bwMode="auto">
          <a:xfrm>
            <a:off x="10983464" y="391255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13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Step 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182E58-8F97-46E4-A21F-ED887540D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232" y="2037526"/>
            <a:ext cx="5809488" cy="4160074"/>
          </a:xfrm>
        </p:spPr>
        <p:txBody>
          <a:bodyPr>
            <a:normAutofit lnSpcReduction="10000"/>
          </a:bodyPr>
          <a:lstStyle/>
          <a:p>
            <a:r>
              <a:rPr lang="en-US"/>
              <a:t>C now returns the value of 2 to A here the best value for A is max (5, 2) = 5. </a:t>
            </a:r>
          </a:p>
          <a:p>
            <a:r>
              <a:rPr lang="en-US"/>
              <a:t>The final game tree which is the showing the nodes which are computed and nodes which has never computed. </a:t>
            </a:r>
          </a:p>
          <a:p>
            <a:r>
              <a:rPr lang="en-US"/>
              <a:t>Hence the optimal value for the maximizer is 5 for this example.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D250AFF-8841-4B76-8AF8-DA8A94BF6F97}"/>
              </a:ext>
            </a:extLst>
          </p:cNvPr>
          <p:cNvSpPr/>
          <p:nvPr/>
        </p:nvSpPr>
        <p:spPr bwMode="auto">
          <a:xfrm>
            <a:off x="9419445" y="336937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4DECF6-600F-4F22-8C2D-4133749BF785}"/>
              </a:ext>
            </a:extLst>
          </p:cNvPr>
          <p:cNvSpPr/>
          <p:nvPr/>
        </p:nvSpPr>
        <p:spPr bwMode="auto">
          <a:xfrm>
            <a:off x="10344225" y="3126353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ED15103D-57B8-4686-B463-682087F67FC7}"/>
              </a:ext>
            </a:extLst>
          </p:cNvPr>
          <p:cNvSpPr/>
          <p:nvPr/>
        </p:nvSpPr>
        <p:spPr bwMode="auto">
          <a:xfrm>
            <a:off x="9667340" y="3699896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8CFE165-B5C0-4EE0-A4C4-B3CDAD94A51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E959B6E2-EB59-4BE5-9DDF-91FD017C3BE1}"/>
              </a:ext>
            </a:extLst>
          </p:cNvPr>
          <p:cNvSpPr/>
          <p:nvPr/>
        </p:nvSpPr>
        <p:spPr bwMode="auto">
          <a:xfrm>
            <a:off x="10055369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AE39543-96A1-4257-8A26-11D2D31AED5F}"/>
              </a:ext>
            </a:extLst>
          </p:cNvPr>
          <p:cNvSpPr/>
          <p:nvPr/>
        </p:nvSpPr>
        <p:spPr bwMode="auto">
          <a:xfrm>
            <a:off x="10659268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0B86AF7D-C94E-48BB-B78C-48D68CE5C567}"/>
              </a:ext>
            </a:extLst>
          </p:cNvPr>
          <p:cNvSpPr/>
          <p:nvPr/>
        </p:nvSpPr>
        <p:spPr bwMode="auto">
          <a:xfrm>
            <a:off x="10983464" y="391255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29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Final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28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D250AFF-8841-4B76-8AF8-DA8A94BF6F97}"/>
              </a:ext>
            </a:extLst>
          </p:cNvPr>
          <p:cNvSpPr/>
          <p:nvPr/>
        </p:nvSpPr>
        <p:spPr bwMode="auto">
          <a:xfrm>
            <a:off x="9419445" y="336937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4DECF6-600F-4F22-8C2D-4133749BF785}"/>
              </a:ext>
            </a:extLst>
          </p:cNvPr>
          <p:cNvSpPr/>
          <p:nvPr/>
        </p:nvSpPr>
        <p:spPr bwMode="auto">
          <a:xfrm>
            <a:off x="10344225" y="3126353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ED15103D-57B8-4686-B463-682087F67FC7}"/>
              </a:ext>
            </a:extLst>
          </p:cNvPr>
          <p:cNvSpPr/>
          <p:nvPr/>
        </p:nvSpPr>
        <p:spPr bwMode="auto">
          <a:xfrm>
            <a:off x="9667340" y="3699896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8CFE165-B5C0-4EE0-A4C4-B3CDAD94A51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E959B6E2-EB59-4BE5-9DDF-91FD017C3BE1}"/>
              </a:ext>
            </a:extLst>
          </p:cNvPr>
          <p:cNvSpPr/>
          <p:nvPr/>
        </p:nvSpPr>
        <p:spPr bwMode="auto">
          <a:xfrm>
            <a:off x="10055369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AE39543-96A1-4257-8A26-11D2D31AED5F}"/>
              </a:ext>
            </a:extLst>
          </p:cNvPr>
          <p:cNvSpPr/>
          <p:nvPr/>
        </p:nvSpPr>
        <p:spPr bwMode="auto">
          <a:xfrm>
            <a:off x="10659268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0B86AF7D-C94E-48BB-B78C-48D68CE5C567}"/>
              </a:ext>
            </a:extLst>
          </p:cNvPr>
          <p:cNvSpPr/>
          <p:nvPr/>
        </p:nvSpPr>
        <p:spPr bwMode="auto">
          <a:xfrm>
            <a:off x="10983464" y="391255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5" name="Picture 6" descr="Alpha Beta Pruning 3">
            <a:extLst>
              <a:ext uri="{FF2B5EF4-FFF2-40B4-BE49-F238E27FC236}">
                <a16:creationId xmlns:a16="http://schemas.microsoft.com/office/drawing/2014/main" id="{384D1D7B-93C6-4C95-BBE4-46326942F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76" y="2976761"/>
            <a:ext cx="5430838" cy="213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45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2FD4-0D19-4940-ACA2-9F776978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– Final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DBFD-A66F-43B7-80A7-95F4FFCC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Artificial Intelligence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9472-3447-4DE7-9BCB-C84A6FBB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87E4E-63B5-4D38-8BD0-1B846CDD611C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B578-C0CB-4193-BFFA-6487CDD9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FDC4-5BA6-4632-9F24-76B589377012}" type="slidenum">
              <a:rPr lang="en-US" smtClean="0"/>
              <a:t>29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849D6-1B53-4441-AFEB-14A6EF3F8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  <p:pic>
        <p:nvPicPr>
          <p:cNvPr id="9" name="Picture 4" descr="Alpha Beta Pruning">
            <a:extLst>
              <a:ext uri="{FF2B5EF4-FFF2-40B4-BE49-F238E27FC236}">
                <a16:creationId xmlns:a16="http://schemas.microsoft.com/office/drawing/2014/main" id="{E631555A-82AD-4C02-8CE8-D330C55E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735" y="2976761"/>
            <a:ext cx="5432425" cy="236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497AEE9C-6CD9-4407-8C9D-17C8EC906774}"/>
              </a:ext>
            </a:extLst>
          </p:cNvPr>
          <p:cNvSpPr/>
          <p:nvPr/>
        </p:nvSpPr>
        <p:spPr bwMode="auto">
          <a:xfrm>
            <a:off x="9107718" y="244474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AAB57CC0-CB13-4702-895F-695589F72F43}"/>
              </a:ext>
            </a:extLst>
          </p:cNvPr>
          <p:cNvSpPr/>
          <p:nvPr/>
        </p:nvSpPr>
        <p:spPr bwMode="auto">
          <a:xfrm>
            <a:off x="7561551" y="3126391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-</a:t>
            </a:r>
            <a:r>
              <a:rPr lang="en-US" sz="1400" dirty="0"/>
              <a:t> ∞</a:t>
            </a:r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CB1DF98C-49BE-4620-9255-0B79DEE6D006}"/>
              </a:ext>
            </a:extLst>
          </p:cNvPr>
          <p:cNvSpPr/>
          <p:nvPr/>
        </p:nvSpPr>
        <p:spPr bwMode="auto">
          <a:xfrm>
            <a:off x="7087725" y="3777798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3375C54-C36F-4881-B996-BEA0CD509FB4}"/>
              </a:ext>
            </a:extLst>
          </p:cNvPr>
          <p:cNvSpPr/>
          <p:nvPr/>
        </p:nvSpPr>
        <p:spPr bwMode="auto">
          <a:xfrm>
            <a:off x="7561550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8A6E6C57-AD71-4F66-A32D-1A060928D30D}"/>
              </a:ext>
            </a:extLst>
          </p:cNvPr>
          <p:cNvSpPr/>
          <p:nvPr/>
        </p:nvSpPr>
        <p:spPr bwMode="auto">
          <a:xfrm>
            <a:off x="8171855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B89555AA-624A-4BDB-9BC8-A1D52B93E666}"/>
              </a:ext>
            </a:extLst>
          </p:cNvPr>
          <p:cNvSpPr/>
          <p:nvPr/>
        </p:nvSpPr>
        <p:spPr bwMode="auto">
          <a:xfrm>
            <a:off x="8633892" y="3718416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6</a:t>
            </a:r>
            <a:endParaRPr lang="en-US" sz="1400" dirty="0"/>
          </a:p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6347D3AE-B151-4F16-A8C9-2A93A43770D2}"/>
              </a:ext>
            </a:extLst>
          </p:cNvPr>
          <p:cNvSpPr/>
          <p:nvPr/>
        </p:nvSpPr>
        <p:spPr bwMode="auto">
          <a:xfrm>
            <a:off x="8783521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61189-9D48-4315-9B73-D898550EC794}"/>
              </a:ext>
            </a:extLst>
          </p:cNvPr>
          <p:cNvSpPr/>
          <p:nvPr/>
        </p:nvSpPr>
        <p:spPr>
          <a:xfrm>
            <a:off x="5774995" y="1511999"/>
            <a:ext cx="5923280" cy="51077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The alpha-beta pruning condition is: </a:t>
            </a:r>
            <a:r>
              <a:rPr lang="el-GR" b="1">
                <a:solidFill>
                  <a:srgbClr val="C00000"/>
                </a:solidFill>
              </a:rPr>
              <a:t>α&gt;=β</a:t>
            </a:r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D250AFF-8841-4B76-8AF8-DA8A94BF6F97}"/>
              </a:ext>
            </a:extLst>
          </p:cNvPr>
          <p:cNvSpPr/>
          <p:nvPr/>
        </p:nvSpPr>
        <p:spPr bwMode="auto">
          <a:xfrm>
            <a:off x="9419445" y="336937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2E4DECF6-600F-4F22-8C2D-4133749BF785}"/>
              </a:ext>
            </a:extLst>
          </p:cNvPr>
          <p:cNvSpPr/>
          <p:nvPr/>
        </p:nvSpPr>
        <p:spPr bwMode="auto">
          <a:xfrm>
            <a:off x="10344225" y="3126353"/>
            <a:ext cx="947651" cy="532013"/>
          </a:xfrm>
          <a:prstGeom prst="roundRect">
            <a:avLst/>
          </a:prstGeom>
          <a:ln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Rounded Rectangle 2">
            <a:extLst>
              <a:ext uri="{FF2B5EF4-FFF2-40B4-BE49-F238E27FC236}">
                <a16:creationId xmlns:a16="http://schemas.microsoft.com/office/drawing/2014/main" id="{ED15103D-57B8-4686-B463-682087F67FC7}"/>
              </a:ext>
            </a:extLst>
          </p:cNvPr>
          <p:cNvSpPr/>
          <p:nvPr/>
        </p:nvSpPr>
        <p:spPr bwMode="auto">
          <a:xfrm>
            <a:off x="9667340" y="3699896"/>
            <a:ext cx="947651" cy="532013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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 5</a:t>
            </a:r>
            <a:endParaRPr lang="en-US" sz="1400" dirty="0"/>
          </a:p>
          <a:p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</a:t>
            </a:r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 +</a:t>
            </a:r>
            <a:r>
              <a:rPr lang="en-US" sz="1400" dirty="0"/>
              <a:t>∞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C8CFE165-B5C0-4EE0-A4C4-B3CDAD94A51C}"/>
              </a:ext>
            </a:extLst>
          </p:cNvPr>
          <p:cNvSpPr/>
          <p:nvPr/>
        </p:nvSpPr>
        <p:spPr bwMode="auto">
          <a:xfrm>
            <a:off x="8969293" y="442123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E959B6E2-EB59-4BE5-9DDF-91FD017C3BE1}"/>
              </a:ext>
            </a:extLst>
          </p:cNvPr>
          <p:cNvSpPr/>
          <p:nvPr/>
        </p:nvSpPr>
        <p:spPr bwMode="auto">
          <a:xfrm>
            <a:off x="10055369" y="4537990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endParaRPr lang="en-US" sz="1400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AE39543-96A1-4257-8A26-11D2D31AED5F}"/>
              </a:ext>
            </a:extLst>
          </p:cNvPr>
          <p:cNvSpPr/>
          <p:nvPr/>
        </p:nvSpPr>
        <p:spPr bwMode="auto">
          <a:xfrm>
            <a:off x="10659268" y="3898188"/>
            <a:ext cx="324196" cy="249382"/>
          </a:xfrm>
          <a:prstGeom prst="round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0B86AF7D-C94E-48BB-B78C-48D68CE5C567}"/>
              </a:ext>
            </a:extLst>
          </p:cNvPr>
          <p:cNvSpPr/>
          <p:nvPr/>
        </p:nvSpPr>
        <p:spPr bwMode="auto">
          <a:xfrm>
            <a:off x="10983464" y="3912552"/>
            <a:ext cx="446596" cy="382540"/>
          </a:xfrm>
          <a:prstGeom prst="roundRect">
            <a:avLst/>
          </a:prstGeom>
          <a:noFill/>
          <a:ln>
            <a:noFill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1001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r>
              <a:rPr lang="en-US" sz="1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//</a:t>
            </a:r>
            <a:endParaRPr lang="en-US" sz="1400" dirty="0">
              <a:solidFill>
                <a:srgbClr val="C0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5" name="Picture 6" descr="Alpha Beta Pruning 3">
            <a:extLst>
              <a:ext uri="{FF2B5EF4-FFF2-40B4-BE49-F238E27FC236}">
                <a16:creationId xmlns:a16="http://schemas.microsoft.com/office/drawing/2014/main" id="{384D1D7B-93C6-4C95-BBE4-46326942F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76" y="2976761"/>
            <a:ext cx="5430838" cy="2134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37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5DAB-F282-45FA-B952-678EEA99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E0604-141C-4A81-98CB-EB750F9F5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https://www.geeksforgeeks.org/minimax-algorithm-in-game-theory-set-4-alpha-beta-pruning/</a:t>
            </a:r>
          </a:p>
          <a:p>
            <a:r>
              <a:rPr lang="en-US"/>
              <a:t>https://fars.io/minimax_mancala/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5C05A-2A6E-4951-817A-D6AC34703E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Alpha-Beta Pruning Algorithm</a:t>
            </a:r>
          </a:p>
        </p:txBody>
      </p:sp>
    </p:spTree>
    <p:extLst>
      <p:ext uri="{BB962C8B-B14F-4D97-AF65-F5344CB8AC3E}">
        <p14:creationId xmlns:p14="http://schemas.microsoft.com/office/powerpoint/2010/main" val="70880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SU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>
    <a:spDef>
      <a:spPr bwMode="auto">
        <a:ln>
          <a:solidFill>
            <a:schemeClr val="accent6">
              <a:lumMod val="20000"/>
              <a:lumOff val="80000"/>
            </a:schemeClr>
          </a:solidFill>
          <a:headEnd/>
          <a:tailEnd/>
        </a:ln>
        <a:extLst>
          <a:ext uri="{AF507438-7753-43e0-B8FC-AC1667EBCBE1}">
            <a14:hiddenEffects xmlns:p="http://schemas.openxmlformats.org/presentationml/2006/main" xmlns="" xmlns:r="http://schemas.openxmlformats.org/officeDocument/2006/relationships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square" rtlCol="0" anchor="t"/>
      <a:lstStyle>
        <a:defPPr algn="l">
          <a:defRPr sz="2000" smtClean="0">
            <a:solidFill>
              <a:srgbClr val="002060"/>
            </a:solidFill>
            <a:latin typeface="Verdana" panose="020B0604030504040204" pitchFamily="34" charset="0"/>
            <a:ea typeface="Verdana" panose="020B0604030504040204" pitchFamily="34" charset="0"/>
          </a:defRPr>
        </a:defPPr>
      </a:lstStyle>
      <a:style>
        <a:lnRef idx="1">
          <a:schemeClr val="accent1"/>
        </a:lnRef>
        <a:fillRef idx="1001">
          <a:schemeClr val="lt2"/>
        </a:fillRef>
        <a:effectRef idx="1">
          <a:schemeClr val="accent1"/>
        </a:effectRef>
        <a:fontRef idx="minor">
          <a:schemeClr val="dk1"/>
        </a:fontRef>
      </a:style>
    </a:spDef>
    <a:txDef>
      <a:spPr bwMode="auto">
        <a:noFill/>
        <a:ln>
          <a:noFill/>
        </a:ln>
        <a:effectLst/>
        <a:extLst>
          <a:ext uri="{909E8E84-426E-40dd-AFC4-6F175D3DCCD1}">
            <a14:hiddenFill xmlns="" xmlns:r="http://schemas.openxmlformats.org/officeDocument/2006/relationships" xmlns:p="http://schemas.openxmlformats.org/presentationml/2006/main"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="" xmlns:r="http://schemas.openxmlformats.org/officeDocument/2006/relationships" xmlns:p="http://schemas.openxmlformats.org/presentationml/2006/main"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="" xmlns:r="http://schemas.openxmlformats.org/officeDocument/2006/relationships" xmlns:p="http://schemas.openxmlformats.org/presentationml/2006/main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none">
        <a:spAutoFit/>
      </a:bodyPr>
      <a:lstStyle>
        <a:defPPr algn="ctr">
          <a:defRPr sz="2000">
            <a:solidFill>
              <a:srgbClr val="002060"/>
            </a:solidFill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SU" id="{25533AA2-CDC4-42A6-B421-E04847A7413F}" vid="{7ECFCEE7-2077-4D99-A5C0-D94ADA7479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HSU</Template>
  <TotalTime>5122</TotalTime>
  <Words>2245</Words>
  <Application>Microsoft Office PowerPoint</Application>
  <PresentationFormat>Widescreen</PresentationFormat>
  <Paragraphs>427</Paragraphs>
  <Slides>30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Constantia</vt:lpstr>
      <vt:lpstr>Verdana</vt:lpstr>
      <vt:lpstr>Wingdings</vt:lpstr>
      <vt:lpstr>HSU</vt:lpstr>
      <vt:lpstr>The Minimax Algorithm</vt:lpstr>
      <vt:lpstr>Overview</vt:lpstr>
      <vt:lpstr>The Minimax Algorithm</vt:lpstr>
      <vt:lpstr>The Minimax Algorithm</vt:lpstr>
      <vt:lpstr>Example</vt:lpstr>
      <vt:lpstr>Example</vt:lpstr>
      <vt:lpstr>Alpha-Beta Pruning Algorithm</vt:lpstr>
      <vt:lpstr>Overview</vt:lpstr>
      <vt:lpstr>Key points about Alpha-Beta Pruning</vt:lpstr>
      <vt:lpstr>Alpha-Beta Pruning Algorithm</vt:lpstr>
      <vt:lpstr>Example – Step 1</vt:lpstr>
      <vt:lpstr>Example – Step 2</vt:lpstr>
      <vt:lpstr>Example – Step 3</vt:lpstr>
      <vt:lpstr>Example – Step 4</vt:lpstr>
      <vt:lpstr>Example – Step 5</vt:lpstr>
      <vt:lpstr>Example – Step 6</vt:lpstr>
      <vt:lpstr>Example – Step 7</vt:lpstr>
      <vt:lpstr>Example – Step 8</vt:lpstr>
      <vt:lpstr>Practice</vt:lpstr>
      <vt:lpstr>Practice – Step 1</vt:lpstr>
      <vt:lpstr>Practice – Step 2</vt:lpstr>
      <vt:lpstr>Practice – Step 3</vt:lpstr>
      <vt:lpstr>Practice – Step 4</vt:lpstr>
      <vt:lpstr>Practice – Step 5</vt:lpstr>
      <vt:lpstr>Practice – Step 6</vt:lpstr>
      <vt:lpstr>Practice – Step 7</vt:lpstr>
      <vt:lpstr>Practice – Step 8</vt:lpstr>
      <vt:lpstr>Practice – Final</vt:lpstr>
      <vt:lpstr>Practice – Final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Artificial Intelligence</dc:title>
  <dc:creator>Trung Phan</dc:creator>
  <cp:lastModifiedBy>Trung Phan</cp:lastModifiedBy>
  <cp:revision>259</cp:revision>
  <dcterms:created xsi:type="dcterms:W3CDTF">2023-03-21T16:24:12Z</dcterms:created>
  <dcterms:modified xsi:type="dcterms:W3CDTF">2026-01-16T03:01:06Z</dcterms:modified>
</cp:coreProperties>
</file>