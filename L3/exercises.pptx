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8" r:id="rId2"/>
    <p:sldId id="306" r:id="rId3"/>
    <p:sldId id="406" r:id="rId4"/>
    <p:sldId id="405" r:id="rId5"/>
    <p:sldId id="407" r:id="rId6"/>
    <p:sldId id="30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5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FFDD2-785F-4CDE-A17A-A803DA1F453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BE1C9-D3F4-4CBD-8621-9827812FD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2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MAX chọn a1, vì trong trường hợp xấu nhất do MIN gây ra, a1 vẫn cho kết quả tốt nhất cho MAX.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6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C62D-4ACD-4B92-B00F-6DF438DC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B6A69-7CE5-488D-AD2C-D42D23CEA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F8E97-EB0B-4025-AABD-E1E519CF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C1A8B-6A66-4721-8F11-42444C8A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94E26-6238-4CB8-A026-1B578EDC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9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64B5-601E-4310-B047-479444EE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EFD7-C859-4362-8A53-44BC33E7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0B885-2F2A-4E7E-BB72-B8529E10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D7570-2021-48BB-B81F-01045B86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5B7E-CF45-468A-A725-E200EE76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9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0E76-26A0-417B-84A2-647BC673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F09B8-1706-4EF8-A0A7-5208A0E8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5E656-2F13-4A87-BE8E-CE250215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FD535-784E-4C6B-BBF1-33E73046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https://figures.semanticscholar.org/3c5cdc5fb590fc56ac429884216f8e0ce31c8164/3-Figure2-1.png">
            <a:extLst>
              <a:ext uri="{FF2B5EF4-FFF2-40B4-BE49-F238E27FC236}">
                <a16:creationId xmlns:a16="http://schemas.microsoft.com/office/drawing/2014/main" id="{67F35644-9E4B-4733-AD07-A4BC40D2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33" y="3710904"/>
            <a:ext cx="3831167" cy="2707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45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6563-58AF-48D6-B213-4C757B17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23F9-3EB3-476E-A1ED-3C5E399B9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24787-C0D2-438B-8619-CC05D664B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026A5-B7A5-452A-91B3-29E80C18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C579-D966-4941-8CB4-B09411E4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A5F3-7CF2-406F-91CE-9DBBB4BE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5DA2-1AE3-457F-B665-49F0D4D8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357B1-F9F4-472F-A8B4-2BF30C2B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5F304-D747-4A87-9668-C9F5E9222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FB7ED-C211-4E0A-9BEA-7CE129FA2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60F7C-E2CE-41B3-8DF5-92357FC5B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27E83-7997-41CE-A5C0-649EF81B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C06EE-8778-4348-8C18-87E007E1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C5BE7-7BCD-49A7-8D81-E756A185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0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DC13-B0F0-41FB-ACB3-0C39A440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B4671-7C78-4BD2-83A9-C479E326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48343-A1DA-46D6-8887-D1E9DA0D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A444D-DBF9-4555-B9ED-D6F63B5A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8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E1E14-26F6-4913-B38D-7008A687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C0CB6-A3C9-4E2D-BCEB-F9C73FD9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98C10-3FCD-4DAF-B5BB-AC3DD564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1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495B-5837-47DD-BF67-4F1944652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30136-C355-4D6A-9338-E6B58260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F3AB3-268A-4B4B-A01E-5AC590C81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5FE9B-A189-4CB8-A765-FFA2DA1D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897E4-385F-4A9B-A45A-A0665851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4BF63-C28F-4D3F-8202-BD44B83A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2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F15C-FDB4-4690-B5DD-BB7FC7F1A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CD6AC-03FC-4AD9-8191-5C6A716A0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D4A7E-F1A3-4FA9-B99F-2CD970C8B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2ECBA-ED9F-4758-B607-29B70DCF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6CA79-38E1-4741-8F0B-93A62B75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48242-E828-4034-B6D4-0E760C81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5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553A-A10E-4D89-B395-E3F91E0D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C6DA1-3056-4F46-8CB2-0160E445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38371-35DA-46FB-B8D2-56DAEB77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1116B-22FD-4631-8291-9AE13139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1A0E5-2EF0-4A53-B906-48C2FD24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6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6C37B-2563-4BA2-BC33-BEDAE0F7E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D926D-84E4-4994-8990-E8A5BDB3B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DB5E0-2C30-4135-A9ED-7D911C0A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1648-2C31-4007-81CA-E99D711CAF3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4D1E-E936-456D-843C-81D5FA0E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9B3C0-E8DB-451D-9A89-F435299C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1F30D-FE0F-4F8D-BBBA-6047EFD3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B8BA6-15B5-46EF-8085-C9B4B0BDC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EBC3C-73EF-4B56-9998-F5CB4B5B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F0F1D-F477-4A6E-8FE2-7D0E18432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2060"/>
                </a:solidFill>
              </a:defRPr>
            </a:lvl1pPr>
          </a:lstStyle>
          <a:p>
            <a:fld id="{0F6F1648-2C31-4007-81CA-E99D711CAF3F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DED4C-5C7A-45E1-BBB9-530AD99DE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04B02-B9E5-41B9-BD21-5FA188A70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C7E1F30D-FE0F-4F8D-BBBA-6047EFD388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0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60.png"/><Relationship Id="rId26" Type="http://schemas.openxmlformats.org/officeDocument/2006/relationships/image" Target="../media/image240.png"/><Relationship Id="rId21" Type="http://schemas.openxmlformats.org/officeDocument/2006/relationships/image" Target="../media/image190.png"/><Relationship Id="rId17" Type="http://schemas.openxmlformats.org/officeDocument/2006/relationships/image" Target="../media/image150.png"/><Relationship Id="rId25" Type="http://schemas.openxmlformats.org/officeDocument/2006/relationships/image" Target="../media/image230.png"/><Relationship Id="rId2" Type="http://schemas.openxmlformats.org/officeDocument/2006/relationships/image" Target="../media/image2.png"/><Relationship Id="rId16" Type="http://schemas.openxmlformats.org/officeDocument/2006/relationships/image" Target="../media/image140.png"/><Relationship Id="rId20" Type="http://schemas.openxmlformats.org/officeDocument/2006/relationships/image" Target="../media/image18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220.png"/><Relationship Id="rId32" Type="http://schemas.openxmlformats.org/officeDocument/2006/relationships/image" Target="../media/image3.png"/><Relationship Id="rId23" Type="http://schemas.openxmlformats.org/officeDocument/2006/relationships/image" Target="../media/image210.png"/><Relationship Id="rId28" Type="http://schemas.openxmlformats.org/officeDocument/2006/relationships/image" Target="../media/image381.png"/><Relationship Id="rId19" Type="http://schemas.openxmlformats.org/officeDocument/2006/relationships/image" Target="../media/image170.png"/><Relationship Id="rId31" Type="http://schemas.openxmlformats.org/officeDocument/2006/relationships/image" Target="../media/image41.png"/><Relationship Id="rId22" Type="http://schemas.openxmlformats.org/officeDocument/2006/relationships/image" Target="../media/image200.png"/><Relationship Id="rId27" Type="http://schemas.openxmlformats.org/officeDocument/2006/relationships/image" Target="../media/image250.png"/><Relationship Id="rId30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4.png"/><Relationship Id="rId26" Type="http://schemas.openxmlformats.org/officeDocument/2006/relationships/image" Target="../media/image53.png"/><Relationship Id="rId39" Type="http://schemas.openxmlformats.org/officeDocument/2006/relationships/image" Target="../media/image57.png"/><Relationship Id="rId3" Type="http://schemas.openxmlformats.org/officeDocument/2006/relationships/image" Target="../media/image5.png"/><Relationship Id="rId21" Type="http://schemas.openxmlformats.org/officeDocument/2006/relationships/image" Target="../media/image48.png"/><Relationship Id="rId34" Type="http://schemas.openxmlformats.org/officeDocument/2006/relationships/image" Target="../media/image47.png"/><Relationship Id="rId17" Type="http://schemas.openxmlformats.org/officeDocument/2006/relationships/image" Target="../media/image430.png"/><Relationship Id="rId25" Type="http://schemas.openxmlformats.org/officeDocument/2006/relationships/image" Target="../media/image52.png"/><Relationship Id="rId38" Type="http://schemas.openxmlformats.org/officeDocument/2006/relationships/image" Target="../media/image56.png"/><Relationship Id="rId2" Type="http://schemas.openxmlformats.org/officeDocument/2006/relationships/image" Target="../media/image4.png"/><Relationship Id="rId16" Type="http://schemas.openxmlformats.org/officeDocument/2006/relationships/image" Target="../media/image420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37" Type="http://schemas.openxmlformats.org/officeDocument/2006/relationships/image" Target="../media/image55.png"/><Relationship Id="rId23" Type="http://schemas.openxmlformats.org/officeDocument/2006/relationships/image" Target="../media/image50.png"/><Relationship Id="rId36" Type="http://schemas.openxmlformats.org/officeDocument/2006/relationships/image" Target="../media/image54.png"/><Relationship Id="rId19" Type="http://schemas.openxmlformats.org/officeDocument/2006/relationships/image" Target="../media/image45.png"/><Relationship Id="rId4" Type="http://schemas.openxmlformats.org/officeDocument/2006/relationships/image" Target="../media/image3.png"/><Relationship Id="rId22" Type="http://schemas.openxmlformats.org/officeDocument/2006/relationships/image" Target="../media/image49.png"/><Relationship Id="rId3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5A5A2-E248-44DF-AEA7-5892C6C2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863195"/>
          </a:xfrm>
        </p:spPr>
        <p:txBody>
          <a:bodyPr/>
          <a:lstStyle/>
          <a:p>
            <a:r>
              <a:rPr lang="en-US"/>
              <a:t>Exercise: Simple 2-Ply Game with Minimax</a:t>
            </a:r>
          </a:p>
        </p:txBody>
      </p:sp>
    </p:spTree>
    <p:extLst>
      <p:ext uri="{BB962C8B-B14F-4D97-AF65-F5344CB8AC3E}">
        <p14:creationId xmlns:p14="http://schemas.microsoft.com/office/powerpoint/2010/main" val="389777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A756-7521-DBD7-3F57-F2E962E3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261414"/>
            <a:ext cx="6333259" cy="961697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 Simple 2-Ply Game</a:t>
            </a:r>
          </a:p>
        </p:txBody>
      </p:sp>
      <p:grpSp>
        <p:nvGrpSpPr>
          <p:cNvPr id="3" name="Group 2" descr="Picture of a simple 2-Ply game tree.">
            <a:extLst>
              <a:ext uri="{FF2B5EF4-FFF2-40B4-BE49-F238E27FC236}">
                <a16:creationId xmlns:a16="http://schemas.microsoft.com/office/drawing/2014/main" id="{4118BCF7-D18C-7D27-916F-0A549D32CE44}"/>
              </a:ext>
            </a:extLst>
          </p:cNvPr>
          <p:cNvGrpSpPr/>
          <p:nvPr/>
        </p:nvGrpSpPr>
        <p:grpSpPr>
          <a:xfrm>
            <a:off x="2019296" y="1371601"/>
            <a:ext cx="7357100" cy="3764979"/>
            <a:chOff x="495296" y="1066800"/>
            <a:chExt cx="7357100" cy="3764979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6CB51465-B087-D623-FED9-B3ED609DE436}"/>
                </a:ext>
              </a:extLst>
            </p:cNvPr>
            <p:cNvSpPr/>
            <p:nvPr/>
          </p:nvSpPr>
          <p:spPr>
            <a:xfrm>
              <a:off x="4762499" y="1440884"/>
              <a:ext cx="457200" cy="381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14F2DD27-D756-E4AB-0A11-C8C3F4C4249E}"/>
                </a:ext>
              </a:extLst>
            </p:cNvPr>
            <p:cNvSpPr/>
            <p:nvPr/>
          </p:nvSpPr>
          <p:spPr>
            <a:xfrm flipV="1">
              <a:off x="2847109" y="2941937"/>
              <a:ext cx="457200" cy="381000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39DEF0E-321F-3094-7F9E-9E8C865C6C07}"/>
                </a:ext>
              </a:extLst>
            </p:cNvPr>
            <p:cNvSpPr/>
            <p:nvPr/>
          </p:nvSpPr>
          <p:spPr>
            <a:xfrm flipV="1">
              <a:off x="4762499" y="2972675"/>
              <a:ext cx="457200" cy="381000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AC4C0D83-1E54-1A2A-4CEF-5FD569F1EAFF}"/>
                </a:ext>
              </a:extLst>
            </p:cNvPr>
            <p:cNvSpPr/>
            <p:nvPr/>
          </p:nvSpPr>
          <p:spPr>
            <a:xfrm flipV="1">
              <a:off x="6733309" y="2962719"/>
              <a:ext cx="457200" cy="381000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8CF720-7C4A-3665-93D7-E6A44B7453C3}"/>
                </a:ext>
              </a:extLst>
            </p:cNvPr>
            <p:cNvCxnSpPr>
              <a:stCxn id="4" idx="3"/>
              <a:endCxn id="5" idx="3"/>
            </p:cNvCxnSpPr>
            <p:nvPr/>
          </p:nvCxnSpPr>
          <p:spPr>
            <a:xfrm flipH="1">
              <a:off x="3075709" y="1821884"/>
              <a:ext cx="1915390" cy="11200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233E44-68C2-744B-8F57-1665191B76CF}"/>
                </a:ext>
              </a:extLst>
            </p:cNvPr>
            <p:cNvCxnSpPr>
              <a:cxnSpLocks/>
              <a:stCxn id="4" idx="3"/>
              <a:endCxn id="6" idx="3"/>
            </p:cNvCxnSpPr>
            <p:nvPr/>
          </p:nvCxnSpPr>
          <p:spPr>
            <a:xfrm>
              <a:off x="4991099" y="1821884"/>
              <a:ext cx="0" cy="115079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9B0BCEE-2A09-D50A-8C78-879B216085DE}"/>
                </a:ext>
              </a:extLst>
            </p:cNvPr>
            <p:cNvCxnSpPr>
              <a:cxnSpLocks/>
              <a:stCxn id="4" idx="3"/>
              <a:endCxn id="7" idx="3"/>
            </p:cNvCxnSpPr>
            <p:nvPr/>
          </p:nvCxnSpPr>
          <p:spPr>
            <a:xfrm>
              <a:off x="4991099" y="1821884"/>
              <a:ext cx="1970810" cy="11408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19BD00-FE1C-EABC-8121-5BFF156C3A38}"/>
                </a:ext>
              </a:extLst>
            </p:cNvPr>
            <p:cNvSpPr txBox="1"/>
            <p:nvPr/>
          </p:nvSpPr>
          <p:spPr>
            <a:xfrm>
              <a:off x="2234046" y="4440823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EBCC83-56E7-950E-6399-2246AAA888EB}"/>
                </a:ext>
              </a:extLst>
            </p:cNvPr>
            <p:cNvSpPr txBox="1"/>
            <p:nvPr/>
          </p:nvSpPr>
          <p:spPr>
            <a:xfrm>
              <a:off x="2847109" y="4440823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0F277D-5EE0-3AD7-D6E8-7CE2E32020A8}"/>
                </a:ext>
              </a:extLst>
            </p:cNvPr>
            <p:cNvSpPr txBox="1"/>
            <p:nvPr/>
          </p:nvSpPr>
          <p:spPr>
            <a:xfrm>
              <a:off x="3429000" y="4440823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31AADCD-E2FD-0767-ECBC-8CE4C5301CFB}"/>
                </a:ext>
              </a:extLst>
            </p:cNvPr>
            <p:cNvCxnSpPr>
              <a:cxnSpLocks/>
              <a:stCxn id="5" idx="0"/>
              <a:endCxn id="17" idx="0"/>
            </p:cNvCxnSpPr>
            <p:nvPr/>
          </p:nvCxnSpPr>
          <p:spPr>
            <a:xfrm flipH="1">
              <a:off x="2424546" y="3322937"/>
              <a:ext cx="651163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3491E56-D097-3228-1BFF-3F7294039691}"/>
                </a:ext>
              </a:extLst>
            </p:cNvPr>
            <p:cNvCxnSpPr>
              <a:cxnSpLocks/>
              <a:stCxn id="5" idx="0"/>
              <a:endCxn id="18" idx="0"/>
            </p:cNvCxnSpPr>
            <p:nvPr/>
          </p:nvCxnSpPr>
          <p:spPr>
            <a:xfrm flipH="1">
              <a:off x="3037609" y="3322937"/>
              <a:ext cx="38100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E089D41-907A-2536-B877-7FC35B77A9AF}"/>
                </a:ext>
              </a:extLst>
            </p:cNvPr>
            <p:cNvCxnSpPr>
              <a:cxnSpLocks/>
              <a:stCxn id="5" idx="0"/>
              <a:endCxn id="19" idx="0"/>
            </p:cNvCxnSpPr>
            <p:nvPr/>
          </p:nvCxnSpPr>
          <p:spPr>
            <a:xfrm>
              <a:off x="3075709" y="3322937"/>
              <a:ext cx="543791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2126A9-5EB5-92FF-CE13-BF0DED7C8C08}"/>
                </a:ext>
              </a:extLst>
            </p:cNvPr>
            <p:cNvSpPr txBox="1"/>
            <p:nvPr/>
          </p:nvSpPr>
          <p:spPr>
            <a:xfrm>
              <a:off x="4149436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6233A3C-9311-95EF-214A-BA5328EEF092}"/>
                </a:ext>
              </a:extLst>
            </p:cNvPr>
            <p:cNvSpPr txBox="1"/>
            <p:nvPr/>
          </p:nvSpPr>
          <p:spPr>
            <a:xfrm>
              <a:off x="4762499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C72221-E134-4618-8C90-06D6FD27F042}"/>
                </a:ext>
              </a:extLst>
            </p:cNvPr>
            <p:cNvSpPr txBox="1"/>
            <p:nvPr/>
          </p:nvSpPr>
          <p:spPr>
            <a:xfrm>
              <a:off x="5344390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6342C44-492E-1281-9B3E-1CA7BB21DE38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 flipH="1">
              <a:off x="4339936" y="3332893"/>
              <a:ext cx="651163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6643B6C-2508-7BFE-DDB1-7777DA6FCB20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4952999" y="3332893"/>
              <a:ext cx="38100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3891774-0A2A-8098-5E8D-081A5FF1A6E0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4991099" y="3332893"/>
              <a:ext cx="543791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C43F59-D698-239A-3611-CAE92862A956}"/>
                </a:ext>
              </a:extLst>
            </p:cNvPr>
            <p:cNvSpPr txBox="1"/>
            <p:nvPr/>
          </p:nvSpPr>
          <p:spPr>
            <a:xfrm>
              <a:off x="6120246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3EBECC-86B8-42B2-6DE4-6AC89615AE3B}"/>
                </a:ext>
              </a:extLst>
            </p:cNvPr>
            <p:cNvSpPr txBox="1"/>
            <p:nvPr/>
          </p:nvSpPr>
          <p:spPr>
            <a:xfrm>
              <a:off x="6733309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93A857-A284-C249-7F47-6532997C358A}"/>
                </a:ext>
              </a:extLst>
            </p:cNvPr>
            <p:cNvSpPr txBox="1"/>
            <p:nvPr/>
          </p:nvSpPr>
          <p:spPr>
            <a:xfrm>
              <a:off x="7315200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BEC75E5-D99B-4829-22E8-5455ED558970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 flipH="1">
              <a:off x="6310746" y="3332893"/>
              <a:ext cx="651163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69A0EE5-B59B-DBA7-8FF0-F9A8D0BBDF63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 flipH="1">
              <a:off x="6923809" y="3332893"/>
              <a:ext cx="38100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8951014-5058-8425-6BD7-3AE620D73DA9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6961909" y="3332893"/>
              <a:ext cx="543791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E4A8501-92D9-8249-4E4B-F3739852036E}"/>
                </a:ext>
              </a:extLst>
            </p:cNvPr>
            <p:cNvSpPr txBox="1"/>
            <p:nvPr/>
          </p:nvSpPr>
          <p:spPr>
            <a:xfrm>
              <a:off x="495296" y="4462447"/>
              <a:ext cx="158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Utility for Max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DED3E9-1B62-8DC2-051C-6DA26E591D24}"/>
                </a:ext>
              </a:extLst>
            </p:cNvPr>
            <p:cNvSpPr txBox="1"/>
            <p:nvPr/>
          </p:nvSpPr>
          <p:spPr>
            <a:xfrm>
              <a:off x="4087090" y="1428736"/>
              <a:ext cx="7897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311267B-4D78-0BE2-8D01-8B2E9E29B53C}"/>
                </a:ext>
              </a:extLst>
            </p:cNvPr>
            <p:cNvSpPr txBox="1"/>
            <p:nvPr/>
          </p:nvSpPr>
          <p:spPr>
            <a:xfrm>
              <a:off x="2266950" y="2928951"/>
              <a:ext cx="7897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Min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9FF3625-567D-4A5C-9D8A-C9DA3E3733D5}"/>
                    </a:ext>
                  </a:extLst>
                </p:cNvPr>
                <p:cNvSpPr txBox="1"/>
                <p:nvPr/>
              </p:nvSpPr>
              <p:spPr>
                <a:xfrm>
                  <a:off x="3685308" y="202599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9FF3625-567D-4A5C-9D8A-C9DA3E3733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308" y="2025998"/>
                  <a:ext cx="38100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F5A91F5-7F70-8FF7-C1C1-5C9FF35A46C2}"/>
                    </a:ext>
                  </a:extLst>
                </p:cNvPr>
                <p:cNvSpPr txBox="1"/>
                <p:nvPr/>
              </p:nvSpPr>
              <p:spPr>
                <a:xfrm>
                  <a:off x="4572000" y="2054791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F5A91F5-7F70-8FF7-C1C1-5C9FF35A4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054791"/>
                  <a:ext cx="3810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B0D1A2C-D817-CC0C-0AF2-B66D7A61BE3F}"/>
                    </a:ext>
                  </a:extLst>
                </p:cNvPr>
                <p:cNvSpPr txBox="1"/>
                <p:nvPr/>
              </p:nvSpPr>
              <p:spPr>
                <a:xfrm>
                  <a:off x="5786004" y="2022969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B0D1A2C-D817-CC0C-0AF2-B66D7A61B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004" y="2022969"/>
                  <a:ext cx="3810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2BBCC3F-D7ED-2AA1-BE1F-05F6EEFD7D82}"/>
                    </a:ext>
                  </a:extLst>
                </p:cNvPr>
                <p:cNvSpPr txBox="1"/>
                <p:nvPr/>
              </p:nvSpPr>
              <p:spPr>
                <a:xfrm>
                  <a:off x="2280804" y="370717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2BBCC3F-D7ED-2AA1-BE1F-05F6EEFD7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0804" y="3707170"/>
                  <a:ext cx="38100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2EBCE86-B80B-D2F6-D576-E077D13655A0}"/>
                    </a:ext>
                  </a:extLst>
                </p:cNvPr>
                <p:cNvSpPr txBox="1"/>
                <p:nvPr/>
              </p:nvSpPr>
              <p:spPr>
                <a:xfrm>
                  <a:off x="2722418" y="3863993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2EBCE86-B80B-D2F6-D576-E077D1365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418" y="3863993"/>
                  <a:ext cx="38100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3150E31-74C2-5FCA-0696-1F0D510B4D95}"/>
                    </a:ext>
                  </a:extLst>
                </p:cNvPr>
                <p:cNvSpPr txBox="1"/>
                <p:nvPr/>
              </p:nvSpPr>
              <p:spPr>
                <a:xfrm>
                  <a:off x="3307772" y="3679129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3150E31-74C2-5FCA-0696-1F0D510B4D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772" y="3679129"/>
                  <a:ext cx="38100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DE8DF62-5501-8ED5-97D9-BB8CE83A8B0C}"/>
                    </a:ext>
                  </a:extLst>
                </p:cNvPr>
                <p:cNvSpPr txBox="1"/>
                <p:nvPr/>
              </p:nvSpPr>
              <p:spPr>
                <a:xfrm>
                  <a:off x="4256808" y="3539414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DE8DF62-5501-8ED5-97D9-BB8CE83A8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6808" y="3539414"/>
                  <a:ext cx="3810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13562D2-8940-8DB7-17BF-FED206399CB3}"/>
                    </a:ext>
                  </a:extLst>
                </p:cNvPr>
                <p:cNvSpPr txBox="1"/>
                <p:nvPr/>
              </p:nvSpPr>
              <p:spPr>
                <a:xfrm>
                  <a:off x="4914899" y="3854375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13562D2-8940-8DB7-17BF-FED206399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4899" y="3854375"/>
                  <a:ext cx="38100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1CB8253-3A6B-B876-8BCB-E358941F01DA}"/>
                    </a:ext>
                  </a:extLst>
                </p:cNvPr>
                <p:cNvSpPr txBox="1"/>
                <p:nvPr/>
              </p:nvSpPr>
              <p:spPr>
                <a:xfrm>
                  <a:off x="5250871" y="3484845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1CB8253-3A6B-B876-8BCB-E358941F0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0871" y="3484845"/>
                  <a:ext cx="3810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E9736D0-33D0-A618-822A-2C8315CA1DCD}"/>
                    </a:ext>
                  </a:extLst>
                </p:cNvPr>
                <p:cNvSpPr txBox="1"/>
                <p:nvPr/>
              </p:nvSpPr>
              <p:spPr>
                <a:xfrm>
                  <a:off x="6236278" y="3522083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E9736D0-33D0-A618-822A-2C8315CA1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6278" y="3522083"/>
                  <a:ext cx="38100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67F5B8A-814F-41A1-263A-D6DE2B51463F}"/>
                    </a:ext>
                  </a:extLst>
                </p:cNvPr>
                <p:cNvSpPr txBox="1"/>
                <p:nvPr/>
              </p:nvSpPr>
              <p:spPr>
                <a:xfrm>
                  <a:off x="6885709" y="387476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67F5B8A-814F-41A1-263A-D6DE2B514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5709" y="3874760"/>
                  <a:ext cx="38100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8ACF5A0-2A70-6111-DF91-5EC8C20A1463}"/>
                    </a:ext>
                  </a:extLst>
                </p:cNvPr>
                <p:cNvSpPr txBox="1"/>
                <p:nvPr/>
              </p:nvSpPr>
              <p:spPr>
                <a:xfrm>
                  <a:off x="7244198" y="3543953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8ACF5A0-2A70-6111-DF91-5EC8C20A1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4198" y="3543953"/>
                  <a:ext cx="38100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3DB4B-2EC0-6B19-8CCE-14AD9C7A3BEA}"/>
                </a:ext>
              </a:extLst>
            </p:cNvPr>
            <p:cNvSpPr txBox="1"/>
            <p:nvPr/>
          </p:nvSpPr>
          <p:spPr>
            <a:xfrm>
              <a:off x="3558886" y="2939336"/>
              <a:ext cx="381000" cy="38100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D8DBFDE-1D93-20B0-FB8E-F2EB76FAB73C}"/>
                </a:ext>
              </a:extLst>
            </p:cNvPr>
            <p:cNvSpPr txBox="1"/>
            <p:nvPr/>
          </p:nvSpPr>
          <p:spPr>
            <a:xfrm>
              <a:off x="5420590" y="2988903"/>
              <a:ext cx="381000" cy="38100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E112E37-0B18-A4C5-4AD9-EB13D847609B}"/>
                </a:ext>
              </a:extLst>
            </p:cNvPr>
            <p:cNvSpPr txBox="1"/>
            <p:nvPr/>
          </p:nvSpPr>
          <p:spPr>
            <a:xfrm>
              <a:off x="7405255" y="2951893"/>
              <a:ext cx="381000" cy="38100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5B0C9EA-2B85-BA6F-496D-D19BFFF1CD54}"/>
                </a:ext>
              </a:extLst>
            </p:cNvPr>
            <p:cNvSpPr txBox="1"/>
            <p:nvPr/>
          </p:nvSpPr>
          <p:spPr>
            <a:xfrm>
              <a:off x="5361708" y="1440884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0416EF3-E706-C3C4-2E37-ABE1F755CC86}"/>
                </a:ext>
              </a:extLst>
            </p:cNvPr>
            <p:cNvSpPr txBox="1"/>
            <p:nvPr/>
          </p:nvSpPr>
          <p:spPr>
            <a:xfrm>
              <a:off x="5306289" y="1066800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MV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7105D6F-387F-5450-1856-AAD06E5F1C78}"/>
                </a:ext>
              </a:extLst>
            </p:cNvPr>
            <p:cNvSpPr txBox="1"/>
            <p:nvPr/>
          </p:nvSpPr>
          <p:spPr>
            <a:xfrm>
              <a:off x="3479222" y="2617511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MV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5E4A828-22EE-E8F4-F403-6A218B995910}"/>
                </a:ext>
              </a:extLst>
            </p:cNvPr>
            <p:cNvSpPr txBox="1"/>
            <p:nvPr/>
          </p:nvSpPr>
          <p:spPr>
            <a:xfrm>
              <a:off x="5363439" y="2651813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MV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306A3BF-8DD4-01CE-7E60-50E88ABE2385}"/>
                </a:ext>
              </a:extLst>
            </p:cNvPr>
            <p:cNvSpPr txBox="1"/>
            <p:nvPr/>
          </p:nvSpPr>
          <p:spPr>
            <a:xfrm>
              <a:off x="7339114" y="2620687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MV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3902D03-5C1B-A6A6-3584-9FBFFE74A684}"/>
              </a:ext>
            </a:extLst>
          </p:cNvPr>
          <p:cNvSpPr txBox="1"/>
          <p:nvPr/>
        </p:nvSpPr>
        <p:spPr>
          <a:xfrm>
            <a:off x="1857373" y="5734569"/>
            <a:ext cx="829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all MV (minimax values).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optimal action for Max?</a:t>
            </a:r>
          </a:p>
        </p:txBody>
      </p:sp>
    </p:spTree>
    <p:extLst>
      <p:ext uri="{BB962C8B-B14F-4D97-AF65-F5344CB8AC3E}">
        <p14:creationId xmlns:p14="http://schemas.microsoft.com/office/powerpoint/2010/main" val="242905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5A5A2-E248-44DF-AEA7-5892C6C2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863195"/>
          </a:xfrm>
        </p:spPr>
        <p:txBody>
          <a:bodyPr/>
          <a:lstStyle/>
          <a:p>
            <a:r>
              <a:rPr lang="en-US"/>
              <a:t>Exercise: Simple 2-Ply Game with Alpha-Beta Pruning</a:t>
            </a:r>
          </a:p>
        </p:txBody>
      </p:sp>
    </p:spTree>
    <p:extLst>
      <p:ext uri="{BB962C8B-B14F-4D97-AF65-F5344CB8AC3E}">
        <p14:creationId xmlns:p14="http://schemas.microsoft.com/office/powerpoint/2010/main" val="200654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D0667-A679-6C9F-D90A-372E2C726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F6AA-1C8F-6FB3-588D-2871A300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61414"/>
            <a:ext cx="6381750" cy="961697"/>
          </a:xfrm>
        </p:spPr>
        <p:txBody>
          <a:bodyPr>
            <a:normAutofit fontScale="90000"/>
          </a:bodyPr>
          <a:lstStyle/>
          <a:p>
            <a:r>
              <a:rPr lang="en-US"/>
              <a:t>Exercise: </a:t>
            </a:r>
            <a:r>
              <a:rPr lang="en-US" dirty="0"/>
              <a:t>Simple 2-Ply Game with Alpha-Beta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ACDE07A-163D-F7A9-C9B3-AA29585E742D}"/>
                  </a:ext>
                </a:extLst>
              </p:cNvPr>
              <p:cNvSpPr txBox="1"/>
              <p:nvPr/>
            </p:nvSpPr>
            <p:spPr>
              <a:xfrm>
                <a:off x="2033310" y="5429125"/>
                <a:ext cx="78867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Find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intervals for all nodes.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What is the optimal move sequence?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What part of the tree can be pruned?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ACDE07A-163D-F7A9-C9B3-AA29585E7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310" y="5429125"/>
                <a:ext cx="7886700" cy="923330"/>
              </a:xfrm>
              <a:prstGeom prst="rect">
                <a:avLst/>
              </a:prstGeom>
              <a:blipFill>
                <a:blip r:embed="rId2"/>
                <a:stretch>
                  <a:fillRect l="-541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 descr="An exercise game tree.">
            <a:extLst>
              <a:ext uri="{FF2B5EF4-FFF2-40B4-BE49-F238E27FC236}">
                <a16:creationId xmlns:a16="http://schemas.microsoft.com/office/drawing/2014/main" id="{E3A01F1B-DF55-BDF2-3E75-F9F0DBB6F764}"/>
              </a:ext>
            </a:extLst>
          </p:cNvPr>
          <p:cNvGrpSpPr/>
          <p:nvPr/>
        </p:nvGrpSpPr>
        <p:grpSpPr>
          <a:xfrm>
            <a:off x="2023692" y="1416598"/>
            <a:ext cx="7514233" cy="3765002"/>
            <a:chOff x="495296" y="1066777"/>
            <a:chExt cx="7514233" cy="3765002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246256E5-6BCF-D35A-027D-7B4177633341}"/>
                </a:ext>
              </a:extLst>
            </p:cNvPr>
            <p:cNvSpPr/>
            <p:nvPr/>
          </p:nvSpPr>
          <p:spPr>
            <a:xfrm>
              <a:off x="4762499" y="1440884"/>
              <a:ext cx="457200" cy="381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2EA56D32-90C1-4211-6839-27CFCBE2E397}"/>
                </a:ext>
              </a:extLst>
            </p:cNvPr>
            <p:cNvSpPr/>
            <p:nvPr/>
          </p:nvSpPr>
          <p:spPr>
            <a:xfrm flipV="1">
              <a:off x="2847109" y="2941937"/>
              <a:ext cx="457200" cy="381000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6748E4D-A25E-F556-2F22-D98D278A4DC5}"/>
                </a:ext>
              </a:extLst>
            </p:cNvPr>
            <p:cNvSpPr/>
            <p:nvPr/>
          </p:nvSpPr>
          <p:spPr>
            <a:xfrm flipV="1">
              <a:off x="4762499" y="2972675"/>
              <a:ext cx="457200" cy="381000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76C16231-2E98-C410-130B-256C429CADAF}"/>
                </a:ext>
              </a:extLst>
            </p:cNvPr>
            <p:cNvSpPr/>
            <p:nvPr/>
          </p:nvSpPr>
          <p:spPr>
            <a:xfrm flipV="1">
              <a:off x="6733309" y="2962719"/>
              <a:ext cx="457200" cy="381000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0D584BF-0155-4605-82BD-67BE8FE94533}"/>
                </a:ext>
              </a:extLst>
            </p:cNvPr>
            <p:cNvCxnSpPr>
              <a:stCxn id="4" idx="3"/>
              <a:endCxn id="5" idx="3"/>
            </p:cNvCxnSpPr>
            <p:nvPr/>
          </p:nvCxnSpPr>
          <p:spPr>
            <a:xfrm flipH="1">
              <a:off x="3075709" y="1821884"/>
              <a:ext cx="1915390" cy="11200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AD833A9-1C70-20E8-E069-4CE25464C729}"/>
                </a:ext>
              </a:extLst>
            </p:cNvPr>
            <p:cNvCxnSpPr>
              <a:cxnSpLocks/>
              <a:stCxn id="4" idx="3"/>
              <a:endCxn id="6" idx="3"/>
            </p:cNvCxnSpPr>
            <p:nvPr/>
          </p:nvCxnSpPr>
          <p:spPr>
            <a:xfrm>
              <a:off x="4991099" y="1821884"/>
              <a:ext cx="0" cy="115079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645156A-87F0-FAEB-198D-EC82CE670671}"/>
                </a:ext>
              </a:extLst>
            </p:cNvPr>
            <p:cNvCxnSpPr>
              <a:cxnSpLocks/>
              <a:stCxn id="4" idx="3"/>
              <a:endCxn id="7" idx="3"/>
            </p:cNvCxnSpPr>
            <p:nvPr/>
          </p:nvCxnSpPr>
          <p:spPr>
            <a:xfrm>
              <a:off x="4991099" y="1821884"/>
              <a:ext cx="1970810" cy="11408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DA3A0E-FEC6-C2A4-52D0-91416EFE3772}"/>
                </a:ext>
              </a:extLst>
            </p:cNvPr>
            <p:cNvSpPr txBox="1"/>
            <p:nvPr/>
          </p:nvSpPr>
          <p:spPr>
            <a:xfrm>
              <a:off x="2234046" y="4440823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FE51B3-37A5-0670-831E-1C0AB4F0FC1F}"/>
                </a:ext>
              </a:extLst>
            </p:cNvPr>
            <p:cNvSpPr txBox="1"/>
            <p:nvPr/>
          </p:nvSpPr>
          <p:spPr>
            <a:xfrm>
              <a:off x="2847109" y="4440823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A35D2C-5E2E-8EF5-D8E5-3D7411F992FB}"/>
                </a:ext>
              </a:extLst>
            </p:cNvPr>
            <p:cNvSpPr txBox="1"/>
            <p:nvPr/>
          </p:nvSpPr>
          <p:spPr>
            <a:xfrm>
              <a:off x="3429000" y="4440823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FBB7E2E-8214-20A9-524C-498634887632}"/>
                </a:ext>
              </a:extLst>
            </p:cNvPr>
            <p:cNvCxnSpPr>
              <a:cxnSpLocks/>
              <a:stCxn id="5" idx="0"/>
              <a:endCxn id="17" idx="0"/>
            </p:cNvCxnSpPr>
            <p:nvPr/>
          </p:nvCxnSpPr>
          <p:spPr>
            <a:xfrm flipH="1">
              <a:off x="2424546" y="3322937"/>
              <a:ext cx="651163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50A1F1D-8245-65E0-C267-FFD3ABA9199B}"/>
                </a:ext>
              </a:extLst>
            </p:cNvPr>
            <p:cNvCxnSpPr>
              <a:cxnSpLocks/>
              <a:stCxn id="5" idx="0"/>
              <a:endCxn id="18" idx="0"/>
            </p:cNvCxnSpPr>
            <p:nvPr/>
          </p:nvCxnSpPr>
          <p:spPr>
            <a:xfrm flipH="1">
              <a:off x="3037609" y="3322937"/>
              <a:ext cx="38100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C12723-77DE-C615-D2FD-258B07EB87D7}"/>
                </a:ext>
              </a:extLst>
            </p:cNvPr>
            <p:cNvCxnSpPr>
              <a:cxnSpLocks/>
              <a:stCxn id="5" idx="0"/>
              <a:endCxn id="19" idx="0"/>
            </p:cNvCxnSpPr>
            <p:nvPr/>
          </p:nvCxnSpPr>
          <p:spPr>
            <a:xfrm>
              <a:off x="3075709" y="3322937"/>
              <a:ext cx="543791" cy="11178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4D750E-D224-6758-1345-D63F46FDE470}"/>
                </a:ext>
              </a:extLst>
            </p:cNvPr>
            <p:cNvSpPr txBox="1"/>
            <p:nvPr/>
          </p:nvSpPr>
          <p:spPr>
            <a:xfrm>
              <a:off x="4149436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B841846-CDE8-CD57-EDC1-5ED246386D80}"/>
                </a:ext>
              </a:extLst>
            </p:cNvPr>
            <p:cNvSpPr txBox="1"/>
            <p:nvPr/>
          </p:nvSpPr>
          <p:spPr>
            <a:xfrm>
              <a:off x="4762499" y="4450779"/>
              <a:ext cx="3810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18F66E-5709-F1CC-68E1-54B286CD5A61}"/>
                </a:ext>
              </a:extLst>
            </p:cNvPr>
            <p:cNvSpPr txBox="1"/>
            <p:nvPr/>
          </p:nvSpPr>
          <p:spPr>
            <a:xfrm>
              <a:off x="5344390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00A396-BEEA-B158-00AF-DE3075502D91}"/>
                </a:ext>
              </a:extLst>
            </p:cNvPr>
            <p:cNvCxnSpPr>
              <a:cxnSpLocks/>
              <a:stCxn id="6" idx="0"/>
              <a:endCxn id="29" idx="0"/>
            </p:cNvCxnSpPr>
            <p:nvPr/>
          </p:nvCxnSpPr>
          <p:spPr>
            <a:xfrm flipH="1">
              <a:off x="4339936" y="3353675"/>
              <a:ext cx="651163" cy="10971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0E87E66-6689-FAFA-7847-416E0AC50C2F}"/>
                </a:ext>
              </a:extLst>
            </p:cNvPr>
            <p:cNvCxnSpPr>
              <a:cxnSpLocks/>
              <a:stCxn id="6" idx="0"/>
              <a:endCxn id="30" idx="0"/>
            </p:cNvCxnSpPr>
            <p:nvPr/>
          </p:nvCxnSpPr>
          <p:spPr>
            <a:xfrm flipH="1">
              <a:off x="4952999" y="3353675"/>
              <a:ext cx="38100" cy="10971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960F080-0479-A101-0046-EF83935B92E7}"/>
                </a:ext>
              </a:extLst>
            </p:cNvPr>
            <p:cNvCxnSpPr>
              <a:cxnSpLocks/>
              <a:stCxn id="6" idx="0"/>
              <a:endCxn id="31" idx="0"/>
            </p:cNvCxnSpPr>
            <p:nvPr/>
          </p:nvCxnSpPr>
          <p:spPr>
            <a:xfrm>
              <a:off x="4991099" y="3353675"/>
              <a:ext cx="543791" cy="10971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3FBB5B-D422-9C58-29D0-F7CCE1DA8F4E}"/>
                </a:ext>
              </a:extLst>
            </p:cNvPr>
            <p:cNvSpPr txBox="1"/>
            <p:nvPr/>
          </p:nvSpPr>
          <p:spPr>
            <a:xfrm>
              <a:off x="6120246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7CEE7DA-BF0E-981D-2977-334786DA8804}"/>
                </a:ext>
              </a:extLst>
            </p:cNvPr>
            <p:cNvSpPr txBox="1"/>
            <p:nvPr/>
          </p:nvSpPr>
          <p:spPr>
            <a:xfrm>
              <a:off x="6733309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4931F3F-A959-8457-DA6F-7E73AADFB58B}"/>
                </a:ext>
              </a:extLst>
            </p:cNvPr>
            <p:cNvSpPr txBox="1"/>
            <p:nvPr/>
          </p:nvSpPr>
          <p:spPr>
            <a:xfrm>
              <a:off x="7315200" y="4450779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-4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458C249-3F7B-01B1-F368-BB6B0352B254}"/>
                </a:ext>
              </a:extLst>
            </p:cNvPr>
            <p:cNvCxnSpPr>
              <a:cxnSpLocks/>
              <a:stCxn id="7" idx="0"/>
              <a:endCxn id="35" idx="0"/>
            </p:cNvCxnSpPr>
            <p:nvPr/>
          </p:nvCxnSpPr>
          <p:spPr>
            <a:xfrm flipH="1">
              <a:off x="6310746" y="3343719"/>
              <a:ext cx="651163" cy="11070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2AB1328-CDA4-515B-136A-5EEBE4E688B0}"/>
                </a:ext>
              </a:extLst>
            </p:cNvPr>
            <p:cNvCxnSpPr>
              <a:cxnSpLocks/>
              <a:stCxn id="7" idx="0"/>
              <a:endCxn id="36" idx="0"/>
            </p:cNvCxnSpPr>
            <p:nvPr/>
          </p:nvCxnSpPr>
          <p:spPr>
            <a:xfrm flipH="1">
              <a:off x="6923809" y="3343719"/>
              <a:ext cx="38100" cy="11070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AE66DB-9C71-C0AB-7629-D2FE24297C1B}"/>
                </a:ext>
              </a:extLst>
            </p:cNvPr>
            <p:cNvCxnSpPr>
              <a:cxnSpLocks/>
              <a:stCxn id="7" idx="0"/>
              <a:endCxn id="37" idx="0"/>
            </p:cNvCxnSpPr>
            <p:nvPr/>
          </p:nvCxnSpPr>
          <p:spPr>
            <a:xfrm>
              <a:off x="6961909" y="3343719"/>
              <a:ext cx="543791" cy="11070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82D455-1455-87F2-30BA-72C814932842}"/>
                </a:ext>
              </a:extLst>
            </p:cNvPr>
            <p:cNvSpPr txBox="1"/>
            <p:nvPr/>
          </p:nvSpPr>
          <p:spPr>
            <a:xfrm>
              <a:off x="495296" y="4462447"/>
              <a:ext cx="158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Utility for Max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76C49BF-824A-79E7-CCE3-E80F754FB58F}"/>
                </a:ext>
              </a:extLst>
            </p:cNvPr>
            <p:cNvSpPr txBox="1"/>
            <p:nvPr/>
          </p:nvSpPr>
          <p:spPr>
            <a:xfrm>
              <a:off x="4087090" y="1428736"/>
              <a:ext cx="7897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029BA2E-AAB4-4608-369C-8A1CC0BC4B82}"/>
                </a:ext>
              </a:extLst>
            </p:cNvPr>
            <p:cNvSpPr txBox="1"/>
            <p:nvPr/>
          </p:nvSpPr>
          <p:spPr>
            <a:xfrm>
              <a:off x="2266950" y="2928951"/>
              <a:ext cx="7897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Min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0D62416-D2A0-5802-BA01-D7A0189C4D93}"/>
                    </a:ext>
                  </a:extLst>
                </p:cNvPr>
                <p:cNvSpPr txBox="1"/>
                <p:nvPr/>
              </p:nvSpPr>
              <p:spPr>
                <a:xfrm>
                  <a:off x="3685308" y="202599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0D62416-D2A0-5802-BA01-D7A0189C4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308" y="2025998"/>
                  <a:ext cx="38100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162A539-70AB-36E8-6DF7-EA44E1ED838C}"/>
                    </a:ext>
                  </a:extLst>
                </p:cNvPr>
                <p:cNvSpPr txBox="1"/>
                <p:nvPr/>
              </p:nvSpPr>
              <p:spPr>
                <a:xfrm>
                  <a:off x="4572000" y="2054791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162A539-70AB-36E8-6DF7-EA44E1ED8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054791"/>
                  <a:ext cx="38100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F74AC65-E1BC-C10F-51F0-82462CD5B374}"/>
                    </a:ext>
                  </a:extLst>
                </p:cNvPr>
                <p:cNvSpPr txBox="1"/>
                <p:nvPr/>
              </p:nvSpPr>
              <p:spPr>
                <a:xfrm>
                  <a:off x="5786004" y="2022969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F74AC65-E1BC-C10F-51F0-82462CD5B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004" y="2022969"/>
                  <a:ext cx="38100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5FA89AF-C845-E445-AD79-130964F4F9D4}"/>
                    </a:ext>
                  </a:extLst>
                </p:cNvPr>
                <p:cNvSpPr txBox="1"/>
                <p:nvPr/>
              </p:nvSpPr>
              <p:spPr>
                <a:xfrm>
                  <a:off x="2280804" y="370717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5FA89AF-C845-E445-AD79-130964F4F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0804" y="3707170"/>
                  <a:ext cx="38100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6D33B29-AAB3-6741-D182-24998DF5BA1C}"/>
                    </a:ext>
                  </a:extLst>
                </p:cNvPr>
                <p:cNvSpPr txBox="1"/>
                <p:nvPr/>
              </p:nvSpPr>
              <p:spPr>
                <a:xfrm>
                  <a:off x="2722418" y="3863993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6D33B29-AAB3-6741-D182-24998DF5BA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418" y="3863993"/>
                  <a:ext cx="38100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62941E3-1EF5-8BDF-CCDB-8974FC05F64F}"/>
                    </a:ext>
                  </a:extLst>
                </p:cNvPr>
                <p:cNvSpPr txBox="1"/>
                <p:nvPr/>
              </p:nvSpPr>
              <p:spPr>
                <a:xfrm>
                  <a:off x="3307772" y="3679129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62941E3-1EF5-8BDF-CCDB-8974FC05F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772" y="3679129"/>
                  <a:ext cx="38100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2856C5F-C5A5-69CB-7A33-9EFDBFEBACDB}"/>
                    </a:ext>
                  </a:extLst>
                </p:cNvPr>
                <p:cNvSpPr txBox="1"/>
                <p:nvPr/>
              </p:nvSpPr>
              <p:spPr>
                <a:xfrm>
                  <a:off x="4256808" y="3539414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2856C5F-C5A5-69CB-7A33-9EFDBFEBA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6808" y="3539414"/>
                  <a:ext cx="38100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50B4BD7-637F-5D68-149F-8F7D236906BF}"/>
                    </a:ext>
                  </a:extLst>
                </p:cNvPr>
                <p:cNvSpPr txBox="1"/>
                <p:nvPr/>
              </p:nvSpPr>
              <p:spPr>
                <a:xfrm>
                  <a:off x="4914899" y="3854375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50B4BD7-637F-5D68-149F-8F7D23690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4899" y="3854375"/>
                  <a:ext cx="38100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2272BF4-0F3F-A333-8669-D849F5FDD969}"/>
                    </a:ext>
                  </a:extLst>
                </p:cNvPr>
                <p:cNvSpPr txBox="1"/>
                <p:nvPr/>
              </p:nvSpPr>
              <p:spPr>
                <a:xfrm>
                  <a:off x="5250871" y="3484845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2272BF4-0F3F-A333-8669-D849F5FDD9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0871" y="3484845"/>
                  <a:ext cx="381000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0CFD107-45EB-1C00-2046-67BF03DC492E}"/>
                    </a:ext>
                  </a:extLst>
                </p:cNvPr>
                <p:cNvSpPr txBox="1"/>
                <p:nvPr/>
              </p:nvSpPr>
              <p:spPr>
                <a:xfrm>
                  <a:off x="6236278" y="3522083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0CFD107-45EB-1C00-2046-67BF03DC4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6278" y="3522083"/>
                  <a:ext cx="381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BE35CEB-C8D4-703E-C135-C73971E5E226}"/>
                    </a:ext>
                  </a:extLst>
                </p:cNvPr>
                <p:cNvSpPr txBox="1"/>
                <p:nvPr/>
              </p:nvSpPr>
              <p:spPr>
                <a:xfrm>
                  <a:off x="6885709" y="387476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BE35CEB-C8D4-703E-C135-C73971E5E2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5709" y="3874760"/>
                  <a:ext cx="381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FCD7784-D3EF-D08E-E5D5-6224B8357EDF}"/>
                    </a:ext>
                  </a:extLst>
                </p:cNvPr>
                <p:cNvSpPr txBox="1"/>
                <p:nvPr/>
              </p:nvSpPr>
              <p:spPr>
                <a:xfrm>
                  <a:off x="7244198" y="3543953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FCD7784-D3EF-D08E-E5D5-6224B8357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4198" y="3543953"/>
                  <a:ext cx="381000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C11B20D-A52F-34AC-FF9F-229DA1696187}"/>
                </a:ext>
              </a:extLst>
            </p:cNvPr>
            <p:cNvSpPr txBox="1"/>
            <p:nvPr/>
          </p:nvSpPr>
          <p:spPr>
            <a:xfrm>
              <a:off x="3558886" y="2939336"/>
              <a:ext cx="381000" cy="38100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E3424DE-FCF5-0B05-6BAD-DA7868499D00}"/>
                </a:ext>
              </a:extLst>
            </p:cNvPr>
            <p:cNvSpPr txBox="1"/>
            <p:nvPr/>
          </p:nvSpPr>
          <p:spPr>
            <a:xfrm>
              <a:off x="5420590" y="2988903"/>
              <a:ext cx="381000" cy="38100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CAF294-A2F1-2AEF-9456-EB5C9DE6055C}"/>
                </a:ext>
              </a:extLst>
            </p:cNvPr>
            <p:cNvSpPr txBox="1"/>
            <p:nvPr/>
          </p:nvSpPr>
          <p:spPr>
            <a:xfrm>
              <a:off x="7405255" y="2951893"/>
              <a:ext cx="381000" cy="38100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F2BEFF-6344-F6DE-34D9-C06A928FB2B2}"/>
                </a:ext>
              </a:extLst>
            </p:cNvPr>
            <p:cNvSpPr txBox="1"/>
            <p:nvPr/>
          </p:nvSpPr>
          <p:spPr>
            <a:xfrm>
              <a:off x="5361708" y="1440884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495824A-C63D-9B9A-F2B6-C979F99A56DB}"/>
                    </a:ext>
                  </a:extLst>
                </p:cNvPr>
                <p:cNvSpPr txBox="1"/>
                <p:nvPr/>
              </p:nvSpPr>
              <p:spPr>
                <a:xfrm>
                  <a:off x="5183993" y="1066777"/>
                  <a:ext cx="775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495824A-C63D-9B9A-F2B6-C979F99A5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993" y="1066777"/>
                  <a:ext cx="775725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3BE877A-7742-64AA-5D21-EA9BA9CA8C73}"/>
                    </a:ext>
                  </a:extLst>
                </p:cNvPr>
                <p:cNvSpPr txBox="1"/>
                <p:nvPr/>
              </p:nvSpPr>
              <p:spPr>
                <a:xfrm>
                  <a:off x="3371979" y="2570147"/>
                  <a:ext cx="775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3BE877A-7742-64AA-5D21-EA9BA9CA8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979" y="2570147"/>
                  <a:ext cx="775725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FC174BD-C2ED-6246-DDF9-7DBA6BA75B62}"/>
                    </a:ext>
                  </a:extLst>
                </p:cNvPr>
                <p:cNvSpPr txBox="1"/>
                <p:nvPr/>
              </p:nvSpPr>
              <p:spPr>
                <a:xfrm>
                  <a:off x="5244008" y="2601510"/>
                  <a:ext cx="775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FC174BD-C2ED-6246-DDF9-7DBA6BA75B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4008" y="2601510"/>
                  <a:ext cx="775725" cy="369332"/>
                </a:xfrm>
                <a:prstGeom prst="rect">
                  <a:avLst/>
                </a:prstGeom>
                <a:blipFill>
                  <a:blip r:embed="rId3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40B03-539F-1113-5DF6-CA03F6615663}"/>
                    </a:ext>
                  </a:extLst>
                </p:cNvPr>
                <p:cNvSpPr txBox="1"/>
                <p:nvPr/>
              </p:nvSpPr>
              <p:spPr>
                <a:xfrm>
                  <a:off x="7233804" y="2559619"/>
                  <a:ext cx="775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40B03-539F-1113-5DF6-CA03F6615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3804" y="2559619"/>
                  <a:ext cx="775725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A080CE-C0E6-097F-E400-C3BBC2823F27}"/>
                  </a:ext>
                </a:extLst>
              </p:cNvPr>
              <p:cNvSpPr txBox="1"/>
              <p:nvPr/>
            </p:nvSpPr>
            <p:spPr>
              <a:xfrm>
                <a:off x="8600209" y="273725"/>
                <a:ext cx="1702204" cy="132343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Max updates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r>
                  <a:rPr lang="en-US" sz="1600" dirty="0"/>
                  <a:t>(utility is at least)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Min updates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(utility is at most)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A080CE-C0E6-097F-E400-C3BBC2823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209" y="273725"/>
                <a:ext cx="1702204" cy="1323439"/>
              </a:xfrm>
              <a:prstGeom prst="rect">
                <a:avLst/>
              </a:prstGeom>
              <a:blipFill>
                <a:blip r:embed="rId32"/>
                <a:stretch>
                  <a:fillRect l="-1773" t="-909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00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5A5A2-E248-44DF-AEA7-5892C6C2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Exercise: Simple 2-Ply Game with Alpha-Beta Pruning and Move Ordering</a:t>
            </a:r>
          </a:p>
        </p:txBody>
      </p:sp>
    </p:spTree>
    <p:extLst>
      <p:ext uri="{BB962C8B-B14F-4D97-AF65-F5344CB8AC3E}">
        <p14:creationId xmlns:p14="http://schemas.microsoft.com/office/powerpoint/2010/main" val="1039910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A756-7521-DBD7-3F57-F2E962E3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261414"/>
            <a:ext cx="6447559" cy="961697"/>
          </a:xfrm>
        </p:spPr>
        <p:txBody>
          <a:bodyPr>
            <a:noAutofit/>
          </a:bodyPr>
          <a:lstStyle/>
          <a:p>
            <a:r>
              <a:rPr lang="en-US" sz="2800" dirty="0"/>
              <a:t>Exercise: Simple 2-Ply Game with Alpha-Beta Pruning and Move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3902D03-5C1B-A6A6-3584-9FBFFE74A684}"/>
                  </a:ext>
                </a:extLst>
              </p:cNvPr>
              <p:cNvSpPr txBox="1"/>
              <p:nvPr/>
            </p:nvSpPr>
            <p:spPr>
              <a:xfrm>
                <a:off x="2039215" y="5742369"/>
                <a:ext cx="78867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Find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intervals for all nodes using the move ordering.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What is the optimal move sequence?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What part of the tree was pruned?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3902D03-5C1B-A6A6-3584-9FBFFE74A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215" y="5742369"/>
                <a:ext cx="7886700" cy="923330"/>
              </a:xfrm>
              <a:prstGeom prst="rect">
                <a:avLst/>
              </a:prstGeom>
              <a:blipFill>
                <a:blip r:embed="rId2"/>
                <a:stretch>
                  <a:fillRect l="-541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8B5120-8ADD-68AB-E7E5-D408C2003ACD}"/>
                  </a:ext>
                </a:extLst>
              </p:cNvPr>
              <p:cNvSpPr txBox="1"/>
              <p:nvPr/>
            </p:nvSpPr>
            <p:spPr>
              <a:xfrm>
                <a:off x="2039216" y="1337183"/>
                <a:ext cx="405678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Assume a heuristic shows that we should order the moves: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8B5120-8ADD-68AB-E7E5-D408C2003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216" y="1337183"/>
                <a:ext cx="4056785" cy="646331"/>
              </a:xfrm>
              <a:prstGeom prst="rect">
                <a:avLst/>
              </a:prstGeom>
              <a:blipFill>
                <a:blip r:embed="rId3"/>
                <a:stretch>
                  <a:fillRect l="-1053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6E45C-7594-F5AB-A779-36B76F76A489}"/>
                  </a:ext>
                </a:extLst>
              </p:cNvPr>
              <p:cNvSpPr txBox="1"/>
              <p:nvPr/>
            </p:nvSpPr>
            <p:spPr>
              <a:xfrm>
                <a:off x="8600209" y="273725"/>
                <a:ext cx="1702204" cy="132343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Max updates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r>
                  <a:rPr lang="en-US" sz="1600" dirty="0"/>
                  <a:t>(utility is at least)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Min updates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(utility is at most)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46E45C-7594-F5AB-A779-36B76F76A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209" y="273725"/>
                <a:ext cx="1702204" cy="1323439"/>
              </a:xfrm>
              <a:prstGeom prst="rect">
                <a:avLst/>
              </a:prstGeom>
              <a:blipFill>
                <a:blip r:embed="rId4"/>
                <a:stretch>
                  <a:fillRect l="-1773" t="-909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8B2AD63-0E98-3A3E-419B-CB0346424E55}"/>
              </a:ext>
            </a:extLst>
          </p:cNvPr>
          <p:cNvGrpSpPr/>
          <p:nvPr/>
        </p:nvGrpSpPr>
        <p:grpSpPr>
          <a:xfrm>
            <a:off x="2019296" y="1672100"/>
            <a:ext cx="7506356" cy="3890501"/>
            <a:chOff x="495296" y="1672099"/>
            <a:chExt cx="7506356" cy="3890501"/>
          </a:xfrm>
        </p:grpSpPr>
        <p:grpSp>
          <p:nvGrpSpPr>
            <p:cNvPr id="13" name="Group 12" descr="An exercide game tree.">
              <a:extLst>
                <a:ext uri="{FF2B5EF4-FFF2-40B4-BE49-F238E27FC236}">
                  <a16:creationId xmlns:a16="http://schemas.microsoft.com/office/drawing/2014/main" id="{83BC23CE-8497-6CAE-81C6-1741B6844A86}"/>
                </a:ext>
              </a:extLst>
            </p:cNvPr>
            <p:cNvGrpSpPr/>
            <p:nvPr/>
          </p:nvGrpSpPr>
          <p:grpSpPr>
            <a:xfrm>
              <a:off x="495296" y="1672099"/>
              <a:ext cx="7200904" cy="3890501"/>
              <a:chOff x="495296" y="1672099"/>
              <a:chExt cx="7200904" cy="3890501"/>
            </a:xfrm>
          </p:grpSpPr>
          <p:sp>
            <p:nvSpPr>
              <p:cNvPr id="4" name="Isosceles Triangle 3">
                <a:extLst>
                  <a:ext uri="{FF2B5EF4-FFF2-40B4-BE49-F238E27FC236}">
                    <a16:creationId xmlns:a16="http://schemas.microsoft.com/office/drawing/2014/main" id="{6CB51465-B087-D623-FED9-B3ED609DE436}"/>
                  </a:ext>
                </a:extLst>
              </p:cNvPr>
              <p:cNvSpPr/>
              <p:nvPr/>
            </p:nvSpPr>
            <p:spPr>
              <a:xfrm>
                <a:off x="4762499" y="2171705"/>
                <a:ext cx="457200" cy="3810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14F2DD27-D756-E4AB-0A11-C8C3F4C4249E}"/>
                  </a:ext>
                </a:extLst>
              </p:cNvPr>
              <p:cNvSpPr/>
              <p:nvPr/>
            </p:nvSpPr>
            <p:spPr>
              <a:xfrm flipV="1">
                <a:off x="2847109" y="3672758"/>
                <a:ext cx="457200" cy="381000"/>
              </a:xfrm>
              <a:prstGeom prst="triangl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Isosceles Triangle 5">
                <a:extLst>
                  <a:ext uri="{FF2B5EF4-FFF2-40B4-BE49-F238E27FC236}">
                    <a16:creationId xmlns:a16="http://schemas.microsoft.com/office/drawing/2014/main" id="{D39DEF0E-321F-3094-7F9E-9E8C865C6C07}"/>
                  </a:ext>
                </a:extLst>
              </p:cNvPr>
              <p:cNvSpPr/>
              <p:nvPr/>
            </p:nvSpPr>
            <p:spPr>
              <a:xfrm flipV="1">
                <a:off x="4762499" y="3703496"/>
                <a:ext cx="457200" cy="381000"/>
              </a:xfrm>
              <a:prstGeom prst="triangl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Isosceles Triangle 6">
                <a:extLst>
                  <a:ext uri="{FF2B5EF4-FFF2-40B4-BE49-F238E27FC236}">
                    <a16:creationId xmlns:a16="http://schemas.microsoft.com/office/drawing/2014/main" id="{AC4C0D83-1E54-1A2A-4CEF-5FD569F1EAFF}"/>
                  </a:ext>
                </a:extLst>
              </p:cNvPr>
              <p:cNvSpPr/>
              <p:nvPr/>
            </p:nvSpPr>
            <p:spPr>
              <a:xfrm flipV="1">
                <a:off x="6733309" y="3693540"/>
                <a:ext cx="457200" cy="381000"/>
              </a:xfrm>
              <a:prstGeom prst="triangl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FC8CF720-7C4A-3665-93D7-E6A44B7453C3}"/>
                  </a:ext>
                </a:extLst>
              </p:cNvPr>
              <p:cNvCxnSpPr>
                <a:cxnSpLocks/>
                <a:stCxn id="4" idx="3"/>
                <a:endCxn id="5" idx="3"/>
              </p:cNvCxnSpPr>
              <p:nvPr/>
            </p:nvCxnSpPr>
            <p:spPr>
              <a:xfrm flipH="1">
                <a:off x="3075709" y="2552705"/>
                <a:ext cx="1915390" cy="11200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B233E44-68C2-744B-8F57-1665191B76CF}"/>
                  </a:ext>
                </a:extLst>
              </p:cNvPr>
              <p:cNvCxnSpPr>
                <a:cxnSpLocks/>
                <a:stCxn id="4" idx="3"/>
                <a:endCxn id="6" idx="3"/>
              </p:cNvCxnSpPr>
              <p:nvPr/>
            </p:nvCxnSpPr>
            <p:spPr>
              <a:xfrm>
                <a:off x="4991099" y="2552705"/>
                <a:ext cx="0" cy="11507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9B0BCEE-2A09-D50A-8C78-879B216085DE}"/>
                  </a:ext>
                </a:extLst>
              </p:cNvPr>
              <p:cNvCxnSpPr>
                <a:cxnSpLocks/>
                <a:stCxn id="4" idx="3"/>
                <a:endCxn id="7" idx="3"/>
              </p:cNvCxnSpPr>
              <p:nvPr/>
            </p:nvCxnSpPr>
            <p:spPr>
              <a:xfrm>
                <a:off x="4991099" y="2552705"/>
                <a:ext cx="1970810" cy="11408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19BD00-FE1C-EABC-8121-5BFF156C3A38}"/>
                  </a:ext>
                </a:extLst>
              </p:cNvPr>
              <p:cNvSpPr txBox="1"/>
              <p:nvPr/>
            </p:nvSpPr>
            <p:spPr>
              <a:xfrm>
                <a:off x="2234046" y="5171644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-5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EBCC83-56E7-950E-6399-2246AAA888EB}"/>
                  </a:ext>
                </a:extLst>
              </p:cNvPr>
              <p:cNvSpPr txBox="1"/>
              <p:nvPr/>
            </p:nvSpPr>
            <p:spPr>
              <a:xfrm>
                <a:off x="2847109" y="5171644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0F277D-5EE0-3AD7-D6E8-7CE2E32020A8}"/>
                  </a:ext>
                </a:extLst>
              </p:cNvPr>
              <p:cNvSpPr txBox="1"/>
              <p:nvPr/>
            </p:nvSpPr>
            <p:spPr>
              <a:xfrm>
                <a:off x="3429000" y="5171644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31AADCD-E2FD-0767-ECBC-8CE4C5301CFB}"/>
                  </a:ext>
                </a:extLst>
              </p:cNvPr>
              <p:cNvCxnSpPr>
                <a:cxnSpLocks/>
                <a:stCxn id="5" idx="0"/>
                <a:endCxn id="17" idx="0"/>
              </p:cNvCxnSpPr>
              <p:nvPr/>
            </p:nvCxnSpPr>
            <p:spPr>
              <a:xfrm flipH="1">
                <a:off x="2424546" y="4053758"/>
                <a:ext cx="651163" cy="11178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3491E56-D097-3228-1BFF-3F7294039691}"/>
                  </a:ext>
                </a:extLst>
              </p:cNvPr>
              <p:cNvCxnSpPr>
                <a:cxnSpLocks/>
                <a:stCxn id="5" idx="0"/>
                <a:endCxn id="18" idx="0"/>
              </p:cNvCxnSpPr>
              <p:nvPr/>
            </p:nvCxnSpPr>
            <p:spPr>
              <a:xfrm flipH="1">
                <a:off x="3037609" y="4053758"/>
                <a:ext cx="38100" cy="11178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E089D41-907A-2536-B877-7FC35B77A9AF}"/>
                  </a:ext>
                </a:extLst>
              </p:cNvPr>
              <p:cNvCxnSpPr>
                <a:cxnSpLocks/>
                <a:stCxn id="5" idx="0"/>
                <a:endCxn id="19" idx="0"/>
              </p:cNvCxnSpPr>
              <p:nvPr/>
            </p:nvCxnSpPr>
            <p:spPr>
              <a:xfrm>
                <a:off x="3075709" y="4053758"/>
                <a:ext cx="543791" cy="11178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2126A9-5EB5-92FF-CE13-BF0DED7C8C08}"/>
                  </a:ext>
                </a:extLst>
              </p:cNvPr>
              <p:cNvSpPr txBox="1"/>
              <p:nvPr/>
            </p:nvSpPr>
            <p:spPr>
              <a:xfrm>
                <a:off x="4149436" y="5181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233A3C-9311-95EF-214A-BA5328EEF092}"/>
                  </a:ext>
                </a:extLst>
              </p:cNvPr>
              <p:cNvSpPr txBox="1"/>
              <p:nvPr/>
            </p:nvSpPr>
            <p:spPr>
              <a:xfrm>
                <a:off x="4762499" y="5181600"/>
                <a:ext cx="381000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C72221-E134-4618-8C90-06D6FD27F042}"/>
                  </a:ext>
                </a:extLst>
              </p:cNvPr>
              <p:cNvSpPr txBox="1"/>
              <p:nvPr/>
            </p:nvSpPr>
            <p:spPr>
              <a:xfrm>
                <a:off x="5344390" y="5181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6342C44-492E-1281-9B3E-1CA7BB21DE38}"/>
                  </a:ext>
                </a:extLst>
              </p:cNvPr>
              <p:cNvCxnSpPr>
                <a:cxnSpLocks/>
                <a:stCxn id="6" idx="0"/>
                <a:endCxn id="29" idx="0"/>
              </p:cNvCxnSpPr>
              <p:nvPr/>
            </p:nvCxnSpPr>
            <p:spPr>
              <a:xfrm flipH="1">
                <a:off x="4339936" y="4084496"/>
                <a:ext cx="651163" cy="10971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26643B6C-2508-7BFE-DDB1-7777DA6FCB20}"/>
                  </a:ext>
                </a:extLst>
              </p:cNvPr>
              <p:cNvCxnSpPr>
                <a:cxnSpLocks/>
                <a:stCxn id="6" idx="0"/>
                <a:endCxn id="30" idx="0"/>
              </p:cNvCxnSpPr>
              <p:nvPr/>
            </p:nvCxnSpPr>
            <p:spPr>
              <a:xfrm flipH="1">
                <a:off x="4952999" y="4084496"/>
                <a:ext cx="38100" cy="10971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3891774-0A2A-8098-5E8D-081A5FF1A6E0}"/>
                  </a:ext>
                </a:extLst>
              </p:cNvPr>
              <p:cNvCxnSpPr>
                <a:cxnSpLocks/>
                <a:stCxn id="6" idx="0"/>
                <a:endCxn id="31" idx="0"/>
              </p:cNvCxnSpPr>
              <p:nvPr/>
            </p:nvCxnSpPr>
            <p:spPr>
              <a:xfrm>
                <a:off x="4991099" y="4084496"/>
                <a:ext cx="543791" cy="10971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C43F59-D698-239A-3611-CAE92862A956}"/>
                  </a:ext>
                </a:extLst>
              </p:cNvPr>
              <p:cNvSpPr txBox="1"/>
              <p:nvPr/>
            </p:nvSpPr>
            <p:spPr>
              <a:xfrm>
                <a:off x="6120246" y="5181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3EBECC-86B8-42B2-6DE4-6AC89615AE3B}"/>
                  </a:ext>
                </a:extLst>
              </p:cNvPr>
              <p:cNvSpPr txBox="1"/>
              <p:nvPr/>
            </p:nvSpPr>
            <p:spPr>
              <a:xfrm>
                <a:off x="6733309" y="5181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-7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93A857-A284-C249-7F47-6532997C358A}"/>
                  </a:ext>
                </a:extLst>
              </p:cNvPr>
              <p:cNvSpPr txBox="1"/>
              <p:nvPr/>
            </p:nvSpPr>
            <p:spPr>
              <a:xfrm>
                <a:off x="7315200" y="5181600"/>
                <a:ext cx="381000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-4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BEC75E5-D99B-4829-22E8-5455ED558970}"/>
                  </a:ext>
                </a:extLst>
              </p:cNvPr>
              <p:cNvCxnSpPr>
                <a:cxnSpLocks/>
                <a:stCxn id="7" idx="0"/>
                <a:endCxn id="35" idx="0"/>
              </p:cNvCxnSpPr>
              <p:nvPr/>
            </p:nvCxnSpPr>
            <p:spPr>
              <a:xfrm flipH="1">
                <a:off x="6310746" y="4074540"/>
                <a:ext cx="651163" cy="1107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69A0EE5-B59B-DBA7-8FF0-F9A8D0BBDF63}"/>
                  </a:ext>
                </a:extLst>
              </p:cNvPr>
              <p:cNvCxnSpPr>
                <a:cxnSpLocks/>
                <a:stCxn id="7" idx="0"/>
                <a:endCxn id="36" idx="0"/>
              </p:cNvCxnSpPr>
              <p:nvPr/>
            </p:nvCxnSpPr>
            <p:spPr>
              <a:xfrm flipH="1">
                <a:off x="6923809" y="4074540"/>
                <a:ext cx="38100" cy="1107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78951014-5058-8425-6BD7-3AE620D73DA9}"/>
                  </a:ext>
                </a:extLst>
              </p:cNvPr>
              <p:cNvCxnSpPr>
                <a:cxnSpLocks/>
                <a:stCxn id="7" idx="0"/>
                <a:endCxn id="37" idx="0"/>
              </p:cNvCxnSpPr>
              <p:nvPr/>
            </p:nvCxnSpPr>
            <p:spPr>
              <a:xfrm>
                <a:off x="6961909" y="4074540"/>
                <a:ext cx="543791" cy="1107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E4A8501-92D9-8249-4E4B-F3739852036E}"/>
                  </a:ext>
                </a:extLst>
              </p:cNvPr>
              <p:cNvSpPr txBox="1"/>
              <p:nvPr/>
            </p:nvSpPr>
            <p:spPr>
              <a:xfrm>
                <a:off x="495296" y="5193268"/>
                <a:ext cx="15828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Utility for Max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ED3E9-1B62-8DC2-051C-6DA26E591D24}"/>
                  </a:ext>
                </a:extLst>
              </p:cNvPr>
              <p:cNvSpPr txBox="1"/>
              <p:nvPr/>
            </p:nvSpPr>
            <p:spPr>
              <a:xfrm>
                <a:off x="4087090" y="2159557"/>
                <a:ext cx="7897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Max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11267B-4D78-0BE2-8D01-8B2E9E29B53C}"/>
                  </a:ext>
                </a:extLst>
              </p:cNvPr>
              <p:cNvSpPr txBox="1"/>
              <p:nvPr/>
            </p:nvSpPr>
            <p:spPr>
              <a:xfrm>
                <a:off x="2266950" y="3659772"/>
                <a:ext cx="7897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Min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89FF3625-567D-4A5C-9D8A-C9DA3E3733D5}"/>
                      </a:ext>
                    </a:extLst>
                  </p:cNvPr>
                  <p:cNvSpPr txBox="1"/>
                  <p:nvPr/>
                </p:nvSpPr>
                <p:spPr>
                  <a:xfrm>
                    <a:off x="3685308" y="2756819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89FF3625-567D-4A5C-9D8A-C9DA3E3733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5308" y="2756819"/>
                    <a:ext cx="38100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9F5A91F5-7F70-8FF7-C1C1-5C9FF35A46C2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2785612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9F5A91F5-7F70-8FF7-C1C1-5C9FF35A46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2000" y="2785612"/>
                    <a:ext cx="38100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5B0D1A2C-D817-CC0C-0AF2-B66D7A61BE3F}"/>
                      </a:ext>
                    </a:extLst>
                  </p:cNvPr>
                  <p:cNvSpPr txBox="1"/>
                  <p:nvPr/>
                </p:nvSpPr>
                <p:spPr>
                  <a:xfrm>
                    <a:off x="5786004" y="2753790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5B0D1A2C-D817-CC0C-0AF2-B66D7A61BE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6004" y="2753790"/>
                    <a:ext cx="38100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2BBCC3F-D7ED-2AA1-BE1F-05F6EEFD7D82}"/>
                      </a:ext>
                    </a:extLst>
                  </p:cNvPr>
                  <p:cNvSpPr txBox="1"/>
                  <p:nvPr/>
                </p:nvSpPr>
                <p:spPr>
                  <a:xfrm>
                    <a:off x="2280804" y="4437991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2BBCC3F-D7ED-2AA1-BE1F-05F6EEFD7D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0804" y="4437991"/>
                    <a:ext cx="38100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2EBCE86-B80B-D2F6-D576-E077D13655A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2418" y="4594814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2EBCE86-B80B-D2F6-D576-E077D13655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2418" y="4594814"/>
                    <a:ext cx="38100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B3150E31-74C2-5FCA-0696-1F0D510B4D95}"/>
                      </a:ext>
                    </a:extLst>
                  </p:cNvPr>
                  <p:cNvSpPr txBox="1"/>
                  <p:nvPr/>
                </p:nvSpPr>
                <p:spPr>
                  <a:xfrm>
                    <a:off x="3307772" y="4409950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B3150E31-74C2-5FCA-0696-1F0D510B4D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7772" y="4409950"/>
                    <a:ext cx="38100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DE8DF62-5501-8ED5-97D9-BB8CE83A8B0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6808" y="4270235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DE8DF62-5501-8ED5-97D9-BB8CE83A8B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6808" y="4270235"/>
                    <a:ext cx="38100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013562D2-8940-8DB7-17BF-FED206399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914899" y="4585196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013562D2-8940-8DB7-17BF-FED206399C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4899" y="4585196"/>
                    <a:ext cx="381000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C1CB8253-3A6B-B876-8BCB-E358941F01DA}"/>
                      </a:ext>
                    </a:extLst>
                  </p:cNvPr>
                  <p:cNvSpPr txBox="1"/>
                  <p:nvPr/>
                </p:nvSpPr>
                <p:spPr>
                  <a:xfrm>
                    <a:off x="5306290" y="4461743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C1CB8253-3A6B-B876-8BCB-E358941F01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6290" y="4461743"/>
                    <a:ext cx="381000" cy="36933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6E9736D0-33D0-A618-822A-2C8315CA1DCD}"/>
                      </a:ext>
                    </a:extLst>
                  </p:cNvPr>
                  <p:cNvSpPr txBox="1"/>
                  <p:nvPr/>
                </p:nvSpPr>
                <p:spPr>
                  <a:xfrm>
                    <a:off x="6236278" y="4252904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6E9736D0-33D0-A618-822A-2C8315CA1D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36278" y="4252904"/>
                    <a:ext cx="381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67F5B8A-814F-41A1-263A-D6DE2B51463F}"/>
                      </a:ext>
                    </a:extLst>
                  </p:cNvPr>
                  <p:cNvSpPr txBox="1"/>
                  <p:nvPr/>
                </p:nvSpPr>
                <p:spPr>
                  <a:xfrm>
                    <a:off x="6885709" y="4605581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67F5B8A-814F-41A1-263A-D6DE2B5146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5709" y="4605581"/>
                    <a:ext cx="381000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8ACF5A0-2A70-6111-DF91-5EC8C20A1463}"/>
                      </a:ext>
                    </a:extLst>
                  </p:cNvPr>
                  <p:cNvSpPr txBox="1"/>
                  <p:nvPr/>
                </p:nvSpPr>
                <p:spPr>
                  <a:xfrm>
                    <a:off x="7255220" y="4497435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8ACF5A0-2A70-6111-DF91-5EC8C20A14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55220" y="4497435"/>
                    <a:ext cx="381000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433DB4B-2EC0-6B19-8CCE-14AD9C7A3BEA}"/>
                  </a:ext>
                </a:extLst>
              </p:cNvPr>
              <p:cNvSpPr txBox="1"/>
              <p:nvPr/>
            </p:nvSpPr>
            <p:spPr>
              <a:xfrm>
                <a:off x="3467082" y="3493969"/>
                <a:ext cx="680475" cy="92333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B0C9EA-2B85-BA6F-496D-D19BFFF1CD54}"/>
                  </a:ext>
                </a:extLst>
              </p:cNvPr>
              <p:cNvSpPr txBox="1"/>
              <p:nvPr/>
            </p:nvSpPr>
            <p:spPr>
              <a:xfrm>
                <a:off x="5350746" y="1721707"/>
                <a:ext cx="652891" cy="92333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50416EF3-E706-C3C4-2E37-ABE1F755CC86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095" y="1672099"/>
                    <a:ext cx="775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50416EF3-E706-C3C4-2E37-ABE1F755CC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095" y="1672099"/>
                    <a:ext cx="775725" cy="3693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826FE5CB-30FE-CCBC-5EF5-D60F4CF39E8A}"/>
                      </a:ext>
                    </a:extLst>
                  </p:cNvPr>
                  <p:cNvSpPr txBox="1"/>
                  <p:nvPr/>
                </p:nvSpPr>
                <p:spPr>
                  <a:xfrm>
                    <a:off x="3414173" y="3463999"/>
                    <a:ext cx="775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826FE5CB-30FE-CCBC-5EF5-D60F4CF39E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4173" y="3463999"/>
                    <a:ext cx="775725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B8B543-5D3A-D79E-053C-CDAD0165B9B5}"/>
                </a:ext>
              </a:extLst>
            </p:cNvPr>
            <p:cNvSpPr txBox="1"/>
            <p:nvPr/>
          </p:nvSpPr>
          <p:spPr>
            <a:xfrm>
              <a:off x="5336955" y="3488805"/>
              <a:ext cx="680475" cy="92333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284517F-B76A-DEDD-165A-1BBE61A1B0E4}"/>
                    </a:ext>
                  </a:extLst>
                </p:cNvPr>
                <p:cNvSpPr txBox="1"/>
                <p:nvPr/>
              </p:nvSpPr>
              <p:spPr>
                <a:xfrm>
                  <a:off x="5284046" y="3458835"/>
                  <a:ext cx="775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284517F-B76A-DEDD-165A-1BBE61A1B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046" y="3458835"/>
                  <a:ext cx="775725" cy="369332"/>
                </a:xfrm>
                <a:prstGeom prst="rect">
                  <a:avLst/>
                </a:prstGeom>
                <a:blipFill>
                  <a:blip r:embed="rId3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7BD40C-3D52-0AF8-0319-1D24A7C3D69A}"/>
                </a:ext>
              </a:extLst>
            </p:cNvPr>
            <p:cNvSpPr txBox="1"/>
            <p:nvPr/>
          </p:nvSpPr>
          <p:spPr>
            <a:xfrm>
              <a:off x="7278836" y="3488805"/>
              <a:ext cx="680475" cy="92333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DA342DA-F9A0-9848-5575-EE818AB48400}"/>
                    </a:ext>
                  </a:extLst>
                </p:cNvPr>
                <p:cNvSpPr txBox="1"/>
                <p:nvPr/>
              </p:nvSpPr>
              <p:spPr>
                <a:xfrm>
                  <a:off x="7225927" y="3458835"/>
                  <a:ext cx="775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DA342DA-F9A0-9848-5575-EE818AB48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5927" y="3458835"/>
                  <a:ext cx="775725" cy="369332"/>
                </a:xfrm>
                <a:prstGeom prst="rect">
                  <a:avLst/>
                </a:prstGeom>
                <a:blipFill>
                  <a:blip r:embed="rId3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0389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333</Words>
  <Application>Microsoft Office PowerPoint</Application>
  <PresentationFormat>Widescreen</PresentationFormat>
  <Paragraphs>115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Exercise: Simple 2-Ply Game with Minimax</vt:lpstr>
      <vt:lpstr>Exercise: Simple 2-Ply Game</vt:lpstr>
      <vt:lpstr>Exercise: Simple 2-Ply Game with Alpha-Beta Pruning</vt:lpstr>
      <vt:lpstr>Exercise: Simple 2-Ply Game with Alpha-Beta Pruning</vt:lpstr>
      <vt:lpstr>Exercise: Simple 2-Ply Game with Alpha-Beta Pruning and Move Ordering</vt:lpstr>
      <vt:lpstr>Exercise: Simple 2-Ply Game with Alpha-Beta Pruning and Move Ordering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Exercise: Simple 2-Ply Game with Alpha-Beta Pruning</dc:title>
  <dc:creator>Trung Phan</dc:creator>
  <cp:lastModifiedBy>Trung Phan</cp:lastModifiedBy>
  <cp:revision>12</cp:revision>
  <dcterms:created xsi:type="dcterms:W3CDTF">2026-01-16T03:29:24Z</dcterms:created>
  <dcterms:modified xsi:type="dcterms:W3CDTF">2026-01-16T05:21:48Z</dcterms:modified>
</cp:coreProperties>
</file>