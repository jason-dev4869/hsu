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2"/>
  </p:notesMasterIdLst>
  <p:sldIdLst>
    <p:sldId id="256" r:id="rId3"/>
    <p:sldId id="370" r:id="rId4"/>
    <p:sldId id="261" r:id="rId5"/>
    <p:sldId id="372" r:id="rId6"/>
    <p:sldId id="373" r:id="rId7"/>
    <p:sldId id="374" r:id="rId8"/>
    <p:sldId id="375" r:id="rId9"/>
    <p:sldId id="376" r:id="rId10"/>
    <p:sldId id="397" r:id="rId11"/>
    <p:sldId id="398" r:id="rId12"/>
    <p:sldId id="399" r:id="rId13"/>
    <p:sldId id="377" r:id="rId14"/>
    <p:sldId id="378" r:id="rId15"/>
    <p:sldId id="379" r:id="rId16"/>
    <p:sldId id="380" r:id="rId17"/>
    <p:sldId id="381" r:id="rId18"/>
    <p:sldId id="396" r:id="rId19"/>
    <p:sldId id="382" r:id="rId20"/>
    <p:sldId id="383" r:id="rId21"/>
    <p:sldId id="384" r:id="rId22"/>
    <p:sldId id="385" r:id="rId23"/>
    <p:sldId id="404" r:id="rId24"/>
    <p:sldId id="406" r:id="rId25"/>
    <p:sldId id="407" r:id="rId26"/>
    <p:sldId id="408" r:id="rId27"/>
    <p:sldId id="403" r:id="rId28"/>
    <p:sldId id="386" r:id="rId29"/>
    <p:sldId id="387" r:id="rId30"/>
    <p:sldId id="388" r:id="rId31"/>
    <p:sldId id="389" r:id="rId32"/>
    <p:sldId id="400" r:id="rId33"/>
    <p:sldId id="401" r:id="rId34"/>
    <p:sldId id="390" r:id="rId35"/>
    <p:sldId id="391" r:id="rId36"/>
    <p:sldId id="392" r:id="rId37"/>
    <p:sldId id="393" r:id="rId38"/>
    <p:sldId id="394" r:id="rId39"/>
    <p:sldId id="395" r:id="rId40"/>
    <p:sldId id="27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p:scale>
          <a:sx n="100" d="100"/>
          <a:sy n="100" d="100"/>
        </p:scale>
        <p:origin x="456"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4C450-71A6-4247-A59B-E04E8B0516FC}" type="datetimeFigureOut">
              <a:rPr lang="vi-VN" smtClean="0"/>
              <a:t>05/08/2023</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C684F-6D70-43DC-AAAB-B6C950FDED51}" type="slidenum">
              <a:rPr lang="vi-VN" smtClean="0"/>
              <a:t>‹#›</a:t>
            </a:fld>
            <a:endParaRPr lang="vi-VN"/>
          </a:p>
        </p:txBody>
      </p:sp>
    </p:spTree>
    <p:extLst>
      <p:ext uri="{BB962C8B-B14F-4D97-AF65-F5344CB8AC3E}">
        <p14:creationId xmlns:p14="http://schemas.microsoft.com/office/powerpoint/2010/main" val="416530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62A827-8592-4626-9F5F-67191C13357C}" type="slidenum">
              <a:rPr lang="en-US" altLang="vi-VN"/>
              <a:pPr eaLnBrk="1" hangingPunct="1"/>
              <a:t>2</a:t>
            </a:fld>
            <a:endParaRPr lang="en-US" altLang="vi-VN"/>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75259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424FE4-2C01-416D-9DBE-32E1BB714D14}" type="slidenum">
              <a:rPr lang="en-US" altLang="vi-VN"/>
              <a:pPr eaLnBrk="1" hangingPunct="1"/>
              <a:t>12</a:t>
            </a:fld>
            <a:endParaRPr lang="en-US" altLang="vi-VN"/>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GV có thể nói thêm về toán tử new dùng để cấp phát bộ nhớ trong c++. Và hàm delete dùng để giải phóng vùng nhớ</a:t>
            </a:r>
          </a:p>
        </p:txBody>
      </p:sp>
    </p:spTree>
    <p:extLst>
      <p:ext uri="{BB962C8B-B14F-4D97-AF65-F5344CB8AC3E}">
        <p14:creationId xmlns:p14="http://schemas.microsoft.com/office/powerpoint/2010/main" val="1837628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D7B2B1-B3ED-408D-B4DD-05B3FB5597A5}" type="slidenum">
              <a:rPr lang="en-US" altLang="vi-VN"/>
              <a:pPr eaLnBrk="1" hangingPunct="1"/>
              <a:t>13</a:t>
            </a:fld>
            <a:endParaRPr lang="en-US" altLang="vi-VN"/>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Thư viện chứa hàm malloc, calloc và free là stdlib.h</a:t>
            </a:r>
          </a:p>
        </p:txBody>
      </p:sp>
    </p:spTree>
    <p:extLst>
      <p:ext uri="{BB962C8B-B14F-4D97-AF65-F5344CB8AC3E}">
        <p14:creationId xmlns:p14="http://schemas.microsoft.com/office/powerpoint/2010/main" val="712231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F635CC-9ECC-4613-B497-82A93B9B1954}" type="slidenum">
              <a:rPr lang="en-US" altLang="vi-VN"/>
              <a:pPr eaLnBrk="1" hangingPunct="1"/>
              <a:t>15</a:t>
            </a:fld>
            <a:endParaRPr lang="en-US" altLang="vi-VN"/>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r>
              <a:rPr lang="en-US" altLang="vi-VN">
                <a:latin typeface="Arial" panose="020B0604020202020204" pitchFamily="34" charset="0"/>
              </a:rPr>
              <a:t>Thư viện chứa hàm malloc, calloc và free là stdlib.h</a:t>
            </a:r>
          </a:p>
        </p:txBody>
      </p:sp>
    </p:spTree>
    <p:extLst>
      <p:ext uri="{BB962C8B-B14F-4D97-AF65-F5344CB8AC3E}">
        <p14:creationId xmlns:p14="http://schemas.microsoft.com/office/powerpoint/2010/main" val="40076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cs typeface="Arial" panose="020B0604020202020204" pitchFamily="34" charset="0"/>
              </a:defRPr>
            </a:lvl1pPr>
            <a:lvl2pPr marL="742950" indent="-285750" defTabSz="966788" eaLnBrk="0" hangingPunct="0">
              <a:defRPr>
                <a:solidFill>
                  <a:schemeClr val="tx1"/>
                </a:solidFill>
                <a:latin typeface="Arial" panose="020B0604020202020204" pitchFamily="34" charset="0"/>
                <a:cs typeface="Arial" panose="020B0604020202020204" pitchFamily="34" charset="0"/>
              </a:defRPr>
            </a:lvl2pPr>
            <a:lvl3pPr marL="1143000" indent="-228600" defTabSz="966788" eaLnBrk="0" hangingPunct="0">
              <a:defRPr>
                <a:solidFill>
                  <a:schemeClr val="tx1"/>
                </a:solidFill>
                <a:latin typeface="Arial" panose="020B0604020202020204" pitchFamily="34" charset="0"/>
                <a:cs typeface="Arial" panose="020B0604020202020204" pitchFamily="34" charset="0"/>
              </a:defRPr>
            </a:lvl3pPr>
            <a:lvl4pPr marL="1600200" indent="-228600" defTabSz="966788" eaLnBrk="0" hangingPunct="0">
              <a:defRPr>
                <a:solidFill>
                  <a:schemeClr val="tx1"/>
                </a:solidFill>
                <a:latin typeface="Arial" panose="020B0604020202020204" pitchFamily="34" charset="0"/>
                <a:cs typeface="Arial" panose="020B0604020202020204" pitchFamily="34" charset="0"/>
              </a:defRPr>
            </a:lvl4pPr>
            <a:lvl5pPr marL="2057400" indent="-228600" defTabSz="9667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E23E5DE-1472-4A29-933D-F13DF7825950}" type="slidenum">
              <a:rPr lang="en-US" altLang="vi-VN"/>
              <a:pPr eaLnBrk="1" hangingPunct="1"/>
              <a:t>27</a:t>
            </a:fld>
            <a:endParaRPr lang="en-US" altLang="vi-VN"/>
          </a:p>
        </p:txBody>
      </p:sp>
      <p:sp>
        <p:nvSpPr>
          <p:cNvPr id="37891" name="Rectangle 2"/>
          <p:cNvSpPr>
            <a:spLocks noGrp="1" noRot="1" noChangeAspect="1" noChangeArrowheads="1" noTextEdit="1"/>
          </p:cNvSpPr>
          <p:nvPr>
            <p:ph type="sldImg"/>
          </p:nvPr>
        </p:nvSpPr>
        <p:spPr>
          <a:xfrm>
            <a:off x="1258888" y="720725"/>
            <a:ext cx="4797425" cy="3598863"/>
          </a:xfrm>
          <a:ln/>
        </p:spPr>
      </p:sp>
      <p:sp>
        <p:nvSpPr>
          <p:cNvPr id="37892" name="Rectangle 3"/>
          <p:cNvSpPr>
            <a:spLocks noGrp="1" noChangeArrowheads="1"/>
          </p:cNvSpPr>
          <p:nvPr>
            <p:ph type="body" idx="1"/>
          </p:nvPr>
        </p:nvSpPr>
        <p:spPr>
          <a:xfrm>
            <a:off x="730250" y="4559300"/>
            <a:ext cx="5854700" cy="4321175"/>
          </a:xfrm>
          <a:noFill/>
        </p:spPr>
        <p:txBody>
          <a:bodyPr/>
          <a:lstStyle/>
          <a:p>
            <a:pPr eaLnBrk="1" hangingPunct="1"/>
            <a:endParaRPr lang="vi-VN" altLang="vi-VN">
              <a:latin typeface="Arial" panose="020B0604020202020204" pitchFamily="34" charset="0"/>
            </a:endParaRPr>
          </a:p>
        </p:txBody>
      </p:sp>
    </p:spTree>
    <p:extLst>
      <p:ext uri="{BB962C8B-B14F-4D97-AF65-F5344CB8AC3E}">
        <p14:creationId xmlns:p14="http://schemas.microsoft.com/office/powerpoint/2010/main" val="3791823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05/08/2023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96670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05/08/2023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321037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4034B-4B31-483C-B33E-16E724396FEE}" type="datetimeFigureOut">
              <a:rPr lang="en-US" smtClean="0"/>
              <a:t>05/08/2023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444747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A4034B-4B31-483C-B33E-16E724396FEE}" type="datetimeFigureOut">
              <a:rPr lang="en-US" smtClean="0"/>
              <a:t>05/08/2023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201340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A4034B-4B31-483C-B33E-16E724396FEE}" type="datetimeFigureOut">
              <a:rPr lang="en-US" smtClean="0"/>
              <a:t>05/08/2023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73112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A4034B-4B31-483C-B33E-16E724396FEE}" type="datetimeFigureOut">
              <a:rPr lang="en-US" smtClean="0"/>
              <a:t>05/08/2023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18843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4034B-4B31-483C-B33E-16E724396FEE}" type="datetimeFigureOut">
              <a:rPr lang="en-US" smtClean="0"/>
              <a:t>05/08/2023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030797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05/08/2023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9694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A4034B-4B31-483C-B33E-16E724396FEE}" type="datetimeFigureOut">
              <a:rPr lang="en-US" smtClean="0"/>
              <a:t>05/08/2023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1635196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05/08/2023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416260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4034B-4B31-483C-B33E-16E724396FEE}" type="datetimeFigureOut">
              <a:rPr lang="en-US" smtClean="0"/>
              <a:t>05/08/2023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D39CD-9FF8-49B8-B0DF-CC3B27D0E337}" type="slidenum">
              <a:rPr lang="en-US" smtClean="0"/>
              <a:t>‹#›</a:t>
            </a:fld>
            <a:endParaRPr lang="en-US"/>
          </a:p>
        </p:txBody>
      </p:sp>
    </p:spTree>
    <p:extLst>
      <p:ext uri="{BB962C8B-B14F-4D97-AF65-F5344CB8AC3E}">
        <p14:creationId xmlns:p14="http://schemas.microsoft.com/office/powerpoint/2010/main" val="778983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150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144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612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45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158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6518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3382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3092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45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9828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168275"/>
            <a:ext cx="8323263" cy="609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a:spLocks noGrp="1" noChangeArrowheads="1"/>
          </p:cNvSpPr>
          <p:nvPr>
            <p:ph type="dt" sz="half" idx="10"/>
          </p:nvPr>
        </p:nvSpPr>
        <p:spPr/>
        <p:txBody>
          <a:bodyPr/>
          <a:lstStyle>
            <a:lvl1pPr>
              <a:defRPr/>
            </a:lvl1pPr>
          </a:lstStyle>
          <a:p>
            <a:pPr>
              <a:defRPr/>
            </a:pPr>
            <a:endParaRPr lang="en-GB"/>
          </a:p>
        </p:txBody>
      </p:sp>
      <p:sp>
        <p:nvSpPr>
          <p:cNvPr id="4" name="Rectangle 3"/>
          <p:cNvSpPr>
            <a:spLocks noGrp="1" noChangeArrowheads="1"/>
          </p:cNvSpPr>
          <p:nvPr>
            <p:ph type="ftr" sz="quarter" idx="11"/>
          </p:nvPr>
        </p:nvSpPr>
        <p:spPr/>
        <p:txBody>
          <a:bodyPr/>
          <a:lstStyle>
            <a:lvl1pPr>
              <a:defRPr/>
            </a:lvl1pPr>
          </a:lstStyle>
          <a:p>
            <a:pPr>
              <a:defRPr/>
            </a:pPr>
            <a:r>
              <a:rPr lang="en-US"/>
              <a:t>www.hoasen.edu.vn</a:t>
            </a:r>
            <a:endParaRPr lang="en-GB"/>
          </a:p>
        </p:txBody>
      </p:sp>
      <p:sp>
        <p:nvSpPr>
          <p:cNvPr id="5" name="Rectangle 4"/>
          <p:cNvSpPr>
            <a:spLocks noGrp="1" noChangeArrowheads="1"/>
          </p:cNvSpPr>
          <p:nvPr>
            <p:ph type="sldNum" sz="quarter" idx="12"/>
          </p:nvPr>
        </p:nvSpPr>
        <p:spPr/>
        <p:txBody>
          <a:bodyPr/>
          <a:lstStyle>
            <a:lvl1pPr>
              <a:defRPr/>
            </a:lvl1pPr>
          </a:lstStyle>
          <a:p>
            <a:fld id="{DA0436A4-A3CA-4BEA-9B48-0B14768C7EE1}" type="slidenum">
              <a:rPr lang="en-US" altLang="vi-VN"/>
              <a:pPr/>
              <a:t>‹#›</a:t>
            </a:fld>
            <a:endParaRPr lang="en-GB" altLang="vi-VN"/>
          </a:p>
        </p:txBody>
      </p:sp>
    </p:spTree>
    <p:extLst>
      <p:ext uri="{BB962C8B-B14F-4D97-AF65-F5344CB8AC3E}">
        <p14:creationId xmlns:p14="http://schemas.microsoft.com/office/powerpoint/2010/main" val="3316329414"/>
      </p:ext>
    </p:extLst>
  </p:cSld>
  <p:clrMapOvr>
    <a:masterClrMapping/>
  </p:clrMapOvr>
  <p:transition>
    <p:push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4034B-4B31-483C-B33E-16E724396FEE}" type="datetimeFigureOut">
              <a:rPr lang="en-US" smtClean="0"/>
              <a:t>05/08/2023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6D39CD-9FF8-49B8-B0DF-CC3B27D0E337}" type="slidenum">
              <a:rPr lang="en-US" smtClean="0"/>
              <a:t>‹#›</a:t>
            </a:fld>
            <a:endParaRPr lang="en-US"/>
          </a:p>
        </p:txBody>
      </p:sp>
    </p:spTree>
    <p:extLst>
      <p:ext uri="{BB962C8B-B14F-4D97-AF65-F5344CB8AC3E}">
        <p14:creationId xmlns:p14="http://schemas.microsoft.com/office/powerpoint/2010/main" val="240416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6A4034B-4B31-483C-B33E-16E724396FE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05/08/2023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96D39CD-9FF8-49B8-B0DF-CC3B27D0E33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24665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01333" y="4726547"/>
            <a:ext cx="7772400" cy="689490"/>
          </a:xfrm>
        </p:spPr>
        <p:txBody>
          <a:bodyPr>
            <a:noAutofit/>
          </a:bodyPr>
          <a:lstStyle/>
          <a:p>
            <a:r>
              <a:rPr lang="en-US" sz="3200" dirty="0">
                <a:solidFill>
                  <a:schemeClr val="bg1"/>
                </a:solidFill>
                <a:latin typeface="Myriad Pro" panose="020B0503030403020204" pitchFamily="34" charset="0"/>
              </a:rPr>
              <a:t>BÀI GIẢNG TUẦN 9 + 10</a:t>
            </a:r>
          </a:p>
        </p:txBody>
      </p:sp>
    </p:spTree>
    <p:extLst>
      <p:ext uri="{BB962C8B-B14F-4D97-AF65-F5344CB8AC3E}">
        <p14:creationId xmlns:p14="http://schemas.microsoft.com/office/powerpoint/2010/main" val="793442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CFF6EBF-4485-4B0C-9F8A-FA1AFCF04060}" type="slidenum">
              <a:rPr lang="en-US" altLang="vi-VN">
                <a:solidFill>
                  <a:srgbClr val="FFFF00"/>
                </a:solidFill>
              </a:rPr>
              <a:pPr eaLnBrk="1" hangingPunct="1"/>
              <a:t>2</a:t>
            </a:fld>
            <a:endParaRPr lang="en-GB" altLang="vi-VN">
              <a:solidFill>
                <a:srgbClr val="FFFF00"/>
              </a:solidFill>
            </a:endParaRPr>
          </a:p>
        </p:txBody>
      </p:sp>
      <p:sp>
        <p:nvSpPr>
          <p:cNvPr id="5124" name="Text Box 255"/>
          <p:cNvSpPr txBox="1">
            <a:spLocks noChangeArrowheads="1"/>
          </p:cNvSpPr>
          <p:nvPr/>
        </p:nvSpPr>
        <p:spPr bwMode="auto">
          <a:xfrm>
            <a:off x="1959427" y="468085"/>
            <a:ext cx="5921829"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800" b="1" dirty="0">
                <a:solidFill>
                  <a:srgbClr val="0000CC"/>
                </a:solidFill>
                <a:latin typeface="Tahoma" panose="020B0604030504040204" pitchFamily="34" charset="0"/>
              </a:rPr>
              <a:t>NỘI DUNG</a:t>
            </a:r>
          </a:p>
        </p:txBody>
      </p:sp>
      <p:sp>
        <p:nvSpPr>
          <p:cNvPr id="5125" name="Rectangle 256"/>
          <p:cNvSpPr>
            <a:spLocks noChangeArrowheads="1"/>
          </p:cNvSpPr>
          <p:nvPr/>
        </p:nvSpPr>
        <p:spPr bwMode="auto">
          <a:xfrm>
            <a:off x="304800" y="1219200"/>
            <a:ext cx="85344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5000"/>
              </a:lnSpc>
              <a:spcBef>
                <a:spcPct val="5000"/>
              </a:spcBef>
              <a:buClr>
                <a:schemeClr val="tx2"/>
              </a:buClr>
              <a:buFont typeface="Wingdings" panose="05000000000000000000" pitchFamily="2" charset="2"/>
              <a:buChar char="§"/>
            </a:pPr>
            <a:r>
              <a:rPr lang="en-US" altLang="vi-VN" sz="2800" dirty="0">
                <a:solidFill>
                  <a:srgbClr val="0000CC"/>
                </a:solidFill>
              </a:rPr>
              <a:t>Con </a:t>
            </a:r>
            <a:r>
              <a:rPr lang="en-US" altLang="vi-VN" sz="2800" dirty="0" err="1">
                <a:solidFill>
                  <a:srgbClr val="0000CC"/>
                </a:solidFill>
              </a:rPr>
              <a:t>trỏ</a:t>
            </a:r>
            <a:r>
              <a:rPr lang="en-US" altLang="vi-VN" sz="2800" dirty="0">
                <a:solidFill>
                  <a:srgbClr val="0000CC"/>
                </a:solidFill>
              </a:rPr>
              <a:t> (pointer)</a:t>
            </a: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Khái</a:t>
            </a:r>
            <a:r>
              <a:rPr lang="en-US" altLang="vi-VN" sz="2400" dirty="0">
                <a:solidFill>
                  <a:srgbClr val="0000CC"/>
                </a:solidFill>
              </a:rPr>
              <a:t> </a:t>
            </a:r>
            <a:r>
              <a:rPr lang="en-US" altLang="vi-VN" sz="2400" dirty="0" err="1">
                <a:solidFill>
                  <a:srgbClr val="0000CC"/>
                </a:solidFill>
              </a:rPr>
              <a:t>niệm</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trỏ</a:t>
            </a:r>
            <a:r>
              <a:rPr lang="en-US" altLang="vi-VN" sz="2400" dirty="0">
                <a:solidFill>
                  <a:srgbClr val="0000CC"/>
                </a:solidFill>
              </a:rPr>
              <a:t> </a:t>
            </a:r>
            <a:r>
              <a:rPr lang="en-US" altLang="vi-VN" sz="2400" dirty="0" err="1">
                <a:solidFill>
                  <a:srgbClr val="0000CC"/>
                </a:solidFill>
              </a:rPr>
              <a:t>tới</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Cấp</a:t>
            </a:r>
            <a:r>
              <a:rPr lang="en-US" altLang="vi-VN" sz="2400" dirty="0">
                <a:solidFill>
                  <a:srgbClr val="0000CC"/>
                </a:solidFill>
              </a:rPr>
              <a:t> </a:t>
            </a:r>
            <a:r>
              <a:rPr lang="en-US" altLang="vi-VN" sz="2400" dirty="0" err="1">
                <a:solidFill>
                  <a:srgbClr val="0000CC"/>
                </a:solidFill>
              </a:rPr>
              <a:t>phát</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giải</a:t>
            </a:r>
            <a:r>
              <a:rPr lang="en-US" altLang="vi-VN" sz="2400" dirty="0">
                <a:solidFill>
                  <a:srgbClr val="0000CC"/>
                </a:solidFill>
              </a:rPr>
              <a:t> </a:t>
            </a:r>
            <a:r>
              <a:rPr lang="en-US" altLang="vi-VN" sz="2400" dirty="0" err="1">
                <a:solidFill>
                  <a:srgbClr val="0000CC"/>
                </a:solidFill>
              </a:rPr>
              <a:t>phóng</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a:solidFill>
                  <a:srgbClr val="0000CC"/>
                </a:solidFill>
              </a:rPr>
              <a:t>Con </a:t>
            </a:r>
            <a:r>
              <a:rPr lang="en-US" altLang="vi-VN" sz="2400" dirty="0" err="1">
                <a:solidFill>
                  <a:srgbClr val="0000CC"/>
                </a:solidFill>
              </a:rPr>
              <a:t>trỏ</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mảng</a:t>
            </a:r>
            <a:r>
              <a:rPr lang="en-US" altLang="vi-VN" sz="2400" dirty="0">
                <a:solidFill>
                  <a:srgbClr val="0000CC"/>
                </a:solidFill>
              </a:rPr>
              <a:t> 1 </a:t>
            </a:r>
            <a:r>
              <a:rPr lang="en-US" altLang="vi-VN" sz="2400" dirty="0" err="1">
                <a:solidFill>
                  <a:srgbClr val="0000CC"/>
                </a:solidFill>
              </a:rPr>
              <a:t>chiều</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a:solidFill>
                  <a:srgbClr val="0000CC"/>
                </a:solidFill>
              </a:rPr>
              <a:t>Con </a:t>
            </a:r>
            <a:r>
              <a:rPr lang="en-US" altLang="vi-VN" sz="2400" dirty="0" err="1">
                <a:solidFill>
                  <a:srgbClr val="0000CC"/>
                </a:solidFill>
              </a:rPr>
              <a:t>trỏ</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xâu</a:t>
            </a:r>
            <a:r>
              <a:rPr lang="en-US" altLang="vi-VN" sz="2400" dirty="0">
                <a:solidFill>
                  <a:srgbClr val="0000CC"/>
                </a:solidFill>
              </a:rPr>
              <a:t> </a:t>
            </a:r>
            <a:r>
              <a:rPr lang="en-US" altLang="vi-VN" sz="2400" dirty="0" err="1">
                <a:solidFill>
                  <a:srgbClr val="0000CC"/>
                </a:solidFill>
              </a:rPr>
              <a:t>ký</a:t>
            </a:r>
            <a:r>
              <a:rPr lang="en-US" altLang="vi-VN" sz="2400" dirty="0">
                <a:solidFill>
                  <a:srgbClr val="0000CC"/>
                </a:solidFill>
              </a:rPr>
              <a:t> </a:t>
            </a:r>
            <a:r>
              <a:rPr lang="en-US" altLang="vi-VN" sz="2400" dirty="0" err="1">
                <a:solidFill>
                  <a:srgbClr val="0000CC"/>
                </a:solidFill>
              </a:rPr>
              <a:t>tự</a:t>
            </a:r>
            <a:endParaRPr lang="en-US" altLang="vi-VN" sz="2400" dirty="0">
              <a:solidFill>
                <a:srgbClr val="0000CC"/>
              </a:solidFill>
            </a:endParaRPr>
          </a:p>
          <a:p>
            <a:pPr algn="l">
              <a:lnSpc>
                <a:spcPct val="95000"/>
              </a:lnSpc>
              <a:spcBef>
                <a:spcPct val="5000"/>
              </a:spcBef>
              <a:buClr>
                <a:schemeClr val="tx2"/>
              </a:buClr>
              <a:buFont typeface="Wingdings" panose="05000000000000000000" pitchFamily="2" charset="2"/>
              <a:buChar char="§"/>
            </a:pPr>
            <a:r>
              <a:rPr lang="en-US" altLang="vi-VN" sz="2800" dirty="0" err="1">
                <a:solidFill>
                  <a:srgbClr val="0000CC"/>
                </a:solidFill>
              </a:rPr>
              <a:t>Chuỗi</a:t>
            </a:r>
            <a:r>
              <a:rPr lang="en-US" altLang="vi-VN" sz="2800" dirty="0">
                <a:solidFill>
                  <a:srgbClr val="0000CC"/>
                </a:solidFill>
              </a:rPr>
              <a:t> (string)</a:t>
            </a: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Khái</a:t>
            </a:r>
            <a:r>
              <a:rPr lang="en-US" altLang="vi-VN" sz="2400" dirty="0">
                <a:solidFill>
                  <a:srgbClr val="0000CC"/>
                </a:solidFill>
              </a:rPr>
              <a:t> </a:t>
            </a:r>
            <a:r>
              <a:rPr lang="en-US" altLang="vi-VN" sz="2400" dirty="0" err="1">
                <a:solidFill>
                  <a:srgbClr val="0000CC"/>
                </a:solidFill>
              </a:rPr>
              <a:t>niệm</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Nhập</a:t>
            </a:r>
            <a:r>
              <a:rPr lang="en-US" altLang="vi-VN" sz="2400" dirty="0">
                <a:solidFill>
                  <a:srgbClr val="0000CC"/>
                </a:solidFill>
              </a:rPr>
              <a:t>/</a:t>
            </a:r>
            <a:r>
              <a:rPr lang="en-US" altLang="vi-VN" sz="2400" dirty="0" err="1">
                <a:solidFill>
                  <a:srgbClr val="0000CC"/>
                </a:solidFill>
              </a:rPr>
              <a:t>Xuất</a:t>
            </a:r>
            <a:r>
              <a:rPr lang="en-US" altLang="vi-VN" sz="2400" dirty="0">
                <a:solidFill>
                  <a:srgbClr val="0000CC"/>
                </a:solidFill>
              </a:rPr>
              <a:t> </a:t>
            </a:r>
            <a:r>
              <a:rPr lang="en-US" altLang="vi-VN" sz="2400" dirty="0" err="1">
                <a:solidFill>
                  <a:srgbClr val="0000CC"/>
                </a:solidFill>
              </a:rPr>
              <a:t>chuỗi</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Truy</a:t>
            </a:r>
            <a:r>
              <a:rPr lang="en-US" altLang="vi-VN" sz="2400" dirty="0">
                <a:solidFill>
                  <a:srgbClr val="0000CC"/>
                </a:solidFill>
              </a:rPr>
              <a:t> </a:t>
            </a:r>
            <a:r>
              <a:rPr lang="en-US" altLang="vi-VN" sz="2400" dirty="0" err="1">
                <a:solidFill>
                  <a:srgbClr val="0000CC"/>
                </a:solidFill>
              </a:rPr>
              <a:t>xuất</a:t>
            </a:r>
            <a:r>
              <a:rPr lang="en-US" altLang="vi-VN" sz="2400" dirty="0">
                <a:solidFill>
                  <a:srgbClr val="0000CC"/>
                </a:solidFill>
              </a:rPr>
              <a:t> </a:t>
            </a:r>
            <a:r>
              <a:rPr lang="en-US" altLang="vi-VN" sz="2400" dirty="0" err="1">
                <a:solidFill>
                  <a:srgbClr val="0000CC"/>
                </a:solidFill>
              </a:rPr>
              <a:t>các</a:t>
            </a:r>
            <a:r>
              <a:rPr lang="en-US" altLang="vi-VN" sz="2400" dirty="0">
                <a:solidFill>
                  <a:srgbClr val="0000CC"/>
                </a:solidFill>
              </a:rPr>
              <a:t> </a:t>
            </a:r>
            <a:r>
              <a:rPr lang="en-US" altLang="vi-VN" sz="2400" dirty="0" err="1">
                <a:solidFill>
                  <a:srgbClr val="0000CC"/>
                </a:solidFill>
              </a:rPr>
              <a:t>ký</a:t>
            </a:r>
            <a:r>
              <a:rPr lang="en-US" altLang="vi-VN" sz="2400" dirty="0">
                <a:solidFill>
                  <a:srgbClr val="0000CC"/>
                </a:solidFill>
              </a:rPr>
              <a:t> </a:t>
            </a:r>
            <a:r>
              <a:rPr lang="en-US" altLang="vi-VN" sz="2400" dirty="0" err="1">
                <a:solidFill>
                  <a:srgbClr val="0000CC"/>
                </a:solidFill>
              </a:rPr>
              <a:t>tự</a:t>
            </a:r>
            <a:r>
              <a:rPr lang="en-US" altLang="vi-VN" sz="2400" dirty="0">
                <a:solidFill>
                  <a:srgbClr val="0000CC"/>
                </a:solidFill>
              </a:rPr>
              <a:t> </a:t>
            </a:r>
            <a:r>
              <a:rPr lang="en-US" altLang="vi-VN" sz="2400" dirty="0" err="1">
                <a:solidFill>
                  <a:srgbClr val="0000CC"/>
                </a:solidFill>
              </a:rPr>
              <a:t>của</a:t>
            </a:r>
            <a:r>
              <a:rPr lang="en-US" altLang="vi-VN" sz="2400" dirty="0">
                <a:solidFill>
                  <a:srgbClr val="0000CC"/>
                </a:solidFill>
              </a:rPr>
              <a:t> </a:t>
            </a:r>
            <a:r>
              <a:rPr lang="en-US" altLang="vi-VN" sz="2400" dirty="0" err="1">
                <a:solidFill>
                  <a:srgbClr val="0000CC"/>
                </a:solidFill>
              </a:rPr>
              <a:t>chuỗi</a:t>
            </a:r>
            <a:endParaRPr lang="en-US" altLang="vi-VN" sz="2400" dirty="0">
              <a:solidFill>
                <a:srgbClr val="0000CC"/>
              </a:solidFill>
            </a:endParaRPr>
          </a:p>
          <a:p>
            <a:pPr lvl="1" algn="l">
              <a:lnSpc>
                <a:spcPct val="95000"/>
              </a:lnSpc>
              <a:spcBef>
                <a:spcPct val="5000"/>
              </a:spcBef>
              <a:buClr>
                <a:schemeClr val="accent1"/>
              </a:buClr>
              <a:buFont typeface="Wingdings" panose="05000000000000000000" pitchFamily="2" charset="2"/>
              <a:buChar char="§"/>
            </a:pPr>
            <a:r>
              <a:rPr lang="en-US" altLang="vi-VN" sz="2400" dirty="0" err="1">
                <a:solidFill>
                  <a:srgbClr val="0000CC"/>
                </a:solidFill>
              </a:rPr>
              <a:t>Các</a:t>
            </a:r>
            <a:r>
              <a:rPr lang="en-US" altLang="vi-VN" sz="2400" dirty="0">
                <a:solidFill>
                  <a:srgbClr val="0000CC"/>
                </a:solidFill>
              </a:rPr>
              <a:t> </a:t>
            </a:r>
            <a:r>
              <a:rPr lang="en-US" altLang="vi-VN" sz="2400" dirty="0" err="1">
                <a:solidFill>
                  <a:srgbClr val="0000CC"/>
                </a:solidFill>
              </a:rPr>
              <a:t>hàm</a:t>
            </a:r>
            <a:r>
              <a:rPr lang="en-US" altLang="vi-VN" sz="2400" dirty="0">
                <a:solidFill>
                  <a:srgbClr val="0000CC"/>
                </a:solidFill>
              </a:rPr>
              <a:t> </a:t>
            </a:r>
            <a:r>
              <a:rPr lang="en-US" altLang="vi-VN" sz="2400" dirty="0" err="1">
                <a:solidFill>
                  <a:srgbClr val="0000CC"/>
                </a:solidFill>
              </a:rPr>
              <a:t>xử</a:t>
            </a:r>
            <a:r>
              <a:rPr lang="en-US" altLang="vi-VN" sz="2400" dirty="0">
                <a:solidFill>
                  <a:srgbClr val="0000CC"/>
                </a:solidFill>
              </a:rPr>
              <a:t> </a:t>
            </a:r>
            <a:r>
              <a:rPr lang="en-US" altLang="vi-VN" sz="2400" dirty="0" err="1">
                <a:solidFill>
                  <a:srgbClr val="0000CC"/>
                </a:solidFill>
              </a:rPr>
              <a:t>lý</a:t>
            </a:r>
            <a:r>
              <a:rPr lang="en-US" altLang="vi-VN" sz="2400" dirty="0">
                <a:solidFill>
                  <a:srgbClr val="0000CC"/>
                </a:solidFill>
              </a:rPr>
              <a:t> </a:t>
            </a:r>
            <a:r>
              <a:rPr lang="en-US" altLang="vi-VN" sz="2400" dirty="0" err="1">
                <a:solidFill>
                  <a:srgbClr val="0000CC"/>
                </a:solidFill>
              </a:rPr>
              <a:t>chuỗi</a:t>
            </a:r>
            <a:r>
              <a:rPr lang="en-US" altLang="vi-VN" sz="2400" dirty="0">
                <a:solidFill>
                  <a:srgbClr val="0000CC"/>
                </a:solidFill>
              </a:rPr>
              <a:t> </a:t>
            </a:r>
            <a:r>
              <a:rPr lang="en-US" altLang="vi-VN" sz="2400" dirty="0" err="1">
                <a:solidFill>
                  <a:srgbClr val="0000CC"/>
                </a:solidFill>
              </a:rPr>
              <a:t>thông</a:t>
            </a:r>
            <a:r>
              <a:rPr lang="en-US" altLang="vi-VN" sz="2400" dirty="0">
                <a:solidFill>
                  <a:srgbClr val="0000CC"/>
                </a:solidFill>
              </a:rPr>
              <a:t> </a:t>
            </a:r>
            <a:r>
              <a:rPr lang="en-US" altLang="vi-VN" sz="2400" dirty="0" err="1">
                <a:solidFill>
                  <a:srgbClr val="0000CC"/>
                </a:solidFill>
              </a:rPr>
              <a:t>dụng</a:t>
            </a:r>
            <a:endParaRPr lang="en-US" altLang="vi-VN" sz="2400" dirty="0">
              <a:solidFill>
                <a:srgbClr val="0000CC"/>
              </a:solidFill>
            </a:endParaRPr>
          </a:p>
        </p:txBody>
      </p:sp>
      <p:sp>
        <p:nvSpPr>
          <p:cNvPr id="6" name="7-Point Star 5"/>
          <p:cNvSpPr/>
          <p:nvPr/>
        </p:nvSpPr>
        <p:spPr>
          <a:xfrm>
            <a:off x="5820962" y="174171"/>
            <a:ext cx="2895600" cy="2699657"/>
          </a:xfrm>
          <a:prstGeom prst="star7">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3600" b="1" dirty="0"/>
              <a:t>QUIZ </a:t>
            </a:r>
            <a:r>
              <a:rPr lang="en-US" sz="3600" b="1" dirty="0" err="1"/>
              <a:t>lần</a:t>
            </a:r>
            <a:r>
              <a:rPr lang="en-US" sz="3600" b="1" dirty="0"/>
              <a:t> 3</a:t>
            </a:r>
            <a:endParaRPr lang="vi-VN" sz="3600" b="1" dirty="0"/>
          </a:p>
        </p:txBody>
      </p:sp>
    </p:spTree>
    <p:extLst>
      <p:ext uri="{BB962C8B-B14F-4D97-AF65-F5344CB8AC3E}">
        <p14:creationId xmlns:p14="http://schemas.microsoft.com/office/powerpoint/2010/main" val="500888160"/>
      </p:ext>
    </p:extLst>
  </p:cSld>
  <p:clrMapOvr>
    <a:masterClrMapping/>
  </p:clrMapOvr>
  <p:transition>
    <p:push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Callout 6"/>
          <p:cNvSpPr/>
          <p:nvPr/>
        </p:nvSpPr>
        <p:spPr>
          <a:xfrm>
            <a:off x="1055914" y="1284514"/>
            <a:ext cx="6955971" cy="3287486"/>
          </a:xfrm>
          <a:prstGeom prst="cloudCallout">
            <a:avLst>
              <a:gd name="adj1" fmla="val 1545"/>
              <a:gd name="adj2" fmla="val 8137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lvl="0" algn="ctr">
              <a:defRPr/>
            </a:pPr>
            <a:r>
              <a:rPr lang="en-US" sz="7200" b="1" dirty="0"/>
              <a:t>CON TRỎ</a:t>
            </a:r>
          </a:p>
        </p:txBody>
      </p:sp>
      <p:sp>
        <p:nvSpPr>
          <p:cNvPr id="2" name="TextBox 1"/>
          <p:cNvSpPr txBox="1"/>
          <p:nvPr/>
        </p:nvSpPr>
        <p:spPr>
          <a:xfrm>
            <a:off x="5029200" y="5693230"/>
            <a:ext cx="132805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BÀI 9</a:t>
            </a:r>
            <a:endParaRPr kumimoji="0" lang="vi-VN" sz="3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3875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8F5647-A46C-4C98-B46A-4452766AFAD1}" type="slidenum">
              <a:rPr lang="en-US" altLang="vi-VN">
                <a:solidFill>
                  <a:srgbClr val="FFFF00"/>
                </a:solidFill>
              </a:rPr>
              <a:pPr eaLnBrk="1" hangingPunct="1"/>
              <a:t>4</a:t>
            </a:fld>
            <a:endParaRPr lang="en-GB" altLang="vi-VN">
              <a:solidFill>
                <a:srgbClr val="FFFF00"/>
              </a:solidFill>
            </a:endParaRPr>
          </a:p>
        </p:txBody>
      </p:sp>
      <p:sp>
        <p:nvSpPr>
          <p:cNvPr id="7172" name="Rectangle 2"/>
          <p:cNvSpPr>
            <a:spLocks noGrp="1"/>
          </p:cNvSpPr>
          <p:nvPr>
            <p:ph type="title"/>
          </p:nvPr>
        </p:nvSpPr>
        <p:spPr>
          <a:xfrm>
            <a:off x="1850570" y="365127"/>
            <a:ext cx="6664779" cy="777874"/>
          </a:xfrm>
        </p:spPr>
        <p:txBody>
          <a:bodyPr/>
          <a:lstStyle/>
          <a:p>
            <a:r>
              <a:rPr lang="en-US" altLang="vi-VN" b="1" dirty="0" err="1">
                <a:solidFill>
                  <a:srgbClr val="0000CC"/>
                </a:solidFill>
              </a:rPr>
              <a:t>Khái</a:t>
            </a:r>
            <a:r>
              <a:rPr lang="en-US" altLang="vi-VN" b="1" dirty="0">
                <a:solidFill>
                  <a:srgbClr val="0000CC"/>
                </a:solidFill>
              </a:rPr>
              <a:t> </a:t>
            </a:r>
            <a:r>
              <a:rPr lang="en-US" altLang="vi-VN" b="1" dirty="0" err="1">
                <a:solidFill>
                  <a:srgbClr val="0000CC"/>
                </a:solidFill>
              </a:rPr>
              <a:t>niệm</a:t>
            </a:r>
            <a:endParaRPr lang="en-US" altLang="vi-VN" b="1" dirty="0">
              <a:solidFill>
                <a:srgbClr val="0000CC"/>
              </a:solidFill>
            </a:endParaRPr>
          </a:p>
        </p:txBody>
      </p:sp>
      <p:sp>
        <p:nvSpPr>
          <p:cNvPr id="7173" name="Rectangle 3"/>
          <p:cNvSpPr>
            <a:spLocks noGrp="1" noChangeArrowheads="1"/>
          </p:cNvSpPr>
          <p:nvPr>
            <p:ph type="body" idx="1"/>
          </p:nvPr>
        </p:nvSpPr>
        <p:spPr>
          <a:xfrm>
            <a:off x="457200" y="1447800"/>
            <a:ext cx="8305800" cy="1219200"/>
          </a:xfrm>
        </p:spPr>
        <p:txBody>
          <a:bodyPr/>
          <a:lstStyle/>
          <a:p>
            <a:pPr marL="0" indent="0" algn="just" defTabSz="914400">
              <a:buFont typeface="Wingdings" panose="05000000000000000000" pitchFamily="2" charset="2"/>
              <a:buNone/>
            </a:pP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Biến</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tĩnh</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là</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biến</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có</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kích</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thước</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kiểu</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của</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biến</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và</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địa</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chỉ</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của</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nó</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là</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không</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đổi</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Các</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biến</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này</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tồn</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tại</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trong</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suốt</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quá</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trình</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chạy</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chương</a:t>
            </a:r>
            <a:r>
              <a:rPr lang="en-US" altLang="vi-VN" sz="2600" i="1" dirty="0">
                <a:solidFill>
                  <a:srgbClr val="0000CC"/>
                </a:solidFill>
                <a:cs typeface="Arial" panose="020B0604020202020204" pitchFamily="34" charset="0"/>
              </a:rPr>
              <a:t> </a:t>
            </a:r>
            <a:r>
              <a:rPr lang="en-US" altLang="vi-VN" sz="2600" i="1" dirty="0" err="1">
                <a:solidFill>
                  <a:srgbClr val="0000CC"/>
                </a:solidFill>
                <a:cs typeface="Arial" panose="020B0604020202020204" pitchFamily="34" charset="0"/>
              </a:rPr>
              <a:t>trình</a:t>
            </a:r>
            <a:endParaRPr lang="en-US" altLang="vi-VN" sz="2600" i="1" dirty="0">
              <a:solidFill>
                <a:srgbClr val="0000CC"/>
              </a:solidFill>
              <a:cs typeface="Arial" panose="020B0604020202020204" pitchFamily="34" charset="0"/>
            </a:endParaRPr>
          </a:p>
        </p:txBody>
      </p:sp>
      <p:sp>
        <p:nvSpPr>
          <p:cNvPr id="7174" name="Rectangle 4"/>
          <p:cNvSpPr>
            <a:spLocks noChangeArrowheads="1"/>
          </p:cNvSpPr>
          <p:nvPr/>
        </p:nvSpPr>
        <p:spPr bwMode="auto">
          <a:xfrm>
            <a:off x="457200" y="2950028"/>
            <a:ext cx="8305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400" i="1" dirty="0">
                <a:solidFill>
                  <a:srgbClr val="0000CC"/>
                </a:solidFill>
              </a:rPr>
              <a:t>	</a:t>
            </a:r>
            <a:r>
              <a:rPr lang="en-US" altLang="vi-VN" sz="2400" i="1" dirty="0" err="1">
                <a:solidFill>
                  <a:srgbClr val="0000CC"/>
                </a:solidFill>
              </a:rPr>
              <a:t>Biến</a:t>
            </a:r>
            <a:r>
              <a:rPr lang="en-US" altLang="vi-VN" sz="2400" i="1" dirty="0">
                <a:solidFill>
                  <a:srgbClr val="0000CC"/>
                </a:solidFill>
              </a:rPr>
              <a:t> </a:t>
            </a:r>
            <a:r>
              <a:rPr lang="en-US" altLang="vi-VN" sz="2400" i="1" dirty="0" err="1">
                <a:solidFill>
                  <a:srgbClr val="0000CC"/>
                </a:solidFill>
              </a:rPr>
              <a:t>động</a:t>
            </a:r>
            <a:r>
              <a:rPr lang="en-US" altLang="vi-VN" sz="2400" i="1" dirty="0">
                <a:solidFill>
                  <a:srgbClr val="0000CC"/>
                </a:solidFill>
              </a:rPr>
              <a:t> </a:t>
            </a:r>
            <a:r>
              <a:rPr lang="en-US" altLang="vi-VN" sz="2400" i="1" dirty="0" err="1">
                <a:solidFill>
                  <a:srgbClr val="0000CC"/>
                </a:solidFill>
              </a:rPr>
              <a:t>là</a:t>
            </a:r>
            <a:r>
              <a:rPr lang="en-US" altLang="vi-VN" sz="2400" i="1" dirty="0">
                <a:solidFill>
                  <a:srgbClr val="0000CC"/>
                </a:solidFill>
              </a:rPr>
              <a:t> </a:t>
            </a:r>
            <a:r>
              <a:rPr lang="en-US" altLang="vi-VN" sz="2400" i="1" dirty="0" err="1">
                <a:solidFill>
                  <a:srgbClr val="0000CC"/>
                </a:solidFill>
              </a:rPr>
              <a:t>loại</a:t>
            </a:r>
            <a:r>
              <a:rPr lang="en-US" altLang="vi-VN" sz="2400" i="1" dirty="0">
                <a:solidFill>
                  <a:srgbClr val="0000CC"/>
                </a:solidFill>
              </a:rPr>
              <a:t> </a:t>
            </a:r>
            <a:r>
              <a:rPr lang="en-US" altLang="vi-VN" sz="2400" i="1" dirty="0" err="1">
                <a:solidFill>
                  <a:srgbClr val="0000CC"/>
                </a:solidFill>
              </a:rPr>
              <a:t>biến</a:t>
            </a:r>
            <a:r>
              <a:rPr lang="en-US" altLang="vi-VN" sz="2400" i="1" dirty="0">
                <a:solidFill>
                  <a:srgbClr val="0000CC"/>
                </a:solidFill>
              </a:rPr>
              <a:t> </a:t>
            </a:r>
            <a:r>
              <a:rPr lang="en-US" altLang="vi-VN" sz="2400" i="1" dirty="0" err="1">
                <a:solidFill>
                  <a:srgbClr val="0000CC"/>
                </a:solidFill>
              </a:rPr>
              <a:t>có</a:t>
            </a:r>
            <a:r>
              <a:rPr lang="en-US" altLang="vi-VN" sz="2400" i="1" dirty="0">
                <a:solidFill>
                  <a:srgbClr val="0000CC"/>
                </a:solidFill>
              </a:rPr>
              <a:t> </a:t>
            </a:r>
            <a:r>
              <a:rPr lang="en-US" altLang="vi-VN" sz="2400" i="1" dirty="0" err="1">
                <a:solidFill>
                  <a:srgbClr val="0000CC"/>
                </a:solidFill>
              </a:rPr>
              <a:t>thể</a:t>
            </a:r>
            <a:r>
              <a:rPr lang="en-US" altLang="vi-VN" sz="2400" i="1" dirty="0">
                <a:solidFill>
                  <a:srgbClr val="0000CC"/>
                </a:solidFill>
              </a:rPr>
              <a:t> </a:t>
            </a:r>
            <a:r>
              <a:rPr lang="en-US" altLang="vi-VN" sz="2400" i="1" dirty="0" err="1">
                <a:solidFill>
                  <a:srgbClr val="0000CC"/>
                </a:solidFill>
              </a:rPr>
              <a:t>thay</a:t>
            </a:r>
            <a:r>
              <a:rPr lang="en-US" altLang="vi-VN" sz="2400" i="1" dirty="0">
                <a:solidFill>
                  <a:srgbClr val="0000CC"/>
                </a:solidFill>
              </a:rPr>
              <a:t> </a:t>
            </a:r>
            <a:r>
              <a:rPr lang="en-US" altLang="vi-VN" sz="2400" i="1" dirty="0" err="1">
                <a:solidFill>
                  <a:srgbClr val="0000CC"/>
                </a:solidFill>
              </a:rPr>
              <a:t>đổi</a:t>
            </a:r>
            <a:r>
              <a:rPr lang="en-US" altLang="vi-VN" sz="2400" i="1" dirty="0">
                <a:solidFill>
                  <a:srgbClr val="0000CC"/>
                </a:solidFill>
              </a:rPr>
              <a:t> </a:t>
            </a:r>
            <a:r>
              <a:rPr lang="en-US" altLang="vi-VN" sz="2400" i="1" dirty="0" err="1">
                <a:solidFill>
                  <a:srgbClr val="0000CC"/>
                </a:solidFill>
              </a:rPr>
              <a:t>được</a:t>
            </a:r>
            <a:r>
              <a:rPr lang="en-US" altLang="vi-VN" sz="2400" i="1" dirty="0">
                <a:solidFill>
                  <a:srgbClr val="0000CC"/>
                </a:solidFill>
              </a:rPr>
              <a:t> </a:t>
            </a:r>
            <a:r>
              <a:rPr lang="en-US" altLang="vi-VN" sz="2400" i="1" dirty="0" err="1">
                <a:solidFill>
                  <a:srgbClr val="0000CC"/>
                </a:solidFill>
              </a:rPr>
              <a:t>kích</a:t>
            </a:r>
            <a:r>
              <a:rPr lang="en-US" altLang="vi-VN" sz="2400" i="1" dirty="0">
                <a:solidFill>
                  <a:srgbClr val="0000CC"/>
                </a:solidFill>
              </a:rPr>
              <a:t> </a:t>
            </a:r>
            <a:r>
              <a:rPr lang="en-US" altLang="vi-VN" sz="2400" i="1" dirty="0" err="1">
                <a:solidFill>
                  <a:srgbClr val="0000CC"/>
                </a:solidFill>
              </a:rPr>
              <a:t>thước</a:t>
            </a:r>
            <a:r>
              <a:rPr lang="en-US" altLang="vi-VN" sz="2400" i="1" dirty="0">
                <a:solidFill>
                  <a:srgbClr val="0000CC"/>
                </a:solidFill>
              </a:rPr>
              <a:t>, </a:t>
            </a:r>
            <a:r>
              <a:rPr lang="en-US" altLang="vi-VN" sz="2400" i="1" dirty="0" err="1">
                <a:solidFill>
                  <a:srgbClr val="0000CC"/>
                </a:solidFill>
              </a:rPr>
              <a:t>vùng</a:t>
            </a:r>
            <a:r>
              <a:rPr lang="en-US" altLang="vi-VN" sz="2400" i="1" dirty="0">
                <a:solidFill>
                  <a:srgbClr val="0000CC"/>
                </a:solidFill>
              </a:rPr>
              <a:t> </a:t>
            </a:r>
            <a:r>
              <a:rPr lang="en-US" altLang="vi-VN" sz="2400" i="1" dirty="0" err="1">
                <a:solidFill>
                  <a:srgbClr val="0000CC"/>
                </a:solidFill>
              </a:rPr>
              <a:t>nhớ</a:t>
            </a:r>
            <a:r>
              <a:rPr lang="en-US" altLang="vi-VN" sz="2400" i="1" dirty="0">
                <a:solidFill>
                  <a:srgbClr val="0000CC"/>
                </a:solidFill>
              </a:rPr>
              <a:t> </a:t>
            </a:r>
            <a:r>
              <a:rPr lang="en-US" altLang="vi-VN" sz="2400" i="1" dirty="0" err="1">
                <a:solidFill>
                  <a:srgbClr val="0000CC"/>
                </a:solidFill>
              </a:rPr>
              <a:t>và</a:t>
            </a:r>
            <a:r>
              <a:rPr lang="en-US" altLang="vi-VN" sz="2400" i="1" dirty="0">
                <a:solidFill>
                  <a:srgbClr val="0000CC"/>
                </a:solidFill>
              </a:rPr>
              <a:t> </a:t>
            </a:r>
            <a:r>
              <a:rPr lang="en-US" altLang="vi-VN" sz="2400" i="1" dirty="0" err="1">
                <a:solidFill>
                  <a:srgbClr val="0000CC"/>
                </a:solidFill>
              </a:rPr>
              <a:t>địa</a:t>
            </a:r>
            <a:r>
              <a:rPr lang="en-US" altLang="vi-VN" sz="2400" i="1" dirty="0">
                <a:solidFill>
                  <a:srgbClr val="0000CC"/>
                </a:solidFill>
              </a:rPr>
              <a:t> </a:t>
            </a:r>
            <a:r>
              <a:rPr lang="en-US" altLang="vi-VN" sz="2400" i="1" dirty="0" err="1">
                <a:solidFill>
                  <a:srgbClr val="0000CC"/>
                </a:solidFill>
              </a:rPr>
              <a:t>chỉ</a:t>
            </a:r>
            <a:r>
              <a:rPr lang="en-US" altLang="vi-VN" sz="2400" i="1" dirty="0">
                <a:solidFill>
                  <a:srgbClr val="0000CC"/>
                </a:solidFill>
              </a:rPr>
              <a:t> </a:t>
            </a:r>
            <a:r>
              <a:rPr lang="en-US" altLang="vi-VN" sz="2400" i="1" dirty="0" err="1">
                <a:solidFill>
                  <a:srgbClr val="0000CC"/>
                </a:solidFill>
              </a:rPr>
              <a:t>của</a:t>
            </a:r>
            <a:r>
              <a:rPr lang="en-US" altLang="vi-VN" sz="2400" i="1" dirty="0">
                <a:solidFill>
                  <a:srgbClr val="0000CC"/>
                </a:solidFill>
              </a:rPr>
              <a:t> </a:t>
            </a:r>
            <a:r>
              <a:rPr lang="en-US" altLang="vi-VN" sz="2400" i="1" dirty="0" err="1">
                <a:solidFill>
                  <a:srgbClr val="0000CC"/>
                </a:solidFill>
              </a:rPr>
              <a:t>vùng</a:t>
            </a:r>
            <a:r>
              <a:rPr lang="en-US" altLang="vi-VN" sz="2400" i="1" dirty="0">
                <a:solidFill>
                  <a:srgbClr val="0000CC"/>
                </a:solidFill>
              </a:rPr>
              <a:t> </a:t>
            </a:r>
            <a:r>
              <a:rPr lang="en-US" altLang="vi-VN" sz="2400" i="1" dirty="0" err="1">
                <a:solidFill>
                  <a:srgbClr val="0000CC"/>
                </a:solidFill>
              </a:rPr>
              <a:t>nhớ</a:t>
            </a:r>
            <a:r>
              <a:rPr lang="en-US" altLang="vi-VN" sz="2400" i="1" dirty="0">
                <a:solidFill>
                  <a:srgbClr val="0000CC"/>
                </a:solidFill>
              </a:rPr>
              <a:t> </a:t>
            </a:r>
            <a:r>
              <a:rPr lang="en-US" altLang="vi-VN" sz="2400" i="1" dirty="0" err="1">
                <a:solidFill>
                  <a:srgbClr val="0000CC"/>
                </a:solidFill>
              </a:rPr>
              <a:t>được</a:t>
            </a:r>
            <a:r>
              <a:rPr lang="en-US" altLang="vi-VN" sz="2400" i="1" dirty="0">
                <a:solidFill>
                  <a:srgbClr val="0000CC"/>
                </a:solidFill>
              </a:rPr>
              <a:t> </a:t>
            </a:r>
            <a:r>
              <a:rPr lang="en-US" altLang="vi-VN" sz="2400" i="1" dirty="0" err="1">
                <a:solidFill>
                  <a:srgbClr val="0000CC"/>
                </a:solidFill>
              </a:rPr>
              <a:t>cấp</a:t>
            </a:r>
            <a:r>
              <a:rPr lang="en-US" altLang="vi-VN" sz="2400" i="1" dirty="0">
                <a:solidFill>
                  <a:srgbClr val="0000CC"/>
                </a:solidFill>
              </a:rPr>
              <a:t> </a:t>
            </a:r>
            <a:r>
              <a:rPr lang="en-US" altLang="vi-VN" sz="2400" i="1" dirty="0" err="1">
                <a:solidFill>
                  <a:srgbClr val="0000CC"/>
                </a:solidFill>
              </a:rPr>
              <a:t>phát</a:t>
            </a:r>
            <a:r>
              <a:rPr lang="en-US" altLang="vi-VN" sz="2400" i="1" dirty="0">
                <a:solidFill>
                  <a:srgbClr val="0000CC"/>
                </a:solidFill>
              </a:rPr>
              <a:t> </a:t>
            </a:r>
            <a:r>
              <a:rPr lang="en-US" altLang="vi-VN" sz="2400" i="1" dirty="0" err="1">
                <a:solidFill>
                  <a:srgbClr val="0000CC"/>
                </a:solidFill>
              </a:rPr>
              <a:t>lúc</a:t>
            </a:r>
            <a:r>
              <a:rPr lang="en-US" altLang="vi-VN" sz="2400" i="1" dirty="0">
                <a:solidFill>
                  <a:srgbClr val="0000CC"/>
                </a:solidFill>
              </a:rPr>
              <a:t> </a:t>
            </a:r>
            <a:r>
              <a:rPr lang="en-US" altLang="vi-VN" sz="2400" i="1" dirty="0" err="1">
                <a:solidFill>
                  <a:srgbClr val="0000CC"/>
                </a:solidFill>
              </a:rPr>
              <a:t>chạy</a:t>
            </a:r>
            <a:r>
              <a:rPr lang="en-US" altLang="vi-VN" sz="2400" i="1" dirty="0">
                <a:solidFill>
                  <a:srgbClr val="0000CC"/>
                </a:solidFill>
              </a:rPr>
              <a:t> </a:t>
            </a:r>
            <a:r>
              <a:rPr lang="en-US" altLang="vi-VN" sz="2400" i="1" dirty="0" err="1">
                <a:solidFill>
                  <a:srgbClr val="0000CC"/>
                </a:solidFill>
              </a:rPr>
              <a:t>chương</a:t>
            </a:r>
            <a:r>
              <a:rPr lang="en-US" altLang="vi-VN" sz="2400" i="1" dirty="0">
                <a:solidFill>
                  <a:srgbClr val="0000CC"/>
                </a:solidFill>
              </a:rPr>
              <a:t> </a:t>
            </a:r>
            <a:r>
              <a:rPr lang="en-US" altLang="vi-VN" sz="2400" i="1" dirty="0" err="1">
                <a:solidFill>
                  <a:srgbClr val="0000CC"/>
                </a:solidFill>
              </a:rPr>
              <a:t>trình</a:t>
            </a:r>
            <a:r>
              <a:rPr lang="en-US" altLang="vi-VN" sz="2400" i="1" dirty="0">
                <a:solidFill>
                  <a:srgbClr val="0000CC"/>
                </a:solidFill>
              </a:rPr>
              <a:t>. </a:t>
            </a:r>
            <a:r>
              <a:rPr lang="en-US" altLang="vi-VN" sz="2400" i="1" dirty="0" err="1">
                <a:solidFill>
                  <a:srgbClr val="0000CC"/>
                </a:solidFill>
              </a:rPr>
              <a:t>Có</a:t>
            </a:r>
            <a:r>
              <a:rPr lang="en-US" altLang="vi-VN" sz="2400" i="1" dirty="0">
                <a:solidFill>
                  <a:srgbClr val="0000CC"/>
                </a:solidFill>
              </a:rPr>
              <a:t> </a:t>
            </a:r>
            <a:r>
              <a:rPr lang="en-US" altLang="vi-VN" sz="2400" i="1" dirty="0" err="1">
                <a:solidFill>
                  <a:srgbClr val="0000CC"/>
                </a:solidFill>
              </a:rPr>
              <a:t>thể</a:t>
            </a:r>
            <a:r>
              <a:rPr lang="en-US" altLang="vi-VN" sz="2400" i="1" dirty="0">
                <a:solidFill>
                  <a:srgbClr val="0000CC"/>
                </a:solidFill>
              </a:rPr>
              <a:t> </a:t>
            </a:r>
            <a:r>
              <a:rPr lang="en-US" altLang="vi-VN" sz="2400" i="1" dirty="0" err="1">
                <a:solidFill>
                  <a:srgbClr val="0000CC"/>
                </a:solidFill>
              </a:rPr>
              <a:t>giải</a:t>
            </a:r>
            <a:r>
              <a:rPr lang="en-US" altLang="vi-VN" sz="2400" i="1" dirty="0">
                <a:solidFill>
                  <a:srgbClr val="0000CC"/>
                </a:solidFill>
              </a:rPr>
              <a:t> </a:t>
            </a:r>
            <a:r>
              <a:rPr lang="en-US" altLang="vi-VN" sz="2400" i="1" dirty="0" err="1">
                <a:solidFill>
                  <a:srgbClr val="0000CC"/>
                </a:solidFill>
              </a:rPr>
              <a:t>phóng</a:t>
            </a:r>
            <a:r>
              <a:rPr lang="en-US" altLang="vi-VN" sz="2400" i="1" dirty="0">
                <a:solidFill>
                  <a:srgbClr val="0000CC"/>
                </a:solidFill>
              </a:rPr>
              <a:t> </a:t>
            </a:r>
            <a:r>
              <a:rPr lang="en-US" altLang="vi-VN" sz="2400" i="1" dirty="0" err="1">
                <a:solidFill>
                  <a:srgbClr val="0000CC"/>
                </a:solidFill>
              </a:rPr>
              <a:t>biến</a:t>
            </a:r>
            <a:r>
              <a:rPr lang="en-US" altLang="vi-VN" sz="2400" i="1" dirty="0">
                <a:solidFill>
                  <a:srgbClr val="0000CC"/>
                </a:solidFill>
              </a:rPr>
              <a:t> </a:t>
            </a:r>
            <a:r>
              <a:rPr lang="en-US" altLang="vi-VN" sz="2400" i="1" dirty="0" err="1">
                <a:solidFill>
                  <a:srgbClr val="0000CC"/>
                </a:solidFill>
              </a:rPr>
              <a:t>động</a:t>
            </a:r>
            <a:r>
              <a:rPr lang="en-US" altLang="vi-VN" sz="2400" i="1" dirty="0">
                <a:solidFill>
                  <a:srgbClr val="0000CC"/>
                </a:solidFill>
              </a:rPr>
              <a:t> </a:t>
            </a:r>
            <a:r>
              <a:rPr lang="en-US" altLang="vi-VN" sz="2400" i="1" dirty="0" err="1">
                <a:solidFill>
                  <a:srgbClr val="0000CC"/>
                </a:solidFill>
              </a:rPr>
              <a:t>sau</a:t>
            </a:r>
            <a:r>
              <a:rPr lang="en-US" altLang="vi-VN" sz="2400" i="1" dirty="0">
                <a:solidFill>
                  <a:srgbClr val="0000CC"/>
                </a:solidFill>
              </a:rPr>
              <a:t> </a:t>
            </a:r>
            <a:r>
              <a:rPr lang="en-US" altLang="vi-VN" sz="2400" i="1" dirty="0" err="1">
                <a:solidFill>
                  <a:srgbClr val="0000CC"/>
                </a:solidFill>
              </a:rPr>
              <a:t>khi</a:t>
            </a:r>
            <a:r>
              <a:rPr lang="en-US" altLang="vi-VN" sz="2400" i="1" dirty="0">
                <a:solidFill>
                  <a:srgbClr val="0000CC"/>
                </a:solidFill>
              </a:rPr>
              <a:t> </a:t>
            </a:r>
            <a:r>
              <a:rPr lang="en-US" altLang="vi-VN" sz="2400" i="1" dirty="0" err="1">
                <a:solidFill>
                  <a:srgbClr val="0000CC"/>
                </a:solidFill>
              </a:rPr>
              <a:t>sử</a:t>
            </a:r>
            <a:r>
              <a:rPr lang="en-US" altLang="vi-VN" sz="2400" i="1" dirty="0">
                <a:solidFill>
                  <a:srgbClr val="0000CC"/>
                </a:solidFill>
              </a:rPr>
              <a:t> </a:t>
            </a:r>
            <a:r>
              <a:rPr lang="en-US" altLang="vi-VN" sz="2400" i="1" dirty="0" err="1">
                <a:solidFill>
                  <a:srgbClr val="0000CC"/>
                </a:solidFill>
              </a:rPr>
              <a:t>dụng</a:t>
            </a:r>
            <a:r>
              <a:rPr lang="en-US" altLang="vi-VN" sz="2400" i="1" dirty="0">
                <a:solidFill>
                  <a:srgbClr val="0000CC"/>
                </a:solidFill>
              </a:rPr>
              <a:t> </a:t>
            </a:r>
            <a:r>
              <a:rPr lang="en-US" altLang="vi-VN" sz="2400" i="1" dirty="0" err="1">
                <a:solidFill>
                  <a:srgbClr val="0000CC"/>
                </a:solidFill>
              </a:rPr>
              <a:t>để</a:t>
            </a:r>
            <a:r>
              <a:rPr lang="en-US" altLang="vi-VN" sz="2400" i="1" dirty="0">
                <a:solidFill>
                  <a:srgbClr val="0000CC"/>
                </a:solidFill>
              </a:rPr>
              <a:t> </a:t>
            </a:r>
            <a:r>
              <a:rPr lang="en-US" altLang="vi-VN" sz="2400" i="1" dirty="0" err="1">
                <a:solidFill>
                  <a:srgbClr val="0000CC"/>
                </a:solidFill>
              </a:rPr>
              <a:t>tiết</a:t>
            </a:r>
            <a:r>
              <a:rPr lang="en-US" altLang="vi-VN" sz="2400" i="1" dirty="0">
                <a:solidFill>
                  <a:srgbClr val="0000CC"/>
                </a:solidFill>
              </a:rPr>
              <a:t> </a:t>
            </a:r>
            <a:r>
              <a:rPr lang="en-US" altLang="vi-VN" sz="2400" i="1" dirty="0" err="1">
                <a:solidFill>
                  <a:srgbClr val="0000CC"/>
                </a:solidFill>
              </a:rPr>
              <a:t>kiệm</a:t>
            </a:r>
            <a:r>
              <a:rPr lang="en-US" altLang="vi-VN" sz="2400" i="1" dirty="0">
                <a:solidFill>
                  <a:srgbClr val="0000CC"/>
                </a:solidFill>
              </a:rPr>
              <a:t> </a:t>
            </a:r>
            <a:r>
              <a:rPr lang="en-US" altLang="vi-VN" sz="2400" i="1" dirty="0" err="1">
                <a:solidFill>
                  <a:srgbClr val="0000CC"/>
                </a:solidFill>
              </a:rPr>
              <a:t>bộ</a:t>
            </a:r>
            <a:r>
              <a:rPr lang="en-US" altLang="vi-VN" sz="2400" i="1" dirty="0">
                <a:solidFill>
                  <a:srgbClr val="0000CC"/>
                </a:solidFill>
              </a:rPr>
              <a:t> </a:t>
            </a:r>
            <a:r>
              <a:rPr lang="en-US" altLang="vi-VN" sz="2400" i="1" dirty="0" err="1">
                <a:solidFill>
                  <a:srgbClr val="0000CC"/>
                </a:solidFill>
              </a:rPr>
              <a:t>nhớ</a:t>
            </a:r>
            <a:r>
              <a:rPr lang="en-US" altLang="vi-VN" sz="2400" i="1" dirty="0">
                <a:solidFill>
                  <a:srgbClr val="0000CC"/>
                </a:solidFill>
              </a:rPr>
              <a:t>.</a:t>
            </a:r>
          </a:p>
        </p:txBody>
      </p:sp>
    </p:spTree>
    <p:extLst>
      <p:ext uri="{BB962C8B-B14F-4D97-AF65-F5344CB8AC3E}">
        <p14:creationId xmlns:p14="http://schemas.microsoft.com/office/powerpoint/2010/main" val="314357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4AD85F-25A0-4F9F-9E0C-7A5A62D1AB8B}" type="slidenum">
              <a:rPr lang="en-US" altLang="vi-VN">
                <a:solidFill>
                  <a:srgbClr val="FFFF00"/>
                </a:solidFill>
              </a:rPr>
              <a:pPr eaLnBrk="1" hangingPunct="1"/>
              <a:t>5</a:t>
            </a:fld>
            <a:endParaRPr lang="en-GB" altLang="vi-VN">
              <a:solidFill>
                <a:srgbClr val="FFFF00"/>
              </a:solidFill>
            </a:endParaRPr>
          </a:p>
        </p:txBody>
      </p:sp>
      <p:sp>
        <p:nvSpPr>
          <p:cNvPr id="8196" name="Rectangle 2"/>
          <p:cNvSpPr>
            <a:spLocks noChangeArrowheads="1"/>
          </p:cNvSpPr>
          <p:nvPr/>
        </p:nvSpPr>
        <p:spPr bwMode="auto">
          <a:xfrm>
            <a:off x="533400" y="1883230"/>
            <a:ext cx="8305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3200" i="1" dirty="0">
                <a:solidFill>
                  <a:srgbClr val="FF0000"/>
                </a:solidFill>
              </a:rPr>
              <a:t>	</a:t>
            </a:r>
            <a:r>
              <a:rPr lang="en-US" altLang="vi-VN" sz="3200" i="1" dirty="0" err="1">
                <a:solidFill>
                  <a:srgbClr val="FF0000"/>
                </a:solidFill>
              </a:rPr>
              <a:t>Biến</a:t>
            </a:r>
            <a:r>
              <a:rPr lang="en-US" altLang="vi-VN" sz="3200" i="1" dirty="0">
                <a:solidFill>
                  <a:srgbClr val="FF0000"/>
                </a:solidFill>
              </a:rPr>
              <a:t> con </a:t>
            </a:r>
            <a:r>
              <a:rPr lang="en-US" altLang="vi-VN" sz="3200" i="1" dirty="0" err="1">
                <a:solidFill>
                  <a:srgbClr val="FF0000"/>
                </a:solidFill>
              </a:rPr>
              <a:t>trỏ</a:t>
            </a:r>
            <a:r>
              <a:rPr lang="en-US" altLang="vi-VN" sz="3200" i="1" dirty="0">
                <a:solidFill>
                  <a:srgbClr val="FF0000"/>
                </a:solidFill>
              </a:rPr>
              <a:t> </a:t>
            </a:r>
            <a:r>
              <a:rPr lang="en-US" altLang="vi-VN" sz="3200" i="1" dirty="0" err="1">
                <a:solidFill>
                  <a:srgbClr val="FF0000"/>
                </a:solidFill>
              </a:rPr>
              <a:t>là</a:t>
            </a:r>
            <a:r>
              <a:rPr lang="en-US" altLang="vi-VN" sz="3200" i="1" dirty="0">
                <a:solidFill>
                  <a:srgbClr val="FF0000"/>
                </a:solidFill>
              </a:rPr>
              <a:t> </a:t>
            </a:r>
            <a:r>
              <a:rPr lang="en-US" altLang="vi-VN" sz="3200" i="1" dirty="0" err="1">
                <a:solidFill>
                  <a:srgbClr val="FF0000"/>
                </a:solidFill>
              </a:rPr>
              <a:t>loại</a:t>
            </a:r>
            <a:r>
              <a:rPr lang="en-US" altLang="vi-VN" sz="3200" i="1" dirty="0">
                <a:solidFill>
                  <a:srgbClr val="FF0000"/>
                </a:solidFill>
              </a:rPr>
              <a:t> </a:t>
            </a:r>
            <a:r>
              <a:rPr lang="en-US" altLang="vi-VN" sz="3200" i="1" dirty="0" err="1">
                <a:solidFill>
                  <a:srgbClr val="FF0000"/>
                </a:solidFill>
              </a:rPr>
              <a:t>biến</a:t>
            </a:r>
            <a:r>
              <a:rPr lang="en-US" altLang="vi-VN" sz="3200" i="1" dirty="0">
                <a:solidFill>
                  <a:srgbClr val="FF0000"/>
                </a:solidFill>
              </a:rPr>
              <a:t> </a:t>
            </a:r>
            <a:r>
              <a:rPr lang="en-US" altLang="vi-VN" sz="3200" i="1" dirty="0" err="1">
                <a:solidFill>
                  <a:srgbClr val="FF0000"/>
                </a:solidFill>
              </a:rPr>
              <a:t>dùng</a:t>
            </a:r>
            <a:r>
              <a:rPr lang="en-US" altLang="vi-VN" sz="3200" i="1" dirty="0">
                <a:solidFill>
                  <a:srgbClr val="FF0000"/>
                </a:solidFill>
              </a:rPr>
              <a:t> </a:t>
            </a:r>
            <a:r>
              <a:rPr lang="en-US" altLang="vi-VN" sz="3200" i="1" dirty="0" err="1">
                <a:solidFill>
                  <a:srgbClr val="FF0000"/>
                </a:solidFill>
              </a:rPr>
              <a:t>để</a:t>
            </a:r>
            <a:r>
              <a:rPr lang="en-US" altLang="vi-VN" sz="3200" i="1" dirty="0">
                <a:solidFill>
                  <a:srgbClr val="FF0000"/>
                </a:solidFill>
              </a:rPr>
              <a:t> </a:t>
            </a:r>
            <a:r>
              <a:rPr lang="en-US" altLang="vi-VN" sz="3200" i="1" dirty="0" err="1">
                <a:solidFill>
                  <a:srgbClr val="FF0000"/>
                </a:solidFill>
              </a:rPr>
              <a:t>chứa</a:t>
            </a:r>
            <a:r>
              <a:rPr lang="en-US" altLang="vi-VN" sz="3200" i="1" dirty="0">
                <a:solidFill>
                  <a:srgbClr val="FF0000"/>
                </a:solidFill>
              </a:rPr>
              <a:t> </a:t>
            </a:r>
            <a:r>
              <a:rPr lang="en-US" altLang="vi-VN" sz="3200" i="1" dirty="0" err="1">
                <a:solidFill>
                  <a:srgbClr val="FF0000"/>
                </a:solidFill>
              </a:rPr>
              <a:t>địa</a:t>
            </a:r>
            <a:r>
              <a:rPr lang="en-US" altLang="vi-VN" sz="3200" i="1" dirty="0">
                <a:solidFill>
                  <a:srgbClr val="FF0000"/>
                </a:solidFill>
              </a:rPr>
              <a:t> </a:t>
            </a:r>
            <a:r>
              <a:rPr lang="en-US" altLang="vi-VN" sz="3200" i="1" dirty="0" err="1">
                <a:solidFill>
                  <a:srgbClr val="FF0000"/>
                </a:solidFill>
              </a:rPr>
              <a:t>chỉ</a:t>
            </a:r>
            <a:r>
              <a:rPr lang="en-US" altLang="vi-VN" sz="3200" i="1" dirty="0">
                <a:solidFill>
                  <a:srgbClr val="FF0000"/>
                </a:solidFill>
              </a:rPr>
              <a:t> </a:t>
            </a:r>
            <a:r>
              <a:rPr lang="en-US" altLang="vi-VN" sz="3200" i="1" dirty="0" err="1">
                <a:solidFill>
                  <a:srgbClr val="FF0000"/>
                </a:solidFill>
              </a:rPr>
              <a:t>của</a:t>
            </a:r>
            <a:r>
              <a:rPr lang="en-US" altLang="vi-VN" sz="3200" i="1" dirty="0">
                <a:solidFill>
                  <a:srgbClr val="FF0000"/>
                </a:solidFill>
              </a:rPr>
              <a:t> </a:t>
            </a:r>
            <a:r>
              <a:rPr lang="en-US" altLang="vi-VN" sz="3200" i="1" dirty="0" err="1">
                <a:solidFill>
                  <a:srgbClr val="FF0000"/>
                </a:solidFill>
              </a:rPr>
              <a:t>biến</a:t>
            </a:r>
            <a:r>
              <a:rPr lang="en-US" altLang="vi-VN" sz="3200" i="1" dirty="0">
                <a:solidFill>
                  <a:srgbClr val="FF0000"/>
                </a:solidFill>
              </a:rPr>
              <a:t> </a:t>
            </a:r>
            <a:r>
              <a:rPr lang="en-US" altLang="vi-VN" sz="3200" i="1" dirty="0" err="1">
                <a:solidFill>
                  <a:srgbClr val="FF0000"/>
                </a:solidFill>
              </a:rPr>
              <a:t>động</a:t>
            </a:r>
            <a:r>
              <a:rPr lang="en-US" altLang="vi-VN" sz="3200" i="1" dirty="0">
                <a:solidFill>
                  <a:srgbClr val="FF0000"/>
                </a:solidFill>
              </a:rPr>
              <a:t>, </a:t>
            </a:r>
            <a:r>
              <a:rPr lang="en-US" altLang="vi-VN" sz="3200" i="1" dirty="0" err="1">
                <a:solidFill>
                  <a:srgbClr val="FF0000"/>
                </a:solidFill>
              </a:rPr>
              <a:t>giúp</a:t>
            </a:r>
            <a:r>
              <a:rPr lang="en-US" altLang="vi-VN" sz="3200" i="1" dirty="0">
                <a:solidFill>
                  <a:srgbClr val="FF0000"/>
                </a:solidFill>
              </a:rPr>
              <a:t> ta </a:t>
            </a:r>
            <a:r>
              <a:rPr lang="en-US" altLang="vi-VN" sz="3200" i="1" dirty="0" err="1">
                <a:solidFill>
                  <a:srgbClr val="FF0000"/>
                </a:solidFill>
              </a:rPr>
              <a:t>truy</a:t>
            </a:r>
            <a:r>
              <a:rPr lang="en-US" altLang="vi-VN" sz="3200" i="1" dirty="0">
                <a:solidFill>
                  <a:srgbClr val="FF0000"/>
                </a:solidFill>
              </a:rPr>
              <a:t> </a:t>
            </a:r>
            <a:r>
              <a:rPr lang="en-US" altLang="vi-VN" sz="3200" i="1" dirty="0" err="1">
                <a:solidFill>
                  <a:srgbClr val="FF0000"/>
                </a:solidFill>
              </a:rPr>
              <a:t>cập</a:t>
            </a:r>
            <a:r>
              <a:rPr lang="en-US" altLang="vi-VN" sz="3200" i="1" dirty="0">
                <a:solidFill>
                  <a:srgbClr val="FF0000"/>
                </a:solidFill>
              </a:rPr>
              <a:t> </a:t>
            </a:r>
            <a:r>
              <a:rPr lang="en-US" altLang="vi-VN" sz="3200" i="1" dirty="0" err="1">
                <a:solidFill>
                  <a:srgbClr val="FF0000"/>
                </a:solidFill>
              </a:rPr>
              <a:t>đến</a:t>
            </a:r>
            <a:r>
              <a:rPr lang="en-US" altLang="vi-VN" sz="3200" i="1" dirty="0">
                <a:solidFill>
                  <a:srgbClr val="FF0000"/>
                </a:solidFill>
              </a:rPr>
              <a:t> </a:t>
            </a:r>
            <a:r>
              <a:rPr lang="en-US" altLang="vi-VN" sz="3200" i="1" dirty="0" err="1">
                <a:solidFill>
                  <a:srgbClr val="FF0000"/>
                </a:solidFill>
              </a:rPr>
              <a:t>biến</a:t>
            </a:r>
            <a:r>
              <a:rPr lang="en-US" altLang="vi-VN" sz="3200" i="1" dirty="0">
                <a:solidFill>
                  <a:srgbClr val="FF0000"/>
                </a:solidFill>
              </a:rPr>
              <a:t> </a:t>
            </a:r>
            <a:r>
              <a:rPr lang="en-US" altLang="vi-VN" sz="3200" i="1" dirty="0" err="1">
                <a:solidFill>
                  <a:srgbClr val="FF0000"/>
                </a:solidFill>
              </a:rPr>
              <a:t>động</a:t>
            </a:r>
            <a:endParaRPr lang="en-US" altLang="vi-VN" sz="3200" i="1" dirty="0">
              <a:solidFill>
                <a:srgbClr val="FF0000"/>
              </a:solidFill>
            </a:endParaRPr>
          </a:p>
        </p:txBody>
      </p:sp>
      <p:sp>
        <p:nvSpPr>
          <p:cNvPr id="8197" name="AutoShape 3"/>
          <p:cNvSpPr>
            <a:spLocks noChangeArrowheads="1"/>
          </p:cNvSpPr>
          <p:nvPr/>
        </p:nvSpPr>
        <p:spPr bwMode="auto">
          <a:xfrm rot="16200000">
            <a:off x="3880757" y="908958"/>
            <a:ext cx="1034143" cy="914400"/>
          </a:xfrm>
          <a:prstGeom prst="lef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310" y="3712028"/>
            <a:ext cx="7425980" cy="2296886"/>
          </a:xfrm>
          <a:prstGeom prst="rect">
            <a:avLst/>
          </a:prstGeom>
        </p:spPr>
      </p:pic>
      <p:sp>
        <p:nvSpPr>
          <p:cNvPr id="2" name="Rectangle 1"/>
          <p:cNvSpPr/>
          <p:nvPr/>
        </p:nvSpPr>
        <p:spPr>
          <a:xfrm>
            <a:off x="5741252" y="6048574"/>
            <a:ext cx="3402748" cy="307777"/>
          </a:xfrm>
          <a:prstGeom prst="rect">
            <a:avLst/>
          </a:prstGeom>
        </p:spPr>
        <p:txBody>
          <a:bodyPr wrap="square">
            <a:spAutoFit/>
          </a:bodyPr>
          <a:lstStyle/>
          <a:p>
            <a:r>
              <a:rPr lang="vi-VN" sz="1400" i="1" dirty="0"/>
              <a:t>Nguồn: https://stackoverflow.com</a:t>
            </a:r>
          </a:p>
        </p:txBody>
      </p:sp>
    </p:spTree>
    <p:extLst>
      <p:ext uri="{BB962C8B-B14F-4D97-AF65-F5344CB8AC3E}">
        <p14:creationId xmlns:p14="http://schemas.microsoft.com/office/powerpoint/2010/main" val="3769502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8"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E141DA-1203-4C00-B02A-9FEA40E4916D}" type="slidenum">
              <a:rPr lang="en-US" altLang="vi-VN">
                <a:solidFill>
                  <a:srgbClr val="FFFF00"/>
                </a:solidFill>
              </a:rPr>
              <a:pPr eaLnBrk="1" hangingPunct="1"/>
              <a:t>6</a:t>
            </a:fld>
            <a:endParaRPr lang="en-GB" altLang="vi-VN">
              <a:solidFill>
                <a:srgbClr val="FFFF00"/>
              </a:solidFill>
            </a:endParaRPr>
          </a:p>
        </p:txBody>
      </p:sp>
      <p:sp>
        <p:nvSpPr>
          <p:cNvPr id="9220" name="Rectangle 3"/>
          <p:cNvSpPr>
            <a:spLocks noGrp="1" noChangeArrowheads="1"/>
          </p:cNvSpPr>
          <p:nvPr>
            <p:ph type="body" idx="1"/>
          </p:nvPr>
        </p:nvSpPr>
        <p:spPr>
          <a:xfrm>
            <a:off x="457200" y="1447800"/>
            <a:ext cx="8305800" cy="1219200"/>
          </a:xfrm>
        </p:spPr>
        <p:txBody>
          <a:bodyPr/>
          <a:lstStyle/>
          <a:p>
            <a:pPr marL="0" indent="0" algn="just" defTabSz="914400">
              <a:buFont typeface="Wingdings" panose="05000000000000000000" pitchFamily="2" charset="2"/>
              <a:buNone/>
            </a:pPr>
            <a:r>
              <a:rPr lang="en-US" altLang="vi-VN" sz="2600">
                <a:solidFill>
                  <a:srgbClr val="0000CC"/>
                </a:solidFill>
                <a:cs typeface="Arial" panose="020B0604020202020204" pitchFamily="34" charset="0"/>
              </a:rPr>
              <a:t>	Vì con trỏ cũng là một biến nên trước khi sử dụng phải khai báo theo cú pháp sau:</a:t>
            </a:r>
          </a:p>
        </p:txBody>
      </p:sp>
      <p:sp>
        <p:nvSpPr>
          <p:cNvPr id="9221" name="Rectangle 4"/>
          <p:cNvSpPr>
            <a:spLocks noChangeArrowheads="1"/>
          </p:cNvSpPr>
          <p:nvPr/>
        </p:nvSpPr>
        <p:spPr bwMode="auto">
          <a:xfrm>
            <a:off x="457200" y="2971800"/>
            <a:ext cx="8305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600" i="1">
                <a:solidFill>
                  <a:srgbClr val="0000CC"/>
                </a:solidFill>
              </a:rPr>
              <a:t>	</a:t>
            </a:r>
          </a:p>
        </p:txBody>
      </p:sp>
      <p:sp>
        <p:nvSpPr>
          <p:cNvPr id="9222" name="Rectangle 5"/>
          <p:cNvSpPr>
            <a:spLocks noChangeArrowheads="1"/>
          </p:cNvSpPr>
          <p:nvPr/>
        </p:nvSpPr>
        <p:spPr bwMode="auto">
          <a:xfrm>
            <a:off x="1600200" y="2895600"/>
            <a:ext cx="5410200" cy="68580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Font typeface="Wingdings" panose="05000000000000000000" pitchFamily="2" charset="2"/>
              <a:buNone/>
            </a:pPr>
            <a:r>
              <a:rPr lang="en-US" altLang="vi-VN" sz="3400" dirty="0" err="1">
                <a:solidFill>
                  <a:srgbClr val="FF0000"/>
                </a:solidFill>
              </a:rPr>
              <a:t>Kiểudữliệu</a:t>
            </a:r>
            <a:r>
              <a:rPr lang="en-US" altLang="vi-VN" sz="3400" dirty="0">
                <a:solidFill>
                  <a:srgbClr val="FF0000"/>
                </a:solidFill>
              </a:rPr>
              <a:t>* </a:t>
            </a:r>
            <a:r>
              <a:rPr lang="en-US" altLang="vi-VN" sz="3400" dirty="0" err="1">
                <a:solidFill>
                  <a:srgbClr val="FF0000"/>
                </a:solidFill>
              </a:rPr>
              <a:t>Têncontrỏ</a:t>
            </a:r>
            <a:r>
              <a:rPr lang="en-US" altLang="vi-VN" sz="3400" dirty="0">
                <a:solidFill>
                  <a:srgbClr val="FF0000"/>
                </a:solidFill>
              </a:rPr>
              <a:t>;</a:t>
            </a:r>
          </a:p>
          <a:p>
            <a:pPr>
              <a:spcBef>
                <a:spcPct val="20000"/>
              </a:spcBef>
              <a:buClr>
                <a:schemeClr val="tx2"/>
              </a:buClr>
              <a:buFont typeface="Wingdings" panose="05000000000000000000" pitchFamily="2" charset="2"/>
              <a:buNone/>
            </a:pPr>
            <a:endParaRPr lang="en-US" altLang="vi-VN" sz="3400" dirty="0">
              <a:solidFill>
                <a:srgbClr val="FF0000"/>
              </a:solidFill>
            </a:endParaRPr>
          </a:p>
        </p:txBody>
      </p:sp>
      <p:sp>
        <p:nvSpPr>
          <p:cNvPr id="9223" name="Rectangle 6"/>
          <p:cNvSpPr>
            <a:spLocks noChangeArrowheads="1"/>
          </p:cNvSpPr>
          <p:nvPr/>
        </p:nvSpPr>
        <p:spPr bwMode="auto">
          <a:xfrm>
            <a:off x="457200" y="4038600"/>
            <a:ext cx="8382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600" dirty="0">
                <a:solidFill>
                  <a:srgbClr val="0000CC"/>
                </a:solidFill>
              </a:rPr>
              <a:t>	</a:t>
            </a:r>
            <a:r>
              <a:rPr lang="en-US" altLang="vi-VN" sz="2600" dirty="0" err="1">
                <a:solidFill>
                  <a:srgbClr val="0000CC"/>
                </a:solidFill>
              </a:rPr>
              <a:t>Ví</a:t>
            </a:r>
            <a:r>
              <a:rPr lang="en-US" altLang="vi-VN" sz="2600" dirty="0">
                <a:solidFill>
                  <a:srgbClr val="0000CC"/>
                </a:solidFill>
              </a:rPr>
              <a:t> </a:t>
            </a:r>
            <a:r>
              <a:rPr lang="en-US" altLang="vi-VN" sz="2600" dirty="0" err="1">
                <a:solidFill>
                  <a:srgbClr val="0000CC"/>
                </a:solidFill>
              </a:rPr>
              <a:t>dụ</a:t>
            </a:r>
            <a:r>
              <a:rPr lang="en-US" altLang="vi-VN" sz="2600" dirty="0">
                <a:solidFill>
                  <a:srgbClr val="0000CC"/>
                </a:solidFill>
              </a:rPr>
              <a:t>: </a:t>
            </a:r>
          </a:p>
          <a:p>
            <a:pPr algn="just">
              <a:spcBef>
                <a:spcPct val="20000"/>
              </a:spcBef>
              <a:buClr>
                <a:schemeClr val="tx2"/>
              </a:buClr>
              <a:buFont typeface="Wingdings" panose="05000000000000000000" pitchFamily="2" charset="2"/>
              <a:buNone/>
            </a:pPr>
            <a:r>
              <a:rPr lang="en-US" altLang="vi-VN" sz="2600" dirty="0">
                <a:solidFill>
                  <a:srgbClr val="0000CC"/>
                </a:solidFill>
              </a:rPr>
              <a:t>		int* px;</a:t>
            </a:r>
          </a:p>
          <a:p>
            <a:pPr algn="just">
              <a:spcBef>
                <a:spcPct val="20000"/>
              </a:spcBef>
              <a:buClr>
                <a:schemeClr val="tx2"/>
              </a:buClr>
              <a:buFont typeface="Wingdings" panose="05000000000000000000" pitchFamily="2" charset="2"/>
              <a:buNone/>
            </a:pPr>
            <a:r>
              <a:rPr lang="en-US" altLang="vi-VN" sz="2600" dirty="0">
                <a:solidFill>
                  <a:srgbClr val="0000CC"/>
                </a:solidFill>
              </a:rPr>
              <a:t>		float* m;</a:t>
            </a:r>
          </a:p>
          <a:p>
            <a:pPr algn="just">
              <a:spcBef>
                <a:spcPct val="20000"/>
              </a:spcBef>
              <a:buClr>
                <a:schemeClr val="tx2"/>
              </a:buClr>
              <a:buFont typeface="Wingdings" panose="05000000000000000000" pitchFamily="2" charset="2"/>
              <a:buNone/>
            </a:pPr>
            <a:r>
              <a:rPr lang="en-US" altLang="vi-VN" sz="2600" dirty="0">
                <a:solidFill>
                  <a:srgbClr val="0000CC"/>
                </a:solidFill>
              </a:rPr>
              <a:t>		char* s;</a:t>
            </a:r>
          </a:p>
        </p:txBody>
      </p:sp>
      <p:sp>
        <p:nvSpPr>
          <p:cNvPr id="9224" name="Rectangle 7"/>
          <p:cNvSpPr>
            <a:spLocks noGrp="1"/>
          </p:cNvSpPr>
          <p:nvPr>
            <p:ph type="title"/>
          </p:nvPr>
        </p:nvSpPr>
        <p:spPr>
          <a:xfrm>
            <a:off x="1858736" y="350837"/>
            <a:ext cx="5829300" cy="684212"/>
          </a:xfrm>
        </p:spPr>
        <p:txBody>
          <a:bodyPr>
            <a:normAutofit/>
          </a:bodyPr>
          <a:lstStyle/>
          <a:p>
            <a:r>
              <a:rPr lang="en-US" altLang="vi-VN" sz="4000" b="1" dirty="0" err="1">
                <a:solidFill>
                  <a:srgbClr val="0000CC"/>
                </a:solidFill>
              </a:rPr>
              <a:t>Khai</a:t>
            </a:r>
            <a:r>
              <a:rPr lang="en-US" altLang="vi-VN" sz="4000" b="1" dirty="0">
                <a:solidFill>
                  <a:srgbClr val="0000CC"/>
                </a:solidFill>
              </a:rPr>
              <a:t> </a:t>
            </a:r>
            <a:r>
              <a:rPr lang="en-US" altLang="vi-VN" sz="4000" b="1" dirty="0" err="1">
                <a:solidFill>
                  <a:srgbClr val="0000CC"/>
                </a:solidFill>
              </a:rPr>
              <a:t>báo</a:t>
            </a:r>
            <a:r>
              <a:rPr lang="en-US" altLang="vi-VN" sz="4000" b="1" dirty="0">
                <a:solidFill>
                  <a:srgbClr val="0000CC"/>
                </a:solidFill>
              </a:rPr>
              <a:t> </a:t>
            </a:r>
            <a:r>
              <a:rPr lang="en-US" altLang="vi-VN" sz="4000" b="1" dirty="0" err="1">
                <a:solidFill>
                  <a:srgbClr val="0000CC"/>
                </a:solidFill>
              </a:rPr>
              <a:t>biến</a:t>
            </a:r>
            <a:r>
              <a:rPr lang="en-US" altLang="vi-VN" sz="4000" b="1" dirty="0">
                <a:solidFill>
                  <a:srgbClr val="0000CC"/>
                </a:solidFill>
              </a:rPr>
              <a:t> con </a:t>
            </a:r>
            <a:r>
              <a:rPr lang="en-US" altLang="vi-VN" sz="4000" b="1" dirty="0" err="1">
                <a:solidFill>
                  <a:srgbClr val="0000CC"/>
                </a:solidFill>
              </a:rPr>
              <a:t>trỏ</a:t>
            </a:r>
            <a:endParaRPr lang="en-US" altLang="vi-VN" sz="4000" b="1" dirty="0">
              <a:solidFill>
                <a:srgbClr val="0000CC"/>
              </a:solidFill>
            </a:endParaRPr>
          </a:p>
        </p:txBody>
      </p:sp>
    </p:spTree>
    <p:extLst>
      <p:ext uri="{BB962C8B-B14F-4D97-AF65-F5344CB8AC3E}">
        <p14:creationId xmlns:p14="http://schemas.microsoft.com/office/powerpoint/2010/main" val="1215537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9"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12AB60-5DE4-45D7-9B9C-A01BF5C2F241}" type="slidenum">
              <a:rPr lang="en-US" altLang="vi-VN">
                <a:solidFill>
                  <a:srgbClr val="FFFF00"/>
                </a:solidFill>
              </a:rPr>
              <a:pPr eaLnBrk="1" hangingPunct="1"/>
              <a:t>7</a:t>
            </a:fld>
            <a:endParaRPr lang="en-GB" altLang="vi-VN">
              <a:solidFill>
                <a:srgbClr val="FFFF00"/>
              </a:solidFill>
            </a:endParaRPr>
          </a:p>
        </p:txBody>
      </p:sp>
      <p:sp>
        <p:nvSpPr>
          <p:cNvPr id="10244" name="Rectangle 3"/>
          <p:cNvSpPr>
            <a:spLocks noGrp="1" noChangeArrowheads="1"/>
          </p:cNvSpPr>
          <p:nvPr>
            <p:ph type="body" idx="1"/>
          </p:nvPr>
        </p:nvSpPr>
        <p:spPr>
          <a:xfrm>
            <a:off x="381000" y="1143000"/>
            <a:ext cx="8305800" cy="457200"/>
          </a:xfrm>
        </p:spPr>
        <p:txBody>
          <a:bodyPr/>
          <a:lstStyle/>
          <a:p>
            <a:pPr marL="0" indent="0" defTabSz="914400">
              <a:buFont typeface="Wingdings" panose="05000000000000000000" pitchFamily="2" charset="2"/>
              <a:buNone/>
            </a:pPr>
            <a:r>
              <a:rPr lang="en-US" altLang="vi-VN" sz="2600">
                <a:solidFill>
                  <a:srgbClr val="0000CC"/>
                </a:solidFill>
                <a:cs typeface="Arial" panose="020B0604020202020204" pitchFamily="34" charset="0"/>
              </a:rPr>
              <a:t>	Định vị con trỏ trỏ tới địa chỉ của một biến</a:t>
            </a:r>
          </a:p>
        </p:txBody>
      </p:sp>
      <p:sp>
        <p:nvSpPr>
          <p:cNvPr id="10245" name="Rectangle 4"/>
          <p:cNvSpPr>
            <a:spLocks noChangeArrowheads="1"/>
          </p:cNvSpPr>
          <p:nvPr/>
        </p:nvSpPr>
        <p:spPr bwMode="auto">
          <a:xfrm>
            <a:off x="76200" y="2667000"/>
            <a:ext cx="8305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600" i="1">
                <a:solidFill>
                  <a:srgbClr val="0000CC"/>
                </a:solidFill>
              </a:rPr>
              <a:t>	</a:t>
            </a:r>
          </a:p>
        </p:txBody>
      </p:sp>
      <p:sp>
        <p:nvSpPr>
          <p:cNvPr id="10246" name="Rectangle 5"/>
          <p:cNvSpPr>
            <a:spLocks noChangeArrowheads="1"/>
          </p:cNvSpPr>
          <p:nvPr/>
        </p:nvSpPr>
        <p:spPr bwMode="auto">
          <a:xfrm>
            <a:off x="1905000" y="1828800"/>
            <a:ext cx="5410200" cy="68580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Font typeface="Wingdings" panose="05000000000000000000" pitchFamily="2" charset="2"/>
              <a:buNone/>
            </a:pPr>
            <a:r>
              <a:rPr lang="en-US" altLang="vi-VN" sz="3400">
                <a:solidFill>
                  <a:srgbClr val="FF0000"/>
                </a:solidFill>
              </a:rPr>
              <a:t>Têncontrỏ = &amp;biến</a:t>
            </a:r>
          </a:p>
        </p:txBody>
      </p:sp>
      <p:sp>
        <p:nvSpPr>
          <p:cNvPr id="10247" name="Rectangle 6"/>
          <p:cNvSpPr>
            <a:spLocks noChangeArrowheads="1"/>
          </p:cNvSpPr>
          <p:nvPr/>
        </p:nvSpPr>
        <p:spPr bwMode="auto">
          <a:xfrm>
            <a:off x="0" y="2590800"/>
            <a:ext cx="8382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600" dirty="0">
                <a:solidFill>
                  <a:srgbClr val="0000CC"/>
                </a:solidFill>
              </a:rPr>
              <a:t>	</a:t>
            </a:r>
            <a:r>
              <a:rPr lang="en-US" altLang="vi-VN" sz="2600" u="sng" dirty="0" err="1">
                <a:solidFill>
                  <a:srgbClr val="0000CC"/>
                </a:solidFill>
              </a:rPr>
              <a:t>Ví</a:t>
            </a:r>
            <a:r>
              <a:rPr lang="en-US" altLang="vi-VN" sz="2600" u="sng" dirty="0">
                <a:solidFill>
                  <a:srgbClr val="0000CC"/>
                </a:solidFill>
              </a:rPr>
              <a:t> </a:t>
            </a:r>
            <a:r>
              <a:rPr lang="en-US" altLang="vi-VN" sz="2600" u="sng" dirty="0" err="1">
                <a:solidFill>
                  <a:srgbClr val="0000CC"/>
                </a:solidFill>
              </a:rPr>
              <a:t>dụ</a:t>
            </a:r>
            <a:r>
              <a:rPr lang="en-US" altLang="vi-VN" sz="2600" dirty="0">
                <a:solidFill>
                  <a:srgbClr val="0000CC"/>
                </a:solidFill>
              </a:rPr>
              <a:t>: </a:t>
            </a:r>
          </a:p>
          <a:p>
            <a:pPr>
              <a:spcBef>
                <a:spcPct val="20000"/>
              </a:spcBef>
              <a:buClr>
                <a:schemeClr val="tx2"/>
              </a:buClr>
              <a:buFont typeface="Wingdings" panose="05000000000000000000" pitchFamily="2" charset="2"/>
              <a:buNone/>
            </a:pPr>
            <a:r>
              <a:rPr lang="en-US" altLang="vi-VN" sz="2600" dirty="0">
                <a:solidFill>
                  <a:srgbClr val="0000CC"/>
                </a:solidFill>
              </a:rPr>
              <a:t>		</a:t>
            </a:r>
            <a:r>
              <a:rPr lang="en-US" altLang="vi-VN" sz="2400" dirty="0">
                <a:solidFill>
                  <a:srgbClr val="0000CC"/>
                </a:solidFill>
              </a:rPr>
              <a:t>int  a, b;</a:t>
            </a:r>
            <a:br>
              <a:rPr lang="en-US" altLang="vi-VN" sz="2400" dirty="0">
                <a:solidFill>
                  <a:srgbClr val="0000CC"/>
                </a:solidFill>
              </a:rPr>
            </a:br>
            <a:r>
              <a:rPr lang="en-US" altLang="vi-VN" sz="2400" dirty="0">
                <a:solidFill>
                  <a:srgbClr val="0000CC"/>
                </a:solidFill>
              </a:rPr>
              <a:t>		int* px, *c;</a:t>
            </a:r>
          </a:p>
          <a:p>
            <a:pPr algn="just">
              <a:spcBef>
                <a:spcPct val="20000"/>
              </a:spcBef>
              <a:buClr>
                <a:schemeClr val="tx2"/>
              </a:buClr>
              <a:buFont typeface="Wingdings" panose="05000000000000000000" pitchFamily="2" charset="2"/>
              <a:buNone/>
            </a:pPr>
            <a:r>
              <a:rPr lang="en-US" altLang="vi-VN" sz="2400" dirty="0">
                <a:solidFill>
                  <a:srgbClr val="0000CC"/>
                </a:solidFill>
              </a:rPr>
              <a:t>		float* m;</a:t>
            </a:r>
          </a:p>
        </p:txBody>
      </p:sp>
      <p:sp>
        <p:nvSpPr>
          <p:cNvPr id="10248" name="Rectangle 7"/>
          <p:cNvSpPr>
            <a:spLocks noChangeArrowheads="1"/>
          </p:cNvSpPr>
          <p:nvPr/>
        </p:nvSpPr>
        <p:spPr bwMode="auto">
          <a:xfrm>
            <a:off x="0" y="4325042"/>
            <a:ext cx="91440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20000"/>
              </a:spcBef>
              <a:buClr>
                <a:schemeClr val="tx2"/>
              </a:buClr>
              <a:buFont typeface="Wingdings" panose="05000000000000000000" pitchFamily="2" charset="2"/>
              <a:buNone/>
            </a:pPr>
            <a:r>
              <a:rPr lang="en-US" altLang="vi-VN" sz="2600" dirty="0">
                <a:solidFill>
                  <a:srgbClr val="0000CC"/>
                </a:solidFill>
              </a:rPr>
              <a:t>	Qui </a:t>
            </a:r>
            <a:r>
              <a:rPr lang="en-US" altLang="vi-VN" sz="2600" dirty="0" err="1">
                <a:solidFill>
                  <a:srgbClr val="0000CC"/>
                </a:solidFill>
              </a:rPr>
              <a:t>định</a:t>
            </a:r>
            <a:r>
              <a:rPr lang="en-US" altLang="vi-VN" sz="2600" dirty="0">
                <a:solidFill>
                  <a:srgbClr val="0000CC"/>
                </a:solidFill>
              </a:rPr>
              <a:t> </a:t>
            </a:r>
            <a:r>
              <a:rPr lang="en-US" altLang="vi-VN" sz="2600" dirty="0" err="1">
                <a:solidFill>
                  <a:srgbClr val="0000CC"/>
                </a:solidFill>
              </a:rPr>
              <a:t>vùng</a:t>
            </a:r>
            <a:r>
              <a:rPr lang="en-US" altLang="vi-VN" sz="2600" dirty="0">
                <a:solidFill>
                  <a:srgbClr val="0000CC"/>
                </a:solidFill>
              </a:rPr>
              <a:t> </a:t>
            </a:r>
            <a:r>
              <a:rPr lang="en-US" altLang="vi-VN" sz="2600" dirty="0" err="1">
                <a:solidFill>
                  <a:srgbClr val="0000CC"/>
                </a:solidFill>
              </a:rPr>
              <a:t>trỏ</a:t>
            </a:r>
            <a:r>
              <a:rPr lang="en-US" altLang="vi-VN" sz="2600" dirty="0">
                <a:solidFill>
                  <a:srgbClr val="0000CC"/>
                </a:solidFill>
              </a:rPr>
              <a:t> </a:t>
            </a:r>
            <a:r>
              <a:rPr lang="en-US" altLang="vi-VN" sz="2600" dirty="0" err="1">
                <a:solidFill>
                  <a:srgbClr val="0000CC"/>
                </a:solidFill>
              </a:rPr>
              <a:t>tới</a:t>
            </a:r>
            <a:r>
              <a:rPr lang="en-US" altLang="vi-VN" sz="2600" dirty="0">
                <a:solidFill>
                  <a:srgbClr val="0000CC"/>
                </a:solidFill>
              </a:rPr>
              <a:t>:</a:t>
            </a:r>
          </a:p>
          <a:p>
            <a:pPr algn="just">
              <a:spcBef>
                <a:spcPct val="20000"/>
              </a:spcBef>
              <a:buClr>
                <a:schemeClr val="tx2"/>
              </a:buClr>
              <a:buFont typeface="Wingdings" panose="05000000000000000000" pitchFamily="2" charset="2"/>
              <a:buNone/>
            </a:pPr>
            <a:r>
              <a:rPr lang="en-US" altLang="vi-VN" sz="2600" dirty="0">
                <a:solidFill>
                  <a:srgbClr val="0000CC"/>
                </a:solidFill>
              </a:rPr>
              <a:t>		</a:t>
            </a:r>
            <a:r>
              <a:rPr lang="en-US" altLang="vi-VN" sz="2400" dirty="0">
                <a:solidFill>
                  <a:srgbClr val="0000CC"/>
                </a:solidFill>
              </a:rPr>
              <a:t>px = &amp;a; //</a:t>
            </a:r>
            <a:r>
              <a:rPr lang="en-US" altLang="vi-VN" sz="2400" i="1" dirty="0" err="1">
                <a:solidFill>
                  <a:srgbClr val="990000"/>
                </a:solidFill>
              </a:rPr>
              <a:t>Gán</a:t>
            </a:r>
            <a:r>
              <a:rPr lang="en-US" altLang="vi-VN" sz="2400" i="1" dirty="0">
                <a:solidFill>
                  <a:srgbClr val="990000"/>
                </a:solidFill>
              </a:rPr>
              <a:t> </a:t>
            </a:r>
            <a:r>
              <a:rPr lang="en-US" altLang="vi-VN" sz="2400" i="1" dirty="0" err="1">
                <a:solidFill>
                  <a:srgbClr val="990000"/>
                </a:solidFill>
              </a:rPr>
              <a:t>địa</a:t>
            </a:r>
            <a:r>
              <a:rPr lang="en-US" altLang="vi-VN" sz="2400" i="1" dirty="0">
                <a:solidFill>
                  <a:srgbClr val="990000"/>
                </a:solidFill>
              </a:rPr>
              <a:t> </a:t>
            </a:r>
            <a:r>
              <a:rPr lang="en-US" altLang="vi-VN" sz="2400" i="1" dirty="0" err="1">
                <a:solidFill>
                  <a:srgbClr val="990000"/>
                </a:solidFill>
              </a:rPr>
              <a:t>chỉ</a:t>
            </a:r>
            <a:r>
              <a:rPr lang="en-US" altLang="vi-VN" sz="2400" i="1" dirty="0">
                <a:solidFill>
                  <a:srgbClr val="990000"/>
                </a:solidFill>
              </a:rPr>
              <a:t> </a:t>
            </a:r>
            <a:r>
              <a:rPr lang="en-US" altLang="vi-VN" sz="2400" i="1" dirty="0" err="1">
                <a:solidFill>
                  <a:srgbClr val="990000"/>
                </a:solidFill>
              </a:rPr>
              <a:t>của</a:t>
            </a:r>
            <a:r>
              <a:rPr lang="en-US" altLang="vi-VN" sz="2400" i="1" dirty="0">
                <a:solidFill>
                  <a:srgbClr val="990000"/>
                </a:solidFill>
              </a:rPr>
              <a:t> a </a:t>
            </a:r>
            <a:r>
              <a:rPr lang="en-US" altLang="vi-VN" sz="2400" i="1" dirty="0" err="1">
                <a:solidFill>
                  <a:srgbClr val="990000"/>
                </a:solidFill>
              </a:rPr>
              <a:t>cho</a:t>
            </a:r>
            <a:r>
              <a:rPr lang="en-US" altLang="vi-VN" sz="2400" i="1" dirty="0">
                <a:solidFill>
                  <a:srgbClr val="990000"/>
                </a:solidFill>
              </a:rPr>
              <a:t> con </a:t>
            </a:r>
            <a:r>
              <a:rPr lang="en-US" altLang="vi-VN" sz="2400" i="1" dirty="0" err="1">
                <a:solidFill>
                  <a:srgbClr val="990000"/>
                </a:solidFill>
              </a:rPr>
              <a:t>trỏ</a:t>
            </a:r>
            <a:r>
              <a:rPr lang="en-US" altLang="vi-VN" sz="2400" i="1" dirty="0">
                <a:solidFill>
                  <a:srgbClr val="990000"/>
                </a:solidFill>
              </a:rPr>
              <a:t> px</a:t>
            </a:r>
          </a:p>
          <a:p>
            <a:pPr algn="just">
              <a:spcBef>
                <a:spcPct val="20000"/>
              </a:spcBef>
              <a:buClr>
                <a:schemeClr val="tx2"/>
              </a:buClr>
              <a:buFont typeface="Wingdings" panose="05000000000000000000" pitchFamily="2" charset="2"/>
              <a:buNone/>
            </a:pPr>
            <a:r>
              <a:rPr lang="en-US" altLang="vi-VN" sz="2400" dirty="0">
                <a:solidFill>
                  <a:srgbClr val="0000CC"/>
                </a:solidFill>
              </a:rPr>
              <a:t>		c = &amp;b;   //</a:t>
            </a:r>
            <a:r>
              <a:rPr lang="en-US" altLang="vi-VN" sz="2400" i="1" dirty="0" err="1">
                <a:solidFill>
                  <a:srgbClr val="990000"/>
                </a:solidFill>
              </a:rPr>
              <a:t>Gán</a:t>
            </a:r>
            <a:r>
              <a:rPr lang="en-US" altLang="vi-VN" sz="2400" i="1" dirty="0">
                <a:solidFill>
                  <a:srgbClr val="990000"/>
                </a:solidFill>
              </a:rPr>
              <a:t> </a:t>
            </a:r>
            <a:r>
              <a:rPr lang="en-US" altLang="vi-VN" sz="2400" i="1" dirty="0" err="1">
                <a:solidFill>
                  <a:srgbClr val="990000"/>
                </a:solidFill>
              </a:rPr>
              <a:t>địa</a:t>
            </a:r>
            <a:r>
              <a:rPr lang="en-US" altLang="vi-VN" sz="2400" i="1" dirty="0">
                <a:solidFill>
                  <a:srgbClr val="990000"/>
                </a:solidFill>
              </a:rPr>
              <a:t> </a:t>
            </a:r>
            <a:r>
              <a:rPr lang="en-US" altLang="vi-VN" sz="2400" i="1" dirty="0" err="1">
                <a:solidFill>
                  <a:srgbClr val="990000"/>
                </a:solidFill>
              </a:rPr>
              <a:t>chỉ</a:t>
            </a:r>
            <a:r>
              <a:rPr lang="en-US" altLang="vi-VN" sz="2400" i="1" dirty="0">
                <a:solidFill>
                  <a:srgbClr val="990000"/>
                </a:solidFill>
              </a:rPr>
              <a:t> </a:t>
            </a:r>
            <a:r>
              <a:rPr lang="en-US" altLang="vi-VN" sz="2400" i="1" dirty="0" err="1">
                <a:solidFill>
                  <a:srgbClr val="990000"/>
                </a:solidFill>
              </a:rPr>
              <a:t>của</a:t>
            </a:r>
            <a:r>
              <a:rPr lang="en-US" altLang="vi-VN" sz="2400" i="1" dirty="0">
                <a:solidFill>
                  <a:srgbClr val="990000"/>
                </a:solidFill>
              </a:rPr>
              <a:t> b </a:t>
            </a:r>
            <a:r>
              <a:rPr lang="en-US" altLang="vi-VN" sz="2400" i="1" dirty="0" err="1">
                <a:solidFill>
                  <a:srgbClr val="990000"/>
                </a:solidFill>
              </a:rPr>
              <a:t>cho</a:t>
            </a:r>
            <a:r>
              <a:rPr lang="en-US" altLang="vi-VN" sz="2400" i="1" dirty="0">
                <a:solidFill>
                  <a:srgbClr val="990000"/>
                </a:solidFill>
              </a:rPr>
              <a:t> con </a:t>
            </a:r>
            <a:r>
              <a:rPr lang="en-US" altLang="vi-VN" sz="2400" i="1" dirty="0" err="1">
                <a:solidFill>
                  <a:srgbClr val="990000"/>
                </a:solidFill>
              </a:rPr>
              <a:t>trỏ</a:t>
            </a:r>
            <a:r>
              <a:rPr lang="en-US" altLang="vi-VN" sz="2400" i="1" dirty="0">
                <a:solidFill>
                  <a:srgbClr val="990000"/>
                </a:solidFill>
              </a:rPr>
              <a:t> c</a:t>
            </a:r>
          </a:p>
          <a:p>
            <a:pPr algn="just">
              <a:spcBef>
                <a:spcPct val="20000"/>
              </a:spcBef>
              <a:buClr>
                <a:schemeClr val="tx2"/>
              </a:buClr>
              <a:buFont typeface="Wingdings" panose="05000000000000000000" pitchFamily="2" charset="2"/>
              <a:buNone/>
            </a:pPr>
            <a:r>
              <a:rPr lang="en-US" altLang="vi-VN" sz="2400" dirty="0">
                <a:solidFill>
                  <a:srgbClr val="0000CC"/>
                </a:solidFill>
              </a:rPr>
              <a:t>		m = &amp;a;  //</a:t>
            </a:r>
            <a:r>
              <a:rPr lang="en-US" altLang="vi-VN" sz="2400" i="1" dirty="0">
                <a:solidFill>
                  <a:srgbClr val="FF0000"/>
                </a:solidFill>
              </a:rPr>
              <a:t>m </a:t>
            </a:r>
            <a:r>
              <a:rPr lang="en-US" altLang="vi-VN" sz="2400" i="1" dirty="0" err="1">
                <a:solidFill>
                  <a:srgbClr val="FF0000"/>
                </a:solidFill>
              </a:rPr>
              <a:t>là</a:t>
            </a:r>
            <a:r>
              <a:rPr lang="en-US" altLang="vi-VN" sz="2400" i="1" dirty="0">
                <a:solidFill>
                  <a:srgbClr val="FF0000"/>
                </a:solidFill>
              </a:rPr>
              <a:t> con </a:t>
            </a:r>
            <a:r>
              <a:rPr lang="en-US" altLang="vi-VN" sz="2400" i="1" dirty="0" err="1">
                <a:solidFill>
                  <a:srgbClr val="FF0000"/>
                </a:solidFill>
              </a:rPr>
              <a:t>trỏ</a:t>
            </a:r>
            <a:r>
              <a:rPr lang="en-US" altLang="vi-VN" sz="2400" i="1" dirty="0">
                <a:solidFill>
                  <a:srgbClr val="FF0000"/>
                </a:solidFill>
              </a:rPr>
              <a:t> </a:t>
            </a:r>
            <a:r>
              <a:rPr lang="en-US" altLang="vi-VN" sz="2400" i="1" dirty="0" err="1">
                <a:solidFill>
                  <a:srgbClr val="FF0000"/>
                </a:solidFill>
              </a:rPr>
              <a:t>kiểu</a:t>
            </a:r>
            <a:r>
              <a:rPr lang="en-US" altLang="vi-VN" sz="2400" i="1" dirty="0">
                <a:solidFill>
                  <a:srgbClr val="FF0000"/>
                </a:solidFill>
              </a:rPr>
              <a:t> float </a:t>
            </a:r>
            <a:r>
              <a:rPr lang="en-US" altLang="vi-VN" sz="2400" i="1" dirty="0" err="1">
                <a:solidFill>
                  <a:srgbClr val="FF0000"/>
                </a:solidFill>
              </a:rPr>
              <a:t>nên</a:t>
            </a:r>
            <a:r>
              <a:rPr lang="en-US" altLang="vi-VN" sz="2400" i="1" dirty="0">
                <a:solidFill>
                  <a:srgbClr val="FF0000"/>
                </a:solidFill>
              </a:rPr>
              <a:t> </a:t>
            </a:r>
            <a:r>
              <a:rPr lang="en-US" altLang="vi-VN" sz="2400" i="1" dirty="0" err="1">
                <a:solidFill>
                  <a:srgbClr val="FF0000"/>
                </a:solidFill>
              </a:rPr>
              <a:t>chỉ</a:t>
            </a:r>
            <a:r>
              <a:rPr lang="en-US" altLang="vi-VN" sz="2400" i="1" dirty="0">
                <a:solidFill>
                  <a:srgbClr val="FF0000"/>
                </a:solidFill>
              </a:rPr>
              <a:t> </a:t>
            </a:r>
            <a:r>
              <a:rPr lang="en-US" altLang="vi-VN" sz="2400" i="1" dirty="0" err="1">
                <a:solidFill>
                  <a:srgbClr val="FF0000"/>
                </a:solidFill>
              </a:rPr>
              <a:t>chứa</a:t>
            </a:r>
            <a:r>
              <a:rPr lang="en-US" altLang="vi-VN" sz="2400" i="1" dirty="0">
                <a:solidFill>
                  <a:srgbClr val="FF0000"/>
                </a:solidFill>
              </a:rPr>
              <a:t> </a:t>
            </a:r>
          </a:p>
          <a:p>
            <a:pPr algn="just">
              <a:spcBef>
                <a:spcPct val="20000"/>
              </a:spcBef>
              <a:buClr>
                <a:schemeClr val="tx2"/>
              </a:buClr>
              <a:buFont typeface="Wingdings" panose="05000000000000000000" pitchFamily="2" charset="2"/>
              <a:buNone/>
            </a:pPr>
            <a:r>
              <a:rPr lang="en-US" altLang="vi-VN" sz="2400" i="1" dirty="0">
                <a:solidFill>
                  <a:srgbClr val="FF0000"/>
                </a:solidFill>
              </a:rPr>
              <a:t>			    </a:t>
            </a:r>
            <a:r>
              <a:rPr lang="en-US" altLang="vi-VN" sz="2400" i="1" dirty="0" err="1">
                <a:solidFill>
                  <a:srgbClr val="FF0000"/>
                </a:solidFill>
              </a:rPr>
              <a:t>địa</a:t>
            </a:r>
            <a:r>
              <a:rPr lang="en-US" altLang="vi-VN" sz="2400" i="1" dirty="0">
                <a:solidFill>
                  <a:srgbClr val="FF0000"/>
                </a:solidFill>
              </a:rPr>
              <a:t> </a:t>
            </a:r>
            <a:r>
              <a:rPr lang="en-US" altLang="vi-VN" sz="2400" i="1" dirty="0" err="1">
                <a:solidFill>
                  <a:srgbClr val="FF0000"/>
                </a:solidFill>
              </a:rPr>
              <a:t>chỉ</a:t>
            </a:r>
            <a:r>
              <a:rPr lang="en-US" altLang="vi-VN" sz="2400" i="1" dirty="0">
                <a:solidFill>
                  <a:srgbClr val="FF0000"/>
                </a:solidFill>
              </a:rPr>
              <a:t> </a:t>
            </a:r>
            <a:r>
              <a:rPr lang="en-US" altLang="vi-VN" sz="2400" i="1" dirty="0" err="1">
                <a:solidFill>
                  <a:srgbClr val="FF0000"/>
                </a:solidFill>
              </a:rPr>
              <a:t>biến</a:t>
            </a:r>
            <a:r>
              <a:rPr lang="en-US" altLang="vi-VN" sz="2400" i="1" dirty="0">
                <a:solidFill>
                  <a:srgbClr val="FF0000"/>
                </a:solidFill>
              </a:rPr>
              <a:t> </a:t>
            </a:r>
            <a:r>
              <a:rPr lang="en-US" altLang="vi-VN" sz="2400" i="1" dirty="0" err="1">
                <a:solidFill>
                  <a:srgbClr val="FF0000"/>
                </a:solidFill>
              </a:rPr>
              <a:t>kiểu</a:t>
            </a:r>
            <a:r>
              <a:rPr lang="en-US" altLang="vi-VN" sz="2400" i="1" dirty="0">
                <a:solidFill>
                  <a:srgbClr val="FF0000"/>
                </a:solidFill>
              </a:rPr>
              <a:t> float </a:t>
            </a:r>
            <a:r>
              <a:rPr lang="en-US" altLang="vi-VN" sz="2400" i="1" dirty="0">
                <a:solidFill>
                  <a:srgbClr val="FF0000"/>
                </a:solidFill>
                <a:sym typeface="Wingdings" panose="05000000000000000000" pitchFamily="2" charset="2"/>
              </a:rPr>
              <a:t> </a:t>
            </a:r>
            <a:r>
              <a:rPr lang="en-US" altLang="vi-VN" sz="2400" i="1" dirty="0" err="1">
                <a:solidFill>
                  <a:srgbClr val="FF0000"/>
                </a:solidFill>
                <a:sym typeface="Wingdings" panose="05000000000000000000" pitchFamily="2" charset="2"/>
              </a:rPr>
              <a:t>không</a:t>
            </a:r>
            <a:r>
              <a:rPr lang="en-US" altLang="vi-VN" sz="2400" i="1" dirty="0">
                <a:solidFill>
                  <a:srgbClr val="FF0000"/>
                </a:solidFill>
                <a:sym typeface="Wingdings" panose="05000000000000000000" pitchFamily="2" charset="2"/>
              </a:rPr>
              <a:t> </a:t>
            </a:r>
            <a:r>
              <a:rPr lang="en-US" altLang="vi-VN" sz="2400" i="1" dirty="0" err="1">
                <a:solidFill>
                  <a:srgbClr val="FF0000"/>
                </a:solidFill>
                <a:sym typeface="Wingdings" panose="05000000000000000000" pitchFamily="2" charset="2"/>
              </a:rPr>
              <a:t>chấp</a:t>
            </a:r>
            <a:r>
              <a:rPr lang="en-US" altLang="vi-VN" sz="2400" i="1" dirty="0">
                <a:solidFill>
                  <a:srgbClr val="FF0000"/>
                </a:solidFill>
                <a:sym typeface="Wingdings" panose="05000000000000000000" pitchFamily="2" charset="2"/>
              </a:rPr>
              <a:t> </a:t>
            </a:r>
            <a:r>
              <a:rPr lang="en-US" altLang="vi-VN" sz="2400" i="1" dirty="0" err="1">
                <a:solidFill>
                  <a:srgbClr val="FF0000"/>
                </a:solidFill>
                <a:sym typeface="Wingdings" panose="05000000000000000000" pitchFamily="2" charset="2"/>
              </a:rPr>
              <a:t>nhận</a:t>
            </a:r>
            <a:r>
              <a:rPr lang="en-US" altLang="vi-VN" sz="2400" i="1" dirty="0">
                <a:solidFill>
                  <a:srgbClr val="FF0000"/>
                </a:solidFill>
                <a:sym typeface="Wingdings" panose="05000000000000000000" pitchFamily="2" charset="2"/>
              </a:rPr>
              <a:t> </a:t>
            </a:r>
            <a:endParaRPr lang="en-US" altLang="vi-VN" sz="2400" i="1" dirty="0">
              <a:solidFill>
                <a:srgbClr val="FF0000"/>
              </a:solidFill>
            </a:endParaRPr>
          </a:p>
        </p:txBody>
      </p:sp>
      <p:sp>
        <p:nvSpPr>
          <p:cNvPr id="10249" name="Rectangle 8"/>
          <p:cNvSpPr>
            <a:spLocks noGrp="1"/>
          </p:cNvSpPr>
          <p:nvPr>
            <p:ph type="title"/>
          </p:nvPr>
        </p:nvSpPr>
        <p:spPr>
          <a:xfrm>
            <a:off x="1905000" y="194355"/>
            <a:ext cx="6610350" cy="919388"/>
          </a:xfrm>
        </p:spPr>
        <p:txBody>
          <a:bodyPr>
            <a:normAutofit/>
          </a:bodyPr>
          <a:lstStyle/>
          <a:p>
            <a:r>
              <a:rPr lang="en-US" altLang="vi-VN" sz="4000" b="1" dirty="0" err="1">
                <a:solidFill>
                  <a:srgbClr val="0000CC"/>
                </a:solidFill>
              </a:rPr>
              <a:t>Vùng</a:t>
            </a:r>
            <a:r>
              <a:rPr lang="en-US" altLang="vi-VN" sz="4000" b="1" dirty="0">
                <a:solidFill>
                  <a:srgbClr val="0000CC"/>
                </a:solidFill>
              </a:rPr>
              <a:t> </a:t>
            </a:r>
            <a:r>
              <a:rPr lang="en-US" altLang="vi-VN" sz="4000" b="1" dirty="0" err="1">
                <a:solidFill>
                  <a:srgbClr val="0000CC"/>
                </a:solidFill>
              </a:rPr>
              <a:t>trỏ</a:t>
            </a:r>
            <a:r>
              <a:rPr lang="en-US" altLang="vi-VN" sz="4000" b="1" dirty="0">
                <a:solidFill>
                  <a:srgbClr val="0000CC"/>
                </a:solidFill>
              </a:rPr>
              <a:t> </a:t>
            </a:r>
            <a:r>
              <a:rPr lang="en-US" altLang="vi-VN" sz="4000" b="1" dirty="0" err="1">
                <a:solidFill>
                  <a:srgbClr val="0000CC"/>
                </a:solidFill>
              </a:rPr>
              <a:t>tới</a:t>
            </a:r>
            <a:endParaRPr lang="en-US" altLang="vi-VN" sz="4000" b="1" dirty="0">
              <a:solidFill>
                <a:srgbClr val="0000CC"/>
              </a:solidFill>
            </a:endParaRPr>
          </a:p>
        </p:txBody>
      </p:sp>
    </p:spTree>
    <p:extLst>
      <p:ext uri="{BB962C8B-B14F-4D97-AF65-F5344CB8AC3E}">
        <p14:creationId xmlns:p14="http://schemas.microsoft.com/office/powerpoint/2010/main" val="401696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0C7769-4C7E-4D30-BEC8-B81D519597C8}" type="slidenum">
              <a:rPr lang="en-US" altLang="vi-VN">
                <a:solidFill>
                  <a:srgbClr val="FFFF00"/>
                </a:solidFill>
              </a:rPr>
              <a:pPr eaLnBrk="1" hangingPunct="1"/>
              <a:t>8</a:t>
            </a:fld>
            <a:endParaRPr lang="en-GB" altLang="vi-VN">
              <a:solidFill>
                <a:srgbClr val="FFFF00"/>
              </a:solidFill>
            </a:endParaRPr>
          </a:p>
        </p:txBody>
      </p:sp>
      <p:sp>
        <p:nvSpPr>
          <p:cNvPr id="11270" name="Rectangle 5"/>
          <p:cNvSpPr>
            <a:spLocks noGrp="1"/>
          </p:cNvSpPr>
          <p:nvPr>
            <p:ph type="title"/>
          </p:nvPr>
        </p:nvSpPr>
        <p:spPr>
          <a:xfrm>
            <a:off x="1828800" y="365127"/>
            <a:ext cx="6686550" cy="777874"/>
          </a:xfrm>
        </p:spPr>
        <p:txBody>
          <a:bodyPr>
            <a:normAutofit/>
          </a:bodyPr>
          <a:lstStyle/>
          <a:p>
            <a:r>
              <a:rPr lang="en-US" altLang="vi-VN" sz="4000" b="1" dirty="0" err="1">
                <a:solidFill>
                  <a:srgbClr val="0000CC"/>
                </a:solidFill>
              </a:rPr>
              <a:t>Ví</a:t>
            </a:r>
            <a:r>
              <a:rPr lang="en-US" altLang="vi-VN" sz="4000" b="1" dirty="0">
                <a:solidFill>
                  <a:srgbClr val="0000CC"/>
                </a:solidFill>
              </a:rPr>
              <a:t> </a:t>
            </a:r>
            <a:r>
              <a:rPr lang="en-US" altLang="vi-VN" sz="4000" b="1" dirty="0" err="1">
                <a:solidFill>
                  <a:srgbClr val="0000CC"/>
                </a:solidFill>
              </a:rPr>
              <a:t>dụ</a:t>
            </a:r>
            <a:endParaRPr lang="en-US" altLang="vi-VN" sz="4000" b="1" dirty="0">
              <a:solidFill>
                <a:srgbClr val="0000CC"/>
              </a:solidFill>
            </a:endParaRPr>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504" y="1143002"/>
            <a:ext cx="6839905" cy="3755570"/>
          </a:xfrm>
          <a:prstGeom prst="rect">
            <a:avLst/>
          </a:prstGeom>
        </p:spPr>
      </p:pic>
      <p:pic>
        <p:nvPicPr>
          <p:cNvPr id="4" name="Picture 3"/>
          <p:cNvPicPr>
            <a:picLocks noChangeAspect="1"/>
          </p:cNvPicPr>
          <p:nvPr/>
        </p:nvPicPr>
        <p:blipFill>
          <a:blip r:embed="rId3"/>
          <a:stretch>
            <a:fillRect/>
          </a:stretch>
        </p:blipFill>
        <p:spPr>
          <a:xfrm>
            <a:off x="3288167" y="4354286"/>
            <a:ext cx="5855833" cy="2503714"/>
          </a:xfrm>
          <a:prstGeom prst="rect">
            <a:avLst/>
          </a:prstGeom>
        </p:spPr>
      </p:pic>
    </p:spTree>
    <p:extLst>
      <p:ext uri="{BB962C8B-B14F-4D97-AF65-F5344CB8AC3E}">
        <p14:creationId xmlns:p14="http://schemas.microsoft.com/office/powerpoint/2010/main" val="3404036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0C7769-4C7E-4D30-BEC8-B81D519597C8}" type="slidenum">
              <a:rPr lang="en-US" altLang="vi-VN">
                <a:solidFill>
                  <a:srgbClr val="FFFF00"/>
                </a:solidFill>
              </a:rPr>
              <a:pPr eaLnBrk="1" hangingPunct="1"/>
              <a:t>9</a:t>
            </a:fld>
            <a:endParaRPr lang="en-GB" altLang="vi-VN">
              <a:solidFill>
                <a:srgbClr val="FFFF00"/>
              </a:solidFill>
            </a:endParaRPr>
          </a:p>
        </p:txBody>
      </p:sp>
      <p:sp>
        <p:nvSpPr>
          <p:cNvPr id="11270" name="Rectangle 5"/>
          <p:cNvSpPr>
            <a:spLocks noGrp="1"/>
          </p:cNvSpPr>
          <p:nvPr>
            <p:ph type="title"/>
          </p:nvPr>
        </p:nvSpPr>
        <p:spPr>
          <a:xfrm>
            <a:off x="1828800" y="365127"/>
            <a:ext cx="6686550" cy="777874"/>
          </a:xfrm>
        </p:spPr>
        <p:txBody>
          <a:bodyPr>
            <a:normAutofit/>
          </a:bodyPr>
          <a:lstStyle/>
          <a:p>
            <a:r>
              <a:rPr lang="en-US" altLang="vi-VN" sz="4000" b="1" dirty="0" err="1">
                <a:solidFill>
                  <a:srgbClr val="0000CC"/>
                </a:solidFill>
              </a:rPr>
              <a:t>Bộ</a:t>
            </a:r>
            <a:r>
              <a:rPr lang="en-US" altLang="vi-VN" sz="4000" b="1" dirty="0">
                <a:solidFill>
                  <a:srgbClr val="0000CC"/>
                </a:solidFill>
              </a:rPr>
              <a:t> </a:t>
            </a:r>
            <a:r>
              <a:rPr lang="en-US" altLang="vi-VN" sz="4000" b="1" dirty="0" err="1">
                <a:solidFill>
                  <a:srgbClr val="0000CC"/>
                </a:solidFill>
              </a:rPr>
              <a:t>nhớ</a:t>
            </a:r>
            <a:r>
              <a:rPr lang="en-US" altLang="vi-VN" sz="4000" b="1" dirty="0">
                <a:solidFill>
                  <a:srgbClr val="0000CC"/>
                </a:solidFill>
              </a:rPr>
              <a:t> </a:t>
            </a:r>
            <a:r>
              <a:rPr lang="en-US" altLang="vi-VN" sz="4000" b="1" dirty="0" err="1">
                <a:solidFill>
                  <a:srgbClr val="0000CC"/>
                </a:solidFill>
              </a:rPr>
              <a:t>được</a:t>
            </a:r>
            <a:r>
              <a:rPr lang="en-US" altLang="vi-VN" sz="4000" b="1" dirty="0">
                <a:solidFill>
                  <a:srgbClr val="0000CC"/>
                </a:solidFill>
              </a:rPr>
              <a:t> </a:t>
            </a:r>
            <a:r>
              <a:rPr lang="en-US" altLang="vi-VN" sz="4000" b="1" dirty="0" err="1">
                <a:solidFill>
                  <a:srgbClr val="0000CC"/>
                </a:solidFill>
              </a:rPr>
              <a:t>tổ</a:t>
            </a:r>
            <a:r>
              <a:rPr lang="en-US" altLang="vi-VN" sz="4000" b="1" dirty="0">
                <a:solidFill>
                  <a:srgbClr val="0000CC"/>
                </a:solidFill>
              </a:rPr>
              <a:t> </a:t>
            </a:r>
            <a:r>
              <a:rPr lang="en-US" altLang="vi-VN" sz="4000" b="1" dirty="0" err="1">
                <a:solidFill>
                  <a:srgbClr val="0000CC"/>
                </a:solidFill>
              </a:rPr>
              <a:t>chức</a:t>
            </a:r>
            <a:r>
              <a:rPr lang="en-US" altLang="vi-VN" sz="4000" b="1" dirty="0">
                <a:solidFill>
                  <a:srgbClr val="0000CC"/>
                </a:solidFill>
              </a:rPr>
              <a:t> </a:t>
            </a:r>
            <a:r>
              <a:rPr lang="en-US" altLang="vi-VN" sz="4000" b="1" dirty="0" err="1">
                <a:solidFill>
                  <a:srgbClr val="0000CC"/>
                </a:solidFill>
              </a:rPr>
              <a:t>thế</a:t>
            </a:r>
            <a:r>
              <a:rPr lang="en-US" altLang="vi-VN" sz="4000" b="1" dirty="0">
                <a:solidFill>
                  <a:srgbClr val="0000CC"/>
                </a:solidFill>
              </a:rPr>
              <a:t> </a:t>
            </a:r>
            <a:r>
              <a:rPr lang="en-US" altLang="vi-VN" sz="4000" b="1" dirty="0" err="1">
                <a:solidFill>
                  <a:srgbClr val="0000CC"/>
                </a:solidFill>
              </a:rPr>
              <a:t>nào</a:t>
            </a:r>
            <a:endParaRPr lang="en-US" altLang="vi-VN" sz="4000" b="1" dirty="0">
              <a:solidFill>
                <a:srgbClr val="0000CC"/>
              </a:solidFill>
            </a:endParaRPr>
          </a:p>
        </p:txBody>
      </p:sp>
      <p:grpSp>
        <p:nvGrpSpPr>
          <p:cNvPr id="7" name="Group 6"/>
          <p:cNvGrpSpPr/>
          <p:nvPr/>
        </p:nvGrpSpPr>
        <p:grpSpPr>
          <a:xfrm>
            <a:off x="3646714" y="1397456"/>
            <a:ext cx="5257800" cy="4714420"/>
            <a:chOff x="3429000" y="1533980"/>
            <a:chExt cx="5257800" cy="4714420"/>
          </a:xfrm>
        </p:grpSpPr>
        <p:sp>
          <p:nvSpPr>
            <p:cNvPr id="8" name="Rectangle 4"/>
            <p:cNvSpPr>
              <a:spLocks noChangeArrowheads="1"/>
            </p:cNvSpPr>
            <p:nvPr/>
          </p:nvSpPr>
          <p:spPr bwMode="auto">
            <a:xfrm>
              <a:off x="3429000" y="3155950"/>
              <a:ext cx="1600200" cy="1339849"/>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b="1" dirty="0"/>
                <a:t>Heap</a:t>
              </a:r>
            </a:p>
          </p:txBody>
        </p:sp>
        <p:sp>
          <p:nvSpPr>
            <p:cNvPr id="9" name="Rectangle 5"/>
            <p:cNvSpPr>
              <a:spLocks noChangeArrowheads="1"/>
            </p:cNvSpPr>
            <p:nvPr/>
          </p:nvSpPr>
          <p:spPr bwMode="auto">
            <a:xfrm>
              <a:off x="3434443" y="2372180"/>
              <a:ext cx="1600200" cy="783770"/>
            </a:xfrm>
            <a:prstGeom prst="rect">
              <a:avLst/>
            </a:prstGeom>
            <a:solidFill>
              <a:srgbClr val="FFFF00"/>
            </a:solidFill>
            <a:ln w="9525">
              <a:solidFill>
                <a:schemeClr val="tx1"/>
              </a:solidFill>
              <a:miter lim="800000"/>
              <a:headEnd/>
              <a:tailEnd/>
            </a:ln>
          </p:spPr>
          <p:txBody>
            <a:bodyPr wrap="none" anchor="ctr"/>
            <a:lstStyle/>
            <a:p>
              <a:pPr algn="ctr"/>
              <a:r>
                <a:rPr lang="en-US" b="1" dirty="0"/>
                <a:t>Data</a:t>
              </a:r>
            </a:p>
            <a:p>
              <a:pPr algn="ctr"/>
              <a:r>
                <a:rPr lang="en-US" b="1" dirty="0"/>
                <a:t>Segment</a:t>
              </a:r>
            </a:p>
          </p:txBody>
        </p:sp>
        <p:sp>
          <p:nvSpPr>
            <p:cNvPr id="10" name="Rectangle 6"/>
            <p:cNvSpPr>
              <a:spLocks noChangeArrowheads="1"/>
            </p:cNvSpPr>
            <p:nvPr/>
          </p:nvSpPr>
          <p:spPr bwMode="auto">
            <a:xfrm>
              <a:off x="3429000" y="1533980"/>
              <a:ext cx="1600200" cy="838200"/>
            </a:xfrm>
            <a:prstGeom prst="rect">
              <a:avLst/>
            </a:prstGeom>
            <a:solidFill>
              <a:srgbClr val="00B050"/>
            </a:solidFill>
            <a:ln w="9525">
              <a:solidFill>
                <a:schemeClr val="tx1"/>
              </a:solidFill>
              <a:miter lim="800000"/>
              <a:headEnd/>
              <a:tailEnd/>
            </a:ln>
          </p:spPr>
          <p:txBody>
            <a:bodyPr wrap="none" anchor="ctr"/>
            <a:lstStyle/>
            <a:p>
              <a:pPr algn="ctr"/>
              <a:r>
                <a:rPr lang="en-US" b="1" dirty="0">
                  <a:solidFill>
                    <a:schemeClr val="bg1"/>
                  </a:solidFill>
                </a:rPr>
                <a:t>Code</a:t>
              </a:r>
            </a:p>
            <a:p>
              <a:pPr algn="ctr"/>
              <a:r>
                <a:rPr lang="en-US" b="1" dirty="0">
                  <a:solidFill>
                    <a:schemeClr val="bg1"/>
                  </a:solidFill>
                </a:rPr>
                <a:t>Segment</a:t>
              </a:r>
            </a:p>
          </p:txBody>
        </p:sp>
        <p:sp>
          <p:nvSpPr>
            <p:cNvPr id="11" name="Rectangle 7"/>
            <p:cNvSpPr>
              <a:spLocks noChangeArrowheads="1"/>
            </p:cNvSpPr>
            <p:nvPr/>
          </p:nvSpPr>
          <p:spPr bwMode="auto">
            <a:xfrm>
              <a:off x="3429000" y="4495800"/>
              <a:ext cx="1600200" cy="1752600"/>
            </a:xfrm>
            <a:prstGeom prst="rect">
              <a:avLst/>
            </a:prstGeom>
            <a:solidFill>
              <a:srgbClr val="7030A0"/>
            </a:solidFill>
            <a:ln w="9525">
              <a:solidFill>
                <a:schemeClr val="tx1"/>
              </a:solidFill>
              <a:miter lim="800000"/>
              <a:headEnd/>
              <a:tailEnd/>
            </a:ln>
          </p:spPr>
          <p:txBody>
            <a:bodyPr wrap="none" anchor="ctr"/>
            <a:lstStyle/>
            <a:p>
              <a:pPr algn="ctr"/>
              <a:r>
                <a:rPr lang="en-US" b="1" dirty="0">
                  <a:solidFill>
                    <a:schemeClr val="bg1"/>
                  </a:solidFill>
                </a:rPr>
                <a:t>Stack</a:t>
              </a:r>
            </a:p>
            <a:p>
              <a:pPr algn="ctr"/>
              <a:r>
                <a:rPr lang="en-US" b="1" dirty="0">
                  <a:solidFill>
                    <a:schemeClr val="bg1"/>
                  </a:solidFill>
                </a:rPr>
                <a:t>Segment</a:t>
              </a:r>
            </a:p>
          </p:txBody>
        </p:sp>
        <p:sp>
          <p:nvSpPr>
            <p:cNvPr id="19" name="Rectangle 5"/>
            <p:cNvSpPr>
              <a:spLocks noChangeArrowheads="1"/>
            </p:cNvSpPr>
            <p:nvPr/>
          </p:nvSpPr>
          <p:spPr bwMode="auto">
            <a:xfrm>
              <a:off x="5181600" y="2362200"/>
              <a:ext cx="3505200" cy="783770"/>
            </a:xfrm>
            <a:prstGeom prst="rect">
              <a:avLst/>
            </a:prstGeom>
            <a:solidFill>
              <a:srgbClr val="FFFF00"/>
            </a:solidFill>
            <a:ln w="9525">
              <a:solidFill>
                <a:schemeClr val="tx1"/>
              </a:solidFill>
              <a:miter lim="800000"/>
              <a:headEnd/>
              <a:tailEnd/>
            </a:ln>
          </p:spPr>
          <p:txBody>
            <a:bodyPr wrap="none" anchor="ctr"/>
            <a:lstStyle/>
            <a:p>
              <a:pPr algn="ctr"/>
              <a:r>
                <a:rPr lang="en-US" b="1" dirty="0" err="1"/>
                <a:t>Cấp</a:t>
              </a:r>
              <a:r>
                <a:rPr lang="en-US" b="1" dirty="0"/>
                <a:t> </a:t>
              </a:r>
              <a:r>
                <a:rPr lang="en-US" b="1" dirty="0" err="1"/>
                <a:t>phát</a:t>
              </a:r>
              <a:r>
                <a:rPr lang="en-US" b="1" dirty="0"/>
                <a:t> </a:t>
              </a:r>
              <a:r>
                <a:rPr lang="en-US" b="1" dirty="0" err="1"/>
                <a:t>vùng</a:t>
              </a:r>
              <a:r>
                <a:rPr lang="en-US" b="1" dirty="0"/>
                <a:t> </a:t>
              </a:r>
              <a:r>
                <a:rPr lang="en-US" b="1" dirty="0" err="1"/>
                <a:t>nhớ</a:t>
              </a:r>
              <a:r>
                <a:rPr lang="en-US" b="1" dirty="0"/>
                <a:t> </a:t>
              </a:r>
              <a:r>
                <a:rPr lang="en-US" b="1" dirty="0" err="1"/>
                <a:t>cho</a:t>
              </a:r>
              <a:r>
                <a:rPr lang="en-US" b="1" dirty="0"/>
                <a:t> </a:t>
              </a:r>
            </a:p>
            <a:p>
              <a:pPr algn="ctr"/>
              <a:r>
                <a:rPr lang="en-US" b="1" dirty="0" err="1"/>
                <a:t>các</a:t>
              </a:r>
              <a:r>
                <a:rPr lang="en-US" b="1" dirty="0"/>
                <a:t> </a:t>
              </a:r>
              <a:r>
                <a:rPr lang="en-US" b="1" dirty="0" err="1"/>
                <a:t>biến</a:t>
              </a:r>
              <a:r>
                <a:rPr lang="en-US" b="1" dirty="0"/>
                <a:t> </a:t>
              </a:r>
              <a:r>
                <a:rPr lang="en-US" b="1" dirty="0" err="1"/>
                <a:t>toàn</a:t>
              </a:r>
              <a:r>
                <a:rPr lang="en-US" b="1" dirty="0"/>
                <a:t> </a:t>
              </a:r>
              <a:r>
                <a:rPr lang="en-US" b="1" dirty="0" err="1"/>
                <a:t>cục</a:t>
              </a:r>
              <a:r>
                <a:rPr lang="en-US" b="1" dirty="0"/>
                <a:t> (global variables)</a:t>
              </a:r>
            </a:p>
          </p:txBody>
        </p:sp>
        <p:sp>
          <p:nvSpPr>
            <p:cNvPr id="20" name="Rectangle 7"/>
            <p:cNvSpPr>
              <a:spLocks noChangeArrowheads="1"/>
            </p:cNvSpPr>
            <p:nvPr/>
          </p:nvSpPr>
          <p:spPr bwMode="auto">
            <a:xfrm>
              <a:off x="5181600" y="4495800"/>
              <a:ext cx="3505200" cy="1752600"/>
            </a:xfrm>
            <a:prstGeom prst="rect">
              <a:avLst/>
            </a:prstGeom>
            <a:solidFill>
              <a:srgbClr val="7030A0"/>
            </a:solidFill>
            <a:ln w="9525">
              <a:solidFill>
                <a:schemeClr val="tx1"/>
              </a:solidFill>
              <a:miter lim="800000"/>
              <a:headEnd/>
              <a:tailEnd/>
            </a:ln>
          </p:spPr>
          <p:txBody>
            <a:bodyPr wrap="none" anchor="ctr"/>
            <a:lstStyle/>
            <a:p>
              <a:pPr algn="ctr"/>
              <a:r>
                <a:rPr lang="en-US" b="1" dirty="0" err="1">
                  <a:solidFill>
                    <a:schemeClr val="bg1"/>
                  </a:solidFill>
                </a:rPr>
                <a:t>Cấp</a:t>
              </a:r>
              <a:r>
                <a:rPr lang="en-US" b="1" dirty="0">
                  <a:solidFill>
                    <a:schemeClr val="bg1"/>
                  </a:solidFill>
                </a:rPr>
                <a:t> </a:t>
              </a:r>
              <a:r>
                <a:rPr lang="en-US" b="1" dirty="0" err="1">
                  <a:solidFill>
                    <a:schemeClr val="bg1"/>
                  </a:solidFill>
                </a:rPr>
                <a:t>phát</a:t>
              </a:r>
              <a:r>
                <a:rPr lang="en-US" b="1" dirty="0">
                  <a:solidFill>
                    <a:schemeClr val="bg1"/>
                  </a:solidFill>
                </a:rPr>
                <a:t> </a:t>
              </a:r>
              <a:r>
                <a:rPr lang="en-US" b="1" dirty="0" err="1">
                  <a:solidFill>
                    <a:schemeClr val="bg1"/>
                  </a:solidFill>
                </a:rPr>
                <a:t>bộ</a:t>
              </a:r>
              <a:r>
                <a:rPr lang="en-US" b="1" dirty="0">
                  <a:solidFill>
                    <a:schemeClr val="bg1"/>
                  </a:solidFill>
                </a:rPr>
                <a:t> </a:t>
              </a:r>
              <a:r>
                <a:rPr lang="en-US" b="1" dirty="0" err="1">
                  <a:solidFill>
                    <a:schemeClr val="bg1"/>
                  </a:solidFill>
                </a:rPr>
                <a:t>nhớ</a:t>
              </a:r>
              <a:r>
                <a:rPr lang="en-US" b="1" dirty="0">
                  <a:solidFill>
                    <a:schemeClr val="bg1"/>
                  </a:solidFill>
                </a:rPr>
                <a:t> </a:t>
              </a:r>
              <a:r>
                <a:rPr lang="en-US" b="1" dirty="0" err="1">
                  <a:solidFill>
                    <a:schemeClr val="bg1"/>
                  </a:solidFill>
                </a:rPr>
                <a:t>cho</a:t>
              </a:r>
              <a:r>
                <a:rPr lang="en-US" b="1" dirty="0">
                  <a:solidFill>
                    <a:schemeClr val="bg1"/>
                  </a:solidFill>
                </a:rPr>
                <a:t> </a:t>
              </a:r>
            </a:p>
            <a:p>
              <a:pPr algn="ctr"/>
              <a:r>
                <a:rPr lang="en-US" b="1" dirty="0" err="1">
                  <a:solidFill>
                    <a:schemeClr val="bg1"/>
                  </a:solidFill>
                </a:rPr>
                <a:t>các</a:t>
              </a:r>
              <a:r>
                <a:rPr lang="en-US" b="1" dirty="0">
                  <a:solidFill>
                    <a:schemeClr val="bg1"/>
                  </a:solidFill>
                </a:rPr>
                <a:t> </a:t>
              </a:r>
              <a:r>
                <a:rPr lang="en-US" b="1" dirty="0" err="1">
                  <a:solidFill>
                    <a:schemeClr val="bg1"/>
                  </a:solidFill>
                </a:rPr>
                <a:t>biến</a:t>
              </a:r>
              <a:r>
                <a:rPr lang="en-US" b="1" dirty="0">
                  <a:solidFill>
                    <a:schemeClr val="bg1"/>
                  </a:solidFill>
                </a:rPr>
                <a:t> local </a:t>
              </a:r>
              <a:r>
                <a:rPr lang="en-US" b="1" dirty="0" err="1">
                  <a:solidFill>
                    <a:schemeClr val="bg1"/>
                  </a:solidFill>
                </a:rPr>
                <a:t>của</a:t>
              </a:r>
              <a:r>
                <a:rPr lang="en-US" b="1" dirty="0">
                  <a:solidFill>
                    <a:schemeClr val="bg1"/>
                  </a:solidFill>
                </a:rPr>
                <a:t> </a:t>
              </a:r>
              <a:r>
                <a:rPr lang="en-US" b="1" dirty="0" err="1">
                  <a:solidFill>
                    <a:schemeClr val="bg1"/>
                  </a:solidFill>
                </a:rPr>
                <a:t>các</a:t>
              </a:r>
              <a:r>
                <a:rPr lang="en-US" b="1" dirty="0">
                  <a:solidFill>
                    <a:schemeClr val="bg1"/>
                  </a:solidFill>
                </a:rPr>
                <a:t> </a:t>
              </a:r>
              <a:r>
                <a:rPr lang="en-US" b="1" dirty="0" err="1">
                  <a:solidFill>
                    <a:schemeClr val="bg1"/>
                  </a:solidFill>
                </a:rPr>
                <a:t>hàm</a:t>
              </a:r>
              <a:r>
                <a:rPr lang="en-US" b="1" dirty="0">
                  <a:solidFill>
                    <a:schemeClr val="bg1"/>
                  </a:solidFill>
                </a:rPr>
                <a:t>. </a:t>
              </a:r>
            </a:p>
            <a:p>
              <a:pPr algn="ctr"/>
              <a:r>
                <a:rPr lang="en-US" b="1" dirty="0" err="1">
                  <a:solidFill>
                    <a:schemeClr val="bg1"/>
                  </a:solidFill>
                </a:rPr>
                <a:t>Các</a:t>
              </a:r>
              <a:r>
                <a:rPr lang="en-US" b="1" dirty="0">
                  <a:solidFill>
                    <a:schemeClr val="bg1"/>
                  </a:solidFill>
                </a:rPr>
                <a:t> </a:t>
              </a:r>
              <a:r>
                <a:rPr lang="en-US" b="1" dirty="0" err="1">
                  <a:solidFill>
                    <a:schemeClr val="bg1"/>
                  </a:solidFill>
                </a:rPr>
                <a:t>vùng</a:t>
              </a:r>
              <a:r>
                <a:rPr lang="en-US" b="1" dirty="0">
                  <a:solidFill>
                    <a:schemeClr val="bg1"/>
                  </a:solidFill>
                </a:rPr>
                <a:t> </a:t>
              </a:r>
              <a:r>
                <a:rPr lang="en-US" b="1" dirty="0" err="1">
                  <a:solidFill>
                    <a:schemeClr val="bg1"/>
                  </a:solidFill>
                </a:rPr>
                <a:t>nhớ</a:t>
              </a:r>
              <a:r>
                <a:rPr lang="en-US" b="1" dirty="0">
                  <a:solidFill>
                    <a:schemeClr val="bg1"/>
                  </a:solidFill>
                </a:rPr>
                <a:t> </a:t>
              </a:r>
              <a:r>
                <a:rPr lang="en-US" b="1" dirty="0" err="1">
                  <a:solidFill>
                    <a:schemeClr val="bg1"/>
                  </a:solidFill>
                </a:rPr>
                <a:t>này</a:t>
              </a:r>
              <a:r>
                <a:rPr lang="en-US" b="1" dirty="0">
                  <a:solidFill>
                    <a:schemeClr val="bg1"/>
                  </a:solidFill>
                </a:rPr>
                <a:t> </a:t>
              </a:r>
              <a:r>
                <a:rPr lang="en-US" b="1" dirty="0" err="1">
                  <a:solidFill>
                    <a:schemeClr val="bg1"/>
                  </a:solidFill>
                </a:rPr>
                <a:t>sẽ</a:t>
              </a:r>
              <a:r>
                <a:rPr lang="en-US" b="1" dirty="0">
                  <a:solidFill>
                    <a:schemeClr val="bg1"/>
                  </a:solidFill>
                </a:rPr>
                <a:t> </a:t>
              </a:r>
              <a:r>
                <a:rPr lang="en-US" b="1" dirty="0" err="1">
                  <a:solidFill>
                    <a:schemeClr val="bg1"/>
                  </a:solidFill>
                </a:rPr>
                <a:t>được</a:t>
              </a:r>
              <a:r>
                <a:rPr lang="en-US" b="1" dirty="0">
                  <a:solidFill>
                    <a:schemeClr val="bg1"/>
                  </a:solidFill>
                </a:rPr>
                <a:t> </a:t>
              </a:r>
            </a:p>
            <a:p>
              <a:pPr algn="ctr"/>
              <a:r>
                <a:rPr lang="en-US" b="1" dirty="0" err="1">
                  <a:solidFill>
                    <a:schemeClr val="bg1"/>
                  </a:solidFill>
                </a:rPr>
                <a:t>giải</a:t>
              </a:r>
              <a:r>
                <a:rPr lang="en-US" b="1" dirty="0">
                  <a:solidFill>
                    <a:schemeClr val="bg1"/>
                  </a:solidFill>
                </a:rPr>
                <a:t> </a:t>
              </a:r>
              <a:r>
                <a:rPr lang="en-US" b="1" dirty="0" err="1">
                  <a:solidFill>
                    <a:schemeClr val="bg1"/>
                  </a:solidFill>
                </a:rPr>
                <a:t>phóng</a:t>
              </a:r>
              <a:r>
                <a:rPr lang="en-US" b="1" dirty="0">
                  <a:solidFill>
                    <a:schemeClr val="bg1"/>
                  </a:solidFill>
                </a:rPr>
                <a:t> </a:t>
              </a:r>
              <a:r>
                <a:rPr lang="en-US" b="1" dirty="0" err="1">
                  <a:solidFill>
                    <a:schemeClr val="bg1"/>
                  </a:solidFill>
                </a:rPr>
                <a:t>khi</a:t>
              </a:r>
              <a:r>
                <a:rPr lang="en-US" b="1" dirty="0">
                  <a:solidFill>
                    <a:schemeClr val="bg1"/>
                  </a:solidFill>
                </a:rPr>
                <a:t> </a:t>
              </a:r>
              <a:r>
                <a:rPr lang="en-US" b="1" dirty="0" err="1">
                  <a:solidFill>
                    <a:schemeClr val="bg1"/>
                  </a:solidFill>
                </a:rPr>
                <a:t>hàm</a:t>
              </a:r>
              <a:r>
                <a:rPr lang="en-US" b="1" dirty="0">
                  <a:solidFill>
                    <a:schemeClr val="bg1"/>
                  </a:solidFill>
                </a:rPr>
                <a:t> </a:t>
              </a:r>
              <a:r>
                <a:rPr lang="en-US" b="1" dirty="0" err="1">
                  <a:solidFill>
                    <a:schemeClr val="bg1"/>
                  </a:solidFill>
                </a:rPr>
                <a:t>đó</a:t>
              </a:r>
              <a:r>
                <a:rPr lang="en-US" b="1" dirty="0">
                  <a:solidFill>
                    <a:schemeClr val="bg1"/>
                  </a:solidFill>
                </a:rPr>
                <a:t> </a:t>
              </a:r>
            </a:p>
            <a:p>
              <a:pPr algn="ctr"/>
              <a:r>
                <a:rPr lang="en-US" b="1" dirty="0" err="1">
                  <a:solidFill>
                    <a:schemeClr val="bg1"/>
                  </a:solidFill>
                </a:rPr>
                <a:t>thực</a:t>
              </a:r>
              <a:r>
                <a:rPr lang="en-US" b="1" dirty="0">
                  <a:solidFill>
                    <a:schemeClr val="bg1"/>
                  </a:solidFill>
                </a:rPr>
                <a:t> </a:t>
              </a:r>
              <a:r>
                <a:rPr lang="en-US" b="1" dirty="0" err="1">
                  <a:solidFill>
                    <a:schemeClr val="bg1"/>
                  </a:solidFill>
                </a:rPr>
                <a:t>thi</a:t>
              </a:r>
              <a:r>
                <a:rPr lang="en-US" b="1" dirty="0">
                  <a:solidFill>
                    <a:schemeClr val="bg1"/>
                  </a:solidFill>
                </a:rPr>
                <a:t> </a:t>
              </a:r>
              <a:r>
                <a:rPr lang="en-US" b="1" dirty="0" err="1">
                  <a:solidFill>
                    <a:schemeClr val="bg1"/>
                  </a:solidFill>
                </a:rPr>
                <a:t>xong</a:t>
              </a:r>
              <a:r>
                <a:rPr lang="en-US" b="1" dirty="0">
                  <a:solidFill>
                    <a:schemeClr val="bg1"/>
                  </a:solidFill>
                </a:rPr>
                <a:t>. </a:t>
              </a:r>
            </a:p>
          </p:txBody>
        </p:sp>
        <p:sp>
          <p:nvSpPr>
            <p:cNvPr id="21" name="Rectangle 4"/>
            <p:cNvSpPr>
              <a:spLocks noChangeArrowheads="1"/>
            </p:cNvSpPr>
            <p:nvPr/>
          </p:nvSpPr>
          <p:spPr bwMode="auto">
            <a:xfrm>
              <a:off x="5181600" y="3155950"/>
              <a:ext cx="3505200" cy="1339850"/>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b="1" dirty="0" err="1"/>
                <a:t>Cấp</a:t>
              </a:r>
              <a:r>
                <a:rPr lang="en-US" b="1" dirty="0"/>
                <a:t> </a:t>
              </a:r>
              <a:r>
                <a:rPr lang="en-US" b="1" dirty="0" err="1"/>
                <a:t>phát</a:t>
              </a:r>
              <a:r>
                <a:rPr lang="en-US" b="1" dirty="0"/>
                <a:t> </a:t>
              </a:r>
              <a:r>
                <a:rPr lang="en-US" b="1" dirty="0" err="1"/>
                <a:t>bộ</a:t>
              </a:r>
              <a:r>
                <a:rPr lang="en-US" b="1" dirty="0"/>
                <a:t> </a:t>
              </a:r>
              <a:r>
                <a:rPr lang="en-US" b="1" dirty="0" err="1"/>
                <a:t>nhớ</a:t>
              </a:r>
              <a:r>
                <a:rPr lang="en-US" b="1" dirty="0"/>
                <a:t> </a:t>
              </a:r>
              <a:r>
                <a:rPr lang="en-US" b="1" dirty="0" err="1"/>
                <a:t>động</a:t>
              </a:r>
              <a:r>
                <a:rPr lang="en-US" b="1" dirty="0"/>
                <a:t> </a:t>
              </a:r>
              <a:r>
                <a:rPr lang="en-US" b="1" dirty="0" err="1"/>
                <a:t>cho</a:t>
              </a:r>
              <a:r>
                <a:rPr lang="en-US" b="1" dirty="0"/>
                <a:t> </a:t>
              </a:r>
            </a:p>
            <a:p>
              <a:pPr algn="ctr"/>
              <a:r>
                <a:rPr lang="en-US" b="1" dirty="0" err="1"/>
                <a:t>các</a:t>
              </a:r>
              <a:r>
                <a:rPr lang="en-US" b="1" dirty="0"/>
                <a:t> </a:t>
              </a:r>
              <a:r>
                <a:rPr lang="en-US" b="1" dirty="0" err="1"/>
                <a:t>bến</a:t>
              </a:r>
              <a:r>
                <a:rPr lang="en-US" b="1" dirty="0"/>
                <a:t> con </a:t>
              </a:r>
              <a:r>
                <a:rPr lang="en-US" b="1" dirty="0" err="1"/>
                <a:t>trỏ</a:t>
              </a:r>
              <a:r>
                <a:rPr lang="en-US" b="1" dirty="0"/>
                <a:t>. </a:t>
              </a:r>
              <a:r>
                <a:rPr lang="en-US" b="1" dirty="0" err="1"/>
                <a:t>Các</a:t>
              </a:r>
              <a:r>
                <a:rPr lang="en-US" b="1" dirty="0"/>
                <a:t> </a:t>
              </a:r>
              <a:r>
                <a:rPr lang="en-US" b="1" dirty="0" err="1"/>
                <a:t>vùng</a:t>
              </a:r>
              <a:r>
                <a:rPr lang="en-US" b="1" dirty="0"/>
                <a:t> </a:t>
              </a:r>
              <a:r>
                <a:rPr lang="en-US" b="1" dirty="0" err="1"/>
                <a:t>nhớ</a:t>
              </a:r>
              <a:endParaRPr lang="en-US" b="1" dirty="0"/>
            </a:p>
            <a:p>
              <a:pPr algn="ctr"/>
              <a:r>
                <a:rPr lang="en-US" b="1" dirty="0" err="1"/>
                <a:t>Này</a:t>
              </a:r>
              <a:r>
                <a:rPr lang="en-US" b="1" dirty="0"/>
                <a:t> </a:t>
              </a:r>
              <a:r>
                <a:rPr lang="en-US" b="1" dirty="0" err="1"/>
                <a:t>được</a:t>
              </a:r>
              <a:r>
                <a:rPr lang="en-US" b="1" dirty="0"/>
                <a:t> </a:t>
              </a:r>
              <a:r>
                <a:rPr lang="en-US" b="1" dirty="0" err="1"/>
                <a:t>giải</a:t>
              </a:r>
              <a:r>
                <a:rPr lang="en-US" b="1" dirty="0"/>
                <a:t> </a:t>
              </a:r>
              <a:r>
                <a:rPr lang="en-US" b="1" dirty="0" err="1"/>
                <a:t>phóng</a:t>
              </a:r>
              <a:r>
                <a:rPr lang="en-US" b="1" dirty="0"/>
                <a:t> </a:t>
              </a:r>
              <a:r>
                <a:rPr lang="en-US" b="1" dirty="0" err="1"/>
                <a:t>khi</a:t>
              </a:r>
              <a:r>
                <a:rPr lang="en-US" b="1" dirty="0"/>
                <a:t> </a:t>
              </a:r>
              <a:r>
                <a:rPr lang="en-US" b="1" dirty="0" err="1"/>
                <a:t>dùng</a:t>
              </a:r>
              <a:r>
                <a:rPr lang="en-US" b="1" dirty="0"/>
                <a:t> </a:t>
              </a:r>
            </a:p>
            <a:p>
              <a:pPr algn="ctr"/>
              <a:r>
                <a:rPr lang="en-US" b="1" dirty="0" err="1"/>
                <a:t>Làm</a:t>
              </a:r>
              <a:r>
                <a:rPr lang="en-US" b="1" dirty="0"/>
                <a:t> free()</a:t>
              </a:r>
            </a:p>
          </p:txBody>
        </p:sp>
      </p:grpSp>
      <p:sp>
        <p:nvSpPr>
          <p:cNvPr id="23" name="Rectangular Callout 22"/>
          <p:cNvSpPr/>
          <p:nvPr/>
        </p:nvSpPr>
        <p:spPr>
          <a:xfrm>
            <a:off x="533398" y="4988153"/>
            <a:ext cx="2024744" cy="494845"/>
          </a:xfrm>
          <a:prstGeom prst="wedgeRectCallout">
            <a:avLst>
              <a:gd name="adj1" fmla="val 104235"/>
              <a:gd name="adj2" fmla="val 3882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Function Variables</a:t>
            </a:r>
            <a:endParaRPr lang="vi-VN" dirty="0"/>
          </a:p>
        </p:txBody>
      </p:sp>
      <p:sp>
        <p:nvSpPr>
          <p:cNvPr id="27" name="Rectangular Callout 26"/>
          <p:cNvSpPr/>
          <p:nvPr/>
        </p:nvSpPr>
        <p:spPr>
          <a:xfrm>
            <a:off x="533398" y="3237594"/>
            <a:ext cx="2024744" cy="494845"/>
          </a:xfrm>
          <a:prstGeom prst="wedgeRectCallout">
            <a:avLst>
              <a:gd name="adj1" fmla="val 104235"/>
              <a:gd name="adj2" fmla="val 3882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Dynamic Variables</a:t>
            </a:r>
            <a:endParaRPr lang="vi-VN" dirty="0"/>
          </a:p>
        </p:txBody>
      </p:sp>
      <p:sp>
        <p:nvSpPr>
          <p:cNvPr id="28" name="Rectangular Callout 27"/>
          <p:cNvSpPr/>
          <p:nvPr/>
        </p:nvSpPr>
        <p:spPr>
          <a:xfrm>
            <a:off x="541563" y="2323309"/>
            <a:ext cx="2024744" cy="494845"/>
          </a:xfrm>
          <a:prstGeom prst="wedgeRectCallout">
            <a:avLst>
              <a:gd name="adj1" fmla="val 104235"/>
              <a:gd name="adj2" fmla="val 3882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Global Variables</a:t>
            </a:r>
            <a:endParaRPr lang="vi-VN" dirty="0"/>
          </a:p>
        </p:txBody>
      </p:sp>
    </p:spTree>
    <p:extLst>
      <p:ext uri="{BB962C8B-B14F-4D97-AF65-F5344CB8AC3E}">
        <p14:creationId xmlns:p14="http://schemas.microsoft.com/office/powerpoint/2010/main" val="1440396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0C7769-4C7E-4D30-BEC8-B81D519597C8}" type="slidenum">
              <a:rPr lang="en-US" altLang="vi-VN">
                <a:solidFill>
                  <a:srgbClr val="FFFF00"/>
                </a:solidFill>
              </a:rPr>
              <a:pPr eaLnBrk="1" hangingPunct="1"/>
              <a:t>10</a:t>
            </a:fld>
            <a:endParaRPr lang="en-GB" altLang="vi-VN">
              <a:solidFill>
                <a:srgbClr val="FFFF00"/>
              </a:solidFill>
            </a:endParaRPr>
          </a:p>
        </p:txBody>
      </p:sp>
      <p:sp>
        <p:nvSpPr>
          <p:cNvPr id="11270" name="Rectangle 5"/>
          <p:cNvSpPr>
            <a:spLocks noGrp="1"/>
          </p:cNvSpPr>
          <p:nvPr>
            <p:ph type="title"/>
          </p:nvPr>
        </p:nvSpPr>
        <p:spPr>
          <a:xfrm>
            <a:off x="1828800" y="365127"/>
            <a:ext cx="6686550" cy="777874"/>
          </a:xfrm>
        </p:spPr>
        <p:txBody>
          <a:bodyPr>
            <a:normAutofit/>
          </a:bodyPr>
          <a:lstStyle/>
          <a:p>
            <a:r>
              <a:rPr lang="en-US" altLang="vi-VN" sz="4000" b="1" dirty="0" err="1">
                <a:solidFill>
                  <a:srgbClr val="0000CC"/>
                </a:solidFill>
              </a:rPr>
              <a:t>Bộ</a:t>
            </a:r>
            <a:r>
              <a:rPr lang="en-US" altLang="vi-VN" sz="4000" b="1" dirty="0">
                <a:solidFill>
                  <a:srgbClr val="0000CC"/>
                </a:solidFill>
              </a:rPr>
              <a:t> </a:t>
            </a:r>
            <a:r>
              <a:rPr lang="en-US" altLang="vi-VN" sz="4000" b="1" dirty="0" err="1">
                <a:solidFill>
                  <a:srgbClr val="0000CC"/>
                </a:solidFill>
              </a:rPr>
              <a:t>nhớ</a:t>
            </a:r>
            <a:r>
              <a:rPr lang="en-US" altLang="vi-VN" sz="4000" b="1" dirty="0">
                <a:solidFill>
                  <a:srgbClr val="0000CC"/>
                </a:solidFill>
              </a:rPr>
              <a:t> </a:t>
            </a:r>
            <a:r>
              <a:rPr lang="en-US" altLang="vi-VN" sz="4000" b="1" dirty="0" err="1">
                <a:solidFill>
                  <a:srgbClr val="0000CC"/>
                </a:solidFill>
              </a:rPr>
              <a:t>được</a:t>
            </a:r>
            <a:r>
              <a:rPr lang="en-US" altLang="vi-VN" sz="4000" b="1" dirty="0">
                <a:solidFill>
                  <a:srgbClr val="0000CC"/>
                </a:solidFill>
              </a:rPr>
              <a:t> </a:t>
            </a:r>
            <a:r>
              <a:rPr lang="en-US" altLang="vi-VN" sz="4000" b="1" dirty="0" err="1">
                <a:solidFill>
                  <a:srgbClr val="0000CC"/>
                </a:solidFill>
              </a:rPr>
              <a:t>tổ</a:t>
            </a:r>
            <a:r>
              <a:rPr lang="en-US" altLang="vi-VN" sz="4000" b="1" dirty="0">
                <a:solidFill>
                  <a:srgbClr val="0000CC"/>
                </a:solidFill>
              </a:rPr>
              <a:t> </a:t>
            </a:r>
            <a:r>
              <a:rPr lang="en-US" altLang="vi-VN" sz="4000" b="1" dirty="0" err="1">
                <a:solidFill>
                  <a:srgbClr val="0000CC"/>
                </a:solidFill>
              </a:rPr>
              <a:t>chức</a:t>
            </a:r>
            <a:r>
              <a:rPr lang="en-US" altLang="vi-VN" sz="4000" b="1" dirty="0">
                <a:solidFill>
                  <a:srgbClr val="0000CC"/>
                </a:solidFill>
              </a:rPr>
              <a:t> </a:t>
            </a:r>
            <a:r>
              <a:rPr lang="en-US" altLang="vi-VN" sz="4000" b="1" dirty="0" err="1">
                <a:solidFill>
                  <a:srgbClr val="0000CC"/>
                </a:solidFill>
              </a:rPr>
              <a:t>thế</a:t>
            </a:r>
            <a:r>
              <a:rPr lang="en-US" altLang="vi-VN" sz="4000" b="1" dirty="0">
                <a:solidFill>
                  <a:srgbClr val="0000CC"/>
                </a:solidFill>
              </a:rPr>
              <a:t> </a:t>
            </a:r>
            <a:r>
              <a:rPr lang="en-US" altLang="vi-VN" sz="4000" b="1" dirty="0" err="1">
                <a:solidFill>
                  <a:srgbClr val="0000CC"/>
                </a:solidFill>
              </a:rPr>
              <a:t>nào</a:t>
            </a:r>
            <a:endParaRPr lang="en-US" altLang="vi-VN" sz="4000" b="1" dirty="0">
              <a:solidFill>
                <a:srgbClr val="0000CC"/>
              </a:solidFill>
            </a:endParaRPr>
          </a:p>
        </p:txBody>
      </p:sp>
      <p:sp>
        <p:nvSpPr>
          <p:cNvPr id="4" name="TextBox 3"/>
          <p:cNvSpPr txBox="1"/>
          <p:nvPr/>
        </p:nvSpPr>
        <p:spPr>
          <a:xfrm>
            <a:off x="6074229" y="1106713"/>
            <a:ext cx="1905000" cy="646331"/>
          </a:xfrm>
          <a:prstGeom prst="rect">
            <a:avLst/>
          </a:prstGeom>
          <a:solidFill>
            <a:srgbClr val="0070C0"/>
          </a:solidFill>
        </p:spPr>
        <p:txBody>
          <a:bodyPr wrap="square" rtlCol="0">
            <a:spAutoFit/>
          </a:bodyPr>
          <a:lstStyle/>
          <a:p>
            <a:r>
              <a:rPr lang="en-US" dirty="0">
                <a:solidFill>
                  <a:schemeClr val="bg1"/>
                </a:solidFill>
              </a:rPr>
              <a:t>Data segment:</a:t>
            </a:r>
          </a:p>
          <a:p>
            <a:r>
              <a:rPr lang="en-US" dirty="0">
                <a:solidFill>
                  <a:schemeClr val="bg1"/>
                </a:solidFill>
              </a:rPr>
              <a:t>Max = 100</a:t>
            </a:r>
          </a:p>
        </p:txBody>
      </p:sp>
      <p:sp>
        <p:nvSpPr>
          <p:cNvPr id="22" name="TextBox 21"/>
          <p:cNvSpPr txBox="1"/>
          <p:nvPr/>
        </p:nvSpPr>
        <p:spPr>
          <a:xfrm>
            <a:off x="6112329" y="1967354"/>
            <a:ext cx="1905000" cy="923330"/>
          </a:xfrm>
          <a:prstGeom prst="rect">
            <a:avLst/>
          </a:prstGeom>
          <a:solidFill>
            <a:srgbClr val="0070C0"/>
          </a:solidFill>
        </p:spPr>
        <p:txBody>
          <a:bodyPr wrap="square" rtlCol="0">
            <a:spAutoFit/>
          </a:bodyPr>
          <a:lstStyle/>
          <a:p>
            <a:r>
              <a:rPr lang="en-US" dirty="0">
                <a:solidFill>
                  <a:schemeClr val="bg1"/>
                </a:solidFill>
              </a:rPr>
              <a:t>Code segment:</a:t>
            </a:r>
          </a:p>
          <a:p>
            <a:r>
              <a:rPr lang="en-US" dirty="0">
                <a:solidFill>
                  <a:schemeClr val="bg1"/>
                </a:solidFill>
              </a:rPr>
              <a:t>- Code of Tong</a:t>
            </a:r>
          </a:p>
          <a:p>
            <a:r>
              <a:rPr lang="en-US" dirty="0">
                <a:solidFill>
                  <a:schemeClr val="bg1"/>
                </a:solidFill>
              </a:rPr>
              <a:t>- Code of main()</a:t>
            </a:r>
          </a:p>
        </p:txBody>
      </p:sp>
      <p:sp>
        <p:nvSpPr>
          <p:cNvPr id="24" name="TextBox 23"/>
          <p:cNvSpPr txBox="1"/>
          <p:nvPr/>
        </p:nvSpPr>
        <p:spPr>
          <a:xfrm>
            <a:off x="6112329" y="3104994"/>
            <a:ext cx="1905000" cy="923330"/>
          </a:xfrm>
          <a:prstGeom prst="rect">
            <a:avLst/>
          </a:prstGeom>
          <a:solidFill>
            <a:srgbClr val="0070C0"/>
          </a:solidFill>
        </p:spPr>
        <p:txBody>
          <a:bodyPr wrap="square" rtlCol="0">
            <a:spAutoFit/>
          </a:bodyPr>
          <a:lstStyle/>
          <a:p>
            <a:r>
              <a:rPr lang="en-US" dirty="0">
                <a:solidFill>
                  <a:schemeClr val="bg1"/>
                </a:solidFill>
              </a:rPr>
              <a:t>Stack </a:t>
            </a:r>
            <a:r>
              <a:rPr lang="en-US" dirty="0" err="1">
                <a:solidFill>
                  <a:schemeClr val="bg1"/>
                </a:solidFill>
              </a:rPr>
              <a:t>sement</a:t>
            </a:r>
            <a:r>
              <a:rPr lang="en-US" dirty="0">
                <a:solidFill>
                  <a:schemeClr val="bg1"/>
                </a:solidFill>
              </a:rPr>
              <a:t>:</a:t>
            </a:r>
          </a:p>
          <a:p>
            <a:r>
              <a:rPr lang="en-US" dirty="0">
                <a:solidFill>
                  <a:schemeClr val="bg1"/>
                </a:solidFill>
              </a:rPr>
              <a:t>a, b, T,</a:t>
            </a:r>
          </a:p>
          <a:p>
            <a:r>
              <a:rPr lang="en-US" dirty="0">
                <a:solidFill>
                  <a:schemeClr val="bg1"/>
                </a:solidFill>
              </a:rPr>
              <a:t>x, y</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31" y="1006477"/>
            <a:ext cx="5020040" cy="5714999"/>
          </a:xfrm>
          <a:prstGeom prst="rect">
            <a:avLst/>
          </a:prstGeom>
        </p:spPr>
      </p:pic>
      <p:sp>
        <p:nvSpPr>
          <p:cNvPr id="25" name="TextBox 24"/>
          <p:cNvSpPr txBox="1"/>
          <p:nvPr/>
        </p:nvSpPr>
        <p:spPr>
          <a:xfrm>
            <a:off x="6112329" y="4237093"/>
            <a:ext cx="1905000" cy="369332"/>
          </a:xfrm>
          <a:prstGeom prst="rect">
            <a:avLst/>
          </a:prstGeom>
          <a:solidFill>
            <a:srgbClr val="0070C0"/>
          </a:solidFill>
        </p:spPr>
        <p:txBody>
          <a:bodyPr wrap="square" rtlCol="0">
            <a:spAutoFit/>
          </a:bodyPr>
          <a:lstStyle/>
          <a:p>
            <a:r>
              <a:rPr lang="en-US" dirty="0">
                <a:solidFill>
                  <a:schemeClr val="bg1"/>
                </a:solidFill>
              </a:rPr>
              <a:t>Heap: p</a:t>
            </a:r>
          </a:p>
        </p:txBody>
      </p:sp>
      <p:cxnSp>
        <p:nvCxnSpPr>
          <p:cNvPr id="13" name="Straight Arrow Connector 12"/>
          <p:cNvCxnSpPr/>
          <p:nvPr/>
        </p:nvCxnSpPr>
        <p:spPr>
          <a:xfrm flipV="1">
            <a:off x="2122714" y="1524000"/>
            <a:ext cx="3875315"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436914" y="2187121"/>
            <a:ext cx="4561115" cy="241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1273629" y="2736600"/>
            <a:ext cx="4724400" cy="1200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981200" y="3844205"/>
            <a:ext cx="4131129" cy="577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24" idx="1"/>
          </p:cNvCxnSpPr>
          <p:nvPr/>
        </p:nvCxnSpPr>
        <p:spPr>
          <a:xfrm>
            <a:off x="1981200" y="2459054"/>
            <a:ext cx="4131129" cy="1107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2786743" y="4421759"/>
            <a:ext cx="3211286" cy="27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3"/>
          <a:stretch>
            <a:fillRect/>
          </a:stretch>
        </p:blipFill>
        <p:spPr>
          <a:xfrm>
            <a:off x="5196071" y="4699305"/>
            <a:ext cx="3947930" cy="2230939"/>
          </a:xfrm>
          <a:prstGeom prst="rect">
            <a:avLst/>
          </a:prstGeom>
        </p:spPr>
      </p:pic>
    </p:spTree>
    <p:extLst>
      <p:ext uri="{BB962C8B-B14F-4D97-AF65-F5344CB8AC3E}">
        <p14:creationId xmlns:p14="http://schemas.microsoft.com/office/powerpoint/2010/main" val="265285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5"/>
          <p:cNvSpPr>
            <a:spLocks noGrp="1"/>
          </p:cNvSpPr>
          <p:nvPr>
            <p:ph type="title"/>
          </p:nvPr>
        </p:nvSpPr>
        <p:spPr>
          <a:xfrm>
            <a:off x="1828800" y="365127"/>
            <a:ext cx="6686550" cy="777874"/>
          </a:xfrm>
        </p:spPr>
        <p:txBody>
          <a:bodyPr>
            <a:normAutofit/>
          </a:bodyPr>
          <a:lstStyle/>
          <a:p>
            <a:r>
              <a:rPr lang="en-US" altLang="vi-VN" sz="4000" b="1" dirty="0">
                <a:solidFill>
                  <a:srgbClr val="0000CC"/>
                </a:solidFill>
              </a:rPr>
              <a:t>STACK vs HEAP</a:t>
            </a:r>
          </a:p>
        </p:txBody>
      </p:sp>
      <p:graphicFrame>
        <p:nvGraphicFramePr>
          <p:cNvPr id="3" name="Table 2"/>
          <p:cNvGraphicFramePr>
            <a:graphicFrameLocks noGrp="1"/>
          </p:cNvGraphicFramePr>
          <p:nvPr>
            <p:extLst>
              <p:ext uri="{D42A27DB-BD31-4B8C-83A1-F6EECF244321}">
                <p14:modId xmlns:p14="http://schemas.microsoft.com/office/powerpoint/2010/main" val="3755976739"/>
              </p:ext>
            </p:extLst>
          </p:nvPr>
        </p:nvGraphicFramePr>
        <p:xfrm>
          <a:off x="185057" y="1230087"/>
          <a:ext cx="8719457" cy="4485640"/>
        </p:xfrm>
        <a:graphic>
          <a:graphicData uri="http://schemas.openxmlformats.org/drawingml/2006/table">
            <a:tbl>
              <a:tblPr firstRow="1" bandRow="1">
                <a:tableStyleId>{5C22544A-7EE6-4342-B048-85BDC9FD1C3A}</a:tableStyleId>
              </a:tblPr>
              <a:tblGrid>
                <a:gridCol w="4811486">
                  <a:extLst>
                    <a:ext uri="{9D8B030D-6E8A-4147-A177-3AD203B41FA5}">
                      <a16:colId xmlns:a16="http://schemas.microsoft.com/office/drawing/2014/main" val="2768844512"/>
                    </a:ext>
                  </a:extLst>
                </a:gridCol>
                <a:gridCol w="3907971">
                  <a:extLst>
                    <a:ext uri="{9D8B030D-6E8A-4147-A177-3AD203B41FA5}">
                      <a16:colId xmlns:a16="http://schemas.microsoft.com/office/drawing/2014/main" val="773811905"/>
                    </a:ext>
                  </a:extLst>
                </a:gridCol>
              </a:tblGrid>
              <a:tr h="370840">
                <a:tc>
                  <a:txBody>
                    <a:bodyPr/>
                    <a:lstStyle/>
                    <a:p>
                      <a:pPr algn="ctr"/>
                      <a:r>
                        <a:rPr lang="vi-VN" sz="1800" b="1" i="0" kern="1200" dirty="0">
                          <a:solidFill>
                            <a:schemeClr val="lt1"/>
                          </a:solidFill>
                          <a:effectLst/>
                          <a:latin typeface="+mn-lt"/>
                          <a:ea typeface="+mn-ea"/>
                          <a:cs typeface="+mn-cs"/>
                        </a:rPr>
                        <a:t>Stack</a:t>
                      </a:r>
                      <a:endParaRPr lang="vi-VN" dirty="0"/>
                    </a:p>
                  </a:txBody>
                  <a:tcPr/>
                </a:tc>
                <a:tc>
                  <a:txBody>
                    <a:bodyPr/>
                    <a:lstStyle/>
                    <a:p>
                      <a:pPr algn="ctr"/>
                      <a:r>
                        <a:rPr lang="vi-VN" sz="1800" b="1" i="0" kern="1200" dirty="0">
                          <a:solidFill>
                            <a:schemeClr val="lt1"/>
                          </a:solidFill>
                          <a:effectLst/>
                          <a:latin typeface="+mn-lt"/>
                          <a:ea typeface="+mn-ea"/>
                          <a:cs typeface="+mn-cs"/>
                        </a:rPr>
                        <a:t>Heap</a:t>
                      </a:r>
                      <a:endParaRPr lang="vi-VN" dirty="0"/>
                    </a:p>
                  </a:txBody>
                  <a:tcPr/>
                </a:tc>
                <a:extLst>
                  <a:ext uri="{0D108BD9-81ED-4DB2-BD59-A6C34878D82A}">
                    <a16:rowId xmlns:a16="http://schemas.microsoft.com/office/drawing/2014/main" val="24918766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Vùng nhớ được cấp phát khi chương trình được biên dịch.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Vùng nhớ được cấp phát khi chạy chương trình (run-time).</a:t>
                      </a:r>
                    </a:p>
                  </a:txBody>
                  <a:tcPr/>
                </a:tc>
                <a:extLst>
                  <a:ext uri="{0D108BD9-81ED-4DB2-BD59-A6C34878D82A}">
                    <a16:rowId xmlns:a16="http://schemas.microsoft.com/office/drawing/2014/main" val="63423166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Vùng nhớ stack được sử dụng cho việc thực thi thread. Khi gọi hàm, các biến cục bộ của hàm được lưu trữ vào block của stack (theo kiểu LIFO). Cho đến khi hàm trả về giá trị, block này sẽ được xóa tự động.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Vùng nhớ heap được dùng cho cấp phát bộ nhớ động (malloc( ), new( )). Vùng nhớ được cấp phát tồn tại đến khi giải phóng vùng nhớ bằng lệnh free( ) hoặc delete.</a:t>
                      </a:r>
                    </a:p>
                  </a:txBody>
                  <a:tcPr/>
                </a:tc>
                <a:extLst>
                  <a:ext uri="{0D108BD9-81ED-4DB2-BD59-A6C34878D82A}">
                    <a16:rowId xmlns:a16="http://schemas.microsoft.com/office/drawing/2014/main" val="403631663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Kích thước vùng nhớ stack được fix cố định. Chúng ta không thể tăng hoặc giảm kích thước vùng nhớ stack. Nếu không đủ vùng nhớ stack, gây ra stack overflow. Hiện tượng này xảy ra khi nhiều hàm lồng nhau hoặc đệ quy nhiều lần dẫn đến không đủ vùng nhớ.</a:t>
                      </a:r>
                    </a:p>
                    <a:p>
                      <a:endParaRPr lang="vi-V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800" b="0" i="0" kern="1200" dirty="0">
                          <a:solidFill>
                            <a:schemeClr val="dk1"/>
                          </a:solidFill>
                          <a:effectLst/>
                          <a:latin typeface="+mn-lt"/>
                          <a:ea typeface="+mn-ea"/>
                          <a:cs typeface="+mn-cs"/>
                        </a:rPr>
                        <a:t>Khi kích thước vùng nhớ heap không đủ cho yêu cầu malloc( ), new. Hệ điều hành sẽ có cơ chế tăng kích thước vùng nhớ heap.</a:t>
                      </a:r>
                    </a:p>
                    <a:p>
                      <a:endParaRPr lang="vi-VN" dirty="0"/>
                    </a:p>
                  </a:txBody>
                  <a:tcPr/>
                </a:tc>
                <a:extLst>
                  <a:ext uri="{0D108BD9-81ED-4DB2-BD59-A6C34878D82A}">
                    <a16:rowId xmlns:a16="http://schemas.microsoft.com/office/drawing/2014/main" val="2546974160"/>
                  </a:ext>
                </a:extLst>
              </a:tr>
            </a:tbl>
          </a:graphicData>
        </a:graphic>
      </p:graphicFrame>
      <p:sp>
        <p:nvSpPr>
          <p:cNvPr id="7" name="Rectangle 6"/>
          <p:cNvSpPr/>
          <p:nvPr/>
        </p:nvSpPr>
        <p:spPr>
          <a:xfrm>
            <a:off x="185057" y="6135154"/>
            <a:ext cx="3581400" cy="338554"/>
          </a:xfrm>
          <a:prstGeom prst="rect">
            <a:avLst/>
          </a:prstGeom>
        </p:spPr>
        <p:txBody>
          <a:bodyPr wrap="square">
            <a:spAutoFit/>
          </a:bodyPr>
          <a:lstStyle/>
          <a:p>
            <a:r>
              <a:rPr lang="vi-VN" sz="1600" i="1" dirty="0"/>
              <a:t>Nguồn: http://vncoding.net</a:t>
            </a:r>
          </a:p>
        </p:txBody>
      </p:sp>
    </p:spTree>
    <p:extLst>
      <p:ext uri="{BB962C8B-B14F-4D97-AF65-F5344CB8AC3E}">
        <p14:creationId xmlns:p14="http://schemas.microsoft.com/office/powerpoint/2010/main" val="1551975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9"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1A47E0A-D152-4F5A-9C0E-E2DAF862AF39}" type="slidenum">
              <a:rPr lang="en-US" altLang="vi-VN">
                <a:solidFill>
                  <a:srgbClr val="FFFF00"/>
                </a:solidFill>
              </a:rPr>
              <a:pPr eaLnBrk="1" hangingPunct="1"/>
              <a:t>12</a:t>
            </a:fld>
            <a:endParaRPr lang="en-GB" altLang="vi-VN">
              <a:solidFill>
                <a:srgbClr val="FFFF00"/>
              </a:solidFill>
            </a:endParaRPr>
          </a:p>
        </p:txBody>
      </p:sp>
      <p:sp>
        <p:nvSpPr>
          <p:cNvPr id="12292" name="Rectangle 3"/>
          <p:cNvSpPr>
            <a:spLocks noGrp="1" noChangeArrowheads="1"/>
          </p:cNvSpPr>
          <p:nvPr>
            <p:ph type="body" idx="1"/>
          </p:nvPr>
        </p:nvSpPr>
        <p:spPr>
          <a:xfrm>
            <a:off x="381000" y="1143000"/>
            <a:ext cx="8458200" cy="1524000"/>
          </a:xfrm>
        </p:spPr>
        <p:txBody>
          <a:bodyPr>
            <a:normAutofit lnSpcReduction="10000"/>
          </a:bodyPr>
          <a:lstStyle/>
          <a:p>
            <a:pPr marL="0" indent="0" algn="just" defTabSz="914400">
              <a:buFont typeface="Wingdings" panose="05000000000000000000" pitchFamily="2" charset="2"/>
              <a:buNone/>
            </a:pPr>
            <a:r>
              <a:rPr lang="en-US" altLang="vi-VN" sz="2600" b="1" dirty="0">
                <a:solidFill>
                  <a:srgbClr val="0000CC"/>
                </a:solidFill>
                <a:cs typeface="Arial" panose="020B0604020202020204" pitchFamily="34" charset="0"/>
              </a:rPr>
              <a:t>* </a:t>
            </a:r>
            <a:r>
              <a:rPr lang="en-US" altLang="vi-VN" sz="2600" b="1" dirty="0" err="1">
                <a:solidFill>
                  <a:srgbClr val="0000CC"/>
                </a:solidFill>
                <a:cs typeface="Arial" panose="020B0604020202020204" pitchFamily="34" charset="0"/>
              </a:rPr>
              <a:t>Cấp</a:t>
            </a:r>
            <a:r>
              <a:rPr lang="en-US" altLang="vi-VN" sz="2600" b="1" dirty="0">
                <a:solidFill>
                  <a:srgbClr val="0000CC"/>
                </a:solidFill>
                <a:cs typeface="Arial" panose="020B0604020202020204" pitchFamily="34" charset="0"/>
              </a:rPr>
              <a:t> </a:t>
            </a:r>
            <a:r>
              <a:rPr lang="en-US" altLang="vi-VN" sz="2600" b="1" dirty="0" err="1">
                <a:solidFill>
                  <a:srgbClr val="0000CC"/>
                </a:solidFill>
                <a:cs typeface="Arial" panose="020B0604020202020204" pitchFamily="34" charset="0"/>
              </a:rPr>
              <a:t>phát</a:t>
            </a:r>
            <a:r>
              <a:rPr lang="en-US" altLang="vi-VN" sz="2600" b="1" dirty="0">
                <a:solidFill>
                  <a:srgbClr val="0000CC"/>
                </a:solidFill>
                <a:cs typeface="Arial" panose="020B0604020202020204" pitchFamily="34" charset="0"/>
              </a:rPr>
              <a:t> </a:t>
            </a:r>
            <a:r>
              <a:rPr lang="en-US" altLang="vi-VN" sz="2600" b="1" dirty="0" err="1">
                <a:solidFill>
                  <a:srgbClr val="0000CC"/>
                </a:solidFill>
                <a:cs typeface="Arial" panose="020B0604020202020204" pitchFamily="34" charset="0"/>
              </a:rPr>
              <a:t>vùng</a:t>
            </a:r>
            <a:r>
              <a:rPr lang="en-US" altLang="vi-VN" sz="2600" b="1" dirty="0">
                <a:solidFill>
                  <a:srgbClr val="0000CC"/>
                </a:solidFill>
                <a:cs typeface="Arial" panose="020B0604020202020204" pitchFamily="34" charset="0"/>
              </a:rPr>
              <a:t> </a:t>
            </a:r>
            <a:r>
              <a:rPr lang="en-US" altLang="vi-VN" sz="2600" b="1" dirty="0" err="1">
                <a:solidFill>
                  <a:srgbClr val="0000CC"/>
                </a:solidFill>
                <a:cs typeface="Arial" panose="020B0604020202020204" pitchFamily="34" charset="0"/>
              </a:rPr>
              <a:t>nhớ</a:t>
            </a:r>
            <a:r>
              <a:rPr lang="en-US" altLang="vi-VN" sz="2600" dirty="0">
                <a:solidFill>
                  <a:srgbClr val="0000CC"/>
                </a:solidFill>
                <a:cs typeface="Arial" panose="020B0604020202020204" pitchFamily="34" charset="0"/>
              </a:rPr>
              <a:t>:</a:t>
            </a:r>
          </a:p>
          <a:p>
            <a:pPr marL="0" indent="0" algn="just" defTabSz="914400">
              <a:buFont typeface="Wingdings" panose="05000000000000000000" pitchFamily="2" charset="2"/>
              <a:buNone/>
            </a:pPr>
            <a:r>
              <a:rPr lang="en-US" altLang="vi-VN" sz="2600" dirty="0" err="1">
                <a:solidFill>
                  <a:srgbClr val="0000CC"/>
                </a:solidFill>
                <a:cs typeface="Arial" panose="020B0604020202020204" pitchFamily="34" charset="0"/>
              </a:rPr>
              <a:t>Thông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thường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chúng</a:t>
            </a:r>
            <a:r>
              <a:rPr lang="en-US" altLang="vi-VN" sz="2600" dirty="0">
                <a:solidFill>
                  <a:srgbClr val="0000CC"/>
                </a:solidFill>
                <a:cs typeface="Arial" panose="020B0604020202020204" pitchFamily="34" charset="0"/>
              </a:rPr>
              <a:t> ta </a:t>
            </a:r>
            <a:r>
              <a:rPr lang="en-US" altLang="vi-VN" sz="2600" dirty="0" err="1">
                <a:solidFill>
                  <a:srgbClr val="0000CC"/>
                </a:solidFill>
                <a:cs typeface="Arial" panose="020B0604020202020204" pitchFamily="34" charset="0"/>
              </a:rPr>
              <a:t>chỉ</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quan</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tâm</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đến</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khai</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báo</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và</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cung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cấp</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vùng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nhớ</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để</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lưu</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địa</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chỉ</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của</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biến</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mà</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không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quan</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tâm</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đến</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việc</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cung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cấp</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vùng</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nhớ</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để</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lưu</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dữ</a:t>
            </a:r>
            <a:r>
              <a:rPr lang="en-US" altLang="vi-VN" sz="2600" dirty="0">
                <a:solidFill>
                  <a:srgbClr val="0000CC"/>
                </a:solidFill>
                <a:cs typeface="Arial" panose="020B0604020202020204" pitchFamily="34" charset="0"/>
              </a:rPr>
              <a:t> </a:t>
            </a:r>
            <a:r>
              <a:rPr lang="en-US" altLang="vi-VN" sz="2600" dirty="0" err="1">
                <a:solidFill>
                  <a:srgbClr val="0000CC"/>
                </a:solidFill>
                <a:cs typeface="Arial" panose="020B0604020202020204" pitchFamily="34" charset="0"/>
              </a:rPr>
              <a:t>liệu</a:t>
            </a:r>
            <a:r>
              <a:rPr lang="en-US" altLang="vi-VN" sz="2600" dirty="0">
                <a:solidFill>
                  <a:srgbClr val="0000CC"/>
                </a:solidFill>
                <a:cs typeface="Arial" panose="020B0604020202020204" pitchFamily="34" charset="0"/>
              </a:rPr>
              <a:t>.</a:t>
            </a:r>
          </a:p>
          <a:p>
            <a:pPr marL="0" indent="0" algn="just" defTabSz="914400">
              <a:buFont typeface="Wingdings" panose="05000000000000000000" pitchFamily="2" charset="2"/>
              <a:buNone/>
            </a:pPr>
            <a:endParaRPr lang="en-US" altLang="vi-VN" sz="2600" i="1" dirty="0">
              <a:solidFill>
                <a:srgbClr val="0000CC"/>
              </a:solidFill>
              <a:cs typeface="Arial" panose="020B0604020202020204" pitchFamily="34" charset="0"/>
            </a:endParaRPr>
          </a:p>
        </p:txBody>
      </p:sp>
      <p:sp>
        <p:nvSpPr>
          <p:cNvPr id="12293" name="Rectangle 4"/>
          <p:cNvSpPr>
            <a:spLocks noChangeArrowheads="1"/>
          </p:cNvSpPr>
          <p:nvPr/>
        </p:nvSpPr>
        <p:spPr bwMode="auto">
          <a:xfrm>
            <a:off x="381000" y="2895600"/>
            <a:ext cx="830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600" b="1">
                <a:solidFill>
                  <a:srgbClr val="0000CC"/>
                </a:solidFill>
              </a:rPr>
              <a:t>  Cú pháp :</a:t>
            </a:r>
          </a:p>
          <a:p>
            <a:pPr algn="l">
              <a:spcBef>
                <a:spcPct val="20000"/>
              </a:spcBef>
              <a:buClr>
                <a:schemeClr val="tx2"/>
              </a:buClr>
              <a:buFont typeface="Wingdings" panose="05000000000000000000" pitchFamily="2" charset="2"/>
              <a:buNone/>
            </a:pPr>
            <a:endParaRPr lang="en-US" altLang="vi-VN" sz="2600" b="1">
              <a:solidFill>
                <a:srgbClr val="0000CC"/>
              </a:solidFill>
            </a:endParaRPr>
          </a:p>
          <a:p>
            <a:pPr algn="l">
              <a:spcBef>
                <a:spcPct val="20000"/>
              </a:spcBef>
              <a:buClr>
                <a:schemeClr val="tx2"/>
              </a:buClr>
              <a:buFont typeface="Wingdings" panose="05000000000000000000" pitchFamily="2" charset="2"/>
              <a:buNone/>
            </a:pPr>
            <a:endParaRPr lang="en-US" altLang="vi-VN" sz="2600" b="1" i="1">
              <a:solidFill>
                <a:srgbClr val="0000CC"/>
              </a:solidFill>
            </a:endParaRPr>
          </a:p>
        </p:txBody>
      </p:sp>
      <p:sp>
        <p:nvSpPr>
          <p:cNvPr id="12294" name="Rectangle 5"/>
          <p:cNvSpPr>
            <a:spLocks noChangeArrowheads="1"/>
          </p:cNvSpPr>
          <p:nvPr/>
        </p:nvSpPr>
        <p:spPr bwMode="auto">
          <a:xfrm>
            <a:off x="1676400" y="3429000"/>
            <a:ext cx="7315200" cy="990600"/>
          </a:xfrm>
          <a:prstGeom prst="rect">
            <a:avLst/>
          </a:prstGeom>
          <a:noFill/>
          <a:ln w="1905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800" b="1">
                <a:solidFill>
                  <a:srgbClr val="0000CC"/>
                </a:solidFill>
              </a:rPr>
              <a:t>Biến con trỏ = malloc(sizeof(tên kiểu));</a:t>
            </a:r>
          </a:p>
          <a:p>
            <a:pPr algn="l">
              <a:spcBef>
                <a:spcPct val="20000"/>
              </a:spcBef>
              <a:buClr>
                <a:schemeClr val="tx2"/>
              </a:buClr>
              <a:buFont typeface="Wingdings" panose="05000000000000000000" pitchFamily="2" charset="2"/>
              <a:buNone/>
            </a:pPr>
            <a:r>
              <a:rPr lang="en-US" altLang="vi-VN" sz="2800" b="1">
                <a:solidFill>
                  <a:srgbClr val="0000CC"/>
                </a:solidFill>
              </a:rPr>
              <a:t>Biến con trỏ = calloc(n, sizeof(tên kiểu));</a:t>
            </a:r>
          </a:p>
        </p:txBody>
      </p:sp>
      <p:sp>
        <p:nvSpPr>
          <p:cNvPr id="12295" name="Rectangle 7"/>
          <p:cNvSpPr>
            <a:spLocks noChangeArrowheads="1"/>
          </p:cNvSpPr>
          <p:nvPr/>
        </p:nvSpPr>
        <p:spPr bwMode="auto">
          <a:xfrm>
            <a:off x="304800" y="4648200"/>
            <a:ext cx="34512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spcBef>
                <a:spcPct val="20000"/>
              </a:spcBef>
              <a:buClr>
                <a:schemeClr val="hlink"/>
              </a:buClr>
              <a:buFont typeface="Wingdings" panose="05000000000000000000" pitchFamily="2" charset="2"/>
              <a:buNone/>
            </a:pPr>
            <a:r>
              <a:rPr lang="en-US" altLang="vi-VN" sz="2200" b="1">
                <a:solidFill>
                  <a:srgbClr val="0000CC"/>
                </a:solidFill>
                <a:latin typeface="Tahoma" panose="020B0604030504040204" pitchFamily="34" charset="0"/>
              </a:rPr>
              <a:t>* Giải phóng vùng nhớ:</a:t>
            </a:r>
          </a:p>
        </p:txBody>
      </p:sp>
      <p:sp>
        <p:nvSpPr>
          <p:cNvPr id="12296" name="Rectangle 8"/>
          <p:cNvSpPr>
            <a:spLocks noChangeArrowheads="1"/>
          </p:cNvSpPr>
          <p:nvPr/>
        </p:nvSpPr>
        <p:spPr bwMode="auto">
          <a:xfrm>
            <a:off x="1447800" y="5181600"/>
            <a:ext cx="3276600" cy="533400"/>
          </a:xfrm>
          <a:prstGeom prst="rect">
            <a:avLst/>
          </a:prstGeom>
          <a:noFill/>
          <a:ln w="1905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800" b="1">
                <a:solidFill>
                  <a:srgbClr val="0000CC"/>
                </a:solidFill>
              </a:rPr>
              <a:t>free(tên con trỏ);</a:t>
            </a:r>
          </a:p>
        </p:txBody>
      </p:sp>
      <p:sp>
        <p:nvSpPr>
          <p:cNvPr id="12297" name="Rectangle 9"/>
          <p:cNvSpPr>
            <a:spLocks noGrp="1"/>
          </p:cNvSpPr>
          <p:nvPr>
            <p:ph type="title"/>
          </p:nvPr>
        </p:nvSpPr>
        <p:spPr>
          <a:xfrm>
            <a:off x="1807028" y="365126"/>
            <a:ext cx="6708321" cy="962931"/>
          </a:xfrm>
        </p:spPr>
        <p:txBody>
          <a:bodyPr>
            <a:normAutofit/>
          </a:bodyPr>
          <a:lstStyle/>
          <a:p>
            <a:r>
              <a:rPr lang="en-US" altLang="vi-VN" sz="3600" b="1" dirty="0" err="1">
                <a:solidFill>
                  <a:srgbClr val="0000CC"/>
                </a:solidFill>
              </a:rPr>
              <a:t>Cấp</a:t>
            </a:r>
            <a:r>
              <a:rPr lang="en-US" altLang="vi-VN" sz="3600" b="1" dirty="0">
                <a:solidFill>
                  <a:srgbClr val="0000CC"/>
                </a:solidFill>
              </a:rPr>
              <a:t> </a:t>
            </a:r>
            <a:r>
              <a:rPr lang="en-US" altLang="vi-VN" sz="3600" b="1" dirty="0" err="1">
                <a:solidFill>
                  <a:srgbClr val="0000CC"/>
                </a:solidFill>
              </a:rPr>
              <a:t>phát</a:t>
            </a:r>
            <a:r>
              <a:rPr lang="en-US" altLang="vi-VN" sz="3600" b="1" dirty="0">
                <a:solidFill>
                  <a:srgbClr val="0000CC"/>
                </a:solidFill>
              </a:rPr>
              <a:t> </a:t>
            </a:r>
            <a:r>
              <a:rPr lang="en-US" altLang="vi-VN" sz="3600" b="1" dirty="0" err="1">
                <a:solidFill>
                  <a:srgbClr val="0000CC"/>
                </a:solidFill>
              </a:rPr>
              <a:t>và</a:t>
            </a:r>
            <a:r>
              <a:rPr lang="en-US" altLang="vi-VN" sz="3600" b="1" dirty="0">
                <a:solidFill>
                  <a:srgbClr val="0000CC"/>
                </a:solidFill>
              </a:rPr>
              <a:t> </a:t>
            </a:r>
            <a:r>
              <a:rPr lang="en-US" altLang="vi-VN" sz="3600" b="1" dirty="0" err="1">
                <a:solidFill>
                  <a:srgbClr val="0000CC"/>
                </a:solidFill>
              </a:rPr>
              <a:t>giải</a:t>
            </a:r>
            <a:r>
              <a:rPr lang="en-US" altLang="vi-VN" sz="3600" b="1" dirty="0">
                <a:solidFill>
                  <a:srgbClr val="0000CC"/>
                </a:solidFill>
              </a:rPr>
              <a:t> </a:t>
            </a:r>
            <a:r>
              <a:rPr lang="en-US" altLang="vi-VN" sz="3600" b="1" dirty="0" err="1">
                <a:solidFill>
                  <a:srgbClr val="0000CC"/>
                </a:solidFill>
              </a:rPr>
              <a:t>phóng</a:t>
            </a:r>
            <a:r>
              <a:rPr lang="en-US" altLang="vi-VN" sz="3600" b="1" dirty="0">
                <a:solidFill>
                  <a:srgbClr val="0000CC"/>
                </a:solidFill>
              </a:rPr>
              <a:t> </a:t>
            </a:r>
            <a:r>
              <a:rPr lang="en-US" altLang="vi-VN" sz="3600" b="1" dirty="0" err="1">
                <a:solidFill>
                  <a:srgbClr val="0000CC"/>
                </a:solidFill>
              </a:rPr>
              <a:t>vùng</a:t>
            </a:r>
            <a:r>
              <a:rPr lang="en-US" altLang="vi-VN" sz="3600" b="1" dirty="0">
                <a:solidFill>
                  <a:srgbClr val="0000CC"/>
                </a:solidFill>
              </a:rPr>
              <a:t> </a:t>
            </a:r>
            <a:r>
              <a:rPr lang="en-US" altLang="vi-VN" sz="3600" b="1" dirty="0" err="1">
                <a:solidFill>
                  <a:srgbClr val="0000CC"/>
                </a:solidFill>
              </a:rPr>
              <a:t>nhớ</a:t>
            </a:r>
            <a:endParaRPr lang="en-US" altLang="vi-VN" sz="3600" b="1" dirty="0">
              <a:solidFill>
                <a:srgbClr val="0000CC"/>
              </a:solidFill>
            </a:endParaRPr>
          </a:p>
        </p:txBody>
      </p:sp>
    </p:spTree>
    <p:extLst>
      <p:ext uri="{BB962C8B-B14F-4D97-AF65-F5344CB8AC3E}">
        <p14:creationId xmlns:p14="http://schemas.microsoft.com/office/powerpoint/2010/main" val="235988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224181-CCA8-487D-8DB3-45CD21A902DA}" type="slidenum">
              <a:rPr lang="en-US" altLang="vi-VN">
                <a:solidFill>
                  <a:srgbClr val="FFFF00"/>
                </a:solidFill>
              </a:rPr>
              <a:pPr eaLnBrk="1" hangingPunct="1"/>
              <a:t>13</a:t>
            </a:fld>
            <a:endParaRPr lang="en-GB" altLang="vi-VN">
              <a:solidFill>
                <a:srgbClr val="FFFF00"/>
              </a:solidFill>
            </a:endParaRPr>
          </a:p>
        </p:txBody>
      </p:sp>
      <p:sp>
        <p:nvSpPr>
          <p:cNvPr id="13316" name="Rectangle 2"/>
          <p:cNvSpPr>
            <a:spLocks noGrp="1" noChangeArrowheads="1"/>
          </p:cNvSpPr>
          <p:nvPr>
            <p:ph type="body" idx="1"/>
          </p:nvPr>
        </p:nvSpPr>
        <p:spPr>
          <a:xfrm>
            <a:off x="381000" y="1143000"/>
            <a:ext cx="7924800" cy="5181600"/>
          </a:xfrm>
        </p:spPr>
        <p:txBody>
          <a:bodyPr>
            <a:normAutofit lnSpcReduction="10000"/>
          </a:bodyPr>
          <a:lstStyle/>
          <a:p>
            <a:pPr marL="0" indent="0" algn="just" defTabSz="914400">
              <a:lnSpc>
                <a:spcPct val="90000"/>
              </a:lnSpc>
              <a:buFont typeface="Wingdings" panose="05000000000000000000" pitchFamily="2" charset="2"/>
              <a:buNone/>
            </a:pPr>
            <a:r>
              <a:rPr lang="en-US" altLang="vi-VN" sz="2400" b="1" dirty="0" err="1">
                <a:solidFill>
                  <a:srgbClr val="0000CC"/>
                </a:solidFill>
              </a:rPr>
              <a:t>Ví</a:t>
            </a:r>
            <a:r>
              <a:rPr lang="en-US" altLang="vi-VN" sz="2400" b="1" dirty="0">
                <a:solidFill>
                  <a:srgbClr val="0000CC"/>
                </a:solidFill>
              </a:rPr>
              <a:t> </a:t>
            </a:r>
            <a:r>
              <a:rPr lang="en-US" altLang="vi-VN" sz="2400" b="1" dirty="0" err="1">
                <a:solidFill>
                  <a:srgbClr val="0000CC"/>
                </a:solidFill>
              </a:rPr>
              <a:t>dụ</a:t>
            </a:r>
            <a:r>
              <a:rPr lang="en-US" altLang="vi-VN" sz="2400" b="1" dirty="0">
                <a:solidFill>
                  <a:srgbClr val="0000CC"/>
                </a:solidFill>
              </a:rPr>
              <a:t>:</a:t>
            </a: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cấp</a:t>
            </a:r>
            <a:r>
              <a:rPr lang="en-US" altLang="vi-VN" sz="2400" dirty="0">
                <a:solidFill>
                  <a:srgbClr val="0000CC"/>
                </a:solidFill>
              </a:rPr>
              <a:t> </a:t>
            </a:r>
            <a:r>
              <a:rPr lang="en-US" altLang="vi-VN" sz="2400" dirty="0" err="1">
                <a:solidFill>
                  <a:srgbClr val="0000CC"/>
                </a:solidFill>
              </a:rPr>
              <a:t>phát</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r>
              <a:rPr lang="en-US" altLang="vi-VN" sz="2400" dirty="0">
                <a:solidFill>
                  <a:srgbClr val="0000CC"/>
                </a:solidFill>
              </a:rPr>
              <a:t> </a:t>
            </a:r>
            <a:r>
              <a:rPr lang="en-US" altLang="vi-VN" sz="2400" dirty="0" err="1">
                <a:solidFill>
                  <a:srgbClr val="0000CC"/>
                </a:solidFill>
              </a:rPr>
              <a:t>cho</a:t>
            </a:r>
            <a:r>
              <a:rPr lang="en-US" altLang="vi-VN" sz="2400" dirty="0">
                <a:solidFill>
                  <a:srgbClr val="0000CC"/>
                </a:solidFill>
              </a:rPr>
              <a:t> </a:t>
            </a:r>
            <a:r>
              <a:rPr lang="en-US" altLang="vi-VN" sz="2400" dirty="0" err="1">
                <a:solidFill>
                  <a:srgbClr val="0000CC"/>
                </a:solidFill>
              </a:rPr>
              <a:t>biến</a:t>
            </a:r>
            <a:r>
              <a:rPr lang="en-US" altLang="vi-VN" sz="2400" dirty="0">
                <a:solidFill>
                  <a:srgbClr val="0000CC"/>
                </a:solidFill>
              </a:rPr>
              <a:t> con </a:t>
            </a:r>
            <a:r>
              <a:rPr lang="en-US" altLang="vi-VN" sz="2400" dirty="0" err="1">
                <a:solidFill>
                  <a:srgbClr val="0000CC"/>
                </a:solidFill>
              </a:rPr>
              <a:t>trỏ</a:t>
            </a:r>
            <a:r>
              <a:rPr lang="en-US" altLang="vi-VN" sz="2400" dirty="0">
                <a:solidFill>
                  <a:srgbClr val="0000CC"/>
                </a:solidFill>
              </a:rPr>
              <a:t> N:</a:t>
            </a: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b="1" dirty="0" err="1">
                <a:solidFill>
                  <a:srgbClr val="0000CC"/>
                </a:solidFill>
              </a:rPr>
              <a:t>int</a:t>
            </a:r>
            <a:r>
              <a:rPr lang="en-US" altLang="vi-VN" sz="2400" b="1" noProof="1">
                <a:solidFill>
                  <a:srgbClr val="0000CC"/>
                </a:solidFill>
              </a:rPr>
              <a:t> *</a:t>
            </a:r>
            <a:r>
              <a:rPr lang="en-US" altLang="vi-VN" sz="2400" b="1" dirty="0">
                <a:solidFill>
                  <a:srgbClr val="0000CC"/>
                </a:solidFill>
              </a:rPr>
              <a:t>N</a:t>
            </a:r>
            <a:r>
              <a:rPr lang="en-US" altLang="vi-VN" sz="2400" b="1" noProof="1">
                <a:solidFill>
                  <a:srgbClr val="0000CC"/>
                </a:solidFill>
              </a:rPr>
              <a:t> = (</a:t>
            </a:r>
            <a:r>
              <a:rPr lang="en-US" altLang="vi-VN" sz="2400" b="1" dirty="0" err="1">
                <a:solidFill>
                  <a:srgbClr val="0000CC"/>
                </a:solidFill>
              </a:rPr>
              <a:t>int</a:t>
            </a:r>
            <a:r>
              <a:rPr lang="en-US" altLang="vi-VN" sz="2400" b="1" noProof="1">
                <a:solidFill>
                  <a:srgbClr val="0000CC"/>
                </a:solidFill>
              </a:rPr>
              <a:t>*)malloc(sizeof(</a:t>
            </a:r>
            <a:r>
              <a:rPr lang="en-US" altLang="vi-VN" sz="2400" b="1" dirty="0" err="1">
                <a:solidFill>
                  <a:srgbClr val="0000CC"/>
                </a:solidFill>
              </a:rPr>
              <a:t>int</a:t>
            </a:r>
            <a:r>
              <a:rPr lang="en-US" altLang="vi-VN" sz="2400" b="1" noProof="1">
                <a:solidFill>
                  <a:srgbClr val="0000CC"/>
                </a:solidFill>
              </a:rPr>
              <a:t>));</a:t>
            </a:r>
            <a:r>
              <a:rPr lang="en-US" altLang="vi-VN" sz="2400" b="1" dirty="0">
                <a:solidFill>
                  <a:srgbClr val="0000CC"/>
                </a:solidFill>
              </a:rPr>
              <a:t> </a:t>
            </a:r>
          </a:p>
          <a:p>
            <a:pPr marL="0" indent="0" algn="just" defTabSz="914400">
              <a:lnSpc>
                <a:spcPct val="90000"/>
              </a:lnSpc>
              <a:buFont typeface="Wingdings" panose="05000000000000000000" pitchFamily="2" charset="2"/>
              <a:buNone/>
            </a:pPr>
            <a:endParaRPr lang="en-US" altLang="vi-VN" sz="2400" b="1" dirty="0">
              <a:solidFill>
                <a:srgbClr val="0000CC"/>
              </a:solidFill>
            </a:endParaRP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cấp</a:t>
            </a:r>
            <a:r>
              <a:rPr lang="en-US" altLang="vi-VN" sz="2400" dirty="0">
                <a:solidFill>
                  <a:srgbClr val="0000CC"/>
                </a:solidFill>
              </a:rPr>
              <a:t> </a:t>
            </a:r>
            <a:r>
              <a:rPr lang="en-US" altLang="vi-VN" sz="2400" dirty="0" err="1">
                <a:solidFill>
                  <a:srgbClr val="0000CC"/>
                </a:solidFill>
              </a:rPr>
              <a:t>phát</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r>
              <a:rPr lang="en-US" altLang="vi-VN" sz="2400" dirty="0">
                <a:solidFill>
                  <a:srgbClr val="0000CC"/>
                </a:solidFill>
              </a:rPr>
              <a:t> </a:t>
            </a:r>
            <a:r>
              <a:rPr lang="en-US" altLang="vi-VN" sz="2400" dirty="0" err="1">
                <a:solidFill>
                  <a:srgbClr val="0000CC"/>
                </a:solidFill>
              </a:rPr>
              <a:t>cho</a:t>
            </a:r>
            <a:r>
              <a:rPr lang="en-US" altLang="vi-VN" sz="2400" dirty="0">
                <a:solidFill>
                  <a:srgbClr val="0000CC"/>
                </a:solidFill>
              </a:rPr>
              <a:t> </a:t>
            </a:r>
            <a:r>
              <a:rPr lang="en-US" altLang="vi-VN" sz="2400" dirty="0" err="1">
                <a:solidFill>
                  <a:srgbClr val="0000CC"/>
                </a:solidFill>
              </a:rPr>
              <a:t>biến</a:t>
            </a:r>
            <a:r>
              <a:rPr lang="en-US" altLang="vi-VN" sz="2400" dirty="0">
                <a:solidFill>
                  <a:srgbClr val="0000CC"/>
                </a:solidFill>
              </a:rPr>
              <a:t> </a:t>
            </a:r>
            <a:r>
              <a:rPr lang="en-US" altLang="vi-VN" sz="2400" dirty="0" err="1">
                <a:solidFill>
                  <a:srgbClr val="0000CC"/>
                </a:solidFill>
              </a:rPr>
              <a:t>trỏ</a:t>
            </a:r>
            <a:r>
              <a:rPr lang="en-US" altLang="vi-VN" sz="2400" dirty="0">
                <a:solidFill>
                  <a:srgbClr val="0000CC"/>
                </a:solidFill>
              </a:rPr>
              <a:t> A </a:t>
            </a:r>
            <a:r>
              <a:rPr lang="en-US" altLang="vi-VN" sz="2400" dirty="0" err="1">
                <a:solidFill>
                  <a:srgbClr val="0000CC"/>
                </a:solidFill>
              </a:rPr>
              <a:t>là</a:t>
            </a:r>
            <a:r>
              <a:rPr lang="en-US" altLang="vi-VN" sz="2400" dirty="0">
                <a:solidFill>
                  <a:srgbClr val="0000CC"/>
                </a:solidFill>
              </a:rPr>
              <a:t> </a:t>
            </a:r>
            <a:r>
              <a:rPr lang="en-US" altLang="vi-VN" sz="2400" dirty="0" err="1">
                <a:solidFill>
                  <a:srgbClr val="0000CC"/>
                </a:solidFill>
              </a:rPr>
              <a:t>một</a:t>
            </a:r>
            <a:r>
              <a:rPr lang="en-US" altLang="vi-VN" sz="2400" dirty="0">
                <a:solidFill>
                  <a:srgbClr val="0000CC"/>
                </a:solidFill>
              </a:rPr>
              <a:t> </a:t>
            </a:r>
            <a:r>
              <a:rPr lang="en-US" altLang="vi-VN" sz="2400" dirty="0" err="1">
                <a:solidFill>
                  <a:srgbClr val="0000CC"/>
                </a:solidFill>
              </a:rPr>
              <a:t>mảng</a:t>
            </a:r>
            <a:r>
              <a:rPr lang="en-US" altLang="vi-VN" sz="2400" dirty="0">
                <a:solidFill>
                  <a:srgbClr val="0000CC"/>
                </a:solidFill>
              </a:rPr>
              <a:t> </a:t>
            </a:r>
            <a:r>
              <a:rPr lang="en-US" altLang="vi-VN" sz="2400" dirty="0" err="1">
                <a:solidFill>
                  <a:srgbClr val="0000CC"/>
                </a:solidFill>
              </a:rPr>
              <a:t>có</a:t>
            </a:r>
            <a:r>
              <a:rPr lang="en-US" altLang="vi-VN" sz="2400" dirty="0">
                <a:solidFill>
                  <a:srgbClr val="0000CC"/>
                </a:solidFill>
              </a:rPr>
              <a:t> 20 </a:t>
            </a:r>
            <a:r>
              <a:rPr lang="en-US" altLang="vi-VN" sz="2400" dirty="0" err="1">
                <a:solidFill>
                  <a:srgbClr val="0000CC"/>
                </a:solidFill>
              </a:rPr>
              <a:t>phần</a:t>
            </a:r>
            <a:r>
              <a:rPr lang="en-US" altLang="vi-VN" sz="2400" dirty="0">
                <a:solidFill>
                  <a:srgbClr val="0000CC"/>
                </a:solidFill>
              </a:rPr>
              <a:t> </a:t>
            </a:r>
            <a:r>
              <a:rPr lang="en-US" altLang="vi-VN" sz="2400" dirty="0" err="1">
                <a:solidFill>
                  <a:srgbClr val="0000CC"/>
                </a:solidFill>
              </a:rPr>
              <a:t>tử</a:t>
            </a:r>
            <a:r>
              <a:rPr lang="en-US" altLang="vi-VN" sz="2400" dirty="0">
                <a:solidFill>
                  <a:srgbClr val="0000CC"/>
                </a:solidFill>
              </a:rPr>
              <a:t>:</a:t>
            </a: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b="1" dirty="0" err="1">
                <a:solidFill>
                  <a:srgbClr val="0000CC"/>
                </a:solidFill>
              </a:rPr>
              <a:t>int</a:t>
            </a:r>
            <a:r>
              <a:rPr lang="en-US" altLang="vi-VN" sz="2400" b="1" noProof="1">
                <a:solidFill>
                  <a:srgbClr val="0000CC"/>
                </a:solidFill>
              </a:rPr>
              <a:t> *</a:t>
            </a:r>
            <a:r>
              <a:rPr lang="en-US" altLang="vi-VN" sz="2400" b="1" dirty="0">
                <a:solidFill>
                  <a:srgbClr val="0000CC"/>
                </a:solidFill>
              </a:rPr>
              <a:t>A</a:t>
            </a:r>
            <a:r>
              <a:rPr lang="en-US" altLang="vi-VN" sz="2400" b="1" noProof="1">
                <a:solidFill>
                  <a:srgbClr val="0000CC"/>
                </a:solidFill>
              </a:rPr>
              <a:t> = (</a:t>
            </a:r>
            <a:r>
              <a:rPr lang="en-US" altLang="vi-VN" sz="2400" b="1" dirty="0" err="1">
                <a:solidFill>
                  <a:srgbClr val="0000CC"/>
                </a:solidFill>
              </a:rPr>
              <a:t>int</a:t>
            </a:r>
            <a:r>
              <a:rPr lang="en-US" altLang="vi-VN" sz="2400" b="1" noProof="1">
                <a:solidFill>
                  <a:srgbClr val="0000CC"/>
                </a:solidFill>
              </a:rPr>
              <a:t>*)</a:t>
            </a:r>
            <a:r>
              <a:rPr lang="en-US" altLang="vi-VN" sz="2400" b="1" dirty="0">
                <a:solidFill>
                  <a:srgbClr val="0000CC"/>
                </a:solidFill>
              </a:rPr>
              <a:t>m</a:t>
            </a:r>
            <a:r>
              <a:rPr lang="en-US" altLang="vi-VN" sz="2400" b="1" noProof="1">
                <a:solidFill>
                  <a:srgbClr val="0000CC"/>
                </a:solidFill>
              </a:rPr>
              <a:t>alloc(</a:t>
            </a:r>
            <a:r>
              <a:rPr lang="en-US" altLang="vi-VN" sz="2400" b="1" dirty="0">
                <a:solidFill>
                  <a:srgbClr val="FF0000"/>
                </a:solidFill>
              </a:rPr>
              <a:t>20</a:t>
            </a:r>
            <a:r>
              <a:rPr lang="en-US" altLang="vi-VN" sz="2400" b="1" dirty="0">
                <a:solidFill>
                  <a:srgbClr val="0000CC"/>
                </a:solidFill>
              </a:rPr>
              <a:t> * </a:t>
            </a:r>
            <a:r>
              <a:rPr lang="en-US" altLang="vi-VN" sz="2400" b="1" noProof="1">
                <a:solidFill>
                  <a:srgbClr val="0000CC"/>
                </a:solidFill>
              </a:rPr>
              <a:t>sizeof(</a:t>
            </a:r>
            <a:r>
              <a:rPr lang="en-US" altLang="vi-VN" sz="2400" b="1" dirty="0" err="1">
                <a:solidFill>
                  <a:srgbClr val="0000CC"/>
                </a:solidFill>
              </a:rPr>
              <a:t>int</a:t>
            </a:r>
            <a:r>
              <a:rPr lang="en-US" altLang="vi-VN" sz="2400" b="1" noProof="1">
                <a:solidFill>
                  <a:srgbClr val="0000CC"/>
                </a:solidFill>
              </a:rPr>
              <a:t>));</a:t>
            </a:r>
            <a:r>
              <a:rPr lang="en-US" altLang="vi-VN" sz="2400" dirty="0">
                <a:solidFill>
                  <a:srgbClr val="0000CC"/>
                </a:solidFill>
              </a:rPr>
              <a:t> </a:t>
            </a:r>
          </a:p>
          <a:p>
            <a:pPr marL="0" indent="0" defTabSz="914400">
              <a:lnSpc>
                <a:spcPct val="90000"/>
              </a:lnSpc>
              <a:buFont typeface="Wingdings" panose="05000000000000000000" pitchFamily="2" charset="2"/>
              <a:buNone/>
            </a:pPr>
            <a:r>
              <a:rPr lang="en-US" altLang="vi-VN" sz="2400" dirty="0" err="1">
                <a:solidFill>
                  <a:srgbClr val="0000CC"/>
                </a:solidFill>
              </a:rPr>
              <a:t>hoặc</a:t>
            </a:r>
            <a:br>
              <a:rPr lang="en-US" altLang="vi-VN" sz="2400" dirty="0">
                <a:solidFill>
                  <a:srgbClr val="0000CC"/>
                </a:solidFill>
              </a:rPr>
            </a:br>
            <a:r>
              <a:rPr lang="en-US" altLang="vi-VN" sz="2400" dirty="0">
                <a:solidFill>
                  <a:srgbClr val="0000CC"/>
                </a:solidFill>
              </a:rPr>
              <a:t>	</a:t>
            </a:r>
            <a:r>
              <a:rPr lang="en-US" altLang="vi-VN" sz="2400" b="1" dirty="0" err="1">
                <a:solidFill>
                  <a:srgbClr val="0000CC"/>
                </a:solidFill>
              </a:rPr>
              <a:t>int</a:t>
            </a:r>
            <a:r>
              <a:rPr lang="en-US" altLang="vi-VN" sz="2400" b="1" noProof="1">
                <a:solidFill>
                  <a:srgbClr val="0000CC"/>
                </a:solidFill>
              </a:rPr>
              <a:t> *</a:t>
            </a:r>
            <a:r>
              <a:rPr lang="en-US" altLang="vi-VN" sz="2400" b="1" dirty="0">
                <a:solidFill>
                  <a:srgbClr val="0000CC"/>
                </a:solidFill>
              </a:rPr>
              <a:t>A</a:t>
            </a:r>
            <a:r>
              <a:rPr lang="en-US" altLang="vi-VN" sz="2400" b="1" noProof="1">
                <a:solidFill>
                  <a:srgbClr val="0000CC"/>
                </a:solidFill>
              </a:rPr>
              <a:t> = (</a:t>
            </a:r>
            <a:r>
              <a:rPr lang="en-US" altLang="vi-VN" sz="2400" b="1" dirty="0" err="1">
                <a:solidFill>
                  <a:srgbClr val="0000CC"/>
                </a:solidFill>
              </a:rPr>
              <a:t>int</a:t>
            </a:r>
            <a:r>
              <a:rPr lang="en-US" altLang="vi-VN" sz="2400" b="1" noProof="1">
                <a:solidFill>
                  <a:srgbClr val="0000CC"/>
                </a:solidFill>
              </a:rPr>
              <a:t>*)</a:t>
            </a:r>
            <a:r>
              <a:rPr lang="en-US" altLang="vi-VN" sz="2400" b="1" dirty="0">
                <a:solidFill>
                  <a:srgbClr val="0000CC"/>
                </a:solidFill>
              </a:rPr>
              <a:t>c</a:t>
            </a:r>
            <a:r>
              <a:rPr lang="en-US" altLang="vi-VN" sz="2400" b="1" noProof="1">
                <a:solidFill>
                  <a:srgbClr val="0000CC"/>
                </a:solidFill>
              </a:rPr>
              <a:t>alloc(</a:t>
            </a:r>
            <a:r>
              <a:rPr lang="en-US" altLang="vi-VN" sz="2400" b="1" dirty="0">
                <a:solidFill>
                  <a:srgbClr val="FF0000"/>
                </a:solidFill>
              </a:rPr>
              <a:t>20</a:t>
            </a:r>
            <a:r>
              <a:rPr lang="en-US" altLang="vi-VN" sz="2400" b="1" dirty="0">
                <a:solidFill>
                  <a:srgbClr val="0000CC"/>
                </a:solidFill>
              </a:rPr>
              <a:t>, </a:t>
            </a:r>
            <a:r>
              <a:rPr lang="en-US" altLang="vi-VN" sz="2400" b="1" noProof="1">
                <a:solidFill>
                  <a:srgbClr val="0000CC"/>
                </a:solidFill>
              </a:rPr>
              <a:t>sizeof(</a:t>
            </a:r>
            <a:r>
              <a:rPr lang="en-US" altLang="vi-VN" sz="2400" b="1" dirty="0" err="1">
                <a:solidFill>
                  <a:srgbClr val="0000CC"/>
                </a:solidFill>
              </a:rPr>
              <a:t>int</a:t>
            </a:r>
            <a:r>
              <a:rPr lang="en-US" altLang="vi-VN" sz="2400" b="1" noProof="1">
                <a:solidFill>
                  <a:srgbClr val="0000CC"/>
                </a:solidFill>
              </a:rPr>
              <a:t>));</a:t>
            </a:r>
            <a:r>
              <a:rPr lang="en-US" altLang="vi-VN" sz="2400" b="1" dirty="0">
                <a:solidFill>
                  <a:srgbClr val="0000CC"/>
                </a:solidFill>
              </a:rPr>
              <a:t> </a:t>
            </a:r>
          </a:p>
          <a:p>
            <a:pPr marL="0" indent="0" algn="just" defTabSz="914400">
              <a:lnSpc>
                <a:spcPct val="90000"/>
              </a:lnSpc>
              <a:buFont typeface="Wingdings" panose="05000000000000000000" pitchFamily="2" charset="2"/>
              <a:buNone/>
            </a:pPr>
            <a:endParaRPr lang="en-US" altLang="vi-VN" sz="2400" b="1" dirty="0">
              <a:solidFill>
                <a:srgbClr val="0000CC"/>
              </a:solidFill>
            </a:endParaRP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Giải</a:t>
            </a:r>
            <a:r>
              <a:rPr lang="en-US" altLang="vi-VN" sz="2400" dirty="0">
                <a:solidFill>
                  <a:srgbClr val="0000CC"/>
                </a:solidFill>
              </a:rPr>
              <a:t> </a:t>
            </a:r>
            <a:r>
              <a:rPr lang="en-US" altLang="vi-VN" sz="2400" dirty="0" err="1">
                <a:solidFill>
                  <a:srgbClr val="0000CC"/>
                </a:solidFill>
              </a:rPr>
              <a:t>phóng</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r>
              <a:rPr lang="en-US" altLang="vi-VN" sz="2400" dirty="0">
                <a:solidFill>
                  <a:srgbClr val="0000CC"/>
                </a:solidFill>
              </a:rPr>
              <a:t>:</a:t>
            </a:r>
          </a:p>
          <a:p>
            <a:pPr marL="0" indent="0" algn="just" defTabSz="914400">
              <a:lnSpc>
                <a:spcPct val="90000"/>
              </a:lnSpc>
              <a:buFont typeface="Wingdings" panose="05000000000000000000" pitchFamily="2" charset="2"/>
              <a:buNone/>
            </a:pPr>
            <a:r>
              <a:rPr lang="en-US" altLang="vi-VN" sz="2400" dirty="0">
                <a:solidFill>
                  <a:srgbClr val="0000CC"/>
                </a:solidFill>
              </a:rPr>
              <a:t>	</a:t>
            </a:r>
            <a:r>
              <a:rPr lang="en-US" altLang="vi-VN" sz="2400" b="1" dirty="0">
                <a:solidFill>
                  <a:srgbClr val="0000CC"/>
                </a:solidFill>
              </a:rPr>
              <a:t>free(N);</a:t>
            </a:r>
          </a:p>
          <a:p>
            <a:pPr marL="0" indent="0" algn="just" defTabSz="914400">
              <a:lnSpc>
                <a:spcPct val="90000"/>
              </a:lnSpc>
              <a:buFont typeface="Wingdings" panose="05000000000000000000" pitchFamily="2" charset="2"/>
              <a:buNone/>
            </a:pPr>
            <a:r>
              <a:rPr lang="en-US" altLang="vi-VN" sz="2400" b="1" dirty="0">
                <a:solidFill>
                  <a:srgbClr val="0000CC"/>
                </a:solidFill>
              </a:rPr>
              <a:t>	free(A);</a:t>
            </a:r>
          </a:p>
        </p:txBody>
      </p:sp>
      <p:sp>
        <p:nvSpPr>
          <p:cNvPr id="13317" name="Rectangle 7"/>
          <p:cNvSpPr>
            <a:spLocks noGrp="1"/>
          </p:cNvSpPr>
          <p:nvPr>
            <p:ph type="title"/>
          </p:nvPr>
        </p:nvSpPr>
        <p:spPr>
          <a:xfrm>
            <a:off x="1807028" y="365127"/>
            <a:ext cx="6708321" cy="919388"/>
          </a:xfrm>
        </p:spPr>
        <p:txBody>
          <a:bodyPr>
            <a:normAutofit/>
          </a:bodyPr>
          <a:lstStyle/>
          <a:p>
            <a:r>
              <a:rPr lang="en-US" altLang="vi-VN" sz="3600" b="1" dirty="0" err="1">
                <a:solidFill>
                  <a:srgbClr val="0000CC"/>
                </a:solidFill>
              </a:rPr>
              <a:t>Cấp</a:t>
            </a:r>
            <a:r>
              <a:rPr lang="en-US" altLang="vi-VN" sz="3600" b="1" dirty="0">
                <a:solidFill>
                  <a:srgbClr val="0000CC"/>
                </a:solidFill>
              </a:rPr>
              <a:t> </a:t>
            </a:r>
            <a:r>
              <a:rPr lang="en-US" altLang="vi-VN" sz="3600" b="1" dirty="0" err="1">
                <a:solidFill>
                  <a:srgbClr val="0000CC"/>
                </a:solidFill>
              </a:rPr>
              <a:t>phát</a:t>
            </a:r>
            <a:r>
              <a:rPr lang="en-US" altLang="vi-VN" sz="3600" b="1" dirty="0">
                <a:solidFill>
                  <a:srgbClr val="0000CC"/>
                </a:solidFill>
              </a:rPr>
              <a:t> </a:t>
            </a:r>
            <a:r>
              <a:rPr lang="en-US" altLang="vi-VN" sz="3600" b="1" dirty="0" err="1">
                <a:solidFill>
                  <a:srgbClr val="0000CC"/>
                </a:solidFill>
              </a:rPr>
              <a:t>và</a:t>
            </a:r>
            <a:r>
              <a:rPr lang="en-US" altLang="vi-VN" sz="3600" b="1" dirty="0">
                <a:solidFill>
                  <a:srgbClr val="0000CC"/>
                </a:solidFill>
              </a:rPr>
              <a:t> </a:t>
            </a:r>
            <a:r>
              <a:rPr lang="en-US" altLang="vi-VN" sz="3600" b="1" dirty="0" err="1">
                <a:solidFill>
                  <a:srgbClr val="0000CC"/>
                </a:solidFill>
              </a:rPr>
              <a:t>giải</a:t>
            </a:r>
            <a:r>
              <a:rPr lang="en-US" altLang="vi-VN" sz="3600" b="1" dirty="0">
                <a:solidFill>
                  <a:srgbClr val="0000CC"/>
                </a:solidFill>
              </a:rPr>
              <a:t> </a:t>
            </a:r>
            <a:r>
              <a:rPr lang="en-US" altLang="vi-VN" sz="3600" b="1" dirty="0" err="1">
                <a:solidFill>
                  <a:srgbClr val="0000CC"/>
                </a:solidFill>
              </a:rPr>
              <a:t>phóng</a:t>
            </a:r>
            <a:r>
              <a:rPr lang="en-US" altLang="vi-VN" sz="3600" b="1" dirty="0">
                <a:solidFill>
                  <a:srgbClr val="0000CC"/>
                </a:solidFill>
              </a:rPr>
              <a:t> </a:t>
            </a:r>
            <a:r>
              <a:rPr lang="en-US" altLang="vi-VN" sz="3600" b="1" dirty="0" err="1">
                <a:solidFill>
                  <a:srgbClr val="0000CC"/>
                </a:solidFill>
              </a:rPr>
              <a:t>vùng</a:t>
            </a:r>
            <a:r>
              <a:rPr lang="en-US" altLang="vi-VN" sz="3600" b="1" dirty="0">
                <a:solidFill>
                  <a:srgbClr val="0000CC"/>
                </a:solidFill>
              </a:rPr>
              <a:t> </a:t>
            </a:r>
            <a:r>
              <a:rPr lang="en-US" altLang="vi-VN" sz="3600" b="1" dirty="0" err="1">
                <a:solidFill>
                  <a:srgbClr val="0000CC"/>
                </a:solidFill>
              </a:rPr>
              <a:t>nhớ</a:t>
            </a:r>
            <a:endParaRPr lang="en-US" altLang="vi-VN" sz="3600" b="1" dirty="0">
              <a:solidFill>
                <a:srgbClr val="0000CC"/>
              </a:solidFill>
            </a:endParaRPr>
          </a:p>
        </p:txBody>
      </p:sp>
    </p:spTree>
    <p:extLst>
      <p:ext uri="{BB962C8B-B14F-4D97-AF65-F5344CB8AC3E}">
        <p14:creationId xmlns:p14="http://schemas.microsoft.com/office/powerpoint/2010/main" val="214841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9"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6A09893-4F65-4816-8AB0-EEB4E6B18002}" type="slidenum">
              <a:rPr lang="en-US" altLang="vi-VN">
                <a:solidFill>
                  <a:srgbClr val="FFFF00"/>
                </a:solidFill>
              </a:rPr>
              <a:pPr eaLnBrk="1" hangingPunct="1"/>
              <a:t>14</a:t>
            </a:fld>
            <a:endParaRPr lang="en-GB" altLang="vi-VN">
              <a:solidFill>
                <a:srgbClr val="FFFF00"/>
              </a:solidFill>
            </a:endParaRPr>
          </a:p>
        </p:txBody>
      </p:sp>
      <p:pic>
        <p:nvPicPr>
          <p:cNvPr id="1434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0"/>
            <a:ext cx="5105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1" name="AutoShape 4"/>
          <p:cNvSpPr>
            <a:spLocks noChangeArrowheads="1"/>
          </p:cNvSpPr>
          <p:nvPr/>
        </p:nvSpPr>
        <p:spPr bwMode="auto">
          <a:xfrm>
            <a:off x="685800" y="3581400"/>
            <a:ext cx="3657600" cy="381000"/>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14342" name="AutoShape 5"/>
          <p:cNvSpPr>
            <a:spLocks noChangeArrowheads="1"/>
          </p:cNvSpPr>
          <p:nvPr/>
        </p:nvSpPr>
        <p:spPr bwMode="auto">
          <a:xfrm>
            <a:off x="685800" y="4495800"/>
            <a:ext cx="1295400" cy="381000"/>
          </a:xfrm>
          <a:prstGeom prst="roundRect">
            <a:avLst>
              <a:gd name="adj" fmla="val 16667"/>
            </a:avLst>
          </a:prstGeom>
          <a:noFill/>
          <a:ln w="28575">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sz="2800">
              <a:latin typeface="Tahoma" panose="020B0604030504040204" pitchFamily="34" charset="0"/>
            </a:endParaRPr>
          </a:p>
        </p:txBody>
      </p:sp>
      <p:sp>
        <p:nvSpPr>
          <p:cNvPr id="14343" name="AutoShape 6"/>
          <p:cNvSpPr>
            <a:spLocks noChangeArrowheads="1"/>
          </p:cNvSpPr>
          <p:nvPr/>
        </p:nvSpPr>
        <p:spPr bwMode="auto">
          <a:xfrm>
            <a:off x="5867400" y="2133600"/>
            <a:ext cx="2209800" cy="990600"/>
          </a:xfrm>
          <a:prstGeom prst="wedgeEllipseCallout">
            <a:avLst>
              <a:gd name="adj1" fmla="val -112787"/>
              <a:gd name="adj2" fmla="val 107051"/>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vi-VN" altLang="vi-VN" sz="2200">
                <a:solidFill>
                  <a:srgbClr val="0000CC"/>
                </a:solidFill>
              </a:rPr>
              <a:t>Cấp phát vùng nhớ</a:t>
            </a:r>
          </a:p>
        </p:txBody>
      </p:sp>
      <p:sp>
        <p:nvSpPr>
          <p:cNvPr id="14344" name="AutoShape 7"/>
          <p:cNvSpPr>
            <a:spLocks noChangeArrowheads="1"/>
          </p:cNvSpPr>
          <p:nvPr/>
        </p:nvSpPr>
        <p:spPr bwMode="auto">
          <a:xfrm>
            <a:off x="5867400" y="3581400"/>
            <a:ext cx="2209800" cy="990600"/>
          </a:xfrm>
          <a:prstGeom prst="wedgeEllipseCallout">
            <a:avLst>
              <a:gd name="adj1" fmla="val -222917"/>
              <a:gd name="adj2" fmla="val 62338"/>
            </a:avLst>
          </a:prstGeom>
          <a:noFill/>
          <a:ln w="38100">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vi-VN" altLang="vi-VN" sz="2200">
                <a:solidFill>
                  <a:srgbClr val="0000CC"/>
                </a:solidFill>
              </a:rPr>
              <a:t>Giải phóng vùng nhớ</a:t>
            </a:r>
          </a:p>
        </p:txBody>
      </p:sp>
      <p:sp>
        <p:nvSpPr>
          <p:cNvPr id="14345" name="Rectangle 9"/>
          <p:cNvSpPr>
            <a:spLocks noGrp="1"/>
          </p:cNvSpPr>
          <p:nvPr>
            <p:ph type="title"/>
          </p:nvPr>
        </p:nvSpPr>
        <p:spPr>
          <a:xfrm>
            <a:off x="1709056" y="256269"/>
            <a:ext cx="7228115" cy="962931"/>
          </a:xfrm>
        </p:spPr>
        <p:txBody>
          <a:bodyPr>
            <a:normAutofit/>
          </a:bodyPr>
          <a:lstStyle/>
          <a:p>
            <a:r>
              <a:rPr lang="en-US" altLang="vi-VN" sz="3600" b="1" dirty="0" err="1">
                <a:solidFill>
                  <a:srgbClr val="0000CC"/>
                </a:solidFill>
              </a:rPr>
              <a:t>Cấp</a:t>
            </a:r>
            <a:r>
              <a:rPr lang="en-US" altLang="vi-VN" sz="3600" b="1" dirty="0">
                <a:solidFill>
                  <a:srgbClr val="0000CC"/>
                </a:solidFill>
              </a:rPr>
              <a:t> </a:t>
            </a:r>
            <a:r>
              <a:rPr lang="en-US" altLang="vi-VN" sz="3600" b="1" dirty="0" err="1">
                <a:solidFill>
                  <a:srgbClr val="0000CC"/>
                </a:solidFill>
              </a:rPr>
              <a:t>phát</a:t>
            </a:r>
            <a:r>
              <a:rPr lang="en-US" altLang="vi-VN" sz="3600" b="1" dirty="0">
                <a:solidFill>
                  <a:srgbClr val="0000CC"/>
                </a:solidFill>
              </a:rPr>
              <a:t> </a:t>
            </a:r>
            <a:r>
              <a:rPr lang="en-US" altLang="vi-VN" sz="3600" b="1" dirty="0" err="1">
                <a:solidFill>
                  <a:srgbClr val="0000CC"/>
                </a:solidFill>
              </a:rPr>
              <a:t>và</a:t>
            </a:r>
            <a:r>
              <a:rPr lang="en-US" altLang="vi-VN" sz="3600" b="1" dirty="0">
                <a:solidFill>
                  <a:srgbClr val="0000CC"/>
                </a:solidFill>
              </a:rPr>
              <a:t> </a:t>
            </a:r>
            <a:r>
              <a:rPr lang="en-US" altLang="vi-VN" sz="3600" b="1" dirty="0" err="1">
                <a:solidFill>
                  <a:srgbClr val="0000CC"/>
                </a:solidFill>
              </a:rPr>
              <a:t>giải</a:t>
            </a:r>
            <a:r>
              <a:rPr lang="en-US" altLang="vi-VN" sz="3600" b="1" dirty="0">
                <a:solidFill>
                  <a:srgbClr val="0000CC"/>
                </a:solidFill>
              </a:rPr>
              <a:t> </a:t>
            </a:r>
            <a:r>
              <a:rPr lang="en-US" altLang="vi-VN" sz="3600" b="1" dirty="0" err="1">
                <a:solidFill>
                  <a:srgbClr val="0000CC"/>
                </a:solidFill>
              </a:rPr>
              <a:t>phóng</a:t>
            </a:r>
            <a:r>
              <a:rPr lang="en-US" altLang="vi-VN" sz="3600" b="1" dirty="0">
                <a:solidFill>
                  <a:srgbClr val="0000CC"/>
                </a:solidFill>
              </a:rPr>
              <a:t> </a:t>
            </a:r>
            <a:r>
              <a:rPr lang="en-US" altLang="vi-VN" sz="3600" b="1" dirty="0" err="1">
                <a:solidFill>
                  <a:srgbClr val="0000CC"/>
                </a:solidFill>
              </a:rPr>
              <a:t>vùng</a:t>
            </a:r>
            <a:r>
              <a:rPr lang="en-US" altLang="vi-VN" sz="3600" b="1" dirty="0">
                <a:solidFill>
                  <a:srgbClr val="0000CC"/>
                </a:solidFill>
              </a:rPr>
              <a:t> </a:t>
            </a:r>
            <a:r>
              <a:rPr lang="en-US" altLang="vi-VN" sz="3600" b="1" dirty="0" err="1">
                <a:solidFill>
                  <a:srgbClr val="0000CC"/>
                </a:solidFill>
              </a:rPr>
              <a:t>nhớ</a:t>
            </a:r>
            <a:endParaRPr lang="en-US" altLang="vi-VN" sz="3600" b="1" dirty="0">
              <a:solidFill>
                <a:srgbClr val="0000CC"/>
              </a:solidFill>
            </a:endParaRPr>
          </a:p>
        </p:txBody>
      </p:sp>
    </p:spTree>
    <p:extLst>
      <p:ext uri="{BB962C8B-B14F-4D97-AF65-F5344CB8AC3E}">
        <p14:creationId xmlns:p14="http://schemas.microsoft.com/office/powerpoint/2010/main" val="413865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788AD4-141B-4272-B659-80B33E1D929B}" type="slidenum">
              <a:rPr lang="en-US" altLang="vi-VN">
                <a:solidFill>
                  <a:srgbClr val="FFFF00"/>
                </a:solidFill>
              </a:rPr>
              <a:pPr eaLnBrk="1" hangingPunct="1"/>
              <a:t>15</a:t>
            </a:fld>
            <a:endParaRPr lang="en-GB" altLang="vi-VN">
              <a:solidFill>
                <a:srgbClr val="FFFF00"/>
              </a:solidFill>
            </a:endParaRPr>
          </a:p>
        </p:txBody>
      </p:sp>
      <p:sp>
        <p:nvSpPr>
          <p:cNvPr id="15364" name="Rectangle 2"/>
          <p:cNvSpPr>
            <a:spLocks noGrp="1" noChangeArrowheads="1"/>
          </p:cNvSpPr>
          <p:nvPr>
            <p:ph type="body" idx="1"/>
          </p:nvPr>
        </p:nvSpPr>
        <p:spPr>
          <a:xfrm>
            <a:off x="381000" y="1143000"/>
            <a:ext cx="8382000" cy="5181600"/>
          </a:xfrm>
        </p:spPr>
        <p:txBody>
          <a:bodyPr/>
          <a:lstStyle/>
          <a:p>
            <a:pPr marL="0" indent="573088" algn="just" defTabSz="914400">
              <a:buFont typeface="Wingdings" panose="05000000000000000000" pitchFamily="2" charset="2"/>
              <a:buNone/>
            </a:pPr>
            <a:r>
              <a:rPr lang="en-US" altLang="vi-VN" sz="2400" dirty="0">
                <a:solidFill>
                  <a:srgbClr val="0000CC"/>
                </a:solidFill>
              </a:rPr>
              <a:t>Do </a:t>
            </a:r>
            <a:r>
              <a:rPr lang="en-US" altLang="vi-VN" sz="2400" dirty="0" err="1">
                <a:solidFill>
                  <a:srgbClr val="0000CC"/>
                </a:solidFill>
              </a:rPr>
              <a:t>lập</a:t>
            </a:r>
            <a:r>
              <a:rPr lang="en-US" altLang="vi-VN" sz="2400" dirty="0">
                <a:solidFill>
                  <a:srgbClr val="0000CC"/>
                </a:solidFill>
              </a:rPr>
              <a:t> </a:t>
            </a:r>
            <a:r>
              <a:rPr lang="en-US" altLang="vi-VN" sz="2400" dirty="0" err="1">
                <a:solidFill>
                  <a:srgbClr val="0000CC"/>
                </a:solidFill>
              </a:rPr>
              <a:t>trình</a:t>
            </a:r>
            <a:r>
              <a:rPr lang="en-US" altLang="vi-VN" sz="2400" dirty="0">
                <a:solidFill>
                  <a:srgbClr val="0000CC"/>
                </a:solidFill>
              </a:rPr>
              <a:t> </a:t>
            </a:r>
            <a:r>
              <a:rPr lang="en-US" altLang="vi-VN" sz="2400" dirty="0" err="1">
                <a:solidFill>
                  <a:srgbClr val="0000CC"/>
                </a:solidFill>
              </a:rPr>
              <a:t>trên</a:t>
            </a:r>
            <a:r>
              <a:rPr lang="en-US" altLang="vi-VN" sz="2400" dirty="0">
                <a:solidFill>
                  <a:srgbClr val="0000CC"/>
                </a:solidFill>
              </a:rPr>
              <a:t> </a:t>
            </a:r>
            <a:r>
              <a:rPr lang="en-US" altLang="vi-VN" sz="2400" dirty="0" err="1">
                <a:solidFill>
                  <a:srgbClr val="0000CC"/>
                </a:solidFill>
              </a:rPr>
              <a:t>môi</a:t>
            </a:r>
            <a:r>
              <a:rPr lang="en-US" altLang="vi-VN" sz="2400" dirty="0">
                <a:solidFill>
                  <a:srgbClr val="0000CC"/>
                </a:solidFill>
              </a:rPr>
              <a:t> </a:t>
            </a:r>
            <a:r>
              <a:rPr lang="en-US" altLang="vi-VN" sz="2400" dirty="0" err="1">
                <a:solidFill>
                  <a:srgbClr val="0000CC"/>
                </a:solidFill>
              </a:rPr>
              <a:t>trường</a:t>
            </a:r>
            <a:r>
              <a:rPr lang="en-US" altLang="vi-VN" sz="2400" dirty="0">
                <a:solidFill>
                  <a:srgbClr val="0000CC"/>
                </a:solidFill>
              </a:rPr>
              <a:t> C++ </a:t>
            </a:r>
            <a:r>
              <a:rPr lang="en-US" altLang="vi-VN" sz="2400" dirty="0" err="1">
                <a:solidFill>
                  <a:srgbClr val="0000CC"/>
                </a:solidFill>
              </a:rPr>
              <a:t>nên</a:t>
            </a:r>
            <a:r>
              <a:rPr lang="en-US" altLang="vi-VN" sz="2400" dirty="0">
                <a:solidFill>
                  <a:srgbClr val="0000CC"/>
                </a:solidFill>
              </a:rPr>
              <a:t> </a:t>
            </a:r>
            <a:r>
              <a:rPr lang="en-US" altLang="vi-VN" sz="2400" dirty="0" err="1">
                <a:solidFill>
                  <a:srgbClr val="0000CC"/>
                </a:solidFill>
              </a:rPr>
              <a:t>có</a:t>
            </a:r>
            <a:r>
              <a:rPr lang="en-US" altLang="vi-VN" sz="2400" dirty="0">
                <a:solidFill>
                  <a:srgbClr val="0000CC"/>
                </a:solidFill>
              </a:rPr>
              <a:t> </a:t>
            </a:r>
            <a:r>
              <a:rPr lang="en-US" altLang="vi-VN" sz="2400" dirty="0" err="1">
                <a:solidFill>
                  <a:srgbClr val="0000CC"/>
                </a:solidFill>
              </a:rPr>
              <a:t>thể</a:t>
            </a:r>
            <a:r>
              <a:rPr lang="en-US" altLang="vi-VN" sz="2400" dirty="0">
                <a:solidFill>
                  <a:srgbClr val="0000CC"/>
                </a:solidFill>
              </a:rPr>
              <a:t> </a:t>
            </a:r>
            <a:r>
              <a:rPr lang="en-US" altLang="vi-VN" sz="2400" dirty="0" err="1">
                <a:solidFill>
                  <a:srgbClr val="0000CC"/>
                </a:solidFill>
              </a:rPr>
              <a:t>dùng</a:t>
            </a:r>
            <a:r>
              <a:rPr lang="en-US" altLang="vi-VN" sz="2400" dirty="0">
                <a:solidFill>
                  <a:srgbClr val="0000CC"/>
                </a:solidFill>
              </a:rPr>
              <a:t> </a:t>
            </a:r>
            <a:r>
              <a:rPr lang="en-US" altLang="vi-VN" sz="2400" dirty="0" err="1">
                <a:solidFill>
                  <a:srgbClr val="0000CC"/>
                </a:solidFill>
              </a:rPr>
              <a:t>từ</a:t>
            </a:r>
            <a:r>
              <a:rPr lang="en-US" altLang="vi-VN" sz="2400" dirty="0">
                <a:solidFill>
                  <a:srgbClr val="0000CC"/>
                </a:solidFill>
              </a:rPr>
              <a:t> </a:t>
            </a:r>
            <a:r>
              <a:rPr lang="en-US" altLang="vi-VN" sz="2400" dirty="0" err="1">
                <a:solidFill>
                  <a:srgbClr val="0000CC"/>
                </a:solidFill>
              </a:rPr>
              <a:t>khoá</a:t>
            </a:r>
            <a:r>
              <a:rPr lang="en-US" altLang="vi-VN" sz="2400" dirty="0">
                <a:solidFill>
                  <a:srgbClr val="0000CC"/>
                </a:solidFill>
              </a:rPr>
              <a:t> </a:t>
            </a:r>
            <a:r>
              <a:rPr lang="en-US" altLang="vi-VN" sz="2400" b="1" dirty="0">
                <a:solidFill>
                  <a:srgbClr val="0000CC"/>
                </a:solidFill>
              </a:rPr>
              <a:t>new</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hàm</a:t>
            </a:r>
            <a:r>
              <a:rPr lang="en-US" altLang="vi-VN" sz="2400" dirty="0">
                <a:solidFill>
                  <a:srgbClr val="0000CC"/>
                </a:solidFill>
              </a:rPr>
              <a:t> </a:t>
            </a:r>
            <a:r>
              <a:rPr lang="en-US" altLang="vi-VN" sz="2400" b="1" dirty="0">
                <a:solidFill>
                  <a:srgbClr val="0000CC"/>
                </a:solidFill>
              </a:rPr>
              <a:t>delete</a:t>
            </a:r>
            <a:r>
              <a:rPr lang="en-US" altLang="vi-VN" sz="2400" dirty="0">
                <a:solidFill>
                  <a:srgbClr val="0000CC"/>
                </a:solidFill>
              </a:rPr>
              <a:t> </a:t>
            </a:r>
            <a:r>
              <a:rPr lang="en-US" altLang="vi-VN" sz="2400" dirty="0" err="1">
                <a:solidFill>
                  <a:srgbClr val="0000CC"/>
                </a:solidFill>
              </a:rPr>
              <a:t>để</a:t>
            </a:r>
            <a:r>
              <a:rPr lang="en-US" altLang="vi-VN" sz="2400" dirty="0">
                <a:solidFill>
                  <a:srgbClr val="0000CC"/>
                </a:solidFill>
              </a:rPr>
              <a:t> </a:t>
            </a:r>
            <a:r>
              <a:rPr lang="en-US" altLang="vi-VN" sz="2400" dirty="0" err="1">
                <a:solidFill>
                  <a:srgbClr val="0000CC"/>
                </a:solidFill>
              </a:rPr>
              <a:t>cấp</a:t>
            </a:r>
            <a:r>
              <a:rPr lang="en-US" altLang="vi-VN" sz="2400" dirty="0">
                <a:solidFill>
                  <a:srgbClr val="0000CC"/>
                </a:solidFill>
              </a:rPr>
              <a:t> </a:t>
            </a:r>
            <a:r>
              <a:rPr lang="en-US" altLang="vi-VN" sz="2400" dirty="0" err="1">
                <a:solidFill>
                  <a:srgbClr val="0000CC"/>
                </a:solidFill>
              </a:rPr>
              <a:t>phát</a:t>
            </a:r>
            <a:r>
              <a:rPr lang="en-US" altLang="vi-VN" sz="2400" dirty="0">
                <a:solidFill>
                  <a:srgbClr val="0000CC"/>
                </a:solidFill>
              </a:rPr>
              <a:t> </a:t>
            </a:r>
            <a:r>
              <a:rPr lang="en-US" altLang="vi-VN" sz="2400" dirty="0" err="1">
                <a:solidFill>
                  <a:srgbClr val="0000CC"/>
                </a:solidFill>
              </a:rPr>
              <a:t>và</a:t>
            </a:r>
            <a:r>
              <a:rPr lang="en-US" altLang="vi-VN" sz="2400" dirty="0">
                <a:solidFill>
                  <a:srgbClr val="0000CC"/>
                </a:solidFill>
              </a:rPr>
              <a:t> </a:t>
            </a:r>
            <a:r>
              <a:rPr lang="en-US" altLang="vi-VN" sz="2400" dirty="0" err="1">
                <a:solidFill>
                  <a:srgbClr val="0000CC"/>
                </a:solidFill>
              </a:rPr>
              <a:t>giải</a:t>
            </a:r>
            <a:r>
              <a:rPr lang="en-US" altLang="vi-VN" sz="2400" dirty="0">
                <a:solidFill>
                  <a:srgbClr val="0000CC"/>
                </a:solidFill>
              </a:rPr>
              <a:t> </a:t>
            </a:r>
            <a:r>
              <a:rPr lang="en-US" altLang="vi-VN" sz="2400" dirty="0" err="1">
                <a:solidFill>
                  <a:srgbClr val="0000CC"/>
                </a:solidFill>
              </a:rPr>
              <a:t>phóng</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r>
              <a:rPr lang="en-US" altLang="vi-VN" sz="2400" dirty="0">
                <a:solidFill>
                  <a:srgbClr val="0000CC"/>
                </a:solidFill>
              </a:rPr>
              <a:t>.</a:t>
            </a:r>
          </a:p>
          <a:p>
            <a:pPr marL="0" indent="573088" algn="just" defTabSz="914400">
              <a:buFont typeface="Wingdings" panose="05000000000000000000" pitchFamily="2" charset="2"/>
              <a:buNone/>
            </a:pPr>
            <a:endParaRPr lang="en-US" altLang="vi-VN" sz="2400" dirty="0">
              <a:solidFill>
                <a:srgbClr val="0000CC"/>
              </a:solidFill>
            </a:endParaRPr>
          </a:p>
          <a:p>
            <a:pPr marL="0" indent="573088" algn="just" defTabSz="914400">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r>
              <a:rPr lang="en-US" altLang="vi-VN" sz="2400" dirty="0">
                <a:solidFill>
                  <a:srgbClr val="0000CC"/>
                </a:solidFill>
              </a:rPr>
              <a:t>:</a:t>
            </a:r>
          </a:p>
          <a:p>
            <a:pPr marL="0" indent="573088" algn="just" defTabSz="914400">
              <a:buFont typeface="Wingdings" panose="05000000000000000000" pitchFamily="2" charset="2"/>
              <a:buNone/>
            </a:pPr>
            <a:r>
              <a:rPr lang="en-US" altLang="vi-VN" sz="2400" b="1" dirty="0">
                <a:solidFill>
                  <a:srgbClr val="0000CC"/>
                </a:solidFill>
              </a:rPr>
              <a:t>	</a:t>
            </a:r>
            <a:r>
              <a:rPr lang="en-US" altLang="vi-VN" sz="2400" b="1" dirty="0" err="1">
                <a:solidFill>
                  <a:srgbClr val="0000CC"/>
                </a:solidFill>
              </a:rPr>
              <a:t>int</a:t>
            </a:r>
            <a:r>
              <a:rPr lang="en-US" altLang="vi-VN" sz="2400" b="1" dirty="0">
                <a:solidFill>
                  <a:srgbClr val="0000CC"/>
                </a:solidFill>
              </a:rPr>
              <a:t> </a:t>
            </a:r>
            <a:r>
              <a:rPr lang="en-US" altLang="vi-VN" sz="2400" b="1">
                <a:solidFill>
                  <a:srgbClr val="0000CC"/>
                </a:solidFill>
              </a:rPr>
              <a:t>*N = new  int;</a:t>
            </a:r>
            <a:endParaRPr lang="en-US" altLang="vi-VN" sz="2400" b="1" dirty="0">
              <a:solidFill>
                <a:srgbClr val="0000CC"/>
              </a:solidFill>
            </a:endParaRPr>
          </a:p>
          <a:p>
            <a:pPr marL="0" indent="573088" algn="just" defTabSz="914400">
              <a:buFont typeface="Wingdings" panose="05000000000000000000" pitchFamily="2" charset="2"/>
              <a:buNone/>
            </a:pPr>
            <a:r>
              <a:rPr lang="en-US" altLang="vi-VN" sz="2400" b="1" dirty="0">
                <a:solidFill>
                  <a:srgbClr val="0000CC"/>
                </a:solidFill>
              </a:rPr>
              <a:t>	</a:t>
            </a:r>
            <a:r>
              <a:rPr lang="en-US" altLang="vi-VN" sz="2400" b="1" dirty="0" err="1">
                <a:solidFill>
                  <a:srgbClr val="0000CC"/>
                </a:solidFill>
              </a:rPr>
              <a:t>int</a:t>
            </a:r>
            <a:r>
              <a:rPr lang="en-US" altLang="vi-VN" sz="2400" b="1" dirty="0">
                <a:solidFill>
                  <a:srgbClr val="0000CC"/>
                </a:solidFill>
              </a:rPr>
              <a:t> *A = new </a:t>
            </a:r>
            <a:r>
              <a:rPr lang="en-US" altLang="vi-VN" sz="2400" b="1" dirty="0" err="1">
                <a:solidFill>
                  <a:srgbClr val="0000CC"/>
                </a:solidFill>
              </a:rPr>
              <a:t>int</a:t>
            </a:r>
            <a:r>
              <a:rPr lang="en-US" altLang="vi-VN" sz="2400" b="1" dirty="0">
                <a:solidFill>
                  <a:srgbClr val="0000CC"/>
                </a:solidFill>
              </a:rPr>
              <a:t>[20];</a:t>
            </a:r>
          </a:p>
          <a:p>
            <a:pPr marL="0" indent="573088" algn="just" defTabSz="914400">
              <a:buFont typeface="Wingdings" panose="05000000000000000000" pitchFamily="2" charset="2"/>
              <a:buNone/>
            </a:pPr>
            <a:endParaRPr lang="en-US" altLang="vi-VN" sz="2400" dirty="0">
              <a:solidFill>
                <a:srgbClr val="0000CC"/>
              </a:solidFill>
            </a:endParaRPr>
          </a:p>
          <a:p>
            <a:pPr marL="0" indent="573088" algn="just" defTabSz="914400">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Giải</a:t>
            </a:r>
            <a:r>
              <a:rPr lang="en-US" altLang="vi-VN" sz="2400" dirty="0">
                <a:solidFill>
                  <a:srgbClr val="0000CC"/>
                </a:solidFill>
              </a:rPr>
              <a:t> </a:t>
            </a:r>
            <a:r>
              <a:rPr lang="en-US" altLang="vi-VN" sz="2400" dirty="0" err="1">
                <a:solidFill>
                  <a:srgbClr val="0000CC"/>
                </a:solidFill>
              </a:rPr>
              <a:t>phóng</a:t>
            </a:r>
            <a:r>
              <a:rPr lang="en-US" altLang="vi-VN" sz="2400" dirty="0">
                <a:solidFill>
                  <a:srgbClr val="0000CC"/>
                </a:solidFill>
              </a:rPr>
              <a:t> </a:t>
            </a:r>
            <a:r>
              <a:rPr lang="en-US" altLang="vi-VN" sz="2400" dirty="0" err="1">
                <a:solidFill>
                  <a:srgbClr val="0000CC"/>
                </a:solidFill>
              </a:rPr>
              <a:t>vùng</a:t>
            </a:r>
            <a:r>
              <a:rPr lang="en-US" altLang="vi-VN" sz="2400" dirty="0">
                <a:solidFill>
                  <a:srgbClr val="0000CC"/>
                </a:solidFill>
              </a:rPr>
              <a:t> </a:t>
            </a:r>
            <a:r>
              <a:rPr lang="en-US" altLang="vi-VN" sz="2400" dirty="0" err="1">
                <a:solidFill>
                  <a:srgbClr val="0000CC"/>
                </a:solidFill>
              </a:rPr>
              <a:t>nhớ</a:t>
            </a:r>
            <a:r>
              <a:rPr lang="en-US" altLang="vi-VN" sz="2400" dirty="0">
                <a:solidFill>
                  <a:srgbClr val="0000CC"/>
                </a:solidFill>
              </a:rPr>
              <a:t>:</a:t>
            </a:r>
          </a:p>
          <a:p>
            <a:pPr marL="0" indent="573088" algn="just" defTabSz="914400">
              <a:buFont typeface="Wingdings" panose="05000000000000000000" pitchFamily="2" charset="2"/>
              <a:buNone/>
            </a:pPr>
            <a:r>
              <a:rPr lang="en-US" altLang="vi-VN" sz="2400" dirty="0">
                <a:solidFill>
                  <a:srgbClr val="0000CC"/>
                </a:solidFill>
              </a:rPr>
              <a:t>	</a:t>
            </a:r>
            <a:r>
              <a:rPr lang="en-US" altLang="vi-VN" sz="2400" b="1" dirty="0">
                <a:solidFill>
                  <a:srgbClr val="0000CC"/>
                </a:solidFill>
              </a:rPr>
              <a:t>delete (N);</a:t>
            </a:r>
          </a:p>
          <a:p>
            <a:pPr marL="0" indent="573088" algn="just" defTabSz="914400">
              <a:buFont typeface="Wingdings" panose="05000000000000000000" pitchFamily="2" charset="2"/>
              <a:buNone/>
            </a:pPr>
            <a:r>
              <a:rPr lang="en-US" altLang="vi-VN" sz="2400" b="1" dirty="0">
                <a:solidFill>
                  <a:srgbClr val="0000CC"/>
                </a:solidFill>
              </a:rPr>
              <a:t>	delete (A);</a:t>
            </a:r>
          </a:p>
        </p:txBody>
      </p:sp>
      <p:sp>
        <p:nvSpPr>
          <p:cNvPr id="15365" name="Rectangle 3"/>
          <p:cNvSpPr>
            <a:spLocks noGrp="1"/>
          </p:cNvSpPr>
          <p:nvPr>
            <p:ph type="title"/>
          </p:nvPr>
        </p:nvSpPr>
        <p:spPr>
          <a:xfrm>
            <a:off x="1741714" y="234499"/>
            <a:ext cx="7021286" cy="908501"/>
          </a:xfrm>
        </p:spPr>
        <p:txBody>
          <a:bodyPr>
            <a:normAutofit fontScale="90000"/>
          </a:bodyPr>
          <a:lstStyle/>
          <a:p>
            <a:r>
              <a:rPr lang="en-US" altLang="vi-VN" b="1" dirty="0" err="1">
                <a:solidFill>
                  <a:srgbClr val="0000CC"/>
                </a:solidFill>
              </a:rPr>
              <a:t>Cấp</a:t>
            </a:r>
            <a:r>
              <a:rPr lang="en-US" altLang="vi-VN" b="1" dirty="0">
                <a:solidFill>
                  <a:srgbClr val="0000CC"/>
                </a:solidFill>
              </a:rPr>
              <a:t> </a:t>
            </a:r>
            <a:r>
              <a:rPr lang="en-US" altLang="vi-VN" b="1" dirty="0" err="1">
                <a:solidFill>
                  <a:srgbClr val="0000CC"/>
                </a:solidFill>
              </a:rPr>
              <a:t>phát</a:t>
            </a:r>
            <a:r>
              <a:rPr lang="en-US" altLang="vi-VN" b="1" dirty="0">
                <a:solidFill>
                  <a:srgbClr val="0000CC"/>
                </a:solidFill>
              </a:rPr>
              <a:t> </a:t>
            </a:r>
            <a:r>
              <a:rPr lang="en-US" altLang="vi-VN" b="1" dirty="0" err="1">
                <a:solidFill>
                  <a:srgbClr val="0000CC"/>
                </a:solidFill>
              </a:rPr>
              <a:t>và</a:t>
            </a:r>
            <a:r>
              <a:rPr lang="en-US" altLang="vi-VN" b="1" dirty="0">
                <a:solidFill>
                  <a:srgbClr val="0000CC"/>
                </a:solidFill>
              </a:rPr>
              <a:t> </a:t>
            </a:r>
            <a:r>
              <a:rPr lang="en-US" altLang="vi-VN" b="1" dirty="0" err="1">
                <a:solidFill>
                  <a:srgbClr val="0000CC"/>
                </a:solidFill>
              </a:rPr>
              <a:t>giải</a:t>
            </a:r>
            <a:r>
              <a:rPr lang="en-US" altLang="vi-VN" b="1" dirty="0">
                <a:solidFill>
                  <a:srgbClr val="0000CC"/>
                </a:solidFill>
              </a:rPr>
              <a:t> </a:t>
            </a:r>
            <a:r>
              <a:rPr lang="en-US" altLang="vi-VN" b="1" dirty="0" err="1">
                <a:solidFill>
                  <a:srgbClr val="0000CC"/>
                </a:solidFill>
              </a:rPr>
              <a:t>phóng</a:t>
            </a:r>
            <a:r>
              <a:rPr lang="en-US" altLang="vi-VN" b="1" dirty="0">
                <a:solidFill>
                  <a:srgbClr val="0000CC"/>
                </a:solidFill>
              </a:rPr>
              <a:t> </a:t>
            </a:r>
            <a:r>
              <a:rPr lang="en-US" altLang="vi-VN" b="1" dirty="0" err="1">
                <a:solidFill>
                  <a:srgbClr val="0000CC"/>
                </a:solidFill>
              </a:rPr>
              <a:t>vùng</a:t>
            </a:r>
            <a:r>
              <a:rPr lang="en-US" altLang="vi-VN" b="1" dirty="0">
                <a:solidFill>
                  <a:srgbClr val="0000CC"/>
                </a:solidFill>
              </a:rPr>
              <a:t> </a:t>
            </a:r>
            <a:r>
              <a:rPr lang="en-US" altLang="vi-VN" b="1" dirty="0" err="1">
                <a:solidFill>
                  <a:srgbClr val="0000CC"/>
                </a:solidFill>
              </a:rPr>
              <a:t>nhớ</a:t>
            </a:r>
            <a:endParaRPr lang="en-US" altLang="vi-VN" b="1" dirty="0">
              <a:solidFill>
                <a:srgbClr val="0000CC"/>
              </a:solidFill>
            </a:endParaRPr>
          </a:p>
        </p:txBody>
      </p:sp>
      <p:sp>
        <p:nvSpPr>
          <p:cNvPr id="2" name="Explosion 1 1"/>
          <p:cNvSpPr/>
          <p:nvPr/>
        </p:nvSpPr>
        <p:spPr>
          <a:xfrm>
            <a:off x="4509406" y="2405742"/>
            <a:ext cx="4005943" cy="3374571"/>
          </a:xfrm>
          <a:prstGeom prst="irregularSeal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err="1"/>
              <a:t>Đơn</a:t>
            </a:r>
            <a:r>
              <a:rPr lang="en-US" sz="2800" dirty="0"/>
              <a:t> </a:t>
            </a:r>
            <a:r>
              <a:rPr lang="en-US" sz="2800" dirty="0" err="1"/>
              <a:t>giản</a:t>
            </a:r>
            <a:r>
              <a:rPr lang="en-US" sz="2800" dirty="0"/>
              <a:t> </a:t>
            </a:r>
            <a:r>
              <a:rPr lang="en-US" sz="2800" dirty="0" err="1"/>
              <a:t>quá</a:t>
            </a:r>
            <a:endParaRPr lang="vi-VN" sz="2800" dirty="0"/>
          </a:p>
        </p:txBody>
      </p:sp>
    </p:spTree>
    <p:extLst>
      <p:ext uri="{BB962C8B-B14F-4D97-AF65-F5344CB8AC3E}">
        <p14:creationId xmlns:p14="http://schemas.microsoft.com/office/powerpoint/2010/main" val="981760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C2AE73-7497-4994-B334-B38D7315CBFC}" type="slidenum">
              <a:rPr lang="en-US" altLang="vi-VN">
                <a:solidFill>
                  <a:srgbClr val="FFFF00"/>
                </a:solidFill>
              </a:rPr>
              <a:pPr eaLnBrk="1" hangingPunct="1"/>
              <a:t>16</a:t>
            </a:fld>
            <a:endParaRPr lang="en-GB" altLang="vi-VN">
              <a:solidFill>
                <a:srgbClr val="FFFF00"/>
              </a:solidFill>
            </a:endParaRPr>
          </a:p>
        </p:txBody>
      </p:sp>
      <p:sp>
        <p:nvSpPr>
          <p:cNvPr id="16388" name="Rectangle 3"/>
          <p:cNvSpPr>
            <a:spLocks noGrp="1" noChangeArrowheads="1"/>
          </p:cNvSpPr>
          <p:nvPr>
            <p:ph type="body" idx="1"/>
          </p:nvPr>
        </p:nvSpPr>
        <p:spPr>
          <a:xfrm>
            <a:off x="381000" y="1143000"/>
            <a:ext cx="8382000" cy="2057400"/>
          </a:xfrm>
        </p:spPr>
        <p:txBody>
          <a:bodyPr/>
          <a:lstStyle/>
          <a:p>
            <a:pPr marL="0" indent="0" defTabSz="914400">
              <a:buFont typeface="Wingdings" panose="05000000000000000000" pitchFamily="2" charset="2"/>
              <a:buNone/>
            </a:pPr>
            <a:r>
              <a:rPr lang="en-US" altLang="vi-VN" sz="2400">
                <a:solidFill>
                  <a:srgbClr val="0000CC"/>
                </a:solidFill>
                <a:cs typeface="Arial" panose="020B0604020202020204" pitchFamily="34" charset="0"/>
              </a:rPr>
              <a:t>- Phép toán lấy địa chỉ của các phần tử trong mảng:</a:t>
            </a:r>
          </a:p>
          <a:p>
            <a:pPr marL="0" indent="0" defTabSz="914400">
              <a:buFont typeface="Wingdings" panose="05000000000000000000" pitchFamily="2" charset="2"/>
              <a:buNone/>
            </a:pPr>
            <a:r>
              <a:rPr lang="en-US" altLang="vi-VN" sz="2400" b="1">
                <a:solidFill>
                  <a:srgbClr val="0000CC"/>
                </a:solidFill>
                <a:cs typeface="Arial" panose="020B0604020202020204" pitchFamily="34" charset="0"/>
              </a:rPr>
              <a:t>Ví dụ:  float a[10];</a:t>
            </a:r>
          </a:p>
          <a:p>
            <a:pPr marL="0" indent="0" defTabSz="914400">
              <a:buFont typeface="Wingdings" panose="05000000000000000000" pitchFamily="2" charset="2"/>
              <a:buNone/>
            </a:pPr>
            <a:r>
              <a:rPr lang="en-US" altLang="vi-VN" sz="2400" b="1">
                <a:solidFill>
                  <a:srgbClr val="0000CC"/>
                </a:solidFill>
                <a:cs typeface="Arial" panose="020B0604020202020204" pitchFamily="34" charset="0"/>
              </a:rPr>
              <a:t>	 Phép toán </a:t>
            </a:r>
            <a:r>
              <a:rPr lang="en-US" altLang="vi-VN" sz="2400" b="1">
                <a:solidFill>
                  <a:srgbClr val="FF0000"/>
                </a:solidFill>
                <a:cs typeface="Arial" panose="020B0604020202020204" pitchFamily="34" charset="0"/>
              </a:rPr>
              <a:t>&amp;a[i]</a:t>
            </a:r>
            <a:r>
              <a:rPr lang="en-US" altLang="vi-VN" sz="2400" b="1">
                <a:solidFill>
                  <a:srgbClr val="0000CC"/>
                </a:solidFill>
                <a:cs typeface="Arial" panose="020B0604020202020204" pitchFamily="34" charset="0"/>
              </a:rPr>
              <a:t> sẽ cho địa chỉ của phần tử </a:t>
            </a:r>
            <a:r>
              <a:rPr lang="en-US" altLang="vi-VN" sz="2400" b="1">
                <a:solidFill>
                  <a:srgbClr val="FF0000"/>
                </a:solidFill>
                <a:cs typeface="Arial" panose="020B0604020202020204" pitchFamily="34" charset="0"/>
              </a:rPr>
              <a:t>a[i], </a:t>
            </a:r>
          </a:p>
          <a:p>
            <a:pPr marL="0" indent="0" defTabSz="914400">
              <a:buFont typeface="Wingdings" panose="05000000000000000000" pitchFamily="2" charset="2"/>
              <a:buNone/>
            </a:pPr>
            <a:r>
              <a:rPr lang="en-US" altLang="vi-VN" sz="2400" b="1">
                <a:solidFill>
                  <a:srgbClr val="0000CC"/>
                </a:solidFill>
                <a:cs typeface="Arial" panose="020B0604020202020204" pitchFamily="34" charset="0"/>
              </a:rPr>
              <a:t>	 với i trong khoảng [0,9]</a:t>
            </a:r>
          </a:p>
          <a:p>
            <a:pPr marL="0" indent="0" defTabSz="914400">
              <a:buFont typeface="Wingdings" panose="05000000000000000000" pitchFamily="2" charset="2"/>
              <a:buNone/>
            </a:pPr>
            <a:endParaRPr lang="en-US" altLang="vi-VN" sz="2400" b="1" i="1">
              <a:solidFill>
                <a:srgbClr val="0000CC"/>
              </a:solidFill>
              <a:cs typeface="Arial" panose="020B0604020202020204" pitchFamily="34" charset="0"/>
            </a:endParaRPr>
          </a:p>
        </p:txBody>
      </p:sp>
      <p:sp>
        <p:nvSpPr>
          <p:cNvPr id="16389" name="Rectangle 4"/>
          <p:cNvSpPr>
            <a:spLocks noChangeArrowheads="1"/>
          </p:cNvSpPr>
          <p:nvPr/>
        </p:nvSpPr>
        <p:spPr bwMode="auto">
          <a:xfrm>
            <a:off x="381000" y="3200400"/>
            <a:ext cx="83058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400">
                <a:solidFill>
                  <a:srgbClr val="0000CC"/>
                </a:solidFill>
              </a:rPr>
              <a:t>- Cách lấy giá trị của phần tử trong mảng</a:t>
            </a:r>
          </a:p>
          <a:p>
            <a:pPr algn="l">
              <a:spcBef>
                <a:spcPct val="20000"/>
              </a:spcBef>
              <a:buClr>
                <a:schemeClr val="tx2"/>
              </a:buClr>
              <a:buFont typeface="Wingdings" panose="05000000000000000000" pitchFamily="2" charset="2"/>
              <a:buNone/>
            </a:pPr>
            <a:r>
              <a:rPr lang="en-US" altLang="vi-VN" sz="2400" b="1">
                <a:solidFill>
                  <a:srgbClr val="0000CC"/>
                </a:solidFill>
              </a:rPr>
              <a:t>Ví dụ:  float a[10], *p;</a:t>
            </a:r>
          </a:p>
          <a:p>
            <a:pPr algn="l">
              <a:spcBef>
                <a:spcPct val="20000"/>
              </a:spcBef>
              <a:buClr>
                <a:schemeClr val="tx2"/>
              </a:buClr>
              <a:buFont typeface="Wingdings" panose="05000000000000000000" pitchFamily="2" charset="2"/>
              <a:buNone/>
            </a:pPr>
            <a:r>
              <a:rPr lang="en-US" altLang="vi-VN" sz="2400" b="1">
                <a:solidFill>
                  <a:srgbClr val="0000CC"/>
                </a:solidFill>
              </a:rPr>
              <a:t>	 p = a;</a:t>
            </a:r>
          </a:p>
          <a:p>
            <a:pPr algn="l">
              <a:spcBef>
                <a:spcPct val="20000"/>
              </a:spcBef>
              <a:buClr>
                <a:schemeClr val="tx2"/>
              </a:buClr>
              <a:buFont typeface="Wingdings" panose="05000000000000000000" pitchFamily="2" charset="2"/>
              <a:buNone/>
            </a:pPr>
            <a:r>
              <a:rPr lang="en-US" altLang="vi-VN" sz="2400" b="1">
                <a:solidFill>
                  <a:srgbClr val="0000CC"/>
                </a:solidFill>
                <a:sym typeface="Wingdings" panose="05000000000000000000" pitchFamily="2" charset="2"/>
              </a:rPr>
              <a:t> Các cách viết sau đây là tương đương nhau:</a:t>
            </a:r>
          </a:p>
          <a:p>
            <a:pPr algn="l">
              <a:spcBef>
                <a:spcPct val="20000"/>
              </a:spcBef>
              <a:buClr>
                <a:schemeClr val="tx2"/>
              </a:buClr>
              <a:buFont typeface="Wingdings" panose="05000000000000000000" pitchFamily="2" charset="2"/>
              <a:buNone/>
            </a:pPr>
            <a:r>
              <a:rPr lang="en-US" altLang="vi-VN" sz="2400" b="1">
                <a:solidFill>
                  <a:srgbClr val="0000CC"/>
                </a:solidFill>
              </a:rPr>
              <a:t>	a[i]	   *(a+i)	*(p+i)	          p[i]	</a:t>
            </a:r>
          </a:p>
          <a:p>
            <a:pPr algn="l">
              <a:spcBef>
                <a:spcPct val="20000"/>
              </a:spcBef>
              <a:buClr>
                <a:schemeClr val="tx2"/>
              </a:buClr>
              <a:buFont typeface="Wingdings" panose="05000000000000000000" pitchFamily="2" charset="2"/>
              <a:buNone/>
            </a:pPr>
            <a:r>
              <a:rPr lang="en-US" altLang="vi-VN" sz="2400" b="1">
                <a:solidFill>
                  <a:srgbClr val="0000CC"/>
                </a:solidFill>
              </a:rPr>
              <a:t>	</a:t>
            </a:r>
          </a:p>
          <a:p>
            <a:pPr algn="l">
              <a:spcBef>
                <a:spcPct val="20000"/>
              </a:spcBef>
              <a:buClr>
                <a:schemeClr val="tx2"/>
              </a:buClr>
              <a:buFont typeface="Wingdings" panose="05000000000000000000" pitchFamily="2" charset="2"/>
              <a:buNone/>
            </a:pPr>
            <a:endParaRPr lang="en-US" altLang="vi-VN" sz="2400" b="1">
              <a:solidFill>
                <a:srgbClr val="0000CC"/>
              </a:solidFill>
            </a:endParaRPr>
          </a:p>
          <a:p>
            <a:pPr algn="l">
              <a:spcBef>
                <a:spcPct val="20000"/>
              </a:spcBef>
              <a:buClr>
                <a:schemeClr val="tx2"/>
              </a:buClr>
              <a:buFont typeface="Wingdings" panose="05000000000000000000" pitchFamily="2" charset="2"/>
              <a:buNone/>
            </a:pPr>
            <a:endParaRPr lang="en-US" altLang="vi-VN" sz="2400" b="1" i="1">
              <a:solidFill>
                <a:srgbClr val="0000CC"/>
              </a:solidFill>
            </a:endParaRPr>
          </a:p>
        </p:txBody>
      </p:sp>
      <p:sp>
        <p:nvSpPr>
          <p:cNvPr id="16390" name="Rectangle 5"/>
          <p:cNvSpPr>
            <a:spLocks noGrp="1"/>
          </p:cNvSpPr>
          <p:nvPr>
            <p:ph type="title"/>
          </p:nvPr>
        </p:nvSpPr>
        <p:spPr>
          <a:xfrm>
            <a:off x="1741714" y="365127"/>
            <a:ext cx="6773636" cy="864960"/>
          </a:xfrm>
        </p:spPr>
        <p:txBody>
          <a:bodyPr/>
          <a:lstStyle/>
          <a:p>
            <a:r>
              <a:rPr lang="en-US" altLang="vi-VN" b="1">
                <a:solidFill>
                  <a:srgbClr val="0000CC"/>
                </a:solidFill>
              </a:rPr>
              <a:t>Con </a:t>
            </a:r>
            <a:r>
              <a:rPr lang="en-US" altLang="vi-VN" b="1" dirty="0" err="1">
                <a:solidFill>
                  <a:srgbClr val="0000CC"/>
                </a:solidFill>
              </a:rPr>
              <a:t>trỏ</a:t>
            </a:r>
            <a:r>
              <a:rPr lang="en-US" altLang="vi-VN" b="1" dirty="0">
                <a:solidFill>
                  <a:srgbClr val="0000CC"/>
                </a:solidFill>
              </a:rPr>
              <a:t> </a:t>
            </a:r>
            <a:r>
              <a:rPr lang="en-US" altLang="vi-VN" b="1" dirty="0" err="1">
                <a:solidFill>
                  <a:srgbClr val="0000CC"/>
                </a:solidFill>
              </a:rPr>
              <a:t>và</a:t>
            </a:r>
            <a:r>
              <a:rPr lang="en-US" altLang="vi-VN" b="1" dirty="0">
                <a:solidFill>
                  <a:srgbClr val="0000CC"/>
                </a:solidFill>
              </a:rPr>
              <a:t> </a:t>
            </a:r>
            <a:r>
              <a:rPr lang="en-US" altLang="vi-VN" b="1" dirty="0" err="1">
                <a:solidFill>
                  <a:srgbClr val="0000CC"/>
                </a:solidFill>
              </a:rPr>
              <a:t>mảng</a:t>
            </a:r>
            <a:r>
              <a:rPr lang="en-US" altLang="vi-VN" b="1" dirty="0">
                <a:solidFill>
                  <a:srgbClr val="0000CC"/>
                </a:solidFill>
              </a:rPr>
              <a:t> 1 </a:t>
            </a:r>
            <a:r>
              <a:rPr lang="en-US" altLang="vi-VN" b="1" dirty="0" err="1">
                <a:solidFill>
                  <a:srgbClr val="0000CC"/>
                </a:solidFill>
              </a:rPr>
              <a:t>chiều</a:t>
            </a:r>
            <a:endParaRPr lang="en-US" altLang="vi-VN" b="1" dirty="0">
              <a:solidFill>
                <a:srgbClr val="0000CC"/>
              </a:solidFill>
            </a:endParaRPr>
          </a:p>
        </p:txBody>
      </p:sp>
    </p:spTree>
    <p:extLst>
      <p:ext uri="{BB962C8B-B14F-4D97-AF65-F5344CB8AC3E}">
        <p14:creationId xmlns:p14="http://schemas.microsoft.com/office/powerpoint/2010/main" val="3872088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C2AE73-7497-4994-B334-B38D7315CBFC}" type="slidenum">
              <a:rPr lang="en-US" altLang="vi-VN">
                <a:solidFill>
                  <a:srgbClr val="FFFF00"/>
                </a:solidFill>
              </a:rPr>
              <a:pPr eaLnBrk="1" hangingPunct="1"/>
              <a:t>17</a:t>
            </a:fld>
            <a:endParaRPr lang="en-GB" altLang="vi-VN">
              <a:solidFill>
                <a:srgbClr val="FFFF00"/>
              </a:solidFill>
            </a:endParaRPr>
          </a:p>
        </p:txBody>
      </p:sp>
      <p:sp>
        <p:nvSpPr>
          <p:cNvPr id="16390" name="Rectangle 5"/>
          <p:cNvSpPr>
            <a:spLocks noGrp="1"/>
          </p:cNvSpPr>
          <p:nvPr>
            <p:ph type="title"/>
          </p:nvPr>
        </p:nvSpPr>
        <p:spPr>
          <a:xfrm>
            <a:off x="1741714" y="365127"/>
            <a:ext cx="6773636" cy="864960"/>
          </a:xfrm>
        </p:spPr>
        <p:txBody>
          <a:bodyPr/>
          <a:lstStyle/>
          <a:p>
            <a:r>
              <a:rPr lang="en-US" altLang="vi-VN" b="1" dirty="0">
                <a:solidFill>
                  <a:srgbClr val="0000CC"/>
                </a:solidFill>
              </a:rPr>
              <a:t>Con </a:t>
            </a:r>
            <a:r>
              <a:rPr lang="en-US" altLang="vi-VN" b="1" dirty="0" err="1">
                <a:solidFill>
                  <a:srgbClr val="0000CC"/>
                </a:solidFill>
              </a:rPr>
              <a:t>trỏ</a:t>
            </a:r>
            <a:r>
              <a:rPr lang="en-US" altLang="vi-VN" b="1" dirty="0">
                <a:solidFill>
                  <a:srgbClr val="0000CC"/>
                </a:solidFill>
              </a:rPr>
              <a:t> </a:t>
            </a:r>
            <a:r>
              <a:rPr lang="en-US" altLang="vi-VN" b="1" dirty="0" err="1">
                <a:solidFill>
                  <a:srgbClr val="0000CC"/>
                </a:solidFill>
              </a:rPr>
              <a:t>và</a:t>
            </a:r>
            <a:r>
              <a:rPr lang="en-US" altLang="vi-VN" b="1" dirty="0">
                <a:solidFill>
                  <a:srgbClr val="0000CC"/>
                </a:solidFill>
              </a:rPr>
              <a:t> </a:t>
            </a:r>
            <a:r>
              <a:rPr lang="en-US" altLang="vi-VN" b="1" dirty="0" err="1">
                <a:solidFill>
                  <a:srgbClr val="0000CC"/>
                </a:solidFill>
              </a:rPr>
              <a:t>mảng</a:t>
            </a:r>
            <a:r>
              <a:rPr lang="en-US" altLang="vi-VN" b="1" dirty="0">
                <a:solidFill>
                  <a:srgbClr val="0000CC"/>
                </a:solidFill>
              </a:rPr>
              <a:t> 1 </a:t>
            </a:r>
            <a:r>
              <a:rPr lang="en-US" altLang="vi-VN" b="1" dirty="0" err="1">
                <a:solidFill>
                  <a:srgbClr val="0000CC"/>
                </a:solidFill>
              </a:rPr>
              <a:t>chiều</a:t>
            </a:r>
            <a:endParaRPr lang="en-US" altLang="vi-VN" b="1" dirty="0">
              <a:solidFill>
                <a:srgbClr val="0000CC"/>
              </a:solidFill>
            </a:endParaRP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283" y="1230087"/>
            <a:ext cx="6671431" cy="4778827"/>
          </a:xfrm>
          <a:prstGeom prst="rect">
            <a:avLst/>
          </a:prstGeom>
        </p:spPr>
      </p:pic>
      <p:sp>
        <p:nvSpPr>
          <p:cNvPr id="5" name="TextBox 4"/>
          <p:cNvSpPr txBox="1"/>
          <p:nvPr/>
        </p:nvSpPr>
        <p:spPr>
          <a:xfrm>
            <a:off x="381001" y="1567542"/>
            <a:ext cx="1828799" cy="1754326"/>
          </a:xfrm>
          <a:prstGeom prst="rect">
            <a:avLst/>
          </a:prstGeom>
          <a:noFill/>
        </p:spPr>
        <p:txBody>
          <a:bodyPr wrap="square" rtlCol="0">
            <a:spAutoFit/>
          </a:bodyPr>
          <a:lstStyle/>
          <a:p>
            <a:r>
              <a:rPr lang="en-US" sz="3600" b="1" dirty="0">
                <a:solidFill>
                  <a:srgbClr val="0000CC"/>
                </a:solidFill>
              </a:rPr>
              <a:t>GIẢI THÍCH THÊM</a:t>
            </a:r>
            <a:endParaRPr lang="vi-VN" sz="3600" b="1" dirty="0">
              <a:solidFill>
                <a:srgbClr val="0000CC"/>
              </a:solidFill>
            </a:endParaRPr>
          </a:p>
        </p:txBody>
      </p:sp>
    </p:spTree>
    <p:extLst>
      <p:ext uri="{BB962C8B-B14F-4D97-AF65-F5344CB8AC3E}">
        <p14:creationId xmlns:p14="http://schemas.microsoft.com/office/powerpoint/2010/main" val="3537505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DBA4942-33EE-45B0-B0D9-4826C44EE872}" type="slidenum">
              <a:rPr lang="en-US" altLang="vi-VN">
                <a:solidFill>
                  <a:srgbClr val="FFFF00"/>
                </a:solidFill>
              </a:rPr>
              <a:pPr eaLnBrk="1" hangingPunct="1"/>
              <a:t>18</a:t>
            </a:fld>
            <a:endParaRPr lang="en-GB" altLang="vi-VN">
              <a:solidFill>
                <a:srgbClr val="FFFF00"/>
              </a:solidFill>
            </a:endParaRPr>
          </a:p>
        </p:txBody>
      </p:sp>
      <p:sp>
        <p:nvSpPr>
          <p:cNvPr id="17412" name="Rectangle 3"/>
          <p:cNvSpPr>
            <a:spLocks noGrp="1" noChangeArrowheads="1"/>
          </p:cNvSpPr>
          <p:nvPr>
            <p:ph type="body" idx="1"/>
          </p:nvPr>
        </p:nvSpPr>
        <p:spPr>
          <a:xfrm>
            <a:off x="381000" y="1143000"/>
            <a:ext cx="8382000" cy="2057400"/>
          </a:xfrm>
        </p:spPr>
        <p:txBody>
          <a:bodyPr/>
          <a:lstStyle/>
          <a:p>
            <a:pPr marL="0" indent="0" defTabSz="914400">
              <a:buFont typeface="Wingdings" panose="05000000000000000000" pitchFamily="2" charset="2"/>
              <a:buNone/>
            </a:pPr>
            <a:r>
              <a:rPr lang="en-US" altLang="vi-VN" dirty="0">
                <a:solidFill>
                  <a:srgbClr val="0000CC"/>
                </a:solidFill>
                <a:cs typeface="Arial" panose="020B0604020202020204" pitchFamily="34" charset="0"/>
              </a:rPr>
              <a:t>- </a:t>
            </a:r>
            <a:r>
              <a:rPr lang="en-US" altLang="vi-VN" dirty="0" err="1">
                <a:solidFill>
                  <a:srgbClr val="0000CC"/>
                </a:solidFill>
                <a:cs typeface="Arial" panose="020B0604020202020204" pitchFamily="34" charset="0"/>
              </a:rPr>
              <a:t>Thông</a:t>
            </a:r>
            <a:r>
              <a:rPr lang="en-US" altLang="vi-VN" dirty="0">
                <a:solidFill>
                  <a:srgbClr val="0000CC"/>
                </a:solidFill>
                <a:cs typeface="Arial" panose="020B0604020202020204" pitchFamily="34" charset="0"/>
              </a:rPr>
              <a:t> </a:t>
            </a:r>
            <a:r>
              <a:rPr lang="en-US" altLang="vi-VN" dirty="0" err="1">
                <a:solidFill>
                  <a:srgbClr val="0000CC"/>
                </a:solidFill>
                <a:cs typeface="Arial" panose="020B0604020202020204" pitchFamily="34" charset="0"/>
              </a:rPr>
              <a:t>thường</a:t>
            </a:r>
            <a:r>
              <a:rPr lang="en-US" altLang="vi-VN" dirty="0">
                <a:solidFill>
                  <a:srgbClr val="0000CC"/>
                </a:solidFill>
                <a:cs typeface="Arial" panose="020B0604020202020204" pitchFamily="34" charset="0"/>
              </a:rPr>
              <a:t> ta </a:t>
            </a:r>
            <a:r>
              <a:rPr lang="en-US" altLang="vi-VN" dirty="0" err="1">
                <a:solidFill>
                  <a:srgbClr val="0000CC"/>
                </a:solidFill>
                <a:cs typeface="Arial" panose="020B0604020202020204" pitchFamily="34" charset="0"/>
              </a:rPr>
              <a:t>khai</a:t>
            </a:r>
            <a:r>
              <a:rPr lang="en-US" altLang="vi-VN" dirty="0">
                <a:solidFill>
                  <a:srgbClr val="0000CC"/>
                </a:solidFill>
                <a:cs typeface="Arial" panose="020B0604020202020204" pitchFamily="34" charset="0"/>
              </a:rPr>
              <a:t> </a:t>
            </a:r>
            <a:r>
              <a:rPr lang="en-US" altLang="vi-VN" dirty="0" err="1">
                <a:solidFill>
                  <a:srgbClr val="0000CC"/>
                </a:solidFill>
                <a:cs typeface="Arial" panose="020B0604020202020204" pitchFamily="34" charset="0"/>
              </a:rPr>
              <a:t>báo</a:t>
            </a:r>
            <a:r>
              <a:rPr lang="en-US" altLang="vi-VN" dirty="0">
                <a:solidFill>
                  <a:srgbClr val="0000CC"/>
                </a:solidFill>
                <a:cs typeface="Arial" panose="020B0604020202020204" pitchFamily="34" charset="0"/>
              </a:rPr>
              <a:t>:</a:t>
            </a:r>
          </a:p>
          <a:p>
            <a:pPr marL="0" indent="0" defTabSz="914400">
              <a:buFont typeface="Wingdings" panose="05000000000000000000" pitchFamily="2" charset="2"/>
              <a:buNone/>
            </a:pPr>
            <a:r>
              <a:rPr lang="en-US" altLang="vi-VN" sz="2800" b="1" dirty="0">
                <a:solidFill>
                  <a:srgbClr val="0000CC"/>
                </a:solidFill>
                <a:cs typeface="Arial" panose="020B0604020202020204" pitchFamily="34" charset="0"/>
              </a:rPr>
              <a:t>	</a:t>
            </a:r>
            <a:r>
              <a:rPr lang="en-US" altLang="vi-VN" sz="2800" b="1" dirty="0" err="1">
                <a:solidFill>
                  <a:srgbClr val="0000CC"/>
                </a:solidFill>
                <a:cs typeface="Arial" panose="020B0604020202020204" pitchFamily="34" charset="0"/>
              </a:rPr>
              <a:t>int</a:t>
            </a:r>
            <a:r>
              <a:rPr lang="en-US" altLang="vi-VN" sz="2800" b="1" dirty="0">
                <a:solidFill>
                  <a:srgbClr val="0000CC"/>
                </a:solidFill>
                <a:cs typeface="Arial" panose="020B0604020202020204" pitchFamily="34" charset="0"/>
              </a:rPr>
              <a:t> a[20];</a:t>
            </a:r>
          </a:p>
          <a:p>
            <a:pPr marL="0" indent="0" defTabSz="914400">
              <a:buFont typeface="Wingdings" panose="05000000000000000000" pitchFamily="2" charset="2"/>
              <a:buNone/>
            </a:pPr>
            <a:r>
              <a:rPr lang="en-US" altLang="vi-VN" sz="2800" b="1" dirty="0">
                <a:solidFill>
                  <a:srgbClr val="0000CC"/>
                </a:solidFill>
                <a:cs typeface="Arial" panose="020B0604020202020204" pitchFamily="34" charset="0"/>
              </a:rPr>
              <a:t>	float b[20];</a:t>
            </a:r>
          </a:p>
          <a:p>
            <a:pPr marL="0" indent="0" defTabSz="914400">
              <a:buFont typeface="Wingdings" panose="05000000000000000000" pitchFamily="2" charset="2"/>
              <a:buNone/>
            </a:pPr>
            <a:r>
              <a:rPr lang="en-US" altLang="vi-VN" sz="2800" b="1" dirty="0">
                <a:solidFill>
                  <a:srgbClr val="0000CC"/>
                </a:solidFill>
                <a:cs typeface="Arial" panose="020B0604020202020204" pitchFamily="34" charset="0"/>
              </a:rPr>
              <a:t>	double c[20];</a:t>
            </a:r>
            <a:endParaRPr lang="en-US" altLang="vi-VN" sz="2400" b="1" i="1" dirty="0">
              <a:solidFill>
                <a:srgbClr val="0000CC"/>
              </a:solidFill>
              <a:cs typeface="Arial" panose="020B0604020202020204" pitchFamily="34" charset="0"/>
            </a:endParaRPr>
          </a:p>
        </p:txBody>
      </p:sp>
      <p:sp>
        <p:nvSpPr>
          <p:cNvPr id="17413" name="Rectangle 4"/>
          <p:cNvSpPr>
            <a:spLocks noChangeArrowheads="1"/>
          </p:cNvSpPr>
          <p:nvPr/>
        </p:nvSpPr>
        <p:spPr bwMode="auto">
          <a:xfrm>
            <a:off x="381000" y="3200400"/>
            <a:ext cx="83820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3200">
                <a:solidFill>
                  <a:srgbClr val="0000CC"/>
                </a:solidFill>
              </a:rPr>
              <a:t>- Ta khai báo kiểu con trỏ như sau:</a:t>
            </a:r>
          </a:p>
          <a:p>
            <a:pPr algn="l">
              <a:spcBef>
                <a:spcPct val="20000"/>
              </a:spcBef>
              <a:buClr>
                <a:schemeClr val="tx2"/>
              </a:buClr>
              <a:buFont typeface="Wingdings" panose="05000000000000000000" pitchFamily="2" charset="2"/>
              <a:buNone/>
            </a:pPr>
            <a:r>
              <a:rPr lang="en-US" altLang="vi-VN" sz="2800" b="1">
                <a:solidFill>
                  <a:srgbClr val="0000CC"/>
                </a:solidFill>
              </a:rPr>
              <a:t>	int *a;</a:t>
            </a:r>
          </a:p>
          <a:p>
            <a:pPr algn="l">
              <a:spcBef>
                <a:spcPct val="20000"/>
              </a:spcBef>
              <a:buClr>
                <a:schemeClr val="tx2"/>
              </a:buClr>
              <a:buFont typeface="Wingdings" panose="05000000000000000000" pitchFamily="2" charset="2"/>
              <a:buNone/>
            </a:pPr>
            <a:r>
              <a:rPr lang="en-US" altLang="vi-VN" sz="2800" b="1">
                <a:solidFill>
                  <a:srgbClr val="0000CC"/>
                </a:solidFill>
              </a:rPr>
              <a:t>	float *b;</a:t>
            </a:r>
          </a:p>
          <a:p>
            <a:pPr algn="l">
              <a:spcBef>
                <a:spcPct val="20000"/>
              </a:spcBef>
              <a:buClr>
                <a:schemeClr val="tx2"/>
              </a:buClr>
              <a:buFont typeface="Wingdings" panose="05000000000000000000" pitchFamily="2" charset="2"/>
              <a:buNone/>
            </a:pPr>
            <a:r>
              <a:rPr lang="en-US" altLang="vi-VN" sz="2800" b="1">
                <a:solidFill>
                  <a:srgbClr val="0000CC"/>
                </a:solidFill>
              </a:rPr>
              <a:t>	double *c;</a:t>
            </a:r>
            <a:endParaRPr lang="en-US" altLang="vi-VN" sz="2400" b="1" i="1">
              <a:solidFill>
                <a:srgbClr val="0000CC"/>
              </a:solidFill>
            </a:endParaRPr>
          </a:p>
        </p:txBody>
      </p:sp>
      <p:sp>
        <p:nvSpPr>
          <p:cNvPr id="17414" name="Rectangle 5"/>
          <p:cNvSpPr>
            <a:spLocks noGrp="1"/>
          </p:cNvSpPr>
          <p:nvPr>
            <p:ph type="title"/>
          </p:nvPr>
        </p:nvSpPr>
        <p:spPr>
          <a:xfrm>
            <a:off x="1850570" y="365127"/>
            <a:ext cx="6664779" cy="777874"/>
          </a:xfrm>
        </p:spPr>
        <p:txBody>
          <a:bodyPr>
            <a:normAutofit/>
          </a:bodyPr>
          <a:lstStyle/>
          <a:p>
            <a:r>
              <a:rPr lang="en-US" altLang="vi-VN" sz="3600" b="1" dirty="0" err="1">
                <a:solidFill>
                  <a:srgbClr val="0000CC"/>
                </a:solidFill>
              </a:rPr>
              <a:t>Khai</a:t>
            </a:r>
            <a:r>
              <a:rPr lang="en-US" altLang="vi-VN" sz="3600" b="1" dirty="0">
                <a:solidFill>
                  <a:srgbClr val="0000CC"/>
                </a:solidFill>
              </a:rPr>
              <a:t> </a:t>
            </a:r>
            <a:r>
              <a:rPr lang="en-US" altLang="vi-VN" sz="3600" b="1" dirty="0" err="1">
                <a:solidFill>
                  <a:srgbClr val="0000CC"/>
                </a:solidFill>
              </a:rPr>
              <a:t>báo</a:t>
            </a:r>
            <a:r>
              <a:rPr lang="en-US" altLang="vi-VN" sz="3600" b="1" dirty="0">
                <a:solidFill>
                  <a:srgbClr val="0000CC"/>
                </a:solidFill>
              </a:rPr>
              <a:t> </a:t>
            </a:r>
            <a:r>
              <a:rPr lang="en-US" altLang="vi-VN" sz="3600" b="1" dirty="0" err="1">
                <a:solidFill>
                  <a:srgbClr val="0000CC"/>
                </a:solidFill>
              </a:rPr>
              <a:t>mảng</a:t>
            </a:r>
            <a:r>
              <a:rPr lang="en-US" altLang="vi-VN" sz="3600" b="1" dirty="0">
                <a:solidFill>
                  <a:srgbClr val="0000CC"/>
                </a:solidFill>
              </a:rPr>
              <a:t> 1 </a:t>
            </a:r>
            <a:r>
              <a:rPr lang="en-US" altLang="vi-VN" sz="3600" b="1" dirty="0" err="1">
                <a:solidFill>
                  <a:srgbClr val="0000CC"/>
                </a:solidFill>
              </a:rPr>
              <a:t>chiều</a:t>
            </a:r>
            <a:r>
              <a:rPr lang="en-US" altLang="vi-VN" sz="3600" b="1" dirty="0">
                <a:solidFill>
                  <a:srgbClr val="0000CC"/>
                </a:solidFill>
              </a:rPr>
              <a:t> </a:t>
            </a:r>
            <a:r>
              <a:rPr lang="en-US" altLang="vi-VN" sz="3600" b="1" dirty="0" err="1">
                <a:solidFill>
                  <a:srgbClr val="0000CC"/>
                </a:solidFill>
              </a:rPr>
              <a:t>và</a:t>
            </a:r>
            <a:r>
              <a:rPr lang="en-US" altLang="vi-VN" sz="3600" b="1" dirty="0">
                <a:solidFill>
                  <a:srgbClr val="0000CC"/>
                </a:solidFill>
              </a:rPr>
              <a:t> con </a:t>
            </a:r>
            <a:r>
              <a:rPr lang="en-US" altLang="vi-VN" sz="3600" b="1" dirty="0" err="1">
                <a:solidFill>
                  <a:srgbClr val="0000CC"/>
                </a:solidFill>
              </a:rPr>
              <a:t>trỏ</a:t>
            </a:r>
            <a:endParaRPr lang="en-US" altLang="vi-VN" sz="3600" b="1" dirty="0">
              <a:solidFill>
                <a:srgbClr val="0000CC"/>
              </a:solidFill>
            </a:endParaRPr>
          </a:p>
        </p:txBody>
      </p:sp>
      <p:sp>
        <p:nvSpPr>
          <p:cNvPr id="2" name="Rectangle 1">
            <a:extLst>
              <a:ext uri="{FF2B5EF4-FFF2-40B4-BE49-F238E27FC236}">
                <a16:creationId xmlns:a16="http://schemas.microsoft.com/office/drawing/2014/main" id="{E56D8783-3251-46BB-953D-68A3712F119B}"/>
              </a:ext>
            </a:extLst>
          </p:cNvPr>
          <p:cNvSpPr>
            <a:spLocks noChangeArrowheads="1"/>
          </p:cNvSpPr>
          <p:nvPr/>
        </p:nvSpPr>
        <p:spPr bwMode="auto">
          <a:xfrm>
            <a:off x="3808268" y="3798212"/>
            <a:ext cx="46135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u="none" strike="noStrike" cap="none" normalizeH="0" baseline="0">
                <a:ln>
                  <a:noFill/>
                </a:ln>
                <a:solidFill>
                  <a:srgbClr val="FF0000"/>
                </a:solidFill>
                <a:effectLst/>
                <a:latin typeface="Arial" panose="020B0604020202020204" pitchFamily="34" charset="0"/>
                <a:cs typeface="Arial" panose="020B0604020202020204" pitchFamily="34" charset="0"/>
              </a:rPr>
              <a:t>char *ptr = &amp;array_name;</a:t>
            </a:r>
            <a:r>
              <a:rPr kumimoji="0" lang="en-US" altLang="en-US" sz="1400" b="0" u="none" strike="noStrike" cap="none" normalizeH="0" baseline="0">
                <a:ln>
                  <a:noFill/>
                </a:ln>
                <a:solidFill>
                  <a:srgbClr val="FF0000"/>
                </a:solidFill>
                <a:effectLst/>
                <a:latin typeface="Arial" panose="020B0604020202020204" pitchFamily="34" charset="0"/>
                <a:cs typeface="Arial" panose="020B0604020202020204" pitchFamily="34" charset="0"/>
              </a:rPr>
              <a:t> </a:t>
            </a:r>
            <a:endParaRPr kumimoji="0" lang="en-US" altLang="en-US" sz="4000" b="0" u="none" strike="noStrike" cap="none" normalizeH="0" baseline="0">
              <a:ln>
                <a:noFill/>
              </a:ln>
              <a:solidFill>
                <a:srgbClr val="FF0000"/>
              </a:solidFill>
              <a:effectLst/>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9DE1DC63-91EA-4984-AEB2-F7FB8A4A26C2}"/>
              </a:ext>
            </a:extLst>
          </p:cNvPr>
          <p:cNvSpPr>
            <a:spLocks noChangeArrowheads="1"/>
          </p:cNvSpPr>
          <p:nvPr/>
        </p:nvSpPr>
        <p:spPr bwMode="auto">
          <a:xfrm>
            <a:off x="3796145" y="4695662"/>
            <a:ext cx="267996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800">
                <a:solidFill>
                  <a:srgbClr val="FF0000"/>
                </a:solidFill>
                <a:latin typeface="Arial" panose="020B0604020202020204" pitchFamily="34" charset="0"/>
                <a:cs typeface="Arial" panose="020B0604020202020204" pitchFamily="34" charset="0"/>
              </a:rPr>
              <a:t>int func(int A[]); </a:t>
            </a:r>
          </a:p>
          <a:p>
            <a:pPr eaLnBrk="0" fontAlgn="base" hangingPunct="0">
              <a:spcBef>
                <a:spcPct val="0"/>
              </a:spcBef>
              <a:spcAft>
                <a:spcPct val="0"/>
              </a:spcAft>
            </a:pPr>
            <a:r>
              <a:rPr lang="en-US" altLang="en-US" sz="2800">
                <a:solidFill>
                  <a:srgbClr val="FF0000"/>
                </a:solidFill>
                <a:latin typeface="Arial" panose="020B0604020202020204" pitchFamily="34" charset="0"/>
                <a:cs typeface="Arial" panose="020B0604020202020204" pitchFamily="34" charset="0"/>
              </a:rPr>
              <a:t>int func(int *A); </a:t>
            </a:r>
          </a:p>
        </p:txBody>
      </p:sp>
    </p:spTree>
    <p:extLst>
      <p:ext uri="{BB962C8B-B14F-4D97-AF65-F5344CB8AC3E}">
        <p14:creationId xmlns:p14="http://schemas.microsoft.com/office/powerpoint/2010/main" val="2953007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1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9B06C8-0896-4D7C-97A2-74B8D2223D0B}" type="slidenum">
              <a:rPr lang="en-US" altLang="vi-VN">
                <a:solidFill>
                  <a:srgbClr val="FFFF00"/>
                </a:solidFill>
              </a:rPr>
              <a:pPr eaLnBrk="1" hangingPunct="1"/>
              <a:t>19</a:t>
            </a:fld>
            <a:endParaRPr lang="en-GB" altLang="vi-VN">
              <a:solidFill>
                <a:srgbClr val="FFFF00"/>
              </a:solidFill>
            </a:endParaRPr>
          </a:p>
        </p:txBody>
      </p:sp>
      <p:pic>
        <p:nvPicPr>
          <p:cNvPr id="66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4876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04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133600"/>
            <a:ext cx="340042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60485" name="Group 5"/>
          <p:cNvGrpSpPr>
            <a:grpSpLocks/>
          </p:cNvGrpSpPr>
          <p:nvPr/>
        </p:nvGrpSpPr>
        <p:grpSpPr bwMode="auto">
          <a:xfrm>
            <a:off x="2743200" y="3581400"/>
            <a:ext cx="2819400" cy="2057400"/>
            <a:chOff x="1728" y="2208"/>
            <a:chExt cx="1776" cy="1296"/>
          </a:xfrm>
        </p:grpSpPr>
        <p:sp>
          <p:nvSpPr>
            <p:cNvPr id="18441" name="AutoShape 6"/>
            <p:cNvSpPr>
              <a:spLocks/>
            </p:cNvSpPr>
            <p:nvPr/>
          </p:nvSpPr>
          <p:spPr bwMode="auto">
            <a:xfrm>
              <a:off x="1728" y="2592"/>
              <a:ext cx="144" cy="240"/>
            </a:xfrm>
            <a:prstGeom prst="rightBrace">
              <a:avLst>
                <a:gd name="adj1" fmla="val 1388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18442" name="AutoShape 7"/>
            <p:cNvSpPr>
              <a:spLocks/>
            </p:cNvSpPr>
            <p:nvPr/>
          </p:nvSpPr>
          <p:spPr bwMode="auto">
            <a:xfrm>
              <a:off x="1728" y="2208"/>
              <a:ext cx="144" cy="240"/>
            </a:xfrm>
            <a:prstGeom prst="rightBrace">
              <a:avLst>
                <a:gd name="adj1" fmla="val 1388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18443" name="AutoShape 8"/>
            <p:cNvSpPr>
              <a:spLocks/>
            </p:cNvSpPr>
            <p:nvPr/>
          </p:nvSpPr>
          <p:spPr bwMode="auto">
            <a:xfrm>
              <a:off x="1728" y="2928"/>
              <a:ext cx="144" cy="240"/>
            </a:xfrm>
            <a:prstGeom prst="rightBrace">
              <a:avLst>
                <a:gd name="adj1" fmla="val 1388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18444" name="AutoShape 9"/>
            <p:cNvSpPr>
              <a:spLocks/>
            </p:cNvSpPr>
            <p:nvPr/>
          </p:nvSpPr>
          <p:spPr bwMode="auto">
            <a:xfrm>
              <a:off x="1728" y="3264"/>
              <a:ext cx="144" cy="240"/>
            </a:xfrm>
            <a:prstGeom prst="rightBrace">
              <a:avLst>
                <a:gd name="adj1" fmla="val 1388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18445" name="Line 10"/>
            <p:cNvSpPr>
              <a:spLocks noChangeShapeType="1"/>
            </p:cNvSpPr>
            <p:nvPr/>
          </p:nvSpPr>
          <p:spPr bwMode="auto">
            <a:xfrm>
              <a:off x="1872" y="2334"/>
              <a:ext cx="1632" cy="96"/>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446" name="Line 11"/>
            <p:cNvSpPr>
              <a:spLocks noChangeShapeType="1"/>
            </p:cNvSpPr>
            <p:nvPr/>
          </p:nvSpPr>
          <p:spPr bwMode="auto">
            <a:xfrm flipV="1">
              <a:off x="1872" y="2667"/>
              <a:ext cx="1632" cy="48"/>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447" name="Line 12"/>
            <p:cNvSpPr>
              <a:spLocks noChangeShapeType="1"/>
            </p:cNvSpPr>
            <p:nvPr/>
          </p:nvSpPr>
          <p:spPr bwMode="auto">
            <a:xfrm flipV="1">
              <a:off x="1872" y="2880"/>
              <a:ext cx="1632" cy="171"/>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448" name="Line 13"/>
            <p:cNvSpPr>
              <a:spLocks noChangeShapeType="1"/>
            </p:cNvSpPr>
            <p:nvPr/>
          </p:nvSpPr>
          <p:spPr bwMode="auto">
            <a:xfrm flipV="1">
              <a:off x="1872" y="3090"/>
              <a:ext cx="1632" cy="288"/>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660494" name="Text Box 14"/>
          <p:cNvSpPr txBox="1">
            <a:spLocks noChangeArrowheads="1"/>
          </p:cNvSpPr>
          <p:nvPr/>
        </p:nvSpPr>
        <p:spPr bwMode="auto">
          <a:xfrm>
            <a:off x="5486400" y="58674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vi-VN" sz="2400" b="1" i="1">
                <a:solidFill>
                  <a:srgbClr val="FF0000"/>
                </a:solidFill>
                <a:latin typeface="Tahoma" panose="020B0604030504040204" pitchFamily="34" charset="0"/>
              </a:rPr>
              <a:t>4 kết quả như nhau</a:t>
            </a:r>
            <a:endParaRPr lang="vi-VN" altLang="vi-VN" sz="2400" b="1" i="1">
              <a:solidFill>
                <a:srgbClr val="FF0000"/>
              </a:solidFill>
              <a:latin typeface="Tahoma" panose="020B0604030504040204" pitchFamily="34" charset="0"/>
            </a:endParaRPr>
          </a:p>
        </p:txBody>
      </p:sp>
      <p:sp>
        <p:nvSpPr>
          <p:cNvPr id="18440" name="Rectangle 15"/>
          <p:cNvSpPr>
            <a:spLocks noGrp="1"/>
          </p:cNvSpPr>
          <p:nvPr>
            <p:ph type="title"/>
          </p:nvPr>
        </p:nvSpPr>
        <p:spPr>
          <a:xfrm>
            <a:off x="1763485" y="365127"/>
            <a:ext cx="7199539" cy="549273"/>
          </a:xfrm>
        </p:spPr>
        <p:txBody>
          <a:bodyPr>
            <a:normAutofit fontScale="90000"/>
          </a:bodyPr>
          <a:lstStyle/>
          <a:p>
            <a:r>
              <a:rPr lang="en-US" altLang="vi-VN" b="1">
                <a:solidFill>
                  <a:srgbClr val="0000CC"/>
                </a:solidFill>
              </a:rPr>
              <a:t>Truy</a:t>
            </a:r>
            <a:r>
              <a:rPr lang="en-US" altLang="vi-VN" b="1" dirty="0">
                <a:solidFill>
                  <a:srgbClr val="0000CC"/>
                </a:solidFill>
              </a:rPr>
              <a:t> </a:t>
            </a:r>
            <a:r>
              <a:rPr lang="en-US" altLang="vi-VN" b="1" dirty="0" err="1">
                <a:solidFill>
                  <a:srgbClr val="0000CC"/>
                </a:solidFill>
              </a:rPr>
              <a:t>xuất</a:t>
            </a:r>
            <a:r>
              <a:rPr lang="en-US" altLang="vi-VN" b="1" dirty="0">
                <a:solidFill>
                  <a:srgbClr val="0000CC"/>
                </a:solidFill>
              </a:rPr>
              <a:t> </a:t>
            </a:r>
            <a:r>
              <a:rPr lang="en-US" altLang="vi-VN" b="1" dirty="0" err="1">
                <a:solidFill>
                  <a:srgbClr val="0000CC"/>
                </a:solidFill>
              </a:rPr>
              <a:t>các</a:t>
            </a:r>
            <a:r>
              <a:rPr lang="en-US" altLang="vi-VN" b="1" dirty="0">
                <a:solidFill>
                  <a:srgbClr val="0000CC"/>
                </a:solidFill>
              </a:rPr>
              <a:t> </a:t>
            </a:r>
            <a:r>
              <a:rPr lang="en-US" altLang="vi-VN" b="1" dirty="0" err="1">
                <a:solidFill>
                  <a:srgbClr val="0000CC"/>
                </a:solidFill>
              </a:rPr>
              <a:t>phần</a:t>
            </a:r>
            <a:r>
              <a:rPr lang="en-US" altLang="vi-VN" b="1" dirty="0">
                <a:solidFill>
                  <a:srgbClr val="0000CC"/>
                </a:solidFill>
              </a:rPr>
              <a:t> </a:t>
            </a:r>
            <a:r>
              <a:rPr lang="en-US" altLang="vi-VN" b="1" dirty="0" err="1">
                <a:solidFill>
                  <a:srgbClr val="0000CC"/>
                </a:solidFill>
              </a:rPr>
              <a:t>tử</a:t>
            </a:r>
            <a:r>
              <a:rPr lang="en-US" altLang="vi-VN" b="1" dirty="0">
                <a:solidFill>
                  <a:srgbClr val="0000CC"/>
                </a:solidFill>
              </a:rPr>
              <a:t> </a:t>
            </a:r>
            <a:r>
              <a:rPr lang="en-US" altLang="vi-VN" b="1" dirty="0" err="1">
                <a:solidFill>
                  <a:srgbClr val="0000CC"/>
                </a:solidFill>
              </a:rPr>
              <a:t>trong</a:t>
            </a:r>
            <a:r>
              <a:rPr lang="en-US" altLang="vi-VN" b="1" dirty="0">
                <a:solidFill>
                  <a:srgbClr val="0000CC"/>
                </a:solidFill>
              </a:rPr>
              <a:t> </a:t>
            </a:r>
            <a:r>
              <a:rPr lang="en-US" altLang="vi-VN" b="1" dirty="0" err="1">
                <a:solidFill>
                  <a:srgbClr val="0000CC"/>
                </a:solidFill>
              </a:rPr>
              <a:t>mảng</a:t>
            </a:r>
            <a:endParaRPr lang="en-US" altLang="vi-VN" b="1" dirty="0">
              <a:solidFill>
                <a:srgbClr val="0000CC"/>
              </a:solidFill>
            </a:endParaRPr>
          </a:p>
        </p:txBody>
      </p:sp>
    </p:spTree>
    <p:extLst>
      <p:ext uri="{BB962C8B-B14F-4D97-AF65-F5344CB8AC3E}">
        <p14:creationId xmlns:p14="http://schemas.microsoft.com/office/powerpoint/2010/main" val="2621730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660483"/>
                                        </p:tgtEl>
                                        <p:attrNameLst>
                                          <p:attrName>style.visibility</p:attrName>
                                        </p:attrNameLst>
                                      </p:cBhvr>
                                      <p:to>
                                        <p:strVal val="visible"/>
                                      </p:to>
                                    </p:set>
                                    <p:animEffect transition="in" filter="wheel(4)">
                                      <p:cBhvr>
                                        <p:cTn id="7" dur="2000"/>
                                        <p:tgtEl>
                                          <p:spTgt spid="660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60484"/>
                                        </p:tgtEl>
                                        <p:attrNameLst>
                                          <p:attrName>style.visibility</p:attrName>
                                        </p:attrNameLst>
                                      </p:cBhvr>
                                      <p:to>
                                        <p:strVal val="visible"/>
                                      </p:to>
                                    </p:set>
                                    <p:animEffect transition="in" filter="checkerboard(across)">
                                      <p:cBhvr>
                                        <p:cTn id="12" dur="2000"/>
                                        <p:tgtEl>
                                          <p:spTgt spid="6604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660485"/>
                                        </p:tgtEl>
                                        <p:attrNameLst>
                                          <p:attrName>style.visibility</p:attrName>
                                        </p:attrNameLst>
                                      </p:cBhvr>
                                      <p:to>
                                        <p:strVal val="visible"/>
                                      </p:to>
                                    </p:set>
                                    <p:animEffect transition="in" filter="diamond(in)">
                                      <p:cBhvr>
                                        <p:cTn id="17" dur="2000"/>
                                        <p:tgtEl>
                                          <p:spTgt spid="6604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60494"/>
                                        </p:tgtEl>
                                        <p:attrNameLst>
                                          <p:attrName>style.visibility</p:attrName>
                                        </p:attrNameLst>
                                      </p:cBhvr>
                                      <p:to>
                                        <p:strVal val="visible"/>
                                      </p:to>
                                    </p:set>
                                    <p:anim calcmode="lin" valueType="num">
                                      <p:cBhvr additive="base">
                                        <p:cTn id="22" dur="2000" fill="hold"/>
                                        <p:tgtEl>
                                          <p:spTgt spid="660494"/>
                                        </p:tgtEl>
                                        <p:attrNameLst>
                                          <p:attrName>ppt_x</p:attrName>
                                        </p:attrNameLst>
                                      </p:cBhvr>
                                      <p:tavLst>
                                        <p:tav tm="0">
                                          <p:val>
                                            <p:strVal val="0-#ppt_w/2"/>
                                          </p:val>
                                        </p:tav>
                                        <p:tav tm="100000">
                                          <p:val>
                                            <p:strVal val="#ppt_x"/>
                                          </p:val>
                                        </p:tav>
                                      </p:tavLst>
                                    </p:anim>
                                    <p:anim calcmode="lin" valueType="num">
                                      <p:cBhvr additive="base">
                                        <p:cTn id="23" dur="2000" fill="hold"/>
                                        <p:tgtEl>
                                          <p:spTgt spid="6604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9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244E07-004B-44C0-B42A-17AAEF5AA738}" type="slidenum">
              <a:rPr lang="en-US" altLang="vi-VN">
                <a:solidFill>
                  <a:srgbClr val="FFFF00"/>
                </a:solidFill>
              </a:rPr>
              <a:pPr eaLnBrk="1" hangingPunct="1"/>
              <a:t>20</a:t>
            </a:fld>
            <a:endParaRPr lang="en-GB" altLang="vi-VN">
              <a:solidFill>
                <a:srgbClr val="FFFF00"/>
              </a:solidFill>
            </a:endParaRPr>
          </a:p>
        </p:txBody>
      </p:sp>
      <p:sp>
        <p:nvSpPr>
          <p:cNvPr id="19460" name="Rectangle 3"/>
          <p:cNvSpPr>
            <a:spLocks noGrp="1" noChangeArrowheads="1"/>
          </p:cNvSpPr>
          <p:nvPr>
            <p:ph type="body" idx="1"/>
          </p:nvPr>
        </p:nvSpPr>
        <p:spPr>
          <a:xfrm>
            <a:off x="152400" y="1143000"/>
            <a:ext cx="8915400" cy="1828800"/>
          </a:xfrm>
        </p:spPr>
        <p:txBody>
          <a:bodyPr/>
          <a:lstStyle/>
          <a:p>
            <a:pPr marL="0" indent="0" defTabSz="914400">
              <a:buFont typeface="Wingdings" panose="05000000000000000000" pitchFamily="2" charset="2"/>
              <a:buNone/>
            </a:pPr>
            <a:r>
              <a:rPr lang="en-US" altLang="vi-VN" sz="2400">
                <a:solidFill>
                  <a:srgbClr val="0000CC"/>
                </a:solidFill>
                <a:cs typeface="Arial" panose="020B0604020202020204" pitchFamily="34" charset="0"/>
              </a:rPr>
              <a:t>- Xem 2 cách khai báo sau:</a:t>
            </a:r>
          </a:p>
          <a:p>
            <a:pPr marL="0" indent="0" defTabSz="914400">
              <a:buFont typeface="Wingdings" panose="05000000000000000000" pitchFamily="2" charset="2"/>
              <a:buNone/>
            </a:pPr>
            <a:r>
              <a:rPr lang="en-US" altLang="vi-VN" sz="2400" b="1">
                <a:solidFill>
                  <a:srgbClr val="0000CC"/>
                </a:solidFill>
                <a:cs typeface="Arial" panose="020B0604020202020204" pitchFamily="34" charset="0"/>
              </a:rPr>
              <a:t>	char hoten1[30]; //</a:t>
            </a:r>
            <a:r>
              <a:rPr lang="en-US" altLang="vi-VN" sz="2400" b="1" i="1">
                <a:solidFill>
                  <a:srgbClr val="FF0000"/>
                </a:solidFill>
                <a:cs typeface="Arial" panose="020B0604020202020204" pitchFamily="34" charset="0"/>
              </a:rPr>
              <a:t>Khai báo biến hoten1 là 1 xâu ký </a:t>
            </a:r>
          </a:p>
          <a:p>
            <a:pPr marL="0" indent="0" defTabSz="914400">
              <a:buFont typeface="Wingdings" panose="05000000000000000000" pitchFamily="2" charset="2"/>
              <a:buNone/>
            </a:pPr>
            <a:r>
              <a:rPr lang="en-US" altLang="vi-VN" sz="2400" b="1" i="1">
                <a:solidFill>
                  <a:srgbClr val="FF0000"/>
                </a:solidFill>
                <a:cs typeface="Arial" panose="020B0604020202020204" pitchFamily="34" charset="0"/>
              </a:rPr>
              <a:t>			         tự có tối đa 30 ký tự</a:t>
            </a:r>
          </a:p>
          <a:p>
            <a:pPr marL="0" indent="0" defTabSz="914400">
              <a:buFont typeface="Wingdings" panose="05000000000000000000" pitchFamily="2" charset="2"/>
              <a:buNone/>
            </a:pPr>
            <a:r>
              <a:rPr lang="en-US" altLang="vi-VN" sz="2400" b="1">
                <a:solidFill>
                  <a:srgbClr val="0000CC"/>
                </a:solidFill>
                <a:cs typeface="Arial" panose="020B0604020202020204" pitchFamily="34" charset="0"/>
              </a:rPr>
              <a:t>	char *hoten2; //</a:t>
            </a:r>
            <a:r>
              <a:rPr lang="en-US" altLang="vi-VN" sz="2400" b="1" i="1">
                <a:solidFill>
                  <a:srgbClr val="FF0000"/>
                </a:solidFill>
                <a:cs typeface="Arial" panose="020B0604020202020204" pitchFamily="34" charset="0"/>
              </a:rPr>
              <a:t>Khai báo biến con trỏ hoten2 kiểu char</a:t>
            </a:r>
            <a:endParaRPr lang="en-US" altLang="vi-VN" sz="2400" b="1" i="1">
              <a:solidFill>
                <a:srgbClr val="0000CC"/>
              </a:solidFill>
              <a:cs typeface="Arial" panose="020B0604020202020204" pitchFamily="34" charset="0"/>
            </a:endParaRPr>
          </a:p>
        </p:txBody>
      </p:sp>
      <p:sp>
        <p:nvSpPr>
          <p:cNvPr id="19461" name="Rectangle 4"/>
          <p:cNvSpPr>
            <a:spLocks noChangeArrowheads="1"/>
          </p:cNvSpPr>
          <p:nvPr/>
        </p:nvSpPr>
        <p:spPr bwMode="auto">
          <a:xfrm>
            <a:off x="228600" y="3276600"/>
            <a:ext cx="85344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 typeface="Wingdings" panose="05000000000000000000" pitchFamily="2" charset="2"/>
              <a:buNone/>
            </a:pPr>
            <a:r>
              <a:rPr lang="en-US" altLang="vi-VN" sz="2400">
                <a:solidFill>
                  <a:srgbClr val="0000CC"/>
                </a:solidFill>
              </a:rPr>
              <a:t>- Nếu ta sử dụng các phép gán sau:</a:t>
            </a:r>
          </a:p>
          <a:p>
            <a:pPr algn="l">
              <a:spcBef>
                <a:spcPct val="20000"/>
              </a:spcBef>
              <a:buClr>
                <a:schemeClr val="tx2"/>
              </a:buClr>
              <a:buFont typeface="Wingdings" panose="05000000000000000000" pitchFamily="2" charset="2"/>
              <a:buNone/>
            </a:pPr>
            <a:r>
              <a:rPr lang="en-US" altLang="vi-VN" sz="2400" b="1">
                <a:solidFill>
                  <a:srgbClr val="0000CC"/>
                </a:solidFill>
              </a:rPr>
              <a:t>         	hoten1 = “Nguyen Van A”;  // </a:t>
            </a:r>
            <a:r>
              <a:rPr lang="en-US" altLang="vi-VN" sz="2400" b="1" i="1">
                <a:solidFill>
                  <a:srgbClr val="FF0000"/>
                </a:solidFill>
                <a:sym typeface="Wingdings" panose="05000000000000000000" pitchFamily="2" charset="2"/>
              </a:rPr>
              <a:t> không chấp nhận</a:t>
            </a:r>
            <a:endParaRPr lang="en-US" altLang="vi-VN" sz="2400" b="1" i="1">
              <a:solidFill>
                <a:srgbClr val="FF0000"/>
              </a:solidFill>
            </a:endParaRPr>
          </a:p>
          <a:p>
            <a:pPr algn="l">
              <a:spcBef>
                <a:spcPct val="20000"/>
              </a:spcBef>
              <a:buClr>
                <a:schemeClr val="tx2"/>
              </a:buClr>
              <a:buFont typeface="Wingdings" panose="05000000000000000000" pitchFamily="2" charset="2"/>
              <a:buNone/>
            </a:pPr>
            <a:r>
              <a:rPr lang="en-US" altLang="vi-VN" sz="2400" b="1">
                <a:solidFill>
                  <a:srgbClr val="0000CC"/>
                </a:solidFill>
              </a:rPr>
              <a:t>	hoten2 = “Nguyen Van B”;  //</a:t>
            </a:r>
            <a:r>
              <a:rPr lang="en-US" altLang="vi-VN" sz="2400" b="1" i="1">
                <a:solidFill>
                  <a:srgbClr val="FF0000"/>
                </a:solidFill>
                <a:sym typeface="Wingdings" panose="05000000000000000000" pitchFamily="2" charset="2"/>
              </a:rPr>
              <a:t> chấp nhận</a:t>
            </a:r>
          </a:p>
          <a:p>
            <a:pPr algn="l">
              <a:spcBef>
                <a:spcPct val="20000"/>
              </a:spcBef>
              <a:buClr>
                <a:schemeClr val="tx2"/>
              </a:buClr>
              <a:buFont typeface="Wingdings" panose="05000000000000000000" pitchFamily="2" charset="2"/>
              <a:buNone/>
            </a:pPr>
            <a:r>
              <a:rPr lang="en-US" altLang="vi-VN" sz="2400" b="1" i="1">
                <a:solidFill>
                  <a:srgbClr val="FF0000"/>
                </a:solidFill>
                <a:sym typeface="Wingdings" panose="05000000000000000000" pitchFamily="2" charset="2"/>
              </a:rPr>
              <a:t>	</a:t>
            </a:r>
            <a:endParaRPr lang="en-US" altLang="vi-VN" sz="2400" b="1" i="1">
              <a:solidFill>
                <a:srgbClr val="FF0000"/>
              </a:solidFill>
            </a:endParaRPr>
          </a:p>
        </p:txBody>
      </p:sp>
      <p:sp>
        <p:nvSpPr>
          <p:cNvPr id="19462" name="Rectangle 5"/>
          <p:cNvSpPr>
            <a:spLocks noGrp="1"/>
          </p:cNvSpPr>
          <p:nvPr>
            <p:ph type="title"/>
          </p:nvPr>
        </p:nvSpPr>
        <p:spPr>
          <a:xfrm>
            <a:off x="1850570" y="365126"/>
            <a:ext cx="6664779" cy="886731"/>
          </a:xfrm>
        </p:spPr>
        <p:txBody>
          <a:bodyPr>
            <a:normAutofit/>
          </a:bodyPr>
          <a:lstStyle/>
          <a:p>
            <a:r>
              <a:rPr lang="en-US" altLang="vi-VN" sz="4000" b="1" dirty="0">
                <a:solidFill>
                  <a:srgbClr val="0000CC"/>
                </a:solidFill>
              </a:rPr>
              <a:t>Con </a:t>
            </a:r>
            <a:r>
              <a:rPr lang="en-US" altLang="vi-VN" sz="4000" b="1" dirty="0" err="1">
                <a:solidFill>
                  <a:srgbClr val="0000CC"/>
                </a:solidFill>
              </a:rPr>
              <a:t>trỏ</a:t>
            </a:r>
            <a:r>
              <a:rPr lang="en-US" altLang="vi-VN" sz="4000" b="1" dirty="0">
                <a:solidFill>
                  <a:srgbClr val="0000CC"/>
                </a:solidFill>
              </a:rPr>
              <a:t> </a:t>
            </a:r>
            <a:r>
              <a:rPr lang="en-US" altLang="vi-VN" sz="4000" b="1" dirty="0" err="1">
                <a:solidFill>
                  <a:srgbClr val="0000CC"/>
                </a:solidFill>
              </a:rPr>
              <a:t>và</a:t>
            </a:r>
            <a:r>
              <a:rPr lang="en-US" altLang="vi-VN" sz="4000" b="1" dirty="0">
                <a:solidFill>
                  <a:srgbClr val="0000CC"/>
                </a:solidFill>
              </a:rPr>
              <a:t> </a:t>
            </a:r>
            <a:r>
              <a:rPr lang="en-US" altLang="vi-VN" sz="4000" b="1" dirty="0" err="1">
                <a:solidFill>
                  <a:srgbClr val="0000CC"/>
                </a:solidFill>
              </a:rPr>
              <a:t>xâu</a:t>
            </a:r>
            <a:r>
              <a:rPr lang="en-US" altLang="vi-VN" sz="4000" b="1" dirty="0">
                <a:solidFill>
                  <a:srgbClr val="0000CC"/>
                </a:solidFill>
              </a:rPr>
              <a:t> </a:t>
            </a:r>
            <a:r>
              <a:rPr lang="en-US" altLang="vi-VN" sz="4000" b="1" dirty="0" err="1">
                <a:solidFill>
                  <a:srgbClr val="0000CC"/>
                </a:solidFill>
              </a:rPr>
              <a:t>ký</a:t>
            </a:r>
            <a:r>
              <a:rPr lang="en-US" altLang="vi-VN" sz="4000" b="1" dirty="0">
                <a:solidFill>
                  <a:srgbClr val="0000CC"/>
                </a:solidFill>
              </a:rPr>
              <a:t> </a:t>
            </a:r>
            <a:r>
              <a:rPr lang="en-US" altLang="vi-VN" sz="4000" b="1" dirty="0" err="1">
                <a:solidFill>
                  <a:srgbClr val="0000CC"/>
                </a:solidFill>
              </a:rPr>
              <a:t>tự</a:t>
            </a:r>
            <a:endParaRPr lang="en-US" altLang="vi-VN" sz="4000" b="1" dirty="0">
              <a:solidFill>
                <a:srgbClr val="0000CC"/>
              </a:solidFill>
            </a:endParaRPr>
          </a:p>
        </p:txBody>
      </p:sp>
    </p:spTree>
    <p:extLst>
      <p:ext uri="{BB962C8B-B14F-4D97-AF65-F5344CB8AC3E}">
        <p14:creationId xmlns:p14="http://schemas.microsoft.com/office/powerpoint/2010/main" val="2511423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21</a:t>
            </a:fld>
            <a:endParaRPr lang="en-GB" altLang="vi-VN">
              <a:solidFill>
                <a:srgbClr val="FFFF00"/>
              </a:solidFill>
            </a:endParaRPr>
          </a:p>
        </p:txBody>
      </p:sp>
      <p:sp>
        <p:nvSpPr>
          <p:cNvPr id="20484" name="Rectangle 3"/>
          <p:cNvSpPr>
            <a:spLocks noGrp="1" noChangeArrowheads="1"/>
          </p:cNvSpPr>
          <p:nvPr>
            <p:ph type="body" idx="1"/>
          </p:nvPr>
        </p:nvSpPr>
        <p:spPr>
          <a:xfrm>
            <a:off x="304800" y="1143000"/>
            <a:ext cx="8610600" cy="5334000"/>
          </a:xfrm>
        </p:spPr>
        <p:txBody>
          <a:bodyPr/>
          <a:lstStyle/>
          <a:p>
            <a:pPr marL="0" indent="0" algn="just" defTabSz="914400">
              <a:buFont typeface="Wingdings" panose="05000000000000000000" pitchFamily="2" charset="2"/>
              <a:buNone/>
            </a:pPr>
            <a:r>
              <a:rPr lang="en-US" altLang="vi-VN" sz="2400">
                <a:solidFill>
                  <a:srgbClr val="0000CC"/>
                </a:solidFill>
                <a:cs typeface="Arial" panose="020B0604020202020204" pitchFamily="34" charset="0"/>
              </a:rPr>
              <a:t>Example 1. </a:t>
            </a:r>
            <a:r>
              <a:rPr lang="vi-VN" altLang="vi-VN" sz="2400">
                <a:solidFill>
                  <a:srgbClr val="0000CC"/>
                </a:solidFill>
                <a:cs typeface="Arial" panose="020B0604020202020204" pitchFamily="34" charset="0"/>
              </a:rPr>
              <a:t>Chương trình tạo một mảng số nguyên ngẫu nhiên có n phần tử, giá trị cácphần tử nằm trong khoảng từ -10 đến 10.</a:t>
            </a:r>
            <a:r>
              <a:rPr lang="en-US" altLang="vi-VN" sz="2400">
                <a:solidFill>
                  <a:srgbClr val="0000CC"/>
                </a:solidFill>
                <a:cs typeface="Arial" panose="020B0604020202020204" pitchFamily="34" charset="0"/>
              </a:rPr>
              <a:t> </a:t>
            </a:r>
            <a:r>
              <a:rPr lang="vi-VN" altLang="vi-VN" sz="2400">
                <a:solidFill>
                  <a:srgbClr val="0000CC"/>
                </a:solidFill>
                <a:cs typeface="Arial" panose="020B0604020202020204" pitchFamily="34" charset="0"/>
              </a:rPr>
              <a:t>Thực hiện các chức năng sau:</a:t>
            </a:r>
            <a:endParaRPr lang="en-US" altLang="vi-VN" sz="2400">
              <a:solidFill>
                <a:srgbClr val="0000CC"/>
              </a:solidFill>
              <a:cs typeface="Arial" panose="020B0604020202020204" pitchFamily="34" charset="0"/>
            </a:endParaRPr>
          </a:p>
          <a:p>
            <a:pPr algn="just" defTabSz="914400">
              <a:buFontTx/>
              <a:buChar char="-"/>
            </a:pPr>
            <a:r>
              <a:rPr lang="vi-VN" altLang="vi-VN" sz="2400">
                <a:solidFill>
                  <a:srgbClr val="0000CC"/>
                </a:solidFill>
                <a:cs typeface="Arial" panose="020B0604020202020204" pitchFamily="34" charset="0"/>
              </a:rPr>
              <a:t>In các phần tử ra màn hình</a:t>
            </a:r>
            <a:endParaRPr lang="en-US" altLang="vi-VN" sz="2400">
              <a:solidFill>
                <a:srgbClr val="0000CC"/>
              </a:solidFill>
              <a:cs typeface="Arial" panose="020B0604020202020204" pitchFamily="34" charset="0"/>
            </a:endParaRPr>
          </a:p>
          <a:p>
            <a:pPr algn="just" defTabSz="914400">
              <a:buFontTx/>
              <a:buChar char="-"/>
            </a:pPr>
            <a:r>
              <a:rPr lang="vi-VN" altLang="vi-VN" sz="2400">
                <a:solidFill>
                  <a:srgbClr val="0000CC"/>
                </a:solidFill>
                <a:cs typeface="Arial" panose="020B0604020202020204" pitchFamily="34" charset="0"/>
              </a:rPr>
              <a:t>Thêm 1 phần tử vào đầu mảng</a:t>
            </a:r>
            <a:endParaRPr lang="en-US" altLang="vi-VN" sz="2400">
              <a:solidFill>
                <a:srgbClr val="0000CC"/>
              </a:solidFill>
              <a:cs typeface="Arial" panose="020B0604020202020204" pitchFamily="34" charset="0"/>
            </a:endParaRPr>
          </a:p>
          <a:p>
            <a:pPr algn="just" defTabSz="914400">
              <a:buFontTx/>
              <a:buChar char="-"/>
            </a:pPr>
            <a:r>
              <a:rPr lang="vi-VN" altLang="vi-VN" sz="2400">
                <a:solidFill>
                  <a:srgbClr val="0000CC"/>
                </a:solidFill>
                <a:cs typeface="Arial" panose="020B0604020202020204" pitchFamily="34" charset="0"/>
              </a:rPr>
              <a:t>Thêm 1 phần tử vào cuối mảng</a:t>
            </a:r>
            <a:endParaRPr lang="en-US" altLang="vi-VN" sz="2400">
              <a:solidFill>
                <a:srgbClr val="0000CC"/>
              </a:solidFill>
              <a:cs typeface="Arial" panose="020B0604020202020204" pitchFamily="34" charset="0"/>
            </a:endParaRPr>
          </a:p>
          <a:p>
            <a:pPr algn="just" defTabSz="914400">
              <a:buFontTx/>
              <a:buChar char="-"/>
            </a:pPr>
            <a:r>
              <a:rPr lang="vi-VN" altLang="vi-VN" sz="2400">
                <a:solidFill>
                  <a:srgbClr val="0000CC"/>
                </a:solidFill>
                <a:cs typeface="Arial" panose="020B0604020202020204" pitchFamily="34" charset="0"/>
              </a:rPr>
              <a:t>Thêm 1 phần tử vào vị trí bất kỳ</a:t>
            </a:r>
            <a:endParaRPr lang="en-US" altLang="vi-VN" sz="2400">
              <a:solidFill>
                <a:srgbClr val="0000CC"/>
              </a:solidFill>
              <a:cs typeface="Arial" panose="020B0604020202020204" pitchFamily="34" charset="0"/>
            </a:endParaRPr>
          </a:p>
          <a:p>
            <a:pPr algn="just" defTabSz="914400">
              <a:buFontTx/>
              <a:buChar char="-"/>
            </a:pPr>
            <a:r>
              <a:rPr lang="vi-VN" altLang="vi-VN" sz="2400">
                <a:solidFill>
                  <a:srgbClr val="0000CC"/>
                </a:solidFill>
                <a:cs typeface="Arial" panose="020B0604020202020204" pitchFamily="34" charset="0"/>
              </a:rPr>
              <a:t>Xóa phần tử đầu tiên trong mảng có giá trị bằng x</a:t>
            </a:r>
            <a:r>
              <a:rPr lang="en-US" altLang="vi-VN" sz="2400" dirty="0">
                <a:solidFill>
                  <a:srgbClr val="0000CC"/>
                </a:solidFill>
                <a:cs typeface="Arial" panose="020B0604020202020204" pitchFamily="34" charset="0"/>
              </a:rPr>
              <a:t>	</a:t>
            </a:r>
          </a:p>
          <a:p>
            <a:pPr marL="0" indent="0" algn="just" defTabSz="914400">
              <a:buFont typeface="Wingdings" panose="05000000000000000000" pitchFamily="2" charset="2"/>
              <a:buNone/>
            </a:pPr>
            <a:endParaRPr lang="en-US" altLang="vi-VN" sz="2400" dirty="0">
              <a:solidFill>
                <a:srgbClr val="0000CC"/>
              </a:solidFill>
              <a:cs typeface="Arial" panose="020B0604020202020204" pitchFamily="34" charset="0"/>
            </a:endParaRPr>
          </a:p>
        </p:txBody>
      </p:sp>
      <p:sp>
        <p:nvSpPr>
          <p:cNvPr id="20485" name="Rectangle 4"/>
          <p:cNvSpPr>
            <a:spLocks noGrp="1"/>
          </p:cNvSpPr>
          <p:nvPr>
            <p:ph type="title"/>
          </p:nvPr>
        </p:nvSpPr>
        <p:spPr>
          <a:xfrm>
            <a:off x="1785256" y="365127"/>
            <a:ext cx="6730093" cy="777874"/>
          </a:xfrm>
        </p:spPr>
        <p:txBody>
          <a:bodyPr/>
          <a:lstStyle/>
          <a:p>
            <a:r>
              <a:rPr lang="en-US" altLang="vi-VN" b="1" dirty="0" err="1">
                <a:solidFill>
                  <a:srgbClr val="0000CC"/>
                </a:solidFill>
              </a:rPr>
              <a:t>Bài</a:t>
            </a:r>
            <a:r>
              <a:rPr lang="en-US" altLang="vi-VN" b="1" dirty="0">
                <a:solidFill>
                  <a:srgbClr val="0000CC"/>
                </a:solidFill>
              </a:rPr>
              <a:t> </a:t>
            </a:r>
            <a:r>
              <a:rPr lang="en-US" altLang="vi-VN" b="1" dirty="0" err="1">
                <a:solidFill>
                  <a:srgbClr val="0000CC"/>
                </a:solidFill>
              </a:rPr>
              <a:t>tập</a:t>
            </a:r>
            <a:endParaRPr lang="en-US" altLang="vi-VN" b="1" dirty="0">
              <a:solidFill>
                <a:srgbClr val="0000CC"/>
              </a:solidFill>
            </a:endParaRPr>
          </a:p>
        </p:txBody>
      </p:sp>
    </p:spTree>
    <p:extLst>
      <p:ext uri="{BB962C8B-B14F-4D97-AF65-F5344CB8AC3E}">
        <p14:creationId xmlns:p14="http://schemas.microsoft.com/office/powerpoint/2010/main" val="310649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22</a:t>
            </a:fld>
            <a:endParaRPr lang="en-GB" altLang="vi-VN">
              <a:solidFill>
                <a:srgbClr val="FFFF00"/>
              </a:solidFill>
            </a:endParaRPr>
          </a:p>
        </p:txBody>
      </p:sp>
      <p:sp>
        <p:nvSpPr>
          <p:cNvPr id="20484" name="Rectangle 3"/>
          <p:cNvSpPr>
            <a:spLocks noGrp="1" noChangeArrowheads="1"/>
          </p:cNvSpPr>
          <p:nvPr>
            <p:ph type="body" idx="1"/>
          </p:nvPr>
        </p:nvSpPr>
        <p:spPr>
          <a:xfrm>
            <a:off x="82262" y="1143000"/>
            <a:ext cx="2880014" cy="5479473"/>
          </a:xfrm>
          <a:ln>
            <a:solidFill>
              <a:schemeClr val="accent1"/>
            </a:solidFill>
          </a:ln>
        </p:spPr>
        <p:txBody>
          <a:bodyPr>
            <a:normAutofit lnSpcReduction="10000"/>
          </a:bodyPr>
          <a:lstStyle/>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#include &lt;stdio.h&gt;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#include &lt;stdlib.h&gt;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#include &lt;time.h&gt;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randomInRange(int,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void printArray(int[],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findIndexOfX(int[], 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unshiftArray(int[], 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pushArray(int[], 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insertAtRandomIndex(int[], int, int);</a:t>
            </a:r>
          </a:p>
          <a:p>
            <a:pPr marL="0" indent="0" algn="just" defTabSz="914400">
              <a:buFont typeface="Wingdings" panose="05000000000000000000" pitchFamily="2" charset="2"/>
              <a:buNone/>
            </a:pPr>
            <a:r>
              <a:rPr lang="en-US" altLang="vi-VN" sz="1100">
                <a:solidFill>
                  <a:srgbClr val="0000CC"/>
                </a:solidFill>
                <a:latin typeface="Arial" panose="020B0604020202020204" pitchFamily="34" charset="0"/>
                <a:cs typeface="Arial" panose="020B0604020202020204" pitchFamily="34" charset="0"/>
              </a:rPr>
              <a:t>int deleteAtIndex(int[], int, int);</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int main(void)</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srand(time(0));</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int n, arr[100];</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do</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printf("Nhap so phan tu cua mang: ");</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scanf("%d", &amp;n);</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if (n &lt;= 0)</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printf("Nhap sai, so phan tu cua mang phai &gt; 0!\n");</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1050">
                <a:solidFill>
                  <a:srgbClr val="FF0000"/>
                </a:solidFill>
                <a:effectLst/>
                <a:latin typeface="Arial" panose="020B0604020202020204" pitchFamily="34" charset="0"/>
                <a:ea typeface="Calibri" panose="020F0502020204030204" pitchFamily="34" charset="0"/>
                <a:cs typeface="Arial" panose="020B0604020202020204" pitchFamily="34" charset="0"/>
              </a:rPr>
              <a:t>    } while (n &lt;= 0); </a:t>
            </a:r>
            <a:endParaRPr lang="en-US" altLang="vi-VN" sz="100">
              <a:solidFill>
                <a:srgbClr val="FF0000"/>
              </a:solidFill>
              <a:latin typeface="Arial" panose="020B0604020202020204" pitchFamily="34" charset="0"/>
              <a:cs typeface="Arial" panose="020B0604020202020204" pitchFamily="34" charset="0"/>
            </a:endParaRPr>
          </a:p>
        </p:txBody>
      </p:sp>
      <p:sp>
        <p:nvSpPr>
          <p:cNvPr id="20485" name="Rectangle 4"/>
          <p:cNvSpPr>
            <a:spLocks noGrp="1"/>
          </p:cNvSpPr>
          <p:nvPr>
            <p:ph type="title"/>
          </p:nvPr>
        </p:nvSpPr>
        <p:spPr>
          <a:xfrm>
            <a:off x="1785256" y="365127"/>
            <a:ext cx="6730093" cy="657883"/>
          </a:xfrm>
        </p:spPr>
        <p:txBody>
          <a:bodyPr>
            <a:normAutofit/>
          </a:bodyPr>
          <a:lstStyle/>
          <a:p>
            <a:r>
              <a:rPr lang="en-US" altLang="vi-VN" sz="3200" b="1">
                <a:solidFill>
                  <a:srgbClr val="0000CC"/>
                </a:solidFill>
              </a:rPr>
              <a:t>Giải </a:t>
            </a:r>
            <a:r>
              <a:rPr lang="en-US" altLang="vi-VN" sz="3200" b="1">
                <a:solidFill>
                  <a:srgbClr val="0000CC"/>
                </a:solidFill>
                <a:cs typeface="Arial" panose="020B0604020202020204" pitchFamily="34" charset="0"/>
              </a:rPr>
              <a:t>Example 1</a:t>
            </a:r>
            <a:endParaRPr lang="en-US" altLang="vi-VN" sz="3200" b="1" dirty="0">
              <a:solidFill>
                <a:srgbClr val="0000CC"/>
              </a:solidFill>
            </a:endParaRPr>
          </a:p>
        </p:txBody>
      </p:sp>
      <p:sp>
        <p:nvSpPr>
          <p:cNvPr id="7" name="TextBox 6">
            <a:extLst>
              <a:ext uri="{FF2B5EF4-FFF2-40B4-BE49-F238E27FC236}">
                <a16:creationId xmlns:a16="http://schemas.microsoft.com/office/drawing/2014/main" id="{3B884783-F911-4CAF-9D43-F4C40F20CBCF}"/>
              </a:ext>
            </a:extLst>
          </p:cNvPr>
          <p:cNvSpPr txBox="1"/>
          <p:nvPr/>
        </p:nvSpPr>
        <p:spPr>
          <a:xfrm>
            <a:off x="6057900" y="1159889"/>
            <a:ext cx="3086100" cy="5395388"/>
          </a:xfrm>
          <a:prstGeom prst="rect">
            <a:avLst/>
          </a:prstGeom>
          <a:noFill/>
          <a:ln>
            <a:solidFill>
              <a:schemeClr val="accent1"/>
            </a:solidFill>
          </a:ln>
        </p:spPr>
        <p:txBody>
          <a:bodyPr wrap="square">
            <a:spAutoFit/>
          </a:bodyPr>
          <a:lstStyle/>
          <a:p>
            <a:pPr marL="114300">
              <a:lnSpc>
                <a:spcPct val="120000"/>
              </a:lnSpc>
              <a:spcBef>
                <a:spcPts val="0"/>
              </a:spcBef>
              <a:buNone/>
            </a:pP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printf("- Them 1 phan tu vao vi tri bat ki trong mang\n");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int c;</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printf("\tNhap phan tu can them: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scanf("%d", &amp;c);</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    n = insertAtRandomIndex(arr, n, c);</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printf("\tCac phan tu cua mang la: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printArray(arr, 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printf("- Xoa phan tu dau tien trong mang co gia tri bang x\n");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int x;</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printf("\tNhap x can tim: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scanf("%d", &amp;x);</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    int indexToDelete = findIndexOfX(arr, n, x);</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if (indexToDelete == -1)</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printf("\t%d khong co trong mang da cho\n", x);</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else</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r>
              <a:rPr lang="en-US" sz="900">
                <a:solidFill>
                  <a:srgbClr val="FF0000"/>
                </a:solidFill>
                <a:effectLst/>
                <a:latin typeface="Arial" panose="020B0604020202020204" pitchFamily="34" charset="0"/>
                <a:ea typeface="Calibri" panose="020F0502020204030204" pitchFamily="34" charset="0"/>
                <a:cs typeface="Arial" panose="020B0604020202020204" pitchFamily="34" charset="0"/>
              </a:rPr>
              <a:t>  </a:t>
            </a: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n = deleteAtIndex(arr, n, indexToDelete);</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printf("\tCac phan tu cua mang la: ");</a:t>
            </a:r>
          </a:p>
          <a:p>
            <a:pPr marL="0" indent="0">
              <a:lnSpc>
                <a:spcPct val="120000"/>
              </a:lnSpc>
              <a:spcBef>
                <a:spcPts val="0"/>
              </a:spcBef>
              <a:buNone/>
            </a:pP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    printArray(arr, 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printf("\n");</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printf("Bam ENTER de tat chuong trinh...");</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    return 0;</a:t>
            </a:r>
          </a:p>
          <a:p>
            <a:pPr marL="0" indent="0">
              <a:lnSpc>
                <a:spcPct val="120000"/>
              </a:lnSpc>
              <a:spcBef>
                <a:spcPts val="0"/>
              </a:spcBef>
              <a:buNone/>
            </a:pPr>
            <a:r>
              <a:rPr lang="en-US" sz="900">
                <a:solidFill>
                  <a:srgbClr val="0000CC"/>
                </a:solidFill>
                <a:effectLst/>
                <a:latin typeface="Arial" panose="020B0604020202020204" pitchFamily="34" charset="0"/>
                <a:ea typeface="Calibri" panose="020F0502020204030204" pitchFamily="34" charset="0"/>
                <a:cs typeface="Arial" panose="020B0604020202020204" pitchFamily="34" charset="0"/>
              </a:rPr>
              <a:t>}</a:t>
            </a:r>
            <a:endParaRPr lang="en-US" sz="700">
              <a:solidFill>
                <a:srgbClr val="0000CC"/>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04D6B122-49C9-4339-9AC7-B5269967756C}"/>
              </a:ext>
            </a:extLst>
          </p:cNvPr>
          <p:cNvSpPr txBox="1"/>
          <p:nvPr/>
        </p:nvSpPr>
        <p:spPr>
          <a:xfrm>
            <a:off x="3028950" y="1143000"/>
            <a:ext cx="2880014" cy="5615320"/>
          </a:xfrm>
          <a:prstGeom prst="rect">
            <a:avLst/>
          </a:prstGeom>
          <a:noFill/>
          <a:ln>
            <a:solidFill>
              <a:schemeClr val="accent1"/>
            </a:solidFill>
          </a:ln>
        </p:spPr>
        <p:txBody>
          <a:bodyPr wrap="square">
            <a:spAutoFit/>
          </a:bodyPr>
          <a:lstStyle/>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for (int i = 0; i &lt; n; i++)</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arr[i] = randomInRange(-10, 10);</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printf("- Cac phan tu cua mang la: ");</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printArray(arr, n);</a:t>
            </a:r>
          </a:p>
          <a:p>
            <a:pPr marL="0" indent="0">
              <a:lnSpc>
                <a:spcPct val="120000"/>
              </a:lnSpc>
              <a:spcBef>
                <a:spcPts val="0"/>
              </a:spcBef>
              <a:buNone/>
            </a:pPr>
            <a:r>
              <a:rPr lang="en-US" sz="1000" b="1">
                <a:solidFill>
                  <a:schemeClr val="accent2">
                    <a:lumMod val="75000"/>
                  </a:schemeClr>
                </a:solidFill>
                <a:effectLst/>
                <a:latin typeface="Arial" panose="020B0604020202020204" pitchFamily="34" charset="0"/>
                <a:ea typeface="Calibri" panose="020F0502020204030204" pitchFamily="34" charset="0"/>
                <a:cs typeface="Arial" panose="020B0604020202020204" pitchFamily="34" charset="0"/>
              </a:rPr>
              <a:t>    printf("\n");</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a:t>
            </a: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printf("- Them 1 phan tu vao dau mang\n");</a:t>
            </a:r>
            <a:endParaRPr lang="en-US" sz="1000" b="1">
              <a:solidFill>
                <a:srgbClr val="FF0000"/>
              </a:solidFill>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int a;</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printf("\tNhap phan tu can them: ");</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scanf("%d", &amp;a);</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1000" b="1">
                <a:solidFill>
                  <a:srgbClr val="FF0000"/>
                </a:solidFill>
                <a:effectLst/>
                <a:latin typeface="Arial" panose="020B0604020202020204" pitchFamily="34" charset="0"/>
                <a:ea typeface="Calibri" panose="020F0502020204030204" pitchFamily="34" charset="0"/>
                <a:cs typeface="Arial" panose="020B0604020202020204" pitchFamily="34" charset="0"/>
              </a:rPr>
              <a:t>    n = unshiftArray(arr, n, a);</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printf("\tCac phan tu cua mang la: ");</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printArray(arr, n);</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printf("\n");</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a:t>
            </a:r>
            <a:r>
              <a:rPr lang="en-US" sz="900" b="1">
                <a:solidFill>
                  <a:srgbClr val="FF0000"/>
                </a:solidFill>
                <a:effectLst/>
                <a:latin typeface="Arial" panose="020B0604020202020204" pitchFamily="34" charset="0"/>
                <a:ea typeface="Calibri" panose="020F0502020204030204" pitchFamily="34" charset="0"/>
                <a:cs typeface="Arial" panose="020B0604020202020204" pitchFamily="34" charset="0"/>
              </a:rPr>
              <a:t>printf("- Them 1 phan tu vao cuoi mang\n");</a:t>
            </a:r>
            <a:endParaRPr lang="en-US" sz="1000" b="1">
              <a:solidFill>
                <a:srgbClr val="FF0000"/>
              </a:solidFill>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int b;</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printf("\tNhap phan tu can them: ");</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scanf("%d", &amp;b);</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getchar();</a:t>
            </a:r>
          </a:p>
          <a:p>
            <a:pPr marL="0" indent="0">
              <a:lnSpc>
                <a:spcPct val="120000"/>
              </a:lnSpc>
              <a:spcBef>
                <a:spcPts val="0"/>
              </a:spcBef>
              <a:buNone/>
            </a:pPr>
            <a:r>
              <a:rPr lang="en-US" sz="1000" b="1">
                <a:solidFill>
                  <a:srgbClr val="FF0000"/>
                </a:solidFill>
                <a:effectLst/>
                <a:latin typeface="Arial" panose="020B0604020202020204" pitchFamily="34" charset="0"/>
                <a:ea typeface="Calibri" panose="020F0502020204030204" pitchFamily="34" charset="0"/>
                <a:cs typeface="Arial" panose="020B0604020202020204" pitchFamily="34" charset="0"/>
              </a:rPr>
              <a:t>    n = pushArray(arr, n, b);</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printf("\tCac phan tu cua mang la: ");</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printArray(arr, n);</a:t>
            </a:r>
          </a:p>
          <a:p>
            <a:pPr marL="0" indent="0">
              <a:lnSpc>
                <a:spcPct val="120000"/>
              </a:lnSpc>
              <a:spcBef>
                <a:spcPts val="0"/>
              </a:spcBef>
              <a:buNone/>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    printf("\n");</a:t>
            </a:r>
          </a:p>
          <a:p>
            <a:pPr marL="0" indent="0">
              <a:lnSpc>
                <a:spcPct val="120000"/>
              </a:lnSpc>
              <a:spcBef>
                <a:spcPts val="0"/>
              </a:spcBef>
              <a:buNone/>
            </a:pPr>
            <a:endParaRPr lang="en-US" sz="1000">
              <a:solidFill>
                <a:srgbClr val="0000CC"/>
              </a:solidFill>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en-US" sz="1000">
              <a:solidFill>
                <a:srgbClr val="0000CC"/>
              </a:solidFill>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30085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23</a:t>
            </a:fld>
            <a:endParaRPr lang="en-GB" altLang="vi-VN">
              <a:solidFill>
                <a:srgbClr val="FFFF00"/>
              </a:solidFill>
            </a:endParaRPr>
          </a:p>
        </p:txBody>
      </p:sp>
      <p:sp>
        <p:nvSpPr>
          <p:cNvPr id="20484" name="Rectangle 3"/>
          <p:cNvSpPr>
            <a:spLocks noGrp="1" noChangeArrowheads="1"/>
          </p:cNvSpPr>
          <p:nvPr>
            <p:ph type="body" idx="1"/>
          </p:nvPr>
        </p:nvSpPr>
        <p:spPr>
          <a:xfrm>
            <a:off x="82262" y="1143000"/>
            <a:ext cx="2880014" cy="5213351"/>
          </a:xfrm>
          <a:ln>
            <a:solidFill>
              <a:schemeClr val="accent1"/>
            </a:solidFill>
          </a:ln>
        </p:spPr>
        <p:txBody>
          <a:bodyPr>
            <a:noAutofit/>
          </a:bodyPr>
          <a:lstStyle/>
          <a:p>
            <a:pPr marL="0" indent="0">
              <a:lnSpc>
                <a:spcPct val="100000"/>
              </a:lnSpc>
              <a:spcBef>
                <a:spcPts val="0"/>
              </a:spcBef>
              <a:buNone/>
            </a:pPr>
            <a:r>
              <a:rPr lang="en-US" sz="1000" b="1">
                <a:solidFill>
                  <a:srgbClr val="FF0000"/>
                </a:solidFill>
                <a:latin typeface="Arial" panose="020B0604020202020204" pitchFamily="34" charset="0"/>
                <a:cs typeface="Arial" panose="020B0604020202020204" pitchFamily="34" charset="0"/>
              </a:rPr>
              <a:t>int randomInRange(int min, int max)</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return (rand() % (max - min + 1)) + min;</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r>
              <a:rPr lang="en-US" sz="1000" b="1">
                <a:solidFill>
                  <a:srgbClr val="FF0000"/>
                </a:solidFill>
                <a:latin typeface="Arial" panose="020B0604020202020204" pitchFamily="34" charset="0"/>
                <a:cs typeface="Arial" panose="020B0604020202020204" pitchFamily="34" charset="0"/>
              </a:rPr>
              <a:t>void printArray(int arr[], int n)</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for (int i = 0; i &lt; n; i++)</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printf("%d ", arr[i]);</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r>
              <a:rPr lang="en-US" sz="1000" b="1">
                <a:solidFill>
                  <a:srgbClr val="FF0000"/>
                </a:solidFill>
                <a:latin typeface="Arial" panose="020B0604020202020204" pitchFamily="34" charset="0"/>
                <a:cs typeface="Arial" panose="020B0604020202020204" pitchFamily="34" charset="0"/>
              </a:rPr>
              <a:t> int unshiftArray(int arr[], int n, int new)</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for (int i = n; i &gt; 0; i--)</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arr[i] = arr[i - 1];</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arr[0] = new;</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     return n + 1;</a:t>
            </a:r>
          </a:p>
          <a:p>
            <a:pPr marL="0" indent="0">
              <a:lnSpc>
                <a:spcPct val="100000"/>
              </a:lnSpc>
              <a:spcBef>
                <a:spcPts val="0"/>
              </a:spcBef>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spcAft>
                <a:spcPts val="800"/>
              </a:spcAft>
              <a:buNone/>
            </a:pPr>
            <a:r>
              <a:rPr lang="en-US" sz="1000" b="1">
                <a:solidFill>
                  <a:srgbClr val="FF0000"/>
                </a:solidFill>
                <a:latin typeface="Arial" panose="020B0604020202020204" pitchFamily="34" charset="0"/>
                <a:cs typeface="Arial" panose="020B0604020202020204" pitchFamily="34" charset="0"/>
              </a:rPr>
              <a:t>int pushArray(int arr[], int n, int new)</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arr[n] = new;</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return n + 1;</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buNone/>
            </a:pPr>
            <a:endParaRPr lang="en-US" altLang="vi-VN" sz="1000">
              <a:solidFill>
                <a:srgbClr val="0000CC"/>
              </a:solidFill>
              <a:latin typeface="Arial" panose="020B0604020202020204" pitchFamily="34" charset="0"/>
              <a:cs typeface="Arial" panose="020B0604020202020204" pitchFamily="34" charset="0"/>
            </a:endParaRPr>
          </a:p>
        </p:txBody>
      </p:sp>
      <p:sp>
        <p:nvSpPr>
          <p:cNvPr id="20485" name="Rectangle 4"/>
          <p:cNvSpPr>
            <a:spLocks noGrp="1"/>
          </p:cNvSpPr>
          <p:nvPr>
            <p:ph type="title"/>
          </p:nvPr>
        </p:nvSpPr>
        <p:spPr>
          <a:xfrm>
            <a:off x="1785256" y="365127"/>
            <a:ext cx="6730093" cy="657883"/>
          </a:xfrm>
        </p:spPr>
        <p:txBody>
          <a:bodyPr>
            <a:normAutofit/>
          </a:bodyPr>
          <a:lstStyle/>
          <a:p>
            <a:r>
              <a:rPr lang="en-US" altLang="vi-VN" sz="3200" b="1">
                <a:solidFill>
                  <a:srgbClr val="0000CC"/>
                </a:solidFill>
              </a:rPr>
              <a:t>Giải </a:t>
            </a:r>
            <a:r>
              <a:rPr lang="en-US" altLang="vi-VN" sz="3200" b="1">
                <a:solidFill>
                  <a:srgbClr val="0000CC"/>
                </a:solidFill>
                <a:cs typeface="Arial" panose="020B0604020202020204" pitchFamily="34" charset="0"/>
              </a:rPr>
              <a:t>Example 1 (tiếp theo)</a:t>
            </a:r>
            <a:endParaRPr lang="en-US" altLang="vi-VN" sz="3200" b="1" dirty="0">
              <a:solidFill>
                <a:srgbClr val="0000CC"/>
              </a:solidFill>
            </a:endParaRPr>
          </a:p>
        </p:txBody>
      </p:sp>
      <p:sp>
        <p:nvSpPr>
          <p:cNvPr id="7" name="TextBox 6">
            <a:extLst>
              <a:ext uri="{FF2B5EF4-FFF2-40B4-BE49-F238E27FC236}">
                <a16:creationId xmlns:a16="http://schemas.microsoft.com/office/drawing/2014/main" id="{3B884783-F911-4CAF-9D43-F4C40F20CBCF}"/>
              </a:ext>
            </a:extLst>
          </p:cNvPr>
          <p:cNvSpPr txBox="1"/>
          <p:nvPr/>
        </p:nvSpPr>
        <p:spPr>
          <a:xfrm>
            <a:off x="6057900" y="1159889"/>
            <a:ext cx="3086100" cy="2882840"/>
          </a:xfrm>
          <a:prstGeom prst="rect">
            <a:avLst/>
          </a:prstGeom>
          <a:noFill/>
          <a:ln>
            <a:solidFill>
              <a:schemeClr val="accent1"/>
            </a:solidFill>
          </a:ln>
        </p:spPr>
        <p:txBody>
          <a:bodyPr wrap="square">
            <a:spAutoFit/>
          </a:bodyPr>
          <a:lstStyle/>
          <a:p>
            <a:pPr>
              <a:spcAft>
                <a:spcPts val="800"/>
              </a:spcAft>
            </a:pPr>
            <a:r>
              <a:rPr lang="en-US" sz="900" b="1">
                <a:solidFill>
                  <a:srgbClr val="FF0000"/>
                </a:solidFill>
                <a:latin typeface="Arial" panose="020B0604020202020204" pitchFamily="34" charset="0"/>
                <a:cs typeface="Arial" panose="020B0604020202020204" pitchFamily="34" charset="0"/>
              </a:rPr>
              <a:t>int findIndexOfX(int arr[], int n, int x)</a:t>
            </a:r>
          </a:p>
          <a:p>
            <a:pPr>
              <a:spcAft>
                <a:spcPts val="800"/>
              </a:spcAft>
            </a:pPr>
            <a:r>
              <a:rPr lang="en-US" sz="900">
                <a:solidFill>
                  <a:srgbClr val="0000CC"/>
                </a:solidFill>
                <a:latin typeface="Arial" panose="020B0604020202020204" pitchFamily="34" charset="0"/>
                <a:cs typeface="Arial" panose="020B0604020202020204" pitchFamily="34" charset="0"/>
              </a:rPr>
              <a:t>{</a:t>
            </a:r>
          </a:p>
          <a:p>
            <a:pPr>
              <a:spcAft>
                <a:spcPts val="800"/>
              </a:spcAft>
            </a:pPr>
            <a:r>
              <a:rPr lang="en-US" sz="900">
                <a:solidFill>
                  <a:srgbClr val="0000CC"/>
                </a:solidFill>
                <a:latin typeface="Arial" panose="020B0604020202020204" pitchFamily="34" charset="0"/>
                <a:cs typeface="Arial" panose="020B0604020202020204" pitchFamily="34" charset="0"/>
              </a:rPr>
              <a:t>    for (int i = 0; i &lt; n; i++)</a:t>
            </a:r>
          </a:p>
          <a:p>
            <a:pPr>
              <a:spcAft>
                <a:spcPts val="800"/>
              </a:spcAft>
            </a:pPr>
            <a:r>
              <a:rPr lang="en-US" sz="900">
                <a:solidFill>
                  <a:srgbClr val="0000CC"/>
                </a:solidFill>
                <a:latin typeface="Arial" panose="020B0604020202020204" pitchFamily="34" charset="0"/>
                <a:cs typeface="Arial" panose="020B0604020202020204" pitchFamily="34" charset="0"/>
              </a:rPr>
              <a:t>    {</a:t>
            </a:r>
          </a:p>
          <a:p>
            <a:pPr>
              <a:spcAft>
                <a:spcPts val="800"/>
              </a:spcAft>
            </a:pPr>
            <a:r>
              <a:rPr lang="en-US" sz="900">
                <a:solidFill>
                  <a:srgbClr val="0000CC"/>
                </a:solidFill>
                <a:latin typeface="Arial" panose="020B0604020202020204" pitchFamily="34" charset="0"/>
                <a:cs typeface="Arial" panose="020B0604020202020204" pitchFamily="34" charset="0"/>
              </a:rPr>
              <a:t>        if (arr[i] == x)</a:t>
            </a:r>
          </a:p>
          <a:p>
            <a:pPr>
              <a:spcAft>
                <a:spcPts val="800"/>
              </a:spcAft>
            </a:pPr>
            <a:r>
              <a:rPr lang="en-US" sz="900">
                <a:solidFill>
                  <a:srgbClr val="0000CC"/>
                </a:solidFill>
                <a:latin typeface="Arial" panose="020B0604020202020204" pitchFamily="34" charset="0"/>
                <a:cs typeface="Arial" panose="020B0604020202020204" pitchFamily="34" charset="0"/>
              </a:rPr>
              <a:t>        {</a:t>
            </a:r>
          </a:p>
          <a:p>
            <a:pPr>
              <a:spcAft>
                <a:spcPts val="800"/>
              </a:spcAft>
            </a:pPr>
            <a:r>
              <a:rPr lang="en-US" sz="900">
                <a:solidFill>
                  <a:srgbClr val="0000CC"/>
                </a:solidFill>
                <a:latin typeface="Arial" panose="020B0604020202020204" pitchFamily="34" charset="0"/>
                <a:cs typeface="Arial" panose="020B0604020202020204" pitchFamily="34" charset="0"/>
              </a:rPr>
              <a:t>            return i;</a:t>
            </a:r>
          </a:p>
          <a:p>
            <a:pPr>
              <a:spcAft>
                <a:spcPts val="800"/>
              </a:spcAft>
            </a:pPr>
            <a:r>
              <a:rPr lang="en-US" sz="900">
                <a:solidFill>
                  <a:srgbClr val="0000CC"/>
                </a:solidFill>
                <a:latin typeface="Arial" panose="020B0604020202020204" pitchFamily="34" charset="0"/>
                <a:cs typeface="Arial" panose="020B0604020202020204" pitchFamily="34" charset="0"/>
              </a:rPr>
              <a:t>        }</a:t>
            </a:r>
          </a:p>
          <a:p>
            <a:pPr>
              <a:spcAft>
                <a:spcPts val="800"/>
              </a:spcAft>
            </a:pPr>
            <a:r>
              <a:rPr lang="en-US" sz="900">
                <a:solidFill>
                  <a:srgbClr val="0000CC"/>
                </a:solidFill>
                <a:latin typeface="Arial" panose="020B0604020202020204" pitchFamily="34" charset="0"/>
                <a:cs typeface="Arial" panose="020B0604020202020204" pitchFamily="34" charset="0"/>
              </a:rPr>
              <a:t>    }</a:t>
            </a:r>
          </a:p>
          <a:p>
            <a:pPr>
              <a:spcAft>
                <a:spcPts val="800"/>
              </a:spcAft>
            </a:pPr>
            <a:r>
              <a:rPr lang="en-US" sz="900">
                <a:solidFill>
                  <a:srgbClr val="0000CC"/>
                </a:solidFill>
                <a:latin typeface="Arial" panose="020B0604020202020204" pitchFamily="34" charset="0"/>
                <a:cs typeface="Arial" panose="020B0604020202020204" pitchFamily="34" charset="0"/>
              </a:rPr>
              <a:t>     return -1;</a:t>
            </a:r>
          </a:p>
          <a:p>
            <a:pPr>
              <a:spcAft>
                <a:spcPts val="800"/>
              </a:spcAft>
            </a:pPr>
            <a:r>
              <a:rPr lang="en-US" sz="900">
                <a:solidFill>
                  <a:srgbClr val="0000CC"/>
                </a:solidFill>
                <a:latin typeface="Arial" panose="020B0604020202020204" pitchFamily="34" charset="0"/>
                <a:cs typeface="Arial" panose="020B0604020202020204" pitchFamily="34" charset="0"/>
              </a:rPr>
              <a:t>}</a:t>
            </a:r>
          </a:p>
          <a:p>
            <a:pPr>
              <a:spcAft>
                <a:spcPts val="800"/>
              </a:spcAft>
            </a:pPr>
            <a:endParaRPr lang="en-US" sz="900">
              <a:solidFill>
                <a:srgbClr val="0000CC"/>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4D6B122-49C9-4339-9AC7-B5269967756C}"/>
              </a:ext>
            </a:extLst>
          </p:cNvPr>
          <p:cNvSpPr txBox="1"/>
          <p:nvPr/>
        </p:nvSpPr>
        <p:spPr>
          <a:xfrm>
            <a:off x="3028950" y="1143000"/>
            <a:ext cx="2880014" cy="5457904"/>
          </a:xfrm>
          <a:prstGeom prst="rect">
            <a:avLst/>
          </a:prstGeom>
          <a:noFill/>
          <a:ln>
            <a:solidFill>
              <a:schemeClr val="accent1"/>
            </a:solidFill>
          </a:ln>
        </p:spPr>
        <p:txBody>
          <a:bodyPr wrap="square">
            <a:spAutoFit/>
          </a:bodyPr>
          <a:lstStyle/>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t>
            </a:r>
            <a:r>
              <a:rPr lang="en-US" sz="900" b="1">
                <a:solidFill>
                  <a:srgbClr val="FF0000"/>
                </a:solidFill>
                <a:latin typeface="Arial" panose="020B0604020202020204" pitchFamily="34" charset="0"/>
                <a:cs typeface="Arial" panose="020B0604020202020204" pitchFamily="34" charset="0"/>
              </a:rPr>
              <a:t>int insertAtRandomIndex(int arr[], int n, int new)</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int indexToInsert = randomInRange(0, n);</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for (int i = n + 1; i &gt; indexToInsert; i--)</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arr[i] = arr[i - 1];</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arr[indexToInsert] = new;</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return n + 1;</a:t>
            </a:r>
          </a:p>
          <a:p>
            <a:pPr marL="0" indent="0">
              <a:lnSpc>
                <a:spcPct val="10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a:t>
            </a:r>
          </a:p>
          <a:p>
            <a:pPr marL="0" indent="0">
              <a:lnSpc>
                <a:spcPct val="120000"/>
              </a:lnSpc>
              <a:spcBef>
                <a:spcPts val="0"/>
              </a:spcBef>
              <a:buNone/>
            </a:pPr>
            <a:endPar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endParaRPr>
          </a:p>
          <a:p>
            <a:pPr>
              <a:spcAft>
                <a:spcPts val="800"/>
              </a:spcAft>
            </a:pPr>
            <a:r>
              <a:rPr lang="en-US" sz="1000" b="1">
                <a:solidFill>
                  <a:srgbClr val="FF0000"/>
                </a:solidFill>
                <a:latin typeface="Arial" panose="020B0604020202020204" pitchFamily="34" charset="0"/>
                <a:cs typeface="Arial" panose="020B0604020202020204" pitchFamily="34" charset="0"/>
              </a:rPr>
              <a:t>int deleteAtIndex(int arr[], int n, int index)</a:t>
            </a:r>
          </a:p>
          <a:p>
            <a:pPr>
              <a:spcAft>
                <a:spcPts val="800"/>
              </a:spcAft>
            </a:pPr>
            <a:r>
              <a:rPr lang="en-US" sz="1000">
                <a:solidFill>
                  <a:srgbClr val="0000CC"/>
                </a:solidFill>
                <a:latin typeface="Arial" panose="020B0604020202020204" pitchFamily="34" charset="0"/>
                <a:cs typeface="Arial" panose="020B0604020202020204" pitchFamily="34" charset="0"/>
              </a:rPr>
              <a:t>{</a:t>
            </a:r>
          </a:p>
          <a:p>
            <a:pPr>
              <a:spcAft>
                <a:spcPts val="800"/>
              </a:spcAft>
            </a:pPr>
            <a:r>
              <a:rPr lang="en-US" sz="1000">
                <a:solidFill>
                  <a:srgbClr val="0000CC"/>
                </a:solidFill>
                <a:latin typeface="Arial" panose="020B0604020202020204" pitchFamily="34" charset="0"/>
                <a:cs typeface="Arial" panose="020B0604020202020204" pitchFamily="34" charset="0"/>
              </a:rPr>
              <a:t>    for (int i = index; i &lt; n - 1; i++)</a:t>
            </a:r>
          </a:p>
          <a:p>
            <a:pPr>
              <a:spcAft>
                <a:spcPts val="800"/>
              </a:spcAft>
            </a:pPr>
            <a:r>
              <a:rPr lang="en-US" sz="1000">
                <a:solidFill>
                  <a:srgbClr val="0000CC"/>
                </a:solidFill>
                <a:latin typeface="Arial" panose="020B0604020202020204" pitchFamily="34" charset="0"/>
                <a:cs typeface="Arial" panose="020B0604020202020204" pitchFamily="34" charset="0"/>
              </a:rPr>
              <a:t>    {</a:t>
            </a:r>
          </a:p>
          <a:p>
            <a:pPr>
              <a:spcAft>
                <a:spcPts val="800"/>
              </a:spcAft>
            </a:pPr>
            <a:r>
              <a:rPr lang="en-US" sz="1000">
                <a:solidFill>
                  <a:srgbClr val="0000CC"/>
                </a:solidFill>
                <a:latin typeface="Arial" panose="020B0604020202020204" pitchFamily="34" charset="0"/>
                <a:cs typeface="Arial" panose="020B0604020202020204" pitchFamily="34" charset="0"/>
              </a:rPr>
              <a:t>        arr[i] = arr[i + 1];</a:t>
            </a:r>
          </a:p>
          <a:p>
            <a:pPr>
              <a:spcAft>
                <a:spcPts val="800"/>
              </a:spcAft>
            </a:pPr>
            <a:r>
              <a:rPr lang="en-US" sz="1000">
                <a:solidFill>
                  <a:srgbClr val="0000CC"/>
                </a:solidFill>
                <a:latin typeface="Arial" panose="020B0604020202020204" pitchFamily="34" charset="0"/>
                <a:cs typeface="Arial" panose="020B0604020202020204" pitchFamily="34" charset="0"/>
              </a:rPr>
              <a:t>    }</a:t>
            </a:r>
          </a:p>
          <a:p>
            <a:pPr>
              <a:spcAft>
                <a:spcPts val="800"/>
              </a:spcAft>
            </a:pPr>
            <a:r>
              <a:rPr lang="en-US" sz="1000">
                <a:solidFill>
                  <a:srgbClr val="0000CC"/>
                </a:solidFill>
                <a:latin typeface="Arial" panose="020B0604020202020204" pitchFamily="34" charset="0"/>
                <a:cs typeface="Arial" panose="020B0604020202020204" pitchFamily="34" charset="0"/>
              </a:rPr>
              <a:t> </a:t>
            </a:r>
          </a:p>
          <a:p>
            <a:pPr>
              <a:spcAft>
                <a:spcPts val="800"/>
              </a:spcAft>
            </a:pPr>
            <a:r>
              <a:rPr lang="en-US" sz="1000">
                <a:solidFill>
                  <a:srgbClr val="0000CC"/>
                </a:solidFill>
                <a:latin typeface="Arial" panose="020B0604020202020204" pitchFamily="34" charset="0"/>
                <a:cs typeface="Arial" panose="020B0604020202020204" pitchFamily="34" charset="0"/>
              </a:rPr>
              <a:t>    return n - 1;</a:t>
            </a:r>
          </a:p>
          <a:p>
            <a:pPr>
              <a:spcAft>
                <a:spcPts val="800"/>
              </a:spcAft>
            </a:pPr>
            <a:r>
              <a:rPr lang="en-US" sz="1000">
                <a:solidFill>
                  <a:srgbClr val="0000CC"/>
                </a:solidFill>
                <a:latin typeface="Arial" panose="020B0604020202020204" pitchFamily="34" charset="0"/>
                <a:cs typeface="Arial" panose="020B0604020202020204" pitchFamily="34" charset="0"/>
              </a:rPr>
              <a:t>}</a:t>
            </a:r>
          </a:p>
          <a:p>
            <a:pPr>
              <a:spcAft>
                <a:spcPts val="800"/>
              </a:spcAft>
            </a:pPr>
            <a:r>
              <a:rPr lang="en-US" sz="1000">
                <a:solidFill>
                  <a:srgbClr val="0000CC"/>
                </a:solidFill>
                <a:latin typeface="Arial" panose="020B0604020202020204" pitchFamily="34" charset="0"/>
                <a:cs typeface="Arial" panose="020B0604020202020204" pitchFamily="34" charset="0"/>
              </a:rPr>
              <a:t> </a:t>
            </a:r>
            <a:endPar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63878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24</a:t>
            </a:fld>
            <a:endParaRPr lang="en-GB" altLang="vi-VN">
              <a:solidFill>
                <a:srgbClr val="FFFF00"/>
              </a:solidFill>
            </a:endParaRPr>
          </a:p>
        </p:txBody>
      </p:sp>
      <p:sp>
        <p:nvSpPr>
          <p:cNvPr id="20484" name="Rectangle 3"/>
          <p:cNvSpPr>
            <a:spLocks noGrp="1" noChangeArrowheads="1"/>
          </p:cNvSpPr>
          <p:nvPr>
            <p:ph type="body" idx="1"/>
          </p:nvPr>
        </p:nvSpPr>
        <p:spPr>
          <a:xfrm>
            <a:off x="82262" y="1143001"/>
            <a:ext cx="2880014" cy="5081456"/>
          </a:xfrm>
          <a:ln>
            <a:solidFill>
              <a:schemeClr val="accent1"/>
            </a:solidFill>
          </a:ln>
        </p:spPr>
        <p:txBody>
          <a:bodyPr>
            <a:normAutofit/>
          </a:bodyPr>
          <a:lstStyle/>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#include &lt;stdio.h&gt;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#include &lt;conio.h&gt;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#include &lt;time.h&gt;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#include &lt;stdlib.h&gt;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#define MAX 100</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 </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 Khai bao ham nguyen mau (Prototype)</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	void RandomArr(int [], int);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	void OutputArr(int [], int);</a:t>
            </a:r>
          </a:p>
          <a:p>
            <a:pPr marL="0" indent="0">
              <a:lnSpc>
                <a:spcPct val="120000"/>
              </a:lnSpc>
              <a:spcBef>
                <a:spcPts val="0"/>
              </a:spcBef>
              <a:buNone/>
            </a:pPr>
            <a:r>
              <a:rPr lang="en-US" sz="1000">
                <a:solidFill>
                  <a:srgbClr val="0000CC"/>
                </a:solidFill>
                <a:latin typeface="Arial" panose="020B0604020202020204" pitchFamily="34" charset="0"/>
                <a:cs typeface="Arial" panose="020B0604020202020204" pitchFamily="34" charset="0"/>
              </a:rPr>
              <a:t>	</a:t>
            </a:r>
            <a:r>
              <a:rPr lang="en-US" sz="900" b="1">
                <a:solidFill>
                  <a:srgbClr val="FF0000"/>
                </a:solidFill>
                <a:latin typeface="Arial" panose="020B0604020202020204" pitchFamily="34" charset="0"/>
                <a:cs typeface="Arial" panose="020B0604020202020204" pitchFamily="34" charset="0"/>
              </a:rPr>
              <a:t>void Insert( int *, int * , int *, int);</a:t>
            </a:r>
          </a:p>
          <a:p>
            <a:pPr marL="0" indent="0">
              <a:lnSpc>
                <a:spcPct val="120000"/>
              </a:lnSpc>
              <a:spcBef>
                <a:spcPts val="0"/>
              </a:spcBef>
              <a:buNone/>
            </a:pPr>
            <a:r>
              <a:rPr lang="en-US" sz="900" b="1">
                <a:solidFill>
                  <a:srgbClr val="FF0000"/>
                </a:solidFill>
                <a:latin typeface="Arial" panose="020B0604020202020204" pitchFamily="34" charset="0"/>
                <a:cs typeface="Arial" panose="020B0604020202020204" pitchFamily="34" charset="0"/>
              </a:rPr>
              <a:t>	void Delete(int *, int *,int);</a:t>
            </a:r>
          </a:p>
          <a:p>
            <a:pPr marL="0"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int main() {</a:t>
            </a:r>
          </a:p>
          <a:p>
            <a:pPr marL="228600" lvl="1" indent="0">
              <a:lnSpc>
                <a:spcPct val="120000"/>
              </a:lnSpc>
              <a:spcBef>
                <a:spcPts val="0"/>
              </a:spcBef>
              <a:spcAft>
                <a:spcPts val="800"/>
              </a:spcAft>
              <a:buNone/>
            </a:pPr>
            <a:r>
              <a:rPr lang="en-US" sz="1000" b="1">
                <a:solidFill>
                  <a:srgbClr val="FF0000"/>
                </a:solidFill>
                <a:latin typeface="Arial" panose="020B0604020202020204" pitchFamily="34" charset="0"/>
                <a:cs typeface="Arial" panose="020B0604020202020204" pitchFamily="34" charset="0"/>
              </a:rPr>
              <a:t>int *arr</a:t>
            </a:r>
            <a:r>
              <a:rPr lang="en-US" sz="1000">
                <a:solidFill>
                  <a:srgbClr val="0000CC"/>
                </a:solidFill>
                <a:latin typeface="Arial" panose="020B0604020202020204" pitchFamily="34" charset="0"/>
                <a:cs typeface="Arial" panose="020B0604020202020204" pitchFamily="34" charset="0"/>
              </a:rPr>
              <a:t>,n,i;</a:t>
            </a:r>
          </a:p>
          <a:p>
            <a:pPr marL="228600" lvl="1" indent="0">
              <a:lnSpc>
                <a:spcPct val="120000"/>
              </a:lnSpc>
              <a:spcBef>
                <a:spcPts val="0"/>
              </a:spcBef>
              <a:spcAft>
                <a:spcPts val="800"/>
              </a:spcAft>
              <a:buNone/>
            </a:pPr>
            <a:r>
              <a:rPr lang="en-US" sz="1000" b="1">
                <a:solidFill>
                  <a:srgbClr val="FF0000"/>
                </a:solidFill>
                <a:latin typeface="Arial" panose="020B0604020202020204" pitchFamily="34" charset="0"/>
                <a:cs typeface="Arial" panose="020B0604020202020204" pitchFamily="34" charset="0"/>
              </a:rPr>
              <a:t>arr = (int*) malloc(n* sizeof(int));</a:t>
            </a:r>
          </a:p>
          <a:p>
            <a:pPr marL="228600" lvl="1"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int val;</a:t>
            </a:r>
          </a:p>
          <a:p>
            <a:pPr marL="0"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do {		</a:t>
            </a:r>
          </a:p>
          <a:p>
            <a:pPr marL="228600" lvl="1"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printf("Nhap N so phan tu cua mang:\n");</a:t>
            </a:r>
          </a:p>
          <a:p>
            <a:pPr marL="228600" lvl="1"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scanf("%d",&amp;n);</a:t>
            </a:r>
          </a:p>
          <a:p>
            <a:pPr marL="228600" lvl="1"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if (n&lt;=0) printf("Khong hop le!\n");</a:t>
            </a:r>
          </a:p>
          <a:p>
            <a:pPr marL="0" indent="0">
              <a:lnSpc>
                <a:spcPct val="120000"/>
              </a:lnSpc>
              <a:spcBef>
                <a:spcPts val="0"/>
              </a:spcBef>
              <a:spcAft>
                <a:spcPts val="800"/>
              </a:spcAft>
              <a:buNone/>
            </a:pPr>
            <a:r>
              <a:rPr lang="en-US" sz="1000">
                <a:solidFill>
                  <a:srgbClr val="0000CC"/>
                </a:solidFill>
                <a:latin typeface="Arial" panose="020B0604020202020204" pitchFamily="34" charset="0"/>
                <a:cs typeface="Arial" panose="020B0604020202020204" pitchFamily="34" charset="0"/>
              </a:rPr>
              <a:t>} while (n &lt;=0);</a:t>
            </a:r>
            <a:endParaRPr lang="en-US" sz="100">
              <a:solidFill>
                <a:srgbClr val="FF0000"/>
              </a:solidFill>
              <a:latin typeface="Arial" panose="020B0604020202020204" pitchFamily="34" charset="0"/>
              <a:cs typeface="Arial" panose="020B0604020202020204" pitchFamily="34" charset="0"/>
            </a:endParaRPr>
          </a:p>
        </p:txBody>
      </p:sp>
      <p:sp>
        <p:nvSpPr>
          <p:cNvPr id="20485" name="Rectangle 4"/>
          <p:cNvSpPr>
            <a:spLocks noGrp="1"/>
          </p:cNvSpPr>
          <p:nvPr>
            <p:ph type="title"/>
          </p:nvPr>
        </p:nvSpPr>
        <p:spPr>
          <a:xfrm>
            <a:off x="1785256" y="365127"/>
            <a:ext cx="6730093" cy="657883"/>
          </a:xfrm>
        </p:spPr>
        <p:txBody>
          <a:bodyPr>
            <a:normAutofit/>
          </a:bodyPr>
          <a:lstStyle/>
          <a:p>
            <a:r>
              <a:rPr lang="en-US" altLang="vi-VN" sz="3200" b="1">
                <a:solidFill>
                  <a:srgbClr val="0000CC"/>
                </a:solidFill>
              </a:rPr>
              <a:t>Giải </a:t>
            </a:r>
            <a:r>
              <a:rPr lang="en-US" altLang="vi-VN" sz="3200" b="1">
                <a:solidFill>
                  <a:srgbClr val="0000CC"/>
                </a:solidFill>
                <a:cs typeface="Arial" panose="020B0604020202020204" pitchFamily="34" charset="0"/>
              </a:rPr>
              <a:t>Example 1 (sử dụng con trỏ)</a:t>
            </a:r>
            <a:endParaRPr lang="en-US" altLang="vi-VN" sz="3200" b="1" dirty="0">
              <a:solidFill>
                <a:srgbClr val="0000CC"/>
              </a:solidFill>
            </a:endParaRPr>
          </a:p>
        </p:txBody>
      </p:sp>
      <p:sp>
        <p:nvSpPr>
          <p:cNvPr id="7" name="TextBox 6">
            <a:extLst>
              <a:ext uri="{FF2B5EF4-FFF2-40B4-BE49-F238E27FC236}">
                <a16:creationId xmlns:a16="http://schemas.microsoft.com/office/drawing/2014/main" id="{3B884783-F911-4CAF-9D43-F4C40F20CBCF}"/>
              </a:ext>
            </a:extLst>
          </p:cNvPr>
          <p:cNvSpPr txBox="1"/>
          <p:nvPr/>
        </p:nvSpPr>
        <p:spPr>
          <a:xfrm>
            <a:off x="6057900" y="1159889"/>
            <a:ext cx="3086100" cy="4253793"/>
          </a:xfrm>
          <a:prstGeom prst="rect">
            <a:avLst/>
          </a:prstGeom>
          <a:noFill/>
          <a:ln>
            <a:solidFill>
              <a:schemeClr val="accent1"/>
            </a:solidFill>
          </a:ln>
        </p:spPr>
        <p:txBody>
          <a:bodyPr wrap="square">
            <a:spAutoFit/>
          </a:bodyPr>
          <a:lstStyle/>
          <a:p>
            <a:pPr marL="228600" lvl="1">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printf("\n 5.Xoa phan tu dau tien cua mang.\n");</a:t>
            </a:r>
          </a:p>
          <a:p>
            <a:pPr marL="228600" lvl="1">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Delete(arr,&amp;n,0);</a:t>
            </a:r>
          </a:p>
          <a:p>
            <a:pPr marL="228600" lvl="1">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OutputArr(arr,n);</a:t>
            </a:r>
          </a:p>
          <a:p>
            <a:pPr marL="228600" lvl="1">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free(arr);</a:t>
            </a:r>
          </a:p>
          <a:p>
            <a:pPr marL="228600" lvl="1">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return 0;</a:t>
            </a:r>
          </a:p>
          <a:p>
            <a:pPr>
              <a:lnSpc>
                <a:spcPct val="107000"/>
              </a:lnSpc>
              <a:spcAft>
                <a:spcPts val="800"/>
              </a:spcAft>
            </a:pPr>
            <a:r>
              <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rPr>
              <a:t>}</a:t>
            </a:r>
            <a:endParaRPr lang="en-US" sz="700">
              <a:solidFill>
                <a:srgbClr val="0000CC"/>
              </a:solidFill>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 Thiep lap cac ham	</a:t>
            </a:r>
          </a:p>
          <a:p>
            <a:pPr>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void RandomArr(int arr[], int n) {		</a:t>
            </a:r>
          </a:p>
          <a:p>
            <a:pPr>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 Ham nhap mang ngau nhien</a:t>
            </a:r>
          </a:p>
          <a:p>
            <a:pPr lvl="1">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srand(time(0));</a:t>
            </a:r>
          </a:p>
          <a:p>
            <a:pPr lvl="1">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int i;</a:t>
            </a:r>
          </a:p>
          <a:p>
            <a:pPr lvl="1">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for (i=0; i&lt;n; i++) {	</a:t>
            </a:r>
          </a:p>
          <a:p>
            <a:pPr lvl="1">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arr[i] = -10 + rand() %21;</a:t>
            </a:r>
          </a:p>
          <a:p>
            <a:pPr marL="400050">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a:t>
            </a:r>
          </a:p>
          <a:p>
            <a:pPr>
              <a:lnSpc>
                <a:spcPct val="107000"/>
              </a:lnSpc>
              <a:spcAft>
                <a:spcPts val="800"/>
              </a:spcAft>
            </a:pPr>
            <a:r>
              <a:rPr lang="en-US" sz="1000">
                <a:solidFill>
                  <a:srgbClr val="0000CC"/>
                </a:solidFill>
                <a:latin typeface="Arial" panose="020B0604020202020204" pitchFamily="34" charset="0"/>
                <a:cs typeface="Arial" panose="020B0604020202020204" pitchFamily="34" charset="0"/>
              </a:rPr>
              <a:t>}</a:t>
            </a:r>
          </a:p>
          <a:p>
            <a:pPr>
              <a:lnSpc>
                <a:spcPct val="107000"/>
              </a:lnSpc>
              <a:spcAft>
                <a:spcPts val="800"/>
              </a:spcAft>
            </a:pPr>
            <a:endParaRPr lang="en-US" sz="1000">
              <a:solidFill>
                <a:srgbClr val="0000CC"/>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04D6B122-49C9-4339-9AC7-B5269967756C}"/>
              </a:ext>
            </a:extLst>
          </p:cNvPr>
          <p:cNvSpPr txBox="1"/>
          <p:nvPr/>
        </p:nvSpPr>
        <p:spPr>
          <a:xfrm>
            <a:off x="3028950" y="1143000"/>
            <a:ext cx="2880014" cy="4070923"/>
          </a:xfrm>
          <a:prstGeom prst="rect">
            <a:avLst/>
          </a:prstGeom>
          <a:noFill/>
          <a:ln>
            <a:solidFill>
              <a:schemeClr val="accent1"/>
            </a:solidFill>
          </a:ln>
        </p:spPr>
        <p:txBody>
          <a:bodyPr wrap="square">
            <a:spAutoFit/>
          </a:bodyPr>
          <a:lstStyle/>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printf("1. Cac phan tu cua mang:\n ");</a:t>
            </a:r>
          </a:p>
          <a:p>
            <a:pPr>
              <a:lnSpc>
                <a:spcPct val="120000"/>
              </a:lnSpc>
              <a:spcAft>
                <a:spcPts val="800"/>
              </a:spcAft>
            </a:pPr>
            <a:r>
              <a:rPr lang="en-US" sz="900" b="1">
                <a:solidFill>
                  <a:srgbClr val="FF0000"/>
                </a:solidFill>
                <a:latin typeface="Arial" panose="020B0604020202020204" pitchFamily="34" charset="0"/>
                <a:cs typeface="Arial" panose="020B0604020202020204" pitchFamily="34" charset="0"/>
              </a:rPr>
              <a:t>RandomArr(arr, n);</a:t>
            </a:r>
          </a:p>
          <a:p>
            <a:pPr>
              <a:lnSpc>
                <a:spcPct val="120000"/>
              </a:lnSpc>
              <a:spcAft>
                <a:spcPts val="800"/>
              </a:spcAft>
            </a:pPr>
            <a:r>
              <a:rPr lang="en-US" sz="900" b="1">
                <a:solidFill>
                  <a:srgbClr val="FF0000"/>
                </a:solidFill>
                <a:latin typeface="Arial" panose="020B0604020202020204" pitchFamily="34" charset="0"/>
                <a:cs typeface="Arial" panose="020B0604020202020204" pitchFamily="34" charset="0"/>
              </a:rPr>
              <a:t>OutputArr(arr, 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printf(“\n2. Them phan tu dau mang:\n");</a:t>
            </a:r>
          </a:p>
          <a:p>
            <a:pPr>
              <a:lnSpc>
                <a:spcPct val="120000"/>
              </a:lnSpc>
              <a:spcAft>
                <a:spcPts val="800"/>
              </a:spcAft>
            </a:pPr>
            <a:r>
              <a:rPr lang="en-US" sz="1050" b="1">
                <a:solidFill>
                  <a:srgbClr val="FF0000"/>
                </a:solidFill>
                <a:latin typeface="Arial" panose="020B0604020202020204" pitchFamily="34" charset="0"/>
                <a:cs typeface="Arial" panose="020B0604020202020204" pitchFamily="34" charset="0"/>
              </a:rPr>
              <a:t>Insert(arr,&amp;n,&amp;val,0);</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printf("\n Mang sau khi chen:\n");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OutputArr(arr, 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printf(“\n3. Them phan tu cuoi mang:\n");</a:t>
            </a:r>
          </a:p>
          <a:p>
            <a:pPr>
              <a:lnSpc>
                <a:spcPct val="120000"/>
              </a:lnSpc>
              <a:spcAft>
                <a:spcPts val="800"/>
              </a:spcAft>
            </a:pPr>
            <a:r>
              <a:rPr lang="en-US" sz="1100" b="1">
                <a:solidFill>
                  <a:srgbClr val="FF0000"/>
                </a:solidFill>
                <a:latin typeface="Arial" panose="020B0604020202020204" pitchFamily="34" charset="0"/>
                <a:cs typeface="Arial" panose="020B0604020202020204" pitchFamily="34" charset="0"/>
              </a:rPr>
              <a:t>Insert(arr,&amp;n,&amp;val,n);</a:t>
            </a:r>
          </a:p>
          <a:p>
            <a:pPr>
              <a:lnSpc>
                <a:spcPct val="120000"/>
              </a:lnSpc>
              <a:spcAft>
                <a:spcPts val="800"/>
              </a:spcAft>
            </a:pPr>
            <a:r>
              <a:rPr lang="en-US" sz="900" b="1">
                <a:solidFill>
                  <a:srgbClr val="FF0000"/>
                </a:solidFill>
                <a:latin typeface="Arial" panose="020B0604020202020204" pitchFamily="34" charset="0"/>
                <a:cs typeface="Arial" panose="020B0604020202020204" pitchFamily="34" charset="0"/>
              </a:rPr>
              <a:t>OutputArr(arr,n);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printf(“\n4. Them phan tu vao vi tri bat ky.\n");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srand(time(0));</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int p = rand() %(n);</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Insert(arr,&amp;n,&amp;val,p);</a:t>
            </a:r>
          </a:p>
          <a:p>
            <a:pPr>
              <a:lnSpc>
                <a:spcPct val="120000"/>
              </a:lnSpc>
              <a:spcAft>
                <a:spcPts val="800"/>
              </a:spcAft>
            </a:pPr>
            <a:r>
              <a:rPr lang="en-US" sz="900">
                <a:solidFill>
                  <a:srgbClr val="0000CC"/>
                </a:solidFill>
                <a:latin typeface="Arial" panose="020B0604020202020204" pitchFamily="34" charset="0"/>
                <a:cs typeface="Arial" panose="020B0604020202020204" pitchFamily="34" charset="0"/>
              </a:rPr>
              <a:t>OutputArr(arr,n);</a:t>
            </a:r>
          </a:p>
        </p:txBody>
      </p:sp>
    </p:spTree>
    <p:extLst>
      <p:ext uri="{BB962C8B-B14F-4D97-AF65-F5344CB8AC3E}">
        <p14:creationId xmlns:p14="http://schemas.microsoft.com/office/powerpoint/2010/main" val="340952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25</a:t>
            </a:fld>
            <a:endParaRPr lang="en-GB" altLang="vi-VN">
              <a:solidFill>
                <a:srgbClr val="FFFF00"/>
              </a:solidFill>
            </a:endParaRPr>
          </a:p>
        </p:txBody>
      </p:sp>
      <p:sp>
        <p:nvSpPr>
          <p:cNvPr id="20484" name="Rectangle 3"/>
          <p:cNvSpPr>
            <a:spLocks noGrp="1" noChangeArrowheads="1"/>
          </p:cNvSpPr>
          <p:nvPr>
            <p:ph type="body" idx="1"/>
          </p:nvPr>
        </p:nvSpPr>
        <p:spPr>
          <a:xfrm>
            <a:off x="503709" y="1182551"/>
            <a:ext cx="3780809" cy="5429248"/>
          </a:xfrm>
          <a:ln>
            <a:solidFill>
              <a:schemeClr val="accent1"/>
            </a:solidFill>
          </a:ln>
        </p:spPr>
        <p:txBody>
          <a:bodyPr>
            <a:noAutofit/>
          </a:bodyPr>
          <a:lstStyle/>
          <a:p>
            <a:pPr marL="0" indent="0">
              <a:lnSpc>
                <a:spcPct val="107000"/>
              </a:lnSpc>
              <a:buNone/>
            </a:pPr>
            <a:r>
              <a:rPr lang="en-US" sz="900">
                <a:solidFill>
                  <a:srgbClr val="0000CC"/>
                </a:solidFill>
                <a:latin typeface="Arial" panose="020B0604020202020204" pitchFamily="34" charset="0"/>
                <a:cs typeface="Arial" panose="020B0604020202020204" pitchFamily="34" charset="0"/>
              </a:rPr>
              <a:t>void OutputArr(int arr[], int n) {	</a:t>
            </a:r>
          </a:p>
          <a:p>
            <a:pPr marL="0" indent="0">
              <a:lnSpc>
                <a:spcPct val="107000"/>
              </a:lnSpc>
              <a:buNone/>
            </a:pPr>
            <a:r>
              <a:rPr lang="en-US" sz="900">
                <a:solidFill>
                  <a:srgbClr val="0000CC"/>
                </a:solidFill>
                <a:latin typeface="Arial" panose="020B0604020202020204" pitchFamily="34" charset="0"/>
                <a:cs typeface="Arial" panose="020B0604020202020204" pitchFamily="34" charset="0"/>
              </a:rPr>
              <a:t>// Ham xuat mang</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int i;</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for(i=0; i&lt;n; i++) {	</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	printf("%4d ", arr[i]);</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a:t>
            </a:r>
          </a:p>
          <a:p>
            <a:pPr marL="0" lvl="1" indent="0">
              <a:lnSpc>
                <a:spcPct val="107000"/>
              </a:lnSpc>
              <a:buNone/>
            </a:pPr>
            <a:r>
              <a:rPr lang="en-US" sz="900">
                <a:solidFill>
                  <a:srgbClr val="0000CC"/>
                </a:solidFill>
                <a:latin typeface="Arial" panose="020B0604020202020204" pitchFamily="34" charset="0"/>
                <a:cs typeface="Arial" panose="020B0604020202020204" pitchFamily="34" charset="0"/>
              </a:rPr>
              <a:t>}</a:t>
            </a:r>
          </a:p>
          <a:p>
            <a:pPr marL="0" lvl="1" indent="0">
              <a:lnSpc>
                <a:spcPct val="107000"/>
              </a:lnSpc>
              <a:buNone/>
            </a:pPr>
            <a:r>
              <a:rPr lang="en-US" sz="1000" b="1">
                <a:solidFill>
                  <a:srgbClr val="FF0000"/>
                </a:solidFill>
                <a:latin typeface="Arial" panose="020B0604020202020204" pitchFamily="34" charset="0"/>
                <a:cs typeface="Arial" panose="020B0604020202020204" pitchFamily="34" charset="0"/>
              </a:rPr>
              <a:t>void Insert( int *arr, int *n, int *val, int p)</a:t>
            </a:r>
          </a:p>
          <a:p>
            <a:pPr marL="0" lvl="1" indent="0">
              <a:lnSpc>
                <a:spcPct val="107000"/>
              </a:lnSpc>
              <a:buNone/>
            </a:pPr>
            <a:r>
              <a:rPr lang="en-US" sz="900">
                <a:solidFill>
                  <a:srgbClr val="0000CC"/>
                </a:solidFill>
                <a:latin typeface="Arial" panose="020B0604020202020204" pitchFamily="34" charset="0"/>
                <a:cs typeface="Arial" panose="020B0604020202020204" pitchFamily="34" charset="0"/>
              </a:rPr>
              <a:t>{ </a:t>
            </a:r>
          </a:p>
          <a:p>
            <a:pPr marL="0" lvl="1" indent="0">
              <a:lnSpc>
                <a:spcPct val="107000"/>
              </a:lnSpc>
              <a:buNone/>
            </a:pPr>
            <a:r>
              <a:rPr lang="en-US" sz="900">
                <a:solidFill>
                  <a:srgbClr val="0000CC"/>
                </a:solidFill>
                <a:latin typeface="Arial" panose="020B0604020202020204" pitchFamily="34" charset="0"/>
                <a:cs typeface="Arial" panose="020B0604020202020204" pitchFamily="34" charset="0"/>
              </a:rPr>
              <a:t>//Ham them phan tu vao mang</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printf("Nhap gia tri phan tu can chen:\n");</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scanf("%d",val);</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int i;</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if (*n &gt;= MAX) {</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return;</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if (p &lt; 0 ) {</a:t>
            </a:r>
          </a:p>
          <a:p>
            <a:pPr marL="457200" lvl="1" indent="0">
              <a:lnSpc>
                <a:spcPct val="107000"/>
              </a:lnSpc>
              <a:buNone/>
            </a:pPr>
            <a:r>
              <a:rPr lang="en-US" sz="900">
                <a:solidFill>
                  <a:srgbClr val="0000CC"/>
                </a:solidFill>
                <a:latin typeface="Arial" panose="020B0604020202020204" pitchFamily="34" charset="0"/>
                <a:cs typeface="Arial" panose="020B0604020202020204" pitchFamily="34" charset="0"/>
              </a:rPr>
              <a:t>p = 0;</a:t>
            </a:r>
          </a:p>
          <a:p>
            <a:pPr marL="228600" lvl="1" indent="0">
              <a:lnSpc>
                <a:spcPct val="107000"/>
              </a:lnSpc>
              <a:buNone/>
            </a:pPr>
            <a:r>
              <a:rPr lang="en-US" sz="900">
                <a:solidFill>
                  <a:srgbClr val="0000CC"/>
                </a:solidFill>
                <a:latin typeface="Arial" panose="020B0604020202020204" pitchFamily="34" charset="0"/>
                <a:cs typeface="Arial" panose="020B0604020202020204" pitchFamily="34" charset="0"/>
              </a:rPr>
              <a:t>}</a:t>
            </a:r>
          </a:p>
          <a:p>
            <a:pPr marL="2286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else if (p &gt;*n) {</a:t>
            </a:r>
          </a:p>
          <a:p>
            <a:pPr marL="4572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p = *n;</a:t>
            </a:r>
          </a:p>
          <a:p>
            <a:pPr marL="2286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a:t>
            </a:r>
          </a:p>
          <a:p>
            <a:pPr marL="2286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for (i = *n-1; i &gt;= p; i --) {</a:t>
            </a:r>
          </a:p>
          <a:p>
            <a:pPr marL="3429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*(arr+i+1) = *(arr+i);	</a:t>
            </a:r>
          </a:p>
          <a:p>
            <a:pPr marL="34290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a:t>
            </a:r>
          </a:p>
          <a:p>
            <a:pPr marL="51435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(*n)++;</a:t>
            </a:r>
          </a:p>
          <a:p>
            <a:pPr marL="51435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*(arr+p) = *val;</a:t>
            </a:r>
          </a:p>
          <a:p>
            <a:pPr marL="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a:t>
            </a:r>
          </a:p>
          <a:p>
            <a:pPr marL="0" lvl="1" indent="0">
              <a:lnSpc>
                <a:spcPct val="107000"/>
              </a:lnSpc>
              <a:spcBef>
                <a:spcPts val="0"/>
              </a:spcBef>
              <a:buNone/>
            </a:pPr>
            <a:r>
              <a:rPr lang="en-US" sz="900">
                <a:solidFill>
                  <a:srgbClr val="0000CC"/>
                </a:solidFill>
                <a:latin typeface="Arial" panose="020B0604020202020204" pitchFamily="34" charset="0"/>
                <a:cs typeface="Arial" panose="020B0604020202020204" pitchFamily="34" charset="0"/>
              </a:rPr>
              <a:t>	</a:t>
            </a:r>
          </a:p>
        </p:txBody>
      </p:sp>
      <p:sp>
        <p:nvSpPr>
          <p:cNvPr id="20485" name="Rectangle 4"/>
          <p:cNvSpPr>
            <a:spLocks noGrp="1"/>
          </p:cNvSpPr>
          <p:nvPr>
            <p:ph type="title"/>
          </p:nvPr>
        </p:nvSpPr>
        <p:spPr>
          <a:xfrm>
            <a:off x="1785256" y="365127"/>
            <a:ext cx="6730093" cy="657883"/>
          </a:xfrm>
        </p:spPr>
        <p:txBody>
          <a:bodyPr>
            <a:normAutofit/>
          </a:bodyPr>
          <a:lstStyle/>
          <a:p>
            <a:r>
              <a:rPr lang="en-US" altLang="vi-VN" sz="3200" b="1">
                <a:solidFill>
                  <a:srgbClr val="0000CC"/>
                </a:solidFill>
              </a:rPr>
              <a:t>Giải </a:t>
            </a:r>
            <a:r>
              <a:rPr lang="en-US" altLang="vi-VN" sz="3200" b="1">
                <a:solidFill>
                  <a:srgbClr val="0000CC"/>
                </a:solidFill>
                <a:cs typeface="Arial" panose="020B0604020202020204" pitchFamily="34" charset="0"/>
              </a:rPr>
              <a:t>Example 1 (sử dụng con trỏ)</a:t>
            </a:r>
            <a:endParaRPr lang="en-US" altLang="vi-VN" sz="3200" b="1" dirty="0">
              <a:solidFill>
                <a:srgbClr val="0000CC"/>
              </a:solidFill>
            </a:endParaRPr>
          </a:p>
        </p:txBody>
      </p:sp>
      <p:sp>
        <p:nvSpPr>
          <p:cNvPr id="9" name="TextBox 8">
            <a:extLst>
              <a:ext uri="{FF2B5EF4-FFF2-40B4-BE49-F238E27FC236}">
                <a16:creationId xmlns:a16="http://schemas.microsoft.com/office/drawing/2014/main" id="{04D6B122-49C9-4339-9AC7-B5269967756C}"/>
              </a:ext>
            </a:extLst>
          </p:cNvPr>
          <p:cNvSpPr txBox="1"/>
          <p:nvPr/>
        </p:nvSpPr>
        <p:spPr>
          <a:xfrm>
            <a:off x="4627418" y="1182551"/>
            <a:ext cx="3780808" cy="4492897"/>
          </a:xfrm>
          <a:prstGeom prst="rect">
            <a:avLst/>
          </a:prstGeom>
          <a:noFill/>
          <a:ln>
            <a:solidFill>
              <a:schemeClr val="accent1"/>
            </a:solidFill>
          </a:ln>
        </p:spPr>
        <p:txBody>
          <a:bodyPr wrap="square">
            <a:spAutoFit/>
          </a:bodyPr>
          <a:lstStyle/>
          <a:p>
            <a:pPr>
              <a:lnSpc>
                <a:spcPct val="107000"/>
              </a:lnSpc>
              <a:spcAft>
                <a:spcPts val="800"/>
              </a:spcAft>
            </a:pPr>
            <a:r>
              <a:rPr lang="en-US" sz="1000" b="1">
                <a:solidFill>
                  <a:srgbClr val="FF0000"/>
                </a:solidFill>
                <a:latin typeface="Arial" panose="020B0604020202020204" pitchFamily="34" charset="0"/>
                <a:cs typeface="Arial" panose="020B0604020202020204" pitchFamily="34" charset="0"/>
              </a:rPr>
              <a:t>void Delete( int *arr, int *n, int p) </a:t>
            </a:r>
          </a:p>
          <a:p>
            <a:pPr>
              <a:lnSpc>
                <a:spcPct val="107000"/>
              </a:lnSpc>
              <a:spcAft>
                <a:spcPts val="800"/>
              </a:spcAft>
            </a:pPr>
            <a:r>
              <a:rPr lang="en-US" sz="900">
                <a:solidFill>
                  <a:srgbClr val="0000CC"/>
                </a:solidFill>
                <a:latin typeface="Arial" panose="020B0604020202020204" pitchFamily="34" charset="0"/>
                <a:cs typeface="Arial" panose="020B0604020202020204" pitchFamily="34" charset="0"/>
              </a:rPr>
              <a:t>{ 	 </a:t>
            </a:r>
          </a:p>
          <a:p>
            <a:pPr lvl="1">
              <a:lnSpc>
                <a:spcPct val="107000"/>
              </a:lnSpc>
              <a:spcAft>
                <a:spcPts val="800"/>
              </a:spcAft>
            </a:pPr>
            <a:r>
              <a:rPr lang="en-US" sz="900">
                <a:solidFill>
                  <a:srgbClr val="0000CC"/>
                </a:solidFill>
                <a:latin typeface="Arial" panose="020B0604020202020204" pitchFamily="34" charset="0"/>
                <a:cs typeface="Arial" panose="020B0604020202020204" pitchFamily="34" charset="0"/>
              </a:rPr>
              <a:t>//Ham xoa phan tu cua mang</a:t>
            </a:r>
          </a:p>
          <a:p>
            <a:pPr lvl="1">
              <a:lnSpc>
                <a:spcPct val="107000"/>
              </a:lnSpc>
              <a:spcAft>
                <a:spcPts val="800"/>
              </a:spcAft>
            </a:pPr>
            <a:r>
              <a:rPr lang="en-US" sz="900">
                <a:solidFill>
                  <a:srgbClr val="0000CC"/>
                </a:solidFill>
                <a:latin typeface="Arial" panose="020B0604020202020204" pitchFamily="34" charset="0"/>
                <a:cs typeface="Arial" panose="020B0604020202020204" pitchFamily="34" charset="0"/>
              </a:rPr>
              <a:t>int i;</a:t>
            </a:r>
          </a:p>
          <a:p>
            <a:pPr lvl="1">
              <a:lnSpc>
                <a:spcPct val="107000"/>
              </a:lnSpc>
              <a:spcAft>
                <a:spcPts val="800"/>
              </a:spcAft>
            </a:pPr>
            <a:r>
              <a:rPr lang="en-US" sz="900">
                <a:solidFill>
                  <a:srgbClr val="0000CC"/>
                </a:solidFill>
                <a:latin typeface="Arial" panose="020B0604020202020204" pitchFamily="34" charset="0"/>
                <a:cs typeface="Arial" panose="020B0604020202020204" pitchFamily="34" charset="0"/>
              </a:rPr>
              <a:t>if (n &lt;= 0) {</a:t>
            </a:r>
          </a:p>
          <a:p>
            <a:pPr lvl="1">
              <a:lnSpc>
                <a:spcPct val="107000"/>
              </a:lnSpc>
              <a:spcAft>
                <a:spcPts val="800"/>
              </a:spcAft>
            </a:pPr>
            <a:r>
              <a:rPr lang="en-US" sz="900">
                <a:solidFill>
                  <a:srgbClr val="0000CC"/>
                </a:solidFill>
                <a:latin typeface="Arial" panose="020B0604020202020204" pitchFamily="34" charset="0"/>
                <a:cs typeface="Arial" panose="020B0604020202020204" pitchFamily="34" charset="0"/>
              </a:rPr>
              <a:t>return;</a:t>
            </a:r>
          </a:p>
          <a:p>
            <a:pPr>
              <a:lnSpc>
                <a:spcPct val="107000"/>
              </a:lnSpc>
              <a:spcAft>
                <a:spcPts val="800"/>
              </a:spcAft>
            </a:pPr>
            <a:r>
              <a:rPr lang="en-US" sz="900">
                <a:solidFill>
                  <a:srgbClr val="0000CC"/>
                </a:solidFill>
                <a:latin typeface="Arial" panose="020B0604020202020204" pitchFamily="34" charset="0"/>
                <a:cs typeface="Arial" panose="020B0604020202020204" pitchFamily="34" charset="0"/>
              </a:rPr>
              <a:t>}</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if (p &lt; 0) {		  </a:t>
            </a:r>
          </a:p>
          <a:p>
            <a:pPr marL="6858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p = 0;</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 else if (p &gt;*n) {	</a:t>
            </a:r>
          </a:p>
          <a:p>
            <a:pPr marL="51435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p = *n-1;</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 for (i = p; i &lt; *n-1 ; i ++) {	 </a:t>
            </a:r>
          </a:p>
          <a:p>
            <a:pPr marL="6858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*(arr+i) = *(arr+i+1);</a:t>
            </a:r>
          </a:p>
          <a:p>
            <a:pPr marL="34290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a:t>
            </a:r>
          </a:p>
          <a:p>
            <a:pPr marL="628650">
              <a:lnSpc>
                <a:spcPct val="107000"/>
              </a:lnSpc>
              <a:spcAft>
                <a:spcPts val="800"/>
              </a:spcAft>
            </a:pPr>
            <a:r>
              <a:rPr lang="en-US" sz="900">
                <a:solidFill>
                  <a:srgbClr val="0000CC"/>
                </a:solidFill>
                <a:latin typeface="Arial" panose="020B0604020202020204" pitchFamily="34" charset="0"/>
                <a:cs typeface="Arial" panose="020B0604020202020204" pitchFamily="34" charset="0"/>
              </a:rPr>
              <a:t>*n-- ;</a:t>
            </a:r>
          </a:p>
          <a:p>
            <a:pPr marL="342900">
              <a:lnSpc>
                <a:spcPct val="107000"/>
              </a:lnSpc>
            </a:pPr>
            <a:r>
              <a:rPr lang="en-US" sz="900">
                <a:solidFill>
                  <a:srgbClr val="0000CC"/>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80295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E59B2F-F1AA-4BB1-81B4-DB1C67A0ABF3}" type="slidenum">
              <a:rPr lang="en-US" altLang="vi-VN">
                <a:solidFill>
                  <a:srgbClr val="FFFF00"/>
                </a:solidFill>
              </a:rPr>
              <a:pPr eaLnBrk="1" hangingPunct="1"/>
              <a:t>26</a:t>
            </a:fld>
            <a:endParaRPr lang="en-GB" altLang="vi-VN">
              <a:solidFill>
                <a:srgbClr val="FFFF00"/>
              </a:solidFill>
            </a:endParaRPr>
          </a:p>
        </p:txBody>
      </p:sp>
      <p:sp>
        <p:nvSpPr>
          <p:cNvPr id="20484" name="Rectangle 3"/>
          <p:cNvSpPr>
            <a:spLocks noGrp="1" noChangeArrowheads="1"/>
          </p:cNvSpPr>
          <p:nvPr>
            <p:ph type="body" idx="1"/>
          </p:nvPr>
        </p:nvSpPr>
        <p:spPr>
          <a:xfrm>
            <a:off x="304800" y="1143000"/>
            <a:ext cx="8610600" cy="5334000"/>
          </a:xfrm>
        </p:spPr>
        <p:txBody>
          <a:bodyPr/>
          <a:lstStyle/>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1/ </a:t>
            </a:r>
            <a:r>
              <a:rPr lang="en-US" altLang="vi-VN" sz="2400" dirty="0" err="1">
                <a:solidFill>
                  <a:srgbClr val="0000CC"/>
                </a:solidFill>
                <a:cs typeface="Arial" panose="020B0604020202020204" pitchFamily="34" charset="0"/>
              </a:rPr>
              <a:t>Viết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chương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trình</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nhập</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tên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của</a:t>
            </a:r>
            <a:r>
              <a:rPr lang="en-US" altLang="vi-VN" sz="2400" dirty="0">
                <a:solidFill>
                  <a:srgbClr val="0000CC"/>
                </a:solidFill>
                <a:cs typeface="Arial" panose="020B0604020202020204" pitchFamily="34" charset="0"/>
              </a:rPr>
              <a:t> 1 </a:t>
            </a:r>
            <a:r>
              <a:rPr lang="en-US" altLang="vi-VN" sz="2400" dirty="0" err="1">
                <a:solidFill>
                  <a:srgbClr val="0000CC"/>
                </a:solidFill>
                <a:cs typeface="Arial" panose="020B0604020202020204" pitchFamily="34" charset="0"/>
              </a:rPr>
              <a:t>sinh</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viên</a:t>
            </a:r>
            <a:r>
              <a:rPr lang="en-US" altLang="vi-VN" sz="2400" dirty="0">
                <a:solidFill>
                  <a:srgbClr val="0000CC"/>
                </a:solidFill>
                <a:cs typeface="Arial" panose="020B0604020202020204" pitchFamily="34" charset="0"/>
              </a:rPr>
              <a:t>, in </a:t>
            </a:r>
            <a:r>
              <a:rPr lang="en-US" altLang="vi-VN" sz="2400" dirty="0" err="1">
                <a:solidFill>
                  <a:srgbClr val="0000CC"/>
                </a:solidFill>
                <a:cs typeface="Arial" panose="020B0604020202020204" pitchFamily="34" charset="0"/>
              </a:rPr>
              <a:t>ra</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tên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là</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chữ</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viết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hoa</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và</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cắt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bỏ</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tất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cả</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khoảng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trắng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sử</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dụng</a:t>
            </a:r>
            <a:r>
              <a:rPr lang="en-US" altLang="vi-VN" sz="2400" dirty="0">
                <a:solidFill>
                  <a:srgbClr val="0000CC"/>
                </a:solidFill>
                <a:cs typeface="Arial" panose="020B0604020202020204" pitchFamily="34" charset="0"/>
              </a:rPr>
              <a:t> con </a:t>
            </a:r>
            <a:r>
              <a:rPr lang="en-US" altLang="vi-VN" sz="2400" dirty="0" err="1">
                <a:solidFill>
                  <a:srgbClr val="0000CC"/>
                </a:solidFill>
                <a:cs typeface="Arial" panose="020B0604020202020204" pitchFamily="34" charset="0"/>
              </a:rPr>
              <a:t>trỏ</a:t>
            </a:r>
            <a:r>
              <a:rPr lang="en-US" altLang="vi-VN" sz="2400" dirty="0">
                <a:solidFill>
                  <a:srgbClr val="0000CC"/>
                </a:solidFill>
                <a:cs typeface="Arial" panose="020B0604020202020204" pitchFamily="34" charset="0"/>
              </a:rPr>
              <a:t>).</a:t>
            </a: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2/ </a:t>
            </a:r>
            <a:r>
              <a:rPr lang="en-US" altLang="vi-VN" sz="2400" dirty="0" err="1">
                <a:solidFill>
                  <a:srgbClr val="0000CC"/>
                </a:solidFill>
                <a:cs typeface="Arial" panose="020B0604020202020204" pitchFamily="34" charset="0"/>
              </a:rPr>
              <a:t>Sử</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dụng</a:t>
            </a:r>
            <a:r>
              <a:rPr lang="en-US" altLang="vi-VN" sz="2400" dirty="0">
                <a:solidFill>
                  <a:srgbClr val="0000CC"/>
                </a:solidFill>
                <a:cs typeface="Arial" panose="020B0604020202020204" pitchFamily="34" charset="0"/>
              </a:rPr>
              <a:t> con </a:t>
            </a:r>
            <a:r>
              <a:rPr lang="en-US" altLang="vi-VN" sz="2400" dirty="0" err="1">
                <a:solidFill>
                  <a:srgbClr val="0000CC"/>
                </a:solidFill>
                <a:cs typeface="Arial" panose="020B0604020202020204" pitchFamily="34" charset="0"/>
              </a:rPr>
              <a:t>trỏ</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để</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viết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chương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trình</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thực</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hiện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các</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công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việc</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sau</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trên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một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mảng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số</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nguyên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mỗi</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công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việc</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là</a:t>
            </a:r>
            <a:r>
              <a:rPr lang="en-US" altLang="vi-VN" sz="2400" dirty="0">
                <a:solidFill>
                  <a:srgbClr val="0000CC"/>
                </a:solidFill>
                <a:cs typeface="Arial" panose="020B0604020202020204" pitchFamily="34" charset="0"/>
              </a:rPr>
              <a:t> 1 </a:t>
            </a:r>
            <a:r>
              <a:rPr lang="en-US" altLang="vi-VN" sz="2400" dirty="0" err="1">
                <a:solidFill>
                  <a:srgbClr val="0000CC"/>
                </a:solidFill>
                <a:cs typeface="Arial" panose="020B0604020202020204" pitchFamily="34" charset="0"/>
              </a:rPr>
              <a:t>hàm</a:t>
            </a:r>
            <a:r>
              <a:rPr lang="en-US" altLang="vi-VN" sz="2400" dirty="0">
                <a:solidFill>
                  <a:srgbClr val="0000CC"/>
                </a:solidFill>
                <a:cs typeface="Arial" panose="020B0604020202020204" pitchFamily="34" charset="0"/>
              </a:rPr>
              <a:t>)</a:t>
            </a: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Nhập</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mảng</a:t>
            </a:r>
            <a:endParaRPr lang="en-US" altLang="vi-VN" sz="2400" dirty="0">
              <a:solidFill>
                <a:srgbClr val="0000CC"/>
              </a:solidFill>
              <a:cs typeface="Arial" panose="020B0604020202020204" pitchFamily="34" charset="0"/>
            </a:endParaRP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Xuất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mảng</a:t>
            </a:r>
            <a:endParaRPr lang="en-US" altLang="vi-VN" sz="2400" dirty="0">
              <a:solidFill>
                <a:srgbClr val="0000CC"/>
              </a:solidFill>
              <a:cs typeface="Arial" panose="020B0604020202020204" pitchFamily="34" charset="0"/>
            </a:endParaRP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Sắp</a:t>
            </a:r>
            <a:r>
              <a:rPr lang="en-US" altLang="vi-VN" sz="2400" dirty="0">
                <a:solidFill>
                  <a:srgbClr val="0000CC"/>
                </a:solidFill>
                <a:cs typeface="Arial" panose="020B0604020202020204" pitchFamily="34" charset="0"/>
              </a:rPr>
              <a:t> </a:t>
            </a:r>
            <a:r>
              <a:rPr lang="en-US" altLang="vi-VN" sz="2400" err="1">
                <a:solidFill>
                  <a:srgbClr val="0000CC"/>
                </a:solidFill>
                <a:cs typeface="Arial" panose="020B0604020202020204" pitchFamily="34" charset="0"/>
              </a:rPr>
              <a:t>xếp</a:t>
            </a:r>
            <a:r>
              <a:rPr lang="en-US" altLang="vi-VN" sz="2400">
                <a:solidFill>
                  <a:srgbClr val="0000CC"/>
                </a:solidFill>
                <a:cs typeface="Arial" panose="020B0604020202020204" pitchFamily="34" charset="0"/>
              </a:rPr>
              <a:t> mảng</a:t>
            </a: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Tìm</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phần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tử</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âm</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lớn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nhất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của</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mảng</a:t>
            </a:r>
            <a:endParaRPr lang="en-US" altLang="vi-VN" sz="2400" dirty="0">
              <a:solidFill>
                <a:srgbClr val="0000CC"/>
              </a:solidFill>
              <a:cs typeface="Arial" panose="020B0604020202020204" pitchFamily="34" charset="0"/>
            </a:endParaRP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Tìm</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phần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tử</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dương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bé</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nhất</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của</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mảng</a:t>
            </a:r>
            <a:endParaRPr lang="en-US" altLang="vi-VN" sz="2400" dirty="0">
              <a:solidFill>
                <a:srgbClr val="0000CC"/>
              </a:solidFill>
              <a:cs typeface="Arial" panose="020B0604020202020204" pitchFamily="34" charset="0"/>
            </a:endParaRP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 </a:t>
            </a:r>
            <a:r>
              <a:rPr lang="en-US" altLang="vi-VN" sz="2400" dirty="0" err="1">
                <a:solidFill>
                  <a:srgbClr val="0000CC"/>
                </a:solidFill>
                <a:cs typeface="Arial" panose="020B0604020202020204" pitchFamily="34" charset="0"/>
              </a:rPr>
              <a:t>Tìm</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những</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phần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tử</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là</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số</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nguyên</a:t>
            </a:r>
            <a:r>
              <a:rPr lang="en-US" altLang="vi-VN" sz="2400" dirty="0">
                <a:solidFill>
                  <a:srgbClr val="0000CC"/>
                </a:solidFill>
                <a:cs typeface="Arial" panose="020B0604020202020204" pitchFamily="34" charset="0"/>
              </a:rPr>
              <a:t> </a:t>
            </a:r>
            <a:r>
              <a:rPr lang="en-US" altLang="vi-VN" sz="2400" dirty="0" err="1">
                <a:solidFill>
                  <a:srgbClr val="0000CC"/>
                </a:solidFill>
                <a:cs typeface="Arial" panose="020B0604020202020204" pitchFamily="34" charset="0"/>
              </a:rPr>
              <a:t>tố</a:t>
            </a:r>
            <a:endParaRPr lang="en-US" altLang="vi-VN" sz="2400" dirty="0">
              <a:solidFill>
                <a:srgbClr val="0000CC"/>
              </a:solidFill>
              <a:cs typeface="Arial" panose="020B0604020202020204" pitchFamily="34" charset="0"/>
            </a:endParaRPr>
          </a:p>
          <a:p>
            <a:pPr marL="0" indent="0" algn="just" defTabSz="914400">
              <a:buFont typeface="Wingdings" panose="05000000000000000000" pitchFamily="2" charset="2"/>
              <a:buNone/>
            </a:pPr>
            <a:r>
              <a:rPr lang="en-US" altLang="vi-VN" sz="2400" dirty="0">
                <a:solidFill>
                  <a:srgbClr val="0000CC"/>
                </a:solidFill>
                <a:cs typeface="Arial" panose="020B0604020202020204" pitchFamily="34" charset="0"/>
              </a:rPr>
              <a:t>	</a:t>
            </a:r>
          </a:p>
          <a:p>
            <a:pPr marL="0" indent="0" algn="just" defTabSz="914400">
              <a:buFont typeface="Wingdings" panose="05000000000000000000" pitchFamily="2" charset="2"/>
              <a:buNone/>
            </a:pPr>
            <a:endParaRPr lang="en-US" altLang="vi-VN" sz="2400" dirty="0">
              <a:solidFill>
                <a:srgbClr val="0000CC"/>
              </a:solidFill>
              <a:cs typeface="Arial" panose="020B0604020202020204" pitchFamily="34" charset="0"/>
            </a:endParaRPr>
          </a:p>
        </p:txBody>
      </p:sp>
      <p:sp>
        <p:nvSpPr>
          <p:cNvPr id="20485" name="Rectangle 4"/>
          <p:cNvSpPr>
            <a:spLocks noGrp="1"/>
          </p:cNvSpPr>
          <p:nvPr>
            <p:ph type="title"/>
          </p:nvPr>
        </p:nvSpPr>
        <p:spPr>
          <a:xfrm>
            <a:off x="1785256" y="365127"/>
            <a:ext cx="6730093" cy="777874"/>
          </a:xfrm>
        </p:spPr>
        <p:txBody>
          <a:bodyPr/>
          <a:lstStyle/>
          <a:p>
            <a:r>
              <a:rPr lang="en-US" altLang="vi-VN" b="1" dirty="0" err="1">
                <a:solidFill>
                  <a:srgbClr val="0000CC"/>
                </a:solidFill>
              </a:rPr>
              <a:t>Bài</a:t>
            </a:r>
            <a:r>
              <a:rPr lang="en-US" altLang="vi-VN" b="1" dirty="0">
                <a:solidFill>
                  <a:srgbClr val="0000CC"/>
                </a:solidFill>
              </a:rPr>
              <a:t> </a:t>
            </a:r>
            <a:r>
              <a:rPr lang="en-US" altLang="vi-VN" b="1" dirty="0" err="1">
                <a:solidFill>
                  <a:srgbClr val="0000CC"/>
                </a:solidFill>
              </a:rPr>
              <a:t>tập</a:t>
            </a:r>
            <a:endParaRPr lang="en-US" altLang="vi-VN" b="1" dirty="0">
              <a:solidFill>
                <a:srgbClr val="0000CC"/>
              </a:solidFill>
            </a:endParaRPr>
          </a:p>
        </p:txBody>
      </p:sp>
    </p:spTree>
    <p:extLst>
      <p:ext uri="{BB962C8B-B14F-4D97-AF65-F5344CB8AC3E}">
        <p14:creationId xmlns:p14="http://schemas.microsoft.com/office/powerpoint/2010/main" val="82756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84D176F-931A-4DD3-B26E-1EAE17677F42}" type="slidenum">
              <a:rPr lang="en-US" altLang="vi-VN">
                <a:solidFill>
                  <a:srgbClr val="FFFF00"/>
                </a:solidFill>
              </a:rPr>
              <a:pPr eaLnBrk="1" hangingPunct="1"/>
              <a:t>27</a:t>
            </a:fld>
            <a:endParaRPr lang="en-GB" altLang="vi-VN">
              <a:solidFill>
                <a:srgbClr val="FFFF00"/>
              </a:solidFill>
            </a:endParaRPr>
          </a:p>
        </p:txBody>
      </p:sp>
      <p:sp>
        <p:nvSpPr>
          <p:cNvPr id="2" name="Vertical Scroll 1"/>
          <p:cNvSpPr/>
          <p:nvPr/>
        </p:nvSpPr>
        <p:spPr>
          <a:xfrm>
            <a:off x="1758042" y="1240972"/>
            <a:ext cx="5627915" cy="3864428"/>
          </a:xfrm>
          <a:prstGeom prst="vertic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vi-VN" sz="3600" b="1" dirty="0">
                <a:solidFill>
                  <a:schemeClr val="bg1"/>
                </a:solidFill>
                <a:latin typeface="Tahoma" panose="020B0604030504040204" pitchFamily="34" charset="0"/>
              </a:rPr>
              <a:t>CHUỖI - STRING</a:t>
            </a:r>
          </a:p>
        </p:txBody>
      </p:sp>
      <p:sp>
        <p:nvSpPr>
          <p:cNvPr id="7" name="TextBox 6"/>
          <p:cNvSpPr txBox="1"/>
          <p:nvPr/>
        </p:nvSpPr>
        <p:spPr>
          <a:xfrm>
            <a:off x="6879771" y="5407710"/>
            <a:ext cx="163557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rPr>
              <a:t>BÀI </a:t>
            </a:r>
            <a:r>
              <a:rPr lang="en-US" sz="3600" b="1" dirty="0">
                <a:solidFill>
                  <a:prstClr val="black"/>
                </a:solidFill>
                <a:latin typeface="Calibri" panose="020F0502020204030204"/>
              </a:rPr>
              <a:t>10</a:t>
            </a:r>
            <a:endParaRPr kumimoji="0" lang="vi-VN" sz="3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92116783"/>
      </p:ext>
    </p:extLst>
  </p:cSld>
  <p:clrMapOvr>
    <a:masterClrMapping/>
  </p:clrMapOvr>
  <p:transition>
    <p:push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23"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6D29F6-C9C4-4F01-84DC-55099123F3BF}" type="slidenum">
              <a:rPr lang="en-US" altLang="vi-VN">
                <a:solidFill>
                  <a:srgbClr val="FFFF00"/>
                </a:solidFill>
              </a:rPr>
              <a:pPr eaLnBrk="1" hangingPunct="1"/>
              <a:t>28</a:t>
            </a:fld>
            <a:endParaRPr lang="en-GB" altLang="vi-VN">
              <a:solidFill>
                <a:srgbClr val="FFFF00"/>
              </a:solidFill>
            </a:endParaRPr>
          </a:p>
        </p:txBody>
      </p:sp>
      <p:sp>
        <p:nvSpPr>
          <p:cNvPr id="22532" name="Rectangle 3"/>
          <p:cNvSpPr>
            <a:spLocks noGrp="1" noChangeArrowheads="1"/>
          </p:cNvSpPr>
          <p:nvPr>
            <p:ph type="body" idx="1"/>
          </p:nvPr>
        </p:nvSpPr>
        <p:spPr>
          <a:xfrm>
            <a:off x="315686" y="1507671"/>
            <a:ext cx="8512628" cy="2057400"/>
          </a:xfrm>
        </p:spPr>
        <p:txBody>
          <a:bodyPr>
            <a:normAutofit/>
          </a:bodyPr>
          <a:lstStyle/>
          <a:p>
            <a:pPr defTabSz="914400">
              <a:lnSpc>
                <a:spcPct val="80000"/>
              </a:lnSpc>
            </a:pPr>
            <a:r>
              <a:rPr lang="en-US" altLang="vi-VN" sz="2600" dirty="0" err="1">
                <a:solidFill>
                  <a:srgbClr val="0000CC"/>
                </a:solidFill>
              </a:rPr>
              <a:t>Chuỗi</a:t>
            </a:r>
            <a:r>
              <a:rPr lang="en-US" altLang="vi-VN" sz="2600" dirty="0">
                <a:solidFill>
                  <a:srgbClr val="0000CC"/>
                </a:solidFill>
              </a:rPr>
              <a:t> </a:t>
            </a:r>
            <a:r>
              <a:rPr lang="en-US" altLang="vi-VN" sz="2600" dirty="0" err="1">
                <a:solidFill>
                  <a:srgbClr val="0000CC"/>
                </a:solidFill>
              </a:rPr>
              <a:t>là</a:t>
            </a:r>
            <a:r>
              <a:rPr lang="en-US" altLang="vi-VN" sz="2600" dirty="0">
                <a:solidFill>
                  <a:srgbClr val="0000CC"/>
                </a:solidFill>
              </a:rPr>
              <a:t> </a:t>
            </a:r>
            <a:r>
              <a:rPr lang="en-US" altLang="vi-VN" sz="2600" dirty="0" err="1">
                <a:solidFill>
                  <a:srgbClr val="0000CC"/>
                </a:solidFill>
              </a:rPr>
              <a:t>một</a:t>
            </a:r>
            <a:r>
              <a:rPr lang="en-US" altLang="vi-VN" sz="2600" dirty="0">
                <a:solidFill>
                  <a:srgbClr val="0000CC"/>
                </a:solidFill>
              </a:rPr>
              <a:t> </a:t>
            </a:r>
            <a:r>
              <a:rPr lang="en-US" altLang="vi-VN" sz="2600" dirty="0" err="1">
                <a:solidFill>
                  <a:srgbClr val="0000CC"/>
                </a:solidFill>
              </a:rPr>
              <a:t>mảng</a:t>
            </a:r>
            <a:r>
              <a:rPr lang="en-US" altLang="vi-VN" sz="2600" dirty="0">
                <a:solidFill>
                  <a:srgbClr val="0000CC"/>
                </a:solidFill>
              </a:rPr>
              <a:t> </a:t>
            </a:r>
            <a:r>
              <a:rPr lang="en-US" altLang="vi-VN" sz="2600" dirty="0" err="1">
                <a:solidFill>
                  <a:srgbClr val="0000CC"/>
                </a:solidFill>
              </a:rPr>
              <a:t>các</a:t>
            </a:r>
            <a:r>
              <a:rPr lang="en-US" altLang="vi-VN" sz="2600" dirty="0">
                <a:solidFill>
                  <a:srgbClr val="0000CC"/>
                </a:solidFill>
              </a:rPr>
              <a:t> </a:t>
            </a:r>
            <a:r>
              <a:rPr lang="en-US" altLang="vi-VN" sz="2600" dirty="0" err="1">
                <a:solidFill>
                  <a:srgbClr val="0000CC"/>
                </a:solidFill>
              </a:rPr>
              <a:t>ký</a:t>
            </a:r>
            <a:r>
              <a:rPr lang="en-US" altLang="vi-VN" sz="2600" dirty="0">
                <a:solidFill>
                  <a:srgbClr val="0000CC"/>
                </a:solidFill>
              </a:rPr>
              <a:t> </a:t>
            </a:r>
            <a:r>
              <a:rPr lang="en-US" altLang="vi-VN" sz="2600" dirty="0" err="1">
                <a:solidFill>
                  <a:srgbClr val="0000CC"/>
                </a:solidFill>
              </a:rPr>
              <a:t>tự</a:t>
            </a:r>
            <a:r>
              <a:rPr lang="en-US" altLang="vi-VN" sz="2600" dirty="0">
                <a:solidFill>
                  <a:srgbClr val="0000CC"/>
                </a:solidFill>
              </a:rPr>
              <a:t> </a:t>
            </a:r>
            <a:r>
              <a:rPr lang="en-US" altLang="vi-VN" sz="2600" dirty="0" err="1">
                <a:solidFill>
                  <a:srgbClr val="0000CC"/>
                </a:solidFill>
              </a:rPr>
              <a:t>kết</a:t>
            </a:r>
            <a:r>
              <a:rPr lang="en-US" altLang="vi-VN" sz="2600" dirty="0">
                <a:solidFill>
                  <a:srgbClr val="0000CC"/>
                </a:solidFill>
              </a:rPr>
              <a:t> </a:t>
            </a:r>
            <a:r>
              <a:rPr lang="en-US" altLang="vi-VN" sz="2600" dirty="0" err="1">
                <a:solidFill>
                  <a:srgbClr val="0000CC"/>
                </a:solidFill>
              </a:rPr>
              <a:t>thúc</a:t>
            </a:r>
            <a:r>
              <a:rPr lang="en-US" altLang="vi-VN" sz="2600" dirty="0">
                <a:solidFill>
                  <a:srgbClr val="0000CC"/>
                </a:solidFill>
              </a:rPr>
              <a:t> </a:t>
            </a:r>
            <a:r>
              <a:rPr lang="en-US" altLang="vi-VN" sz="2600" dirty="0" err="1">
                <a:solidFill>
                  <a:srgbClr val="0000CC"/>
                </a:solidFill>
              </a:rPr>
              <a:t>bằng</a:t>
            </a:r>
            <a:r>
              <a:rPr lang="en-US" altLang="vi-VN" sz="2600" dirty="0">
                <a:solidFill>
                  <a:srgbClr val="0000CC"/>
                </a:solidFill>
              </a:rPr>
              <a:t> </a:t>
            </a:r>
            <a:r>
              <a:rPr lang="en-US" altLang="vi-VN" sz="2600" dirty="0" err="1">
                <a:solidFill>
                  <a:srgbClr val="0000CC"/>
                </a:solidFill>
              </a:rPr>
              <a:t>ký</a:t>
            </a:r>
            <a:r>
              <a:rPr lang="en-US" altLang="vi-VN" sz="2600" dirty="0">
                <a:solidFill>
                  <a:srgbClr val="0000CC"/>
                </a:solidFill>
              </a:rPr>
              <a:t> </a:t>
            </a:r>
            <a:r>
              <a:rPr lang="en-US" altLang="vi-VN" sz="2600" dirty="0" err="1">
                <a:solidFill>
                  <a:srgbClr val="0000CC"/>
                </a:solidFill>
              </a:rPr>
              <a:t>tự</a:t>
            </a:r>
            <a:r>
              <a:rPr lang="en-US" altLang="vi-VN" sz="2600" dirty="0">
                <a:solidFill>
                  <a:srgbClr val="0000CC"/>
                </a:solidFill>
              </a:rPr>
              <a:t> NULL (‘\0’).</a:t>
            </a:r>
          </a:p>
          <a:p>
            <a:pPr defTabSz="914400">
              <a:lnSpc>
                <a:spcPct val="80000"/>
              </a:lnSpc>
            </a:pPr>
            <a:r>
              <a:rPr lang="en-US" altLang="vi-VN" sz="2600" dirty="0" err="1">
                <a:solidFill>
                  <a:srgbClr val="0000CC"/>
                </a:solidFill>
              </a:rPr>
              <a:t>Ký</a:t>
            </a:r>
            <a:r>
              <a:rPr lang="en-US" altLang="vi-VN" sz="2600" dirty="0">
                <a:solidFill>
                  <a:srgbClr val="0000CC"/>
                </a:solidFill>
              </a:rPr>
              <a:t> </a:t>
            </a:r>
            <a:r>
              <a:rPr lang="en-US" altLang="vi-VN" sz="2600" dirty="0" err="1">
                <a:solidFill>
                  <a:srgbClr val="0000CC"/>
                </a:solidFill>
              </a:rPr>
              <a:t>tự</a:t>
            </a:r>
            <a:r>
              <a:rPr lang="en-US" altLang="vi-VN" sz="2600" dirty="0">
                <a:solidFill>
                  <a:srgbClr val="0000CC"/>
                </a:solidFill>
              </a:rPr>
              <a:t> ‘\0’ NULL </a:t>
            </a:r>
            <a:r>
              <a:rPr lang="en-US" altLang="vi-VN" sz="2600" dirty="0" err="1">
                <a:solidFill>
                  <a:srgbClr val="0000CC"/>
                </a:solidFill>
              </a:rPr>
              <a:t>tự</a:t>
            </a:r>
            <a:r>
              <a:rPr lang="en-US" altLang="vi-VN" sz="2600" dirty="0">
                <a:solidFill>
                  <a:srgbClr val="0000CC"/>
                </a:solidFill>
              </a:rPr>
              <a:t> </a:t>
            </a:r>
            <a:r>
              <a:rPr lang="en-US" altLang="vi-VN" sz="2600" dirty="0" err="1">
                <a:solidFill>
                  <a:srgbClr val="0000CC"/>
                </a:solidFill>
              </a:rPr>
              <a:t>động</a:t>
            </a:r>
            <a:r>
              <a:rPr lang="en-US" altLang="vi-VN" sz="2600" dirty="0">
                <a:solidFill>
                  <a:srgbClr val="0000CC"/>
                </a:solidFill>
              </a:rPr>
              <a:t> </a:t>
            </a:r>
            <a:r>
              <a:rPr lang="en-US" altLang="vi-VN" sz="2600" dirty="0" err="1">
                <a:solidFill>
                  <a:srgbClr val="0000CC"/>
                </a:solidFill>
              </a:rPr>
              <a:t>được</a:t>
            </a:r>
            <a:r>
              <a:rPr lang="en-US" altLang="vi-VN" sz="2600" dirty="0">
                <a:solidFill>
                  <a:srgbClr val="0000CC"/>
                </a:solidFill>
              </a:rPr>
              <a:t> </a:t>
            </a:r>
            <a:r>
              <a:rPr lang="en-US" altLang="vi-VN" sz="2600" dirty="0" err="1">
                <a:solidFill>
                  <a:srgbClr val="0000CC"/>
                </a:solidFill>
              </a:rPr>
              <a:t>thêm</a:t>
            </a:r>
            <a:r>
              <a:rPr lang="en-US" altLang="vi-VN" sz="2600" dirty="0">
                <a:solidFill>
                  <a:srgbClr val="0000CC"/>
                </a:solidFill>
              </a:rPr>
              <a:t> </a:t>
            </a:r>
            <a:r>
              <a:rPr lang="en-US" altLang="vi-VN" sz="2600" dirty="0" err="1">
                <a:solidFill>
                  <a:srgbClr val="0000CC"/>
                </a:solidFill>
              </a:rPr>
              <a:t>vào</a:t>
            </a:r>
            <a:r>
              <a:rPr lang="en-US" altLang="vi-VN" sz="2600" dirty="0">
                <a:solidFill>
                  <a:srgbClr val="0000CC"/>
                </a:solidFill>
              </a:rPr>
              <a:t> </a:t>
            </a:r>
            <a:r>
              <a:rPr lang="en-US" altLang="vi-VN" sz="2600" dirty="0" err="1">
                <a:solidFill>
                  <a:srgbClr val="0000CC"/>
                </a:solidFill>
              </a:rPr>
              <a:t>trong</a:t>
            </a:r>
            <a:r>
              <a:rPr lang="en-US" altLang="vi-VN" sz="2600" dirty="0">
                <a:solidFill>
                  <a:srgbClr val="0000CC"/>
                </a:solidFill>
              </a:rPr>
              <a:t> </a:t>
            </a:r>
            <a:r>
              <a:rPr lang="en-US" altLang="vi-VN" sz="2600" dirty="0" err="1">
                <a:solidFill>
                  <a:srgbClr val="0000CC"/>
                </a:solidFill>
              </a:rPr>
              <a:t>chuỗi</a:t>
            </a:r>
            <a:r>
              <a:rPr lang="en-US" altLang="vi-VN" sz="2600" dirty="0">
                <a:solidFill>
                  <a:srgbClr val="0000CC"/>
                </a:solidFill>
              </a:rPr>
              <a:t>.</a:t>
            </a:r>
          </a:p>
          <a:p>
            <a:pPr defTabSz="914400">
              <a:lnSpc>
                <a:spcPct val="80000"/>
              </a:lnSpc>
            </a:pPr>
            <a:r>
              <a:rPr lang="en-US" altLang="vi-VN" sz="2600" dirty="0" err="1">
                <a:solidFill>
                  <a:srgbClr val="0000CC"/>
                </a:solidFill>
              </a:rPr>
              <a:t>Mỗi</a:t>
            </a:r>
            <a:r>
              <a:rPr lang="en-US" altLang="vi-VN" sz="2600" dirty="0">
                <a:solidFill>
                  <a:srgbClr val="0000CC"/>
                </a:solidFill>
              </a:rPr>
              <a:t> </a:t>
            </a:r>
            <a:r>
              <a:rPr lang="en-US" altLang="vi-VN" sz="2600" dirty="0" err="1">
                <a:solidFill>
                  <a:srgbClr val="0000CC"/>
                </a:solidFill>
              </a:rPr>
              <a:t>ký</a:t>
            </a:r>
            <a:r>
              <a:rPr lang="en-US" altLang="vi-VN" sz="2600" dirty="0">
                <a:solidFill>
                  <a:srgbClr val="0000CC"/>
                </a:solidFill>
              </a:rPr>
              <a:t> </a:t>
            </a:r>
            <a:r>
              <a:rPr lang="en-US" altLang="vi-VN" sz="2600" dirty="0" err="1">
                <a:solidFill>
                  <a:srgbClr val="0000CC"/>
                </a:solidFill>
              </a:rPr>
              <a:t>tự</a:t>
            </a:r>
            <a:r>
              <a:rPr lang="en-US" altLang="vi-VN" sz="2600" dirty="0">
                <a:solidFill>
                  <a:srgbClr val="0000CC"/>
                </a:solidFill>
              </a:rPr>
              <a:t> </a:t>
            </a:r>
            <a:r>
              <a:rPr lang="en-US" altLang="vi-VN" sz="2600" dirty="0" err="1">
                <a:solidFill>
                  <a:srgbClr val="0000CC"/>
                </a:solidFill>
              </a:rPr>
              <a:t>trong</a:t>
            </a:r>
            <a:r>
              <a:rPr lang="en-US" altLang="vi-VN" sz="2600" dirty="0">
                <a:solidFill>
                  <a:srgbClr val="0000CC"/>
                </a:solidFill>
              </a:rPr>
              <a:t> </a:t>
            </a:r>
            <a:r>
              <a:rPr lang="en-US" altLang="vi-VN" sz="2600" dirty="0" err="1">
                <a:solidFill>
                  <a:srgbClr val="0000CC"/>
                </a:solidFill>
              </a:rPr>
              <a:t>chuỗi</a:t>
            </a:r>
            <a:r>
              <a:rPr lang="en-US" altLang="vi-VN" sz="2600" dirty="0">
                <a:solidFill>
                  <a:srgbClr val="0000CC"/>
                </a:solidFill>
              </a:rPr>
              <a:t> </a:t>
            </a:r>
            <a:r>
              <a:rPr lang="en-US" altLang="vi-VN" sz="2600" dirty="0" err="1">
                <a:solidFill>
                  <a:srgbClr val="0000CC"/>
                </a:solidFill>
              </a:rPr>
              <a:t>được</a:t>
            </a:r>
            <a:r>
              <a:rPr lang="en-US" altLang="vi-VN" sz="2600" dirty="0">
                <a:solidFill>
                  <a:srgbClr val="0000CC"/>
                </a:solidFill>
              </a:rPr>
              <a:t> </a:t>
            </a:r>
            <a:r>
              <a:rPr lang="en-US" altLang="vi-VN" sz="2600" dirty="0" err="1">
                <a:solidFill>
                  <a:srgbClr val="0000CC"/>
                </a:solidFill>
              </a:rPr>
              <a:t>lưu</a:t>
            </a:r>
            <a:r>
              <a:rPr lang="en-US" altLang="vi-VN" sz="2600" dirty="0">
                <a:solidFill>
                  <a:srgbClr val="0000CC"/>
                </a:solidFill>
              </a:rPr>
              <a:t> </a:t>
            </a:r>
            <a:r>
              <a:rPr lang="en-US" altLang="vi-VN" sz="2600" dirty="0" err="1">
                <a:solidFill>
                  <a:srgbClr val="0000CC"/>
                </a:solidFill>
              </a:rPr>
              <a:t>trữ</a:t>
            </a:r>
            <a:r>
              <a:rPr lang="en-US" altLang="vi-VN" sz="2600" dirty="0">
                <a:solidFill>
                  <a:srgbClr val="0000CC"/>
                </a:solidFill>
              </a:rPr>
              <a:t> </a:t>
            </a:r>
            <a:r>
              <a:rPr lang="en-US" altLang="vi-VN" sz="2600" dirty="0" err="1">
                <a:solidFill>
                  <a:srgbClr val="0000CC"/>
                </a:solidFill>
              </a:rPr>
              <a:t>theo</a:t>
            </a:r>
            <a:r>
              <a:rPr lang="en-US" altLang="vi-VN" sz="2600" dirty="0">
                <a:solidFill>
                  <a:srgbClr val="0000CC"/>
                </a:solidFill>
              </a:rPr>
              <a:t> </a:t>
            </a:r>
            <a:r>
              <a:rPr lang="en-US" altLang="vi-VN" sz="2600" dirty="0" err="1">
                <a:solidFill>
                  <a:srgbClr val="0000CC"/>
                </a:solidFill>
              </a:rPr>
              <a:t>định</a:t>
            </a:r>
            <a:r>
              <a:rPr lang="en-US" altLang="vi-VN" sz="2600" dirty="0">
                <a:solidFill>
                  <a:srgbClr val="0000CC"/>
                </a:solidFill>
              </a:rPr>
              <a:t> </a:t>
            </a:r>
            <a:r>
              <a:rPr lang="en-US" altLang="vi-VN" sz="2600" dirty="0" err="1">
                <a:solidFill>
                  <a:srgbClr val="0000CC"/>
                </a:solidFill>
              </a:rPr>
              <a:t>dạng</a:t>
            </a:r>
            <a:r>
              <a:rPr lang="en-US" altLang="vi-VN" sz="2600" dirty="0">
                <a:solidFill>
                  <a:srgbClr val="0000CC"/>
                </a:solidFill>
              </a:rPr>
              <a:t> </a:t>
            </a:r>
            <a:r>
              <a:rPr lang="en-US" altLang="vi-VN" sz="2600" dirty="0" err="1">
                <a:solidFill>
                  <a:srgbClr val="0000CC"/>
                </a:solidFill>
              </a:rPr>
              <a:t>bảng</a:t>
            </a:r>
            <a:r>
              <a:rPr lang="en-US" altLang="vi-VN" sz="2600" dirty="0">
                <a:solidFill>
                  <a:srgbClr val="0000CC"/>
                </a:solidFill>
              </a:rPr>
              <a:t> </a:t>
            </a:r>
            <a:r>
              <a:rPr lang="en-US" altLang="vi-VN" sz="2600" dirty="0" err="1">
                <a:solidFill>
                  <a:srgbClr val="0000CC"/>
                </a:solidFill>
              </a:rPr>
              <a:t>mã</a:t>
            </a:r>
            <a:r>
              <a:rPr lang="en-US" altLang="vi-VN" sz="2600" dirty="0">
                <a:solidFill>
                  <a:srgbClr val="0000CC"/>
                </a:solidFill>
              </a:rPr>
              <a:t> ASCII</a:t>
            </a:r>
          </a:p>
        </p:txBody>
      </p:sp>
      <p:sp>
        <p:nvSpPr>
          <p:cNvPr id="22533" name="Rectangle 4"/>
          <p:cNvSpPr>
            <a:spLocks noChangeArrowheads="1"/>
          </p:cNvSpPr>
          <p:nvPr/>
        </p:nvSpPr>
        <p:spPr bwMode="auto">
          <a:xfrm>
            <a:off x="9144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‘H’</a:t>
            </a:r>
          </a:p>
        </p:txBody>
      </p:sp>
      <p:sp>
        <p:nvSpPr>
          <p:cNvPr id="22534" name="Rectangle 5"/>
          <p:cNvSpPr>
            <a:spLocks noChangeArrowheads="1"/>
          </p:cNvSpPr>
          <p:nvPr/>
        </p:nvSpPr>
        <p:spPr bwMode="auto">
          <a:xfrm>
            <a:off x="21336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‘e’</a:t>
            </a:r>
          </a:p>
        </p:txBody>
      </p:sp>
      <p:sp>
        <p:nvSpPr>
          <p:cNvPr id="22535" name="Rectangle 6"/>
          <p:cNvSpPr>
            <a:spLocks noChangeArrowheads="1"/>
          </p:cNvSpPr>
          <p:nvPr/>
        </p:nvSpPr>
        <p:spPr bwMode="auto">
          <a:xfrm>
            <a:off x="33528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‘l’</a:t>
            </a:r>
          </a:p>
        </p:txBody>
      </p:sp>
      <p:sp>
        <p:nvSpPr>
          <p:cNvPr id="22536" name="Rectangle 7"/>
          <p:cNvSpPr>
            <a:spLocks noChangeArrowheads="1"/>
          </p:cNvSpPr>
          <p:nvPr/>
        </p:nvSpPr>
        <p:spPr bwMode="auto">
          <a:xfrm>
            <a:off x="45720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‘l’</a:t>
            </a:r>
          </a:p>
        </p:txBody>
      </p:sp>
      <p:sp>
        <p:nvSpPr>
          <p:cNvPr id="22537" name="Rectangle 8"/>
          <p:cNvSpPr>
            <a:spLocks noChangeArrowheads="1"/>
          </p:cNvSpPr>
          <p:nvPr/>
        </p:nvSpPr>
        <p:spPr bwMode="auto">
          <a:xfrm>
            <a:off x="57912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‘o’</a:t>
            </a:r>
          </a:p>
        </p:txBody>
      </p:sp>
      <p:sp>
        <p:nvSpPr>
          <p:cNvPr id="22538" name="Rectangle 9"/>
          <p:cNvSpPr>
            <a:spLocks noChangeArrowheads="1"/>
          </p:cNvSpPr>
          <p:nvPr/>
        </p:nvSpPr>
        <p:spPr bwMode="auto">
          <a:xfrm>
            <a:off x="7010400" y="38862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NULL</a:t>
            </a:r>
          </a:p>
        </p:txBody>
      </p:sp>
      <p:sp>
        <p:nvSpPr>
          <p:cNvPr id="22539" name="Rectangle 10"/>
          <p:cNvSpPr>
            <a:spLocks noChangeArrowheads="1"/>
          </p:cNvSpPr>
          <p:nvPr/>
        </p:nvSpPr>
        <p:spPr bwMode="auto">
          <a:xfrm>
            <a:off x="9144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dirty="0"/>
              <a:t>01001000</a:t>
            </a:r>
          </a:p>
        </p:txBody>
      </p:sp>
      <p:sp>
        <p:nvSpPr>
          <p:cNvPr id="22540" name="Rectangle 11"/>
          <p:cNvSpPr>
            <a:spLocks noChangeArrowheads="1"/>
          </p:cNvSpPr>
          <p:nvPr/>
        </p:nvSpPr>
        <p:spPr bwMode="auto">
          <a:xfrm>
            <a:off x="21336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01100101</a:t>
            </a:r>
          </a:p>
        </p:txBody>
      </p:sp>
      <p:sp>
        <p:nvSpPr>
          <p:cNvPr id="22541" name="Rectangle 12"/>
          <p:cNvSpPr>
            <a:spLocks noChangeArrowheads="1"/>
          </p:cNvSpPr>
          <p:nvPr/>
        </p:nvSpPr>
        <p:spPr bwMode="auto">
          <a:xfrm>
            <a:off x="33528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01101100</a:t>
            </a:r>
          </a:p>
        </p:txBody>
      </p:sp>
      <p:sp>
        <p:nvSpPr>
          <p:cNvPr id="22542" name="Rectangle 13"/>
          <p:cNvSpPr>
            <a:spLocks noChangeArrowheads="1"/>
          </p:cNvSpPr>
          <p:nvPr/>
        </p:nvSpPr>
        <p:spPr bwMode="auto">
          <a:xfrm>
            <a:off x="45720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01101100</a:t>
            </a:r>
          </a:p>
        </p:txBody>
      </p:sp>
      <p:sp>
        <p:nvSpPr>
          <p:cNvPr id="22543" name="Rectangle 14"/>
          <p:cNvSpPr>
            <a:spLocks noChangeArrowheads="1"/>
          </p:cNvSpPr>
          <p:nvPr/>
        </p:nvSpPr>
        <p:spPr bwMode="auto">
          <a:xfrm>
            <a:off x="57912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01101111</a:t>
            </a:r>
          </a:p>
        </p:txBody>
      </p:sp>
      <p:sp>
        <p:nvSpPr>
          <p:cNvPr id="22544" name="Rectangle 15"/>
          <p:cNvSpPr>
            <a:spLocks noChangeArrowheads="1"/>
          </p:cNvSpPr>
          <p:nvPr/>
        </p:nvSpPr>
        <p:spPr bwMode="auto">
          <a:xfrm>
            <a:off x="7010400" y="44196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00000000</a:t>
            </a:r>
          </a:p>
        </p:txBody>
      </p:sp>
      <p:sp>
        <p:nvSpPr>
          <p:cNvPr id="22545" name="Rectangle 16"/>
          <p:cNvSpPr>
            <a:spLocks noChangeArrowheads="1"/>
          </p:cNvSpPr>
          <p:nvPr/>
        </p:nvSpPr>
        <p:spPr bwMode="auto">
          <a:xfrm>
            <a:off x="9144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72, 48h</a:t>
            </a:r>
          </a:p>
        </p:txBody>
      </p:sp>
      <p:sp>
        <p:nvSpPr>
          <p:cNvPr id="22546" name="Rectangle 17"/>
          <p:cNvSpPr>
            <a:spLocks noChangeArrowheads="1"/>
          </p:cNvSpPr>
          <p:nvPr/>
        </p:nvSpPr>
        <p:spPr bwMode="auto">
          <a:xfrm>
            <a:off x="21336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101, 65h</a:t>
            </a:r>
          </a:p>
        </p:txBody>
      </p:sp>
      <p:sp>
        <p:nvSpPr>
          <p:cNvPr id="22547" name="Rectangle 18"/>
          <p:cNvSpPr>
            <a:spLocks noChangeArrowheads="1"/>
          </p:cNvSpPr>
          <p:nvPr/>
        </p:nvSpPr>
        <p:spPr bwMode="auto">
          <a:xfrm>
            <a:off x="33528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108, 6Ch</a:t>
            </a:r>
          </a:p>
        </p:txBody>
      </p:sp>
      <p:sp>
        <p:nvSpPr>
          <p:cNvPr id="22548" name="Rectangle 19"/>
          <p:cNvSpPr>
            <a:spLocks noChangeArrowheads="1"/>
          </p:cNvSpPr>
          <p:nvPr/>
        </p:nvSpPr>
        <p:spPr bwMode="auto">
          <a:xfrm>
            <a:off x="45720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108, 6Ch</a:t>
            </a:r>
          </a:p>
        </p:txBody>
      </p:sp>
      <p:sp>
        <p:nvSpPr>
          <p:cNvPr id="22549" name="Rectangle 20"/>
          <p:cNvSpPr>
            <a:spLocks noChangeArrowheads="1"/>
          </p:cNvSpPr>
          <p:nvPr/>
        </p:nvSpPr>
        <p:spPr bwMode="auto">
          <a:xfrm>
            <a:off x="57912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111, 6Fh</a:t>
            </a:r>
          </a:p>
        </p:txBody>
      </p:sp>
      <p:sp>
        <p:nvSpPr>
          <p:cNvPr id="22550" name="Rectangle 21"/>
          <p:cNvSpPr>
            <a:spLocks noChangeArrowheads="1"/>
          </p:cNvSpPr>
          <p:nvPr/>
        </p:nvSpPr>
        <p:spPr bwMode="auto">
          <a:xfrm>
            <a:off x="7010400" y="4953000"/>
            <a:ext cx="12192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00000000</a:t>
            </a:r>
          </a:p>
        </p:txBody>
      </p:sp>
      <p:sp>
        <p:nvSpPr>
          <p:cNvPr id="22551" name="Rectangle 22"/>
          <p:cNvSpPr>
            <a:spLocks noGrp="1"/>
          </p:cNvSpPr>
          <p:nvPr>
            <p:ph type="title"/>
          </p:nvPr>
        </p:nvSpPr>
        <p:spPr>
          <a:xfrm>
            <a:off x="1774370" y="365126"/>
            <a:ext cx="6740979" cy="821417"/>
          </a:xfrm>
        </p:spPr>
        <p:txBody>
          <a:bodyPr/>
          <a:lstStyle/>
          <a:p>
            <a:r>
              <a:rPr lang="en-US" altLang="vi-VN" b="1" dirty="0" err="1">
                <a:solidFill>
                  <a:srgbClr val="0000CC"/>
                </a:solidFill>
              </a:rPr>
              <a:t>Khái</a:t>
            </a:r>
            <a:r>
              <a:rPr lang="en-US" altLang="vi-VN" b="1" dirty="0">
                <a:solidFill>
                  <a:srgbClr val="0000CC"/>
                </a:solidFill>
              </a:rPr>
              <a:t> </a:t>
            </a:r>
            <a:r>
              <a:rPr lang="en-US" altLang="vi-VN" b="1" dirty="0" err="1">
                <a:solidFill>
                  <a:srgbClr val="0000CC"/>
                </a:solidFill>
              </a:rPr>
              <a:t>niệm</a:t>
            </a:r>
            <a:endParaRPr lang="en-US" altLang="vi-VN" b="1" dirty="0">
              <a:solidFill>
                <a:srgbClr val="0000CC"/>
              </a:solidFill>
            </a:endParaRPr>
          </a:p>
        </p:txBody>
      </p:sp>
    </p:spTree>
    <p:extLst>
      <p:ext uri="{BB962C8B-B14F-4D97-AF65-F5344CB8AC3E}">
        <p14:creationId xmlns:p14="http://schemas.microsoft.com/office/powerpoint/2010/main" val="3660200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F1D469-1707-411F-9FF8-4C18E416C2B3}" type="slidenum">
              <a:rPr lang="en-US" altLang="vi-VN">
                <a:solidFill>
                  <a:srgbClr val="FFFF00"/>
                </a:solidFill>
              </a:rPr>
              <a:pPr eaLnBrk="1" hangingPunct="1"/>
              <a:t>29</a:t>
            </a:fld>
            <a:endParaRPr lang="en-GB" altLang="vi-VN">
              <a:solidFill>
                <a:srgbClr val="FFFF00"/>
              </a:solidFill>
            </a:endParaRPr>
          </a:p>
        </p:txBody>
      </p:sp>
      <p:sp>
        <p:nvSpPr>
          <p:cNvPr id="23556" name="Rectangle 3"/>
          <p:cNvSpPr>
            <a:spLocks noGrp="1" noChangeArrowheads="1"/>
          </p:cNvSpPr>
          <p:nvPr>
            <p:ph type="body" idx="1"/>
          </p:nvPr>
        </p:nvSpPr>
        <p:spPr>
          <a:xfrm>
            <a:off x="457200" y="1295400"/>
            <a:ext cx="8229600" cy="4397829"/>
          </a:xfrm>
        </p:spPr>
        <p:txBody>
          <a:bodyPr/>
          <a:lstStyle/>
          <a:p>
            <a:pPr>
              <a:buFont typeface="Wingdings" panose="05000000000000000000" pitchFamily="2" charset="2"/>
              <a:buNone/>
            </a:pPr>
            <a:r>
              <a:rPr lang="en-US" altLang="vi-VN" dirty="0">
                <a:solidFill>
                  <a:srgbClr val="0000CC"/>
                </a:solidFill>
              </a:rPr>
              <a:t>char </a:t>
            </a:r>
            <a:r>
              <a:rPr lang="en-US" altLang="vi-VN" dirty="0" err="1">
                <a:solidFill>
                  <a:srgbClr val="0000CC"/>
                </a:solidFill>
              </a:rPr>
              <a:t>Tênbiến</a:t>
            </a:r>
            <a:r>
              <a:rPr lang="en-US" altLang="vi-VN" dirty="0">
                <a:solidFill>
                  <a:srgbClr val="0000CC"/>
                </a:solidFill>
              </a:rPr>
              <a:t> [</a:t>
            </a:r>
            <a:r>
              <a:rPr lang="en-US" altLang="vi-VN" dirty="0" err="1">
                <a:solidFill>
                  <a:srgbClr val="0000CC"/>
                </a:solidFill>
              </a:rPr>
              <a:t>độ</a:t>
            </a:r>
            <a:r>
              <a:rPr lang="en-US" altLang="vi-VN" dirty="0">
                <a:solidFill>
                  <a:srgbClr val="0000CC"/>
                </a:solidFill>
              </a:rPr>
              <a:t> </a:t>
            </a:r>
            <a:r>
              <a:rPr lang="en-US" altLang="vi-VN" dirty="0" err="1">
                <a:solidFill>
                  <a:srgbClr val="0000CC"/>
                </a:solidFill>
              </a:rPr>
              <a:t>dài</a:t>
            </a:r>
            <a:r>
              <a:rPr lang="en-US" altLang="vi-VN" dirty="0">
                <a:solidFill>
                  <a:srgbClr val="0000CC"/>
                </a:solidFill>
              </a:rPr>
              <a:t> </a:t>
            </a:r>
            <a:r>
              <a:rPr lang="en-US" altLang="vi-VN" dirty="0" err="1">
                <a:solidFill>
                  <a:srgbClr val="0000CC"/>
                </a:solidFill>
              </a:rPr>
              <a:t>của</a:t>
            </a:r>
            <a:r>
              <a:rPr lang="en-US" altLang="vi-VN" dirty="0">
                <a:solidFill>
                  <a:srgbClr val="0000CC"/>
                </a:solidFill>
              </a:rPr>
              <a:t> </a:t>
            </a:r>
            <a:r>
              <a:rPr lang="en-US" altLang="vi-VN" dirty="0" err="1">
                <a:solidFill>
                  <a:srgbClr val="0000CC"/>
                </a:solidFill>
              </a:rPr>
              <a:t>chuỗi</a:t>
            </a:r>
            <a:r>
              <a:rPr lang="en-US" altLang="vi-VN" dirty="0">
                <a:solidFill>
                  <a:srgbClr val="0000CC"/>
                </a:solidFill>
              </a:rPr>
              <a:t>]</a:t>
            </a:r>
          </a:p>
          <a:p>
            <a:pPr>
              <a:buFont typeface="Wingdings" panose="05000000000000000000" pitchFamily="2" charset="2"/>
              <a:buNone/>
            </a:pPr>
            <a:r>
              <a:rPr lang="en-US" altLang="vi-VN" dirty="0" err="1">
                <a:solidFill>
                  <a:srgbClr val="0000CC"/>
                </a:solidFill>
              </a:rPr>
              <a:t>Ví</a:t>
            </a:r>
            <a:r>
              <a:rPr lang="en-US" altLang="vi-VN" dirty="0">
                <a:solidFill>
                  <a:srgbClr val="0000CC"/>
                </a:solidFill>
              </a:rPr>
              <a:t> </a:t>
            </a:r>
            <a:r>
              <a:rPr lang="en-US" altLang="vi-VN" dirty="0" err="1">
                <a:solidFill>
                  <a:srgbClr val="0000CC"/>
                </a:solidFill>
              </a:rPr>
              <a:t>dụ</a:t>
            </a:r>
            <a:r>
              <a:rPr lang="en-US" altLang="vi-VN" dirty="0">
                <a:solidFill>
                  <a:srgbClr val="0000CC"/>
                </a:solidFill>
              </a:rPr>
              <a:t> :</a:t>
            </a:r>
          </a:p>
          <a:p>
            <a:pPr>
              <a:buFont typeface="Wingdings" panose="05000000000000000000" pitchFamily="2" charset="2"/>
              <a:buNone/>
            </a:pPr>
            <a:r>
              <a:rPr lang="en-US" altLang="vi-VN" dirty="0">
                <a:solidFill>
                  <a:srgbClr val="0000CC"/>
                </a:solidFill>
              </a:rPr>
              <a:t>          	   	char </a:t>
            </a:r>
            <a:r>
              <a:rPr lang="en-US" altLang="vi-VN" dirty="0" err="1">
                <a:solidFill>
                  <a:srgbClr val="0000CC"/>
                </a:solidFill>
              </a:rPr>
              <a:t>hoten</a:t>
            </a:r>
            <a:r>
              <a:rPr lang="en-US" altLang="vi-VN" dirty="0">
                <a:solidFill>
                  <a:srgbClr val="0000CC"/>
                </a:solidFill>
              </a:rPr>
              <a:t>[30];</a:t>
            </a:r>
          </a:p>
          <a:p>
            <a:pPr>
              <a:buFont typeface="Wingdings" panose="05000000000000000000" pitchFamily="2" charset="2"/>
              <a:buNone/>
            </a:pPr>
            <a:r>
              <a:rPr lang="en-US" altLang="vi-VN" dirty="0">
                <a:solidFill>
                  <a:srgbClr val="0000CC"/>
                </a:solidFill>
              </a:rPr>
              <a:t>			char </a:t>
            </a:r>
            <a:r>
              <a:rPr lang="en-US" altLang="vi-VN" dirty="0" err="1">
                <a:solidFill>
                  <a:srgbClr val="0000CC"/>
                </a:solidFill>
              </a:rPr>
              <a:t>diachi</a:t>
            </a:r>
            <a:r>
              <a:rPr lang="en-US" altLang="vi-VN" dirty="0">
                <a:solidFill>
                  <a:srgbClr val="0000CC"/>
                </a:solidFill>
              </a:rPr>
              <a:t>[50];</a:t>
            </a:r>
          </a:p>
          <a:p>
            <a:pPr>
              <a:buFont typeface="Wingdings" panose="05000000000000000000" pitchFamily="2" charset="2"/>
              <a:buNone/>
            </a:pPr>
            <a:r>
              <a:rPr lang="en-US" altLang="vi-VN" dirty="0">
                <a:solidFill>
                  <a:srgbClr val="0000CC"/>
                </a:solidFill>
              </a:rPr>
              <a:t>	</a:t>
            </a:r>
            <a:r>
              <a:rPr lang="en-US" altLang="vi-VN" b="1" dirty="0" err="1">
                <a:solidFill>
                  <a:srgbClr val="0000CC"/>
                </a:solidFill>
              </a:rPr>
              <a:t>hoặc</a:t>
            </a:r>
            <a:r>
              <a:rPr lang="en-US" altLang="vi-VN" b="1" dirty="0">
                <a:solidFill>
                  <a:srgbClr val="0000CC"/>
                </a:solidFill>
              </a:rPr>
              <a:t> </a:t>
            </a:r>
          </a:p>
          <a:p>
            <a:pPr>
              <a:buFont typeface="Wingdings" panose="05000000000000000000" pitchFamily="2" charset="2"/>
              <a:buNone/>
            </a:pPr>
            <a:r>
              <a:rPr lang="en-US" altLang="vi-VN" dirty="0">
                <a:solidFill>
                  <a:srgbClr val="0000CC"/>
                </a:solidFill>
              </a:rPr>
              <a:t>			char *</a:t>
            </a:r>
            <a:r>
              <a:rPr lang="en-US" altLang="vi-VN" dirty="0" err="1">
                <a:solidFill>
                  <a:srgbClr val="0000CC"/>
                </a:solidFill>
              </a:rPr>
              <a:t>hoten</a:t>
            </a:r>
            <a:r>
              <a:rPr lang="en-US" altLang="vi-VN" dirty="0">
                <a:solidFill>
                  <a:srgbClr val="0000CC"/>
                </a:solidFill>
              </a:rPr>
              <a:t>;</a:t>
            </a:r>
          </a:p>
          <a:p>
            <a:pPr>
              <a:buFont typeface="Wingdings" panose="05000000000000000000" pitchFamily="2" charset="2"/>
              <a:buNone/>
            </a:pPr>
            <a:r>
              <a:rPr lang="en-US" altLang="vi-VN" dirty="0">
                <a:solidFill>
                  <a:srgbClr val="0000CC"/>
                </a:solidFill>
              </a:rPr>
              <a:t>			char *</a:t>
            </a:r>
            <a:r>
              <a:rPr lang="en-US" altLang="vi-VN" dirty="0" err="1">
                <a:solidFill>
                  <a:srgbClr val="0000CC"/>
                </a:solidFill>
              </a:rPr>
              <a:t>diachi</a:t>
            </a:r>
            <a:r>
              <a:rPr lang="en-US" altLang="vi-VN" dirty="0">
                <a:solidFill>
                  <a:srgbClr val="0000CC"/>
                </a:solidFill>
              </a:rPr>
              <a:t>;</a:t>
            </a:r>
          </a:p>
        </p:txBody>
      </p:sp>
      <p:sp>
        <p:nvSpPr>
          <p:cNvPr id="23557" name="Rectangle 4"/>
          <p:cNvSpPr>
            <a:spLocks noGrp="1"/>
          </p:cNvSpPr>
          <p:nvPr>
            <p:ph type="title"/>
          </p:nvPr>
        </p:nvSpPr>
        <p:spPr>
          <a:xfrm>
            <a:off x="1817914" y="365126"/>
            <a:ext cx="6697436" cy="821417"/>
          </a:xfrm>
        </p:spPr>
        <p:txBody>
          <a:bodyPr/>
          <a:lstStyle/>
          <a:p>
            <a:r>
              <a:rPr lang="en-US" altLang="vi-VN" b="1" dirty="0" err="1">
                <a:solidFill>
                  <a:srgbClr val="0000CC"/>
                </a:solidFill>
              </a:rPr>
              <a:t>Khai</a:t>
            </a:r>
            <a:r>
              <a:rPr lang="en-US" altLang="vi-VN" b="1" dirty="0">
                <a:solidFill>
                  <a:srgbClr val="0000CC"/>
                </a:solidFill>
              </a:rPr>
              <a:t> </a:t>
            </a:r>
            <a:r>
              <a:rPr lang="en-US" altLang="vi-VN" b="1" dirty="0" err="1">
                <a:solidFill>
                  <a:srgbClr val="0000CC"/>
                </a:solidFill>
              </a:rPr>
              <a:t>báo</a:t>
            </a:r>
            <a:r>
              <a:rPr lang="en-US" altLang="vi-VN" b="1" dirty="0">
                <a:solidFill>
                  <a:srgbClr val="0000CC"/>
                </a:solidFill>
              </a:rPr>
              <a:t> </a:t>
            </a:r>
            <a:r>
              <a:rPr lang="en-US" altLang="vi-VN" b="1" dirty="0" err="1">
                <a:solidFill>
                  <a:srgbClr val="0000CC"/>
                </a:solidFill>
              </a:rPr>
              <a:t>chuỗi</a:t>
            </a:r>
            <a:endParaRPr lang="en-US" altLang="vi-VN" b="1" dirty="0">
              <a:solidFill>
                <a:srgbClr val="0000CC"/>
              </a:solidFill>
            </a:endParaRPr>
          </a:p>
        </p:txBody>
      </p:sp>
    </p:spTree>
    <p:extLst>
      <p:ext uri="{BB962C8B-B14F-4D97-AF65-F5344CB8AC3E}">
        <p14:creationId xmlns:p14="http://schemas.microsoft.com/office/powerpoint/2010/main" val="1729986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2B4B45-90FF-41D0-ADDC-1303A9A8FEBD}" type="slidenum">
              <a:rPr lang="en-US" altLang="vi-VN">
                <a:solidFill>
                  <a:srgbClr val="FFFF00"/>
                </a:solidFill>
              </a:rPr>
              <a:pPr eaLnBrk="1" hangingPunct="1"/>
              <a:t>30</a:t>
            </a:fld>
            <a:endParaRPr lang="en-GB" altLang="vi-VN">
              <a:solidFill>
                <a:srgbClr val="FFFF00"/>
              </a:solidFill>
            </a:endParaRPr>
          </a:p>
        </p:txBody>
      </p:sp>
      <p:sp>
        <p:nvSpPr>
          <p:cNvPr id="24580" name="Rectangle 3"/>
          <p:cNvSpPr>
            <a:spLocks noGrp="1" noChangeArrowheads="1"/>
          </p:cNvSpPr>
          <p:nvPr>
            <p:ph type="body" idx="1"/>
          </p:nvPr>
        </p:nvSpPr>
        <p:spPr>
          <a:xfrm>
            <a:off x="457200" y="1295400"/>
            <a:ext cx="4648200" cy="3429000"/>
          </a:xfrm>
        </p:spPr>
        <p:txBody>
          <a:bodyPr>
            <a:normAutofit lnSpcReduction="10000"/>
          </a:bodyPr>
          <a:lstStyle/>
          <a:p>
            <a:pPr defTabSz="914400">
              <a:lnSpc>
                <a:spcPct val="90000"/>
              </a:lnSpc>
              <a:buFont typeface="Wingdings" panose="05000000000000000000" pitchFamily="2" charset="2"/>
              <a:buNone/>
            </a:pPr>
            <a:r>
              <a:rPr lang="en-US" altLang="vi-VN" sz="2400" dirty="0" err="1">
                <a:solidFill>
                  <a:srgbClr val="0000CC"/>
                </a:solidFill>
              </a:rPr>
              <a:t>Giả</a:t>
            </a:r>
            <a:r>
              <a:rPr lang="en-US" altLang="vi-VN" sz="2400" dirty="0">
                <a:solidFill>
                  <a:srgbClr val="0000CC"/>
                </a:solidFill>
              </a:rPr>
              <a:t> </a:t>
            </a:r>
            <a:r>
              <a:rPr lang="en-US" altLang="vi-VN" sz="2400" dirty="0" err="1">
                <a:solidFill>
                  <a:srgbClr val="0000CC"/>
                </a:solidFill>
              </a:rPr>
              <a:t>sử</a:t>
            </a:r>
            <a:r>
              <a:rPr lang="en-US" altLang="vi-VN" sz="2400" dirty="0">
                <a:solidFill>
                  <a:srgbClr val="0000CC"/>
                </a:solidFill>
              </a:rPr>
              <a:t> </a:t>
            </a:r>
            <a:r>
              <a:rPr lang="en-US" altLang="vi-VN" sz="2400" dirty="0" err="1">
                <a:solidFill>
                  <a:srgbClr val="0000CC"/>
                </a:solidFill>
              </a:rPr>
              <a:t>khai</a:t>
            </a:r>
            <a:r>
              <a:rPr lang="en-US" altLang="vi-VN" sz="2400" dirty="0">
                <a:solidFill>
                  <a:srgbClr val="0000CC"/>
                </a:solidFill>
              </a:rPr>
              <a:t> </a:t>
            </a:r>
            <a:r>
              <a:rPr lang="en-US" altLang="vi-VN" sz="2400" dirty="0" err="1">
                <a:solidFill>
                  <a:srgbClr val="0000CC"/>
                </a:solidFill>
              </a:rPr>
              <a:t>báo</a:t>
            </a:r>
            <a:r>
              <a:rPr lang="en-US" altLang="vi-VN" sz="2400" dirty="0">
                <a:solidFill>
                  <a:srgbClr val="0000CC"/>
                </a:solidFill>
              </a:rPr>
              <a:t>: char S[80];</a:t>
            </a:r>
          </a:p>
          <a:p>
            <a:pPr defTabSz="914400">
              <a:lnSpc>
                <a:spcPct val="90000"/>
              </a:lnSpc>
            </a:pPr>
            <a:r>
              <a:rPr lang="en-US" altLang="vi-VN" sz="2400" b="1" dirty="0" err="1">
                <a:solidFill>
                  <a:srgbClr val="0000CC"/>
                </a:solidFill>
              </a:rPr>
              <a:t>Nhập</a:t>
            </a:r>
            <a:r>
              <a:rPr lang="en-US" altLang="vi-VN" sz="2400" b="1" dirty="0">
                <a:solidFill>
                  <a:srgbClr val="0000CC"/>
                </a:solidFill>
              </a:rPr>
              <a:t> </a:t>
            </a:r>
            <a:r>
              <a:rPr lang="en-US" altLang="vi-VN" sz="2400" b="1" dirty="0" err="1">
                <a:solidFill>
                  <a:srgbClr val="0000CC"/>
                </a:solidFill>
              </a:rPr>
              <a:t>chuỗi</a:t>
            </a:r>
            <a:endParaRPr lang="en-US" altLang="vi-VN" sz="2400" b="1" dirty="0">
              <a:solidFill>
                <a:srgbClr val="0000CC"/>
              </a:solidFill>
            </a:endParaRPr>
          </a:p>
          <a:p>
            <a:pPr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scanf</a:t>
            </a:r>
            <a:r>
              <a:rPr lang="en-US" altLang="vi-VN" sz="2400" dirty="0">
                <a:solidFill>
                  <a:srgbClr val="0000CC"/>
                </a:solidFill>
              </a:rPr>
              <a:t>(“%</a:t>
            </a:r>
            <a:r>
              <a:rPr lang="en-US" altLang="vi-VN" sz="2400" dirty="0" err="1">
                <a:solidFill>
                  <a:srgbClr val="0000CC"/>
                </a:solidFill>
              </a:rPr>
              <a:t>s”,&amp;S</a:t>
            </a:r>
            <a:r>
              <a:rPr lang="en-US" altLang="vi-VN" sz="2400" dirty="0">
                <a:solidFill>
                  <a:srgbClr val="0000CC"/>
                </a:solidFill>
              </a:rPr>
              <a:t>);</a:t>
            </a:r>
          </a:p>
          <a:p>
            <a:pPr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hoặc</a:t>
            </a:r>
            <a:r>
              <a:rPr lang="en-US" altLang="vi-VN" sz="2400" dirty="0">
                <a:solidFill>
                  <a:srgbClr val="0000CC"/>
                </a:solidFill>
              </a:rPr>
              <a:t> gets(S);</a:t>
            </a:r>
          </a:p>
          <a:p>
            <a:pPr defTabSz="914400">
              <a:lnSpc>
                <a:spcPct val="90000"/>
              </a:lnSpc>
            </a:pPr>
            <a:r>
              <a:rPr lang="en-US" altLang="vi-VN" sz="2400" b="1" dirty="0" err="1">
                <a:solidFill>
                  <a:srgbClr val="0000CC"/>
                </a:solidFill>
              </a:rPr>
              <a:t>Xuất</a:t>
            </a:r>
            <a:r>
              <a:rPr lang="en-US" altLang="vi-VN" sz="2400" b="1" dirty="0">
                <a:solidFill>
                  <a:srgbClr val="0000CC"/>
                </a:solidFill>
              </a:rPr>
              <a:t> </a:t>
            </a:r>
            <a:r>
              <a:rPr lang="en-US" altLang="vi-VN" sz="2400" b="1" dirty="0" err="1">
                <a:solidFill>
                  <a:srgbClr val="0000CC"/>
                </a:solidFill>
              </a:rPr>
              <a:t>chuỗi</a:t>
            </a:r>
            <a:endParaRPr lang="en-US" altLang="vi-VN" sz="2400" b="1" dirty="0">
              <a:solidFill>
                <a:srgbClr val="0000CC"/>
              </a:solidFill>
            </a:endParaRPr>
          </a:p>
          <a:p>
            <a:pPr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printf</a:t>
            </a:r>
            <a:r>
              <a:rPr lang="en-US" altLang="vi-VN" sz="2400" dirty="0">
                <a:solidFill>
                  <a:srgbClr val="0000CC"/>
                </a:solidFill>
              </a:rPr>
              <a:t>(S);</a:t>
            </a:r>
          </a:p>
          <a:p>
            <a:pPr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printf</a:t>
            </a:r>
            <a:r>
              <a:rPr lang="en-US" altLang="vi-VN" sz="2400" dirty="0">
                <a:solidFill>
                  <a:srgbClr val="0000CC"/>
                </a:solidFill>
              </a:rPr>
              <a:t>(“%</a:t>
            </a:r>
            <a:r>
              <a:rPr lang="en-US" altLang="vi-VN" sz="2400" dirty="0" err="1">
                <a:solidFill>
                  <a:srgbClr val="0000CC"/>
                </a:solidFill>
              </a:rPr>
              <a:t>s”,S</a:t>
            </a:r>
            <a:r>
              <a:rPr lang="en-US" altLang="vi-VN" sz="2400" dirty="0">
                <a:solidFill>
                  <a:srgbClr val="0000CC"/>
                </a:solidFill>
              </a:rPr>
              <a:t>);</a:t>
            </a:r>
          </a:p>
          <a:p>
            <a:pPr defTabSz="914400">
              <a:lnSpc>
                <a:spcPct val="90000"/>
              </a:lnSpc>
              <a:buFont typeface="Wingdings" panose="05000000000000000000" pitchFamily="2" charset="2"/>
              <a:buNone/>
            </a:pPr>
            <a:r>
              <a:rPr lang="en-US" altLang="vi-VN" sz="2400" dirty="0">
                <a:solidFill>
                  <a:srgbClr val="0000CC"/>
                </a:solidFill>
              </a:rPr>
              <a:t>    </a:t>
            </a:r>
            <a:r>
              <a:rPr lang="en-US" altLang="vi-VN" sz="2400" dirty="0" err="1">
                <a:solidFill>
                  <a:srgbClr val="0000CC"/>
                </a:solidFill>
              </a:rPr>
              <a:t>hoặc</a:t>
            </a:r>
            <a:r>
              <a:rPr lang="en-US" altLang="vi-VN" sz="2400" dirty="0">
                <a:solidFill>
                  <a:srgbClr val="0000CC"/>
                </a:solidFill>
              </a:rPr>
              <a:t> puts(S);</a:t>
            </a:r>
          </a:p>
        </p:txBody>
      </p:sp>
      <p:sp>
        <p:nvSpPr>
          <p:cNvPr id="674820" name="Rectangle 4"/>
          <p:cNvSpPr>
            <a:spLocks noChangeArrowheads="1"/>
          </p:cNvSpPr>
          <p:nvPr/>
        </p:nvSpPr>
        <p:spPr bwMode="auto">
          <a:xfrm>
            <a:off x="283028" y="5105400"/>
            <a:ext cx="8839200" cy="1371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buFontTx/>
              <a:buChar char="•"/>
            </a:pPr>
            <a:r>
              <a:rPr lang="en-US" altLang="vi-VN" sz="1600" dirty="0"/>
              <a:t> </a:t>
            </a:r>
            <a:r>
              <a:rPr lang="en-US" altLang="vi-VN" sz="1600" dirty="0" err="1"/>
              <a:t>H</a:t>
            </a:r>
            <a:r>
              <a:rPr lang="en-US" altLang="vi-VN" dirty="0" err="1"/>
              <a:t>àm</a:t>
            </a:r>
            <a:r>
              <a:rPr lang="en-US" altLang="vi-VN" dirty="0"/>
              <a:t> </a:t>
            </a:r>
            <a:r>
              <a:rPr lang="en-US" altLang="vi-VN" sz="1600" b="1" dirty="0" err="1"/>
              <a:t>scanf</a:t>
            </a:r>
            <a:r>
              <a:rPr lang="en-US" altLang="vi-VN" sz="1600" b="1" dirty="0"/>
              <a:t> </a:t>
            </a:r>
            <a:r>
              <a:rPr lang="en-US" altLang="vi-VN" sz="1600" dirty="0" err="1"/>
              <a:t>không</a:t>
            </a:r>
            <a:r>
              <a:rPr lang="en-US" altLang="vi-VN" sz="1600" dirty="0"/>
              <a:t> </a:t>
            </a:r>
            <a:r>
              <a:rPr lang="en-US" altLang="vi-VN" sz="1600" dirty="0" err="1"/>
              <a:t>nhập</a:t>
            </a:r>
            <a:r>
              <a:rPr lang="en-US" altLang="vi-VN" sz="1600" dirty="0"/>
              <a:t> </a:t>
            </a:r>
            <a:r>
              <a:rPr lang="en-US" altLang="vi-VN" sz="1600" dirty="0" err="1"/>
              <a:t>ký</a:t>
            </a:r>
            <a:r>
              <a:rPr lang="en-US" altLang="vi-VN" sz="1600" dirty="0"/>
              <a:t> </a:t>
            </a:r>
            <a:r>
              <a:rPr lang="en-US" altLang="vi-VN" sz="1600" dirty="0" err="1"/>
              <a:t>tự</a:t>
            </a:r>
            <a:r>
              <a:rPr lang="en-US" altLang="vi-VN" sz="1600" dirty="0"/>
              <a:t> </a:t>
            </a:r>
            <a:r>
              <a:rPr lang="en-US" altLang="vi-VN" sz="1600" dirty="0" err="1"/>
              <a:t>khoảng</a:t>
            </a:r>
            <a:r>
              <a:rPr lang="en-US" altLang="vi-VN" sz="1600" dirty="0"/>
              <a:t> </a:t>
            </a:r>
            <a:r>
              <a:rPr lang="en-US" altLang="vi-VN" sz="1600" dirty="0" err="1"/>
              <a:t>trắng</a:t>
            </a:r>
            <a:endParaRPr lang="en-US" altLang="vi-VN" sz="1600" dirty="0"/>
          </a:p>
          <a:p>
            <a:pPr algn="l" eaLnBrk="1" hangingPunct="1">
              <a:buFontTx/>
              <a:buChar char="•"/>
            </a:pPr>
            <a:r>
              <a:rPr lang="en-US" altLang="vi-VN" sz="1600" dirty="0"/>
              <a:t> </a:t>
            </a:r>
            <a:r>
              <a:rPr lang="en-US" altLang="vi-VN" dirty="0" err="1"/>
              <a:t>Để</a:t>
            </a:r>
            <a:r>
              <a:rPr lang="en-US" altLang="vi-VN" dirty="0"/>
              <a:t> </a:t>
            </a:r>
            <a:r>
              <a:rPr lang="en-US" altLang="vi-VN" dirty="0" err="1"/>
              <a:t>nhập</a:t>
            </a:r>
            <a:r>
              <a:rPr lang="en-US" altLang="vi-VN" dirty="0"/>
              <a:t> </a:t>
            </a:r>
            <a:r>
              <a:rPr lang="en-US" altLang="vi-VN" dirty="0" err="1"/>
              <a:t>chuỗi</a:t>
            </a:r>
            <a:r>
              <a:rPr lang="en-US" altLang="vi-VN" dirty="0"/>
              <a:t> </a:t>
            </a:r>
            <a:r>
              <a:rPr lang="en-US" altLang="vi-VN" dirty="0" err="1"/>
              <a:t>có</a:t>
            </a:r>
            <a:r>
              <a:rPr lang="en-US" altLang="vi-VN" dirty="0"/>
              <a:t> </a:t>
            </a:r>
            <a:r>
              <a:rPr lang="en-US" altLang="vi-VN" dirty="0" err="1"/>
              <a:t>khoảng</a:t>
            </a:r>
            <a:r>
              <a:rPr lang="en-US" altLang="vi-VN" dirty="0"/>
              <a:t> </a:t>
            </a:r>
            <a:r>
              <a:rPr lang="en-US" altLang="vi-VN" dirty="0" err="1"/>
              <a:t>trắng</a:t>
            </a:r>
            <a:r>
              <a:rPr lang="en-US" altLang="vi-VN" dirty="0"/>
              <a:t> ta </a:t>
            </a:r>
            <a:r>
              <a:rPr lang="en-US" altLang="vi-VN" dirty="0" err="1"/>
              <a:t>dùng</a:t>
            </a:r>
            <a:r>
              <a:rPr lang="en-US" altLang="vi-VN" dirty="0"/>
              <a:t> </a:t>
            </a:r>
            <a:r>
              <a:rPr lang="en-US" altLang="vi-VN" dirty="0" err="1"/>
              <a:t>hàm</a:t>
            </a:r>
            <a:r>
              <a:rPr lang="en-US" altLang="vi-VN" dirty="0"/>
              <a:t> </a:t>
            </a:r>
            <a:r>
              <a:rPr lang="en-US" altLang="vi-VN" sz="1600" b="1" dirty="0"/>
              <a:t>gets</a:t>
            </a:r>
            <a:endParaRPr lang="en-US" altLang="vi-VN" sz="1600" dirty="0"/>
          </a:p>
          <a:p>
            <a:pPr algn="l" eaLnBrk="1" hangingPunct="1">
              <a:buFontTx/>
              <a:buChar char="•"/>
            </a:pPr>
            <a:r>
              <a:rPr lang="en-US" altLang="vi-VN" sz="1600" dirty="0"/>
              <a:t> </a:t>
            </a:r>
            <a:r>
              <a:rPr lang="en-US" altLang="vi-VN" sz="1600" dirty="0" err="1"/>
              <a:t>N</a:t>
            </a:r>
            <a:r>
              <a:rPr lang="en-US" altLang="vi-VN" dirty="0" err="1"/>
              <a:t>ếu</a:t>
            </a:r>
            <a:r>
              <a:rPr lang="en-US" altLang="vi-VN" dirty="0"/>
              <a:t> </a:t>
            </a:r>
            <a:r>
              <a:rPr lang="en-US" altLang="vi-VN" dirty="0" err="1"/>
              <a:t>vùng</a:t>
            </a:r>
            <a:r>
              <a:rPr lang="en-US" altLang="vi-VN" dirty="0"/>
              <a:t> </a:t>
            </a:r>
            <a:r>
              <a:rPr lang="en-US" altLang="vi-VN" dirty="0" err="1"/>
              <a:t>đệm</a:t>
            </a:r>
            <a:r>
              <a:rPr lang="en-US" altLang="vi-VN" dirty="0"/>
              <a:t> keyboard </a:t>
            </a:r>
            <a:r>
              <a:rPr lang="en-US" altLang="vi-VN" dirty="0" err="1"/>
              <a:t>có</a:t>
            </a:r>
            <a:r>
              <a:rPr lang="en-US" altLang="vi-VN" dirty="0"/>
              <a:t> </a:t>
            </a:r>
            <a:r>
              <a:rPr lang="en-US" altLang="vi-VN" dirty="0" err="1"/>
              <a:t>dữ</a:t>
            </a:r>
            <a:r>
              <a:rPr lang="en-US" altLang="vi-VN" dirty="0"/>
              <a:t> </a:t>
            </a:r>
            <a:r>
              <a:rPr lang="en-US" altLang="vi-VN" dirty="0" err="1"/>
              <a:t>liệu</a:t>
            </a:r>
            <a:r>
              <a:rPr lang="en-US" altLang="vi-VN" dirty="0"/>
              <a:t> </a:t>
            </a:r>
            <a:r>
              <a:rPr lang="en-US" altLang="vi-VN" dirty="0" err="1"/>
              <a:t>thì</a:t>
            </a:r>
            <a:r>
              <a:rPr lang="en-US" altLang="vi-VN" dirty="0"/>
              <a:t> </a:t>
            </a:r>
            <a:r>
              <a:rPr lang="en-US" altLang="vi-VN" dirty="0" err="1"/>
              <a:t>dữ</a:t>
            </a:r>
            <a:r>
              <a:rPr lang="en-US" altLang="vi-VN" dirty="0"/>
              <a:t> </a:t>
            </a:r>
            <a:r>
              <a:rPr lang="en-US" altLang="vi-VN" dirty="0" err="1"/>
              <a:t>liệu</a:t>
            </a:r>
            <a:r>
              <a:rPr lang="en-US" altLang="vi-VN" dirty="0"/>
              <a:t> </a:t>
            </a:r>
            <a:r>
              <a:rPr lang="en-US" altLang="vi-VN" dirty="0" err="1"/>
              <a:t>sẽ</a:t>
            </a:r>
            <a:r>
              <a:rPr lang="en-US" altLang="vi-VN" dirty="0"/>
              <a:t> </a:t>
            </a:r>
            <a:r>
              <a:rPr lang="en-US" altLang="vi-VN" dirty="0" err="1"/>
              <a:t>chuyển</a:t>
            </a:r>
            <a:r>
              <a:rPr lang="en-US" altLang="vi-VN" dirty="0"/>
              <a:t> </a:t>
            </a:r>
            <a:r>
              <a:rPr lang="en-US" altLang="vi-VN" dirty="0" err="1"/>
              <a:t>vào</a:t>
            </a:r>
            <a:r>
              <a:rPr lang="en-US" altLang="vi-VN" dirty="0"/>
              <a:t> </a:t>
            </a:r>
            <a:r>
              <a:rPr lang="en-US" altLang="vi-VN" dirty="0" err="1"/>
              <a:t>biến</a:t>
            </a:r>
            <a:r>
              <a:rPr lang="en-US" altLang="vi-VN" dirty="0"/>
              <a:t>. </a:t>
            </a:r>
            <a:r>
              <a:rPr lang="en-US" altLang="vi-VN" sz="1600" dirty="0"/>
              <a:t> </a:t>
            </a:r>
          </a:p>
          <a:p>
            <a:pPr algn="l" eaLnBrk="1" hangingPunct="1">
              <a:buFontTx/>
              <a:buChar char="•"/>
            </a:pPr>
            <a:r>
              <a:rPr lang="en-US" altLang="vi-VN" sz="1600" dirty="0"/>
              <a:t> </a:t>
            </a:r>
            <a:r>
              <a:rPr lang="en-US" altLang="vi-VN" dirty="0" err="1"/>
              <a:t>Để</a:t>
            </a:r>
            <a:r>
              <a:rPr lang="en-US" altLang="vi-VN" dirty="0"/>
              <a:t> </a:t>
            </a:r>
            <a:r>
              <a:rPr lang="en-US" altLang="vi-VN" dirty="0" err="1"/>
              <a:t>nhập</a:t>
            </a:r>
            <a:r>
              <a:rPr lang="en-US" altLang="vi-VN" dirty="0"/>
              <a:t> </a:t>
            </a:r>
            <a:r>
              <a:rPr lang="en-US" altLang="vi-VN" dirty="0" err="1"/>
              <a:t>một</a:t>
            </a:r>
            <a:r>
              <a:rPr lang="en-US" altLang="vi-VN" dirty="0"/>
              <a:t> </a:t>
            </a:r>
            <a:r>
              <a:rPr lang="en-US" altLang="vi-VN" dirty="0" err="1"/>
              <a:t>chuỗi</a:t>
            </a:r>
            <a:r>
              <a:rPr lang="en-US" altLang="vi-VN" dirty="0"/>
              <a:t> </a:t>
            </a:r>
            <a:r>
              <a:rPr lang="en-US" altLang="vi-VN" dirty="0" err="1"/>
              <a:t>mới</a:t>
            </a:r>
            <a:r>
              <a:rPr lang="en-US" altLang="vi-VN" dirty="0"/>
              <a:t> </a:t>
            </a:r>
            <a:r>
              <a:rPr lang="en-US" altLang="vi-VN" dirty="0" err="1"/>
              <a:t>chúng</a:t>
            </a:r>
            <a:r>
              <a:rPr lang="en-US" altLang="vi-VN" dirty="0"/>
              <a:t> ta </a:t>
            </a:r>
            <a:r>
              <a:rPr lang="en-US" altLang="vi-VN" dirty="0" err="1"/>
              <a:t>phải</a:t>
            </a:r>
            <a:r>
              <a:rPr lang="en-US" altLang="vi-VN" dirty="0"/>
              <a:t> </a:t>
            </a:r>
            <a:r>
              <a:rPr lang="en-US" altLang="vi-VN" dirty="0" err="1"/>
              <a:t>xoá</a:t>
            </a:r>
            <a:r>
              <a:rPr lang="en-US" altLang="vi-VN" dirty="0"/>
              <a:t> </a:t>
            </a:r>
            <a:r>
              <a:rPr lang="en-US" altLang="vi-VN" dirty="0" err="1"/>
              <a:t>bộ</a:t>
            </a:r>
            <a:r>
              <a:rPr lang="en-US" altLang="vi-VN" dirty="0"/>
              <a:t> </a:t>
            </a:r>
            <a:r>
              <a:rPr lang="en-US" altLang="vi-VN" dirty="0" err="1"/>
              <a:t>đệm</a:t>
            </a:r>
            <a:r>
              <a:rPr lang="en-US" altLang="vi-VN" dirty="0"/>
              <a:t> keyboard </a:t>
            </a:r>
            <a:r>
              <a:rPr lang="en-US" altLang="vi-VN" dirty="0" err="1"/>
              <a:t>bằng</a:t>
            </a:r>
            <a:r>
              <a:rPr lang="en-US" altLang="vi-VN" dirty="0"/>
              <a:t> </a:t>
            </a:r>
            <a:r>
              <a:rPr lang="en-US" altLang="vi-VN" dirty="0" err="1"/>
              <a:t>hàm</a:t>
            </a:r>
            <a:r>
              <a:rPr lang="en-US" altLang="vi-VN" dirty="0"/>
              <a:t> </a:t>
            </a:r>
            <a:r>
              <a:rPr lang="en-US" altLang="vi-VN" sz="1600" b="1" dirty="0" err="1"/>
              <a:t>fflush</a:t>
            </a:r>
            <a:r>
              <a:rPr lang="en-US" altLang="vi-VN" sz="1600" b="1" dirty="0"/>
              <a:t>(</a:t>
            </a:r>
            <a:r>
              <a:rPr lang="en-US" altLang="vi-VN" sz="1600" b="1" dirty="0" err="1"/>
              <a:t>stdin</a:t>
            </a:r>
            <a:r>
              <a:rPr lang="en-US" altLang="vi-VN" sz="1600" b="1" dirty="0"/>
              <a:t>)</a:t>
            </a:r>
            <a:endParaRPr lang="en-US" altLang="vi-VN" sz="1600" dirty="0"/>
          </a:p>
        </p:txBody>
      </p:sp>
      <p:sp>
        <p:nvSpPr>
          <p:cNvPr id="24582" name="Rectangle 5"/>
          <p:cNvSpPr>
            <a:spLocks noGrp="1"/>
          </p:cNvSpPr>
          <p:nvPr>
            <p:ph type="title"/>
          </p:nvPr>
        </p:nvSpPr>
        <p:spPr>
          <a:xfrm>
            <a:off x="1872342" y="365127"/>
            <a:ext cx="6643007" cy="685798"/>
          </a:xfrm>
        </p:spPr>
        <p:txBody>
          <a:bodyPr>
            <a:normAutofit fontScale="90000"/>
          </a:bodyPr>
          <a:lstStyle/>
          <a:p>
            <a:r>
              <a:rPr lang="en-US" altLang="vi-VN" b="1" dirty="0" err="1">
                <a:solidFill>
                  <a:srgbClr val="0000CC"/>
                </a:solidFill>
              </a:rPr>
              <a:t>Nhập</a:t>
            </a:r>
            <a:r>
              <a:rPr lang="en-US" altLang="vi-VN" b="1" dirty="0">
                <a:solidFill>
                  <a:srgbClr val="0000CC"/>
                </a:solidFill>
              </a:rPr>
              <a:t> </a:t>
            </a:r>
            <a:r>
              <a:rPr lang="en-US" altLang="vi-VN" b="1" dirty="0" err="1">
                <a:solidFill>
                  <a:srgbClr val="0000CC"/>
                </a:solidFill>
              </a:rPr>
              <a:t>xuất</a:t>
            </a:r>
            <a:r>
              <a:rPr lang="en-US" altLang="vi-VN" b="1" dirty="0">
                <a:solidFill>
                  <a:srgbClr val="0000CC"/>
                </a:solidFill>
              </a:rPr>
              <a:t> </a:t>
            </a:r>
            <a:r>
              <a:rPr lang="en-US" altLang="vi-VN" b="1" dirty="0" err="1">
                <a:solidFill>
                  <a:srgbClr val="0000CC"/>
                </a:solidFill>
              </a:rPr>
              <a:t>chuỗi</a:t>
            </a:r>
            <a:endParaRPr lang="en-US" altLang="vi-VN" b="1" dirty="0">
              <a:solidFill>
                <a:srgbClr val="0000CC"/>
              </a:solidFill>
            </a:endParaRPr>
          </a:p>
        </p:txBody>
      </p:sp>
    </p:spTree>
    <p:extLst>
      <p:ext uri="{BB962C8B-B14F-4D97-AF65-F5344CB8AC3E}">
        <p14:creationId xmlns:p14="http://schemas.microsoft.com/office/powerpoint/2010/main" val="747584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74820"/>
                                        </p:tgtEl>
                                        <p:attrNameLst>
                                          <p:attrName>style.visibility</p:attrName>
                                        </p:attrNameLst>
                                      </p:cBhvr>
                                      <p:to>
                                        <p:strVal val="visible"/>
                                      </p:to>
                                    </p:set>
                                    <p:animEffect transition="in" filter="box(in)">
                                      <p:cBhvr>
                                        <p:cTn id="7" dur="500"/>
                                        <p:tgtEl>
                                          <p:spTgt spid="674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2B4B45-90FF-41D0-ADDC-1303A9A8FEBD}" type="slidenum">
              <a:rPr lang="en-US" altLang="vi-VN">
                <a:solidFill>
                  <a:srgbClr val="FFFF00"/>
                </a:solidFill>
              </a:rPr>
              <a:pPr eaLnBrk="1" hangingPunct="1"/>
              <a:t>31</a:t>
            </a:fld>
            <a:endParaRPr lang="en-GB" altLang="vi-VN">
              <a:solidFill>
                <a:srgbClr val="FFFF00"/>
              </a:solidFill>
            </a:endParaRPr>
          </a:p>
        </p:txBody>
      </p:sp>
      <p:sp>
        <p:nvSpPr>
          <p:cNvPr id="24580" name="Rectangle 3"/>
          <p:cNvSpPr>
            <a:spLocks noGrp="1" noChangeArrowheads="1"/>
          </p:cNvSpPr>
          <p:nvPr>
            <p:ph type="body" idx="1"/>
          </p:nvPr>
        </p:nvSpPr>
        <p:spPr>
          <a:xfrm>
            <a:off x="489856" y="1469571"/>
            <a:ext cx="7260773" cy="3069771"/>
          </a:xfrm>
        </p:spPr>
        <p:txBody>
          <a:bodyPr>
            <a:normAutofit/>
          </a:bodyPr>
          <a:lstStyle/>
          <a:p>
            <a:pPr defTabSz="914400">
              <a:lnSpc>
                <a:spcPct val="90000"/>
              </a:lnSpc>
              <a:buFont typeface="Wingdings" panose="05000000000000000000" pitchFamily="2" charset="2"/>
              <a:buNone/>
            </a:pPr>
            <a:r>
              <a:rPr lang="en-US" altLang="vi-VN" dirty="0" err="1">
                <a:solidFill>
                  <a:srgbClr val="0000CC"/>
                </a:solidFill>
              </a:rPr>
              <a:t>Sử</a:t>
            </a:r>
            <a:r>
              <a:rPr lang="en-US" altLang="vi-VN" dirty="0">
                <a:solidFill>
                  <a:srgbClr val="0000CC"/>
                </a:solidFill>
              </a:rPr>
              <a:t> </a:t>
            </a:r>
            <a:r>
              <a:rPr lang="en-US" altLang="vi-VN" dirty="0" err="1">
                <a:solidFill>
                  <a:srgbClr val="0000CC"/>
                </a:solidFill>
              </a:rPr>
              <a:t>dụng</a:t>
            </a:r>
            <a:r>
              <a:rPr lang="en-US" altLang="vi-VN" dirty="0">
                <a:solidFill>
                  <a:srgbClr val="0000CC"/>
                </a:solidFill>
              </a:rPr>
              <a:t> </a:t>
            </a:r>
            <a:r>
              <a:rPr lang="en-US" altLang="vi-VN" b="1" dirty="0">
                <a:solidFill>
                  <a:srgbClr val="0000CC"/>
                </a:solidFill>
              </a:rPr>
              <a:t>“[^\n]” </a:t>
            </a:r>
            <a:r>
              <a:rPr lang="en-US" altLang="vi-VN" dirty="0" err="1">
                <a:solidFill>
                  <a:srgbClr val="0000CC"/>
                </a:solidFill>
              </a:rPr>
              <a:t>thay</a:t>
            </a:r>
            <a:r>
              <a:rPr lang="en-US" altLang="vi-VN" dirty="0">
                <a:solidFill>
                  <a:srgbClr val="0000CC"/>
                </a:solidFill>
              </a:rPr>
              <a:t> </a:t>
            </a:r>
            <a:r>
              <a:rPr lang="en-US" altLang="vi-VN" dirty="0" err="1">
                <a:solidFill>
                  <a:srgbClr val="0000CC"/>
                </a:solidFill>
              </a:rPr>
              <a:t>vì</a:t>
            </a:r>
            <a:r>
              <a:rPr lang="en-US" altLang="vi-VN" dirty="0">
                <a:solidFill>
                  <a:srgbClr val="0000CC"/>
                </a:solidFill>
              </a:rPr>
              <a:t> </a:t>
            </a:r>
            <a:r>
              <a:rPr lang="en-US" altLang="vi-VN" b="1" dirty="0">
                <a:solidFill>
                  <a:srgbClr val="0000CC"/>
                </a:solidFill>
              </a:rPr>
              <a:t>“%s”</a:t>
            </a:r>
          </a:p>
          <a:p>
            <a:pPr marL="0" indent="0" defTabSz="914400">
              <a:lnSpc>
                <a:spcPct val="90000"/>
              </a:lnSpc>
              <a:buNone/>
            </a:pPr>
            <a:r>
              <a:rPr lang="en-US" altLang="vi-VN" dirty="0">
                <a:solidFill>
                  <a:srgbClr val="0000CC"/>
                </a:solidFill>
              </a:rPr>
              <a:t>	char S[30];</a:t>
            </a:r>
          </a:p>
          <a:p>
            <a:pPr marL="0" indent="0" defTabSz="914400">
              <a:lnSpc>
                <a:spcPct val="90000"/>
              </a:lnSpc>
              <a:buNone/>
            </a:pPr>
            <a:r>
              <a:rPr lang="en-US" altLang="vi-VN" dirty="0">
                <a:solidFill>
                  <a:srgbClr val="0000CC"/>
                </a:solidFill>
              </a:rPr>
              <a:t>	</a:t>
            </a:r>
            <a:r>
              <a:rPr lang="en-US" altLang="vi-VN" dirty="0" err="1">
                <a:solidFill>
                  <a:srgbClr val="0000CC"/>
                </a:solidFill>
              </a:rPr>
              <a:t>scanf</a:t>
            </a:r>
            <a:r>
              <a:rPr lang="en-US" altLang="vi-VN" dirty="0">
                <a:solidFill>
                  <a:srgbClr val="0000CC"/>
                </a:solidFill>
              </a:rPr>
              <a:t>(“%</a:t>
            </a:r>
            <a:r>
              <a:rPr lang="en-US" altLang="vi-VN" dirty="0" err="1">
                <a:solidFill>
                  <a:srgbClr val="0000CC"/>
                </a:solidFill>
              </a:rPr>
              <a:t>s”,&amp;S</a:t>
            </a:r>
            <a:r>
              <a:rPr lang="en-US" altLang="vi-VN" dirty="0">
                <a:solidFill>
                  <a:srgbClr val="0000CC"/>
                </a:solidFill>
              </a:rPr>
              <a:t>);</a:t>
            </a:r>
          </a:p>
          <a:p>
            <a:pPr marL="0" indent="0" defTabSz="914400">
              <a:lnSpc>
                <a:spcPct val="90000"/>
              </a:lnSpc>
              <a:buNone/>
            </a:pPr>
            <a:r>
              <a:rPr lang="en-US" altLang="vi-VN" dirty="0">
                <a:solidFill>
                  <a:srgbClr val="0000CC"/>
                </a:solidFill>
              </a:rPr>
              <a:t> 	</a:t>
            </a:r>
            <a:r>
              <a:rPr lang="en-US" altLang="vi-VN" dirty="0">
                <a:solidFill>
                  <a:srgbClr val="0000CC"/>
                </a:solidFill>
                <a:sym typeface="Wingdings" panose="05000000000000000000" pitchFamily="2" charset="2"/>
              </a:rPr>
              <a:t> </a:t>
            </a:r>
            <a:r>
              <a:rPr lang="en-US" altLang="vi-VN" dirty="0" err="1">
                <a:solidFill>
                  <a:srgbClr val="0000CC"/>
                </a:solidFill>
              </a:rPr>
              <a:t>scanf</a:t>
            </a:r>
            <a:r>
              <a:rPr lang="en-US" altLang="vi-VN" dirty="0">
                <a:solidFill>
                  <a:srgbClr val="0000CC"/>
                </a:solidFill>
              </a:rPr>
              <a:t>(“%[^\n]”,&amp;S);</a:t>
            </a:r>
          </a:p>
          <a:p>
            <a:pPr marL="0" indent="0" defTabSz="914400">
              <a:lnSpc>
                <a:spcPct val="90000"/>
              </a:lnSpc>
              <a:buNone/>
            </a:pPr>
            <a:endParaRPr lang="en-US" altLang="vi-VN" dirty="0">
              <a:solidFill>
                <a:srgbClr val="0000CC"/>
              </a:solidFill>
            </a:endParaRPr>
          </a:p>
          <a:p>
            <a:pPr marL="0" indent="0">
              <a:buNone/>
            </a:pPr>
            <a:r>
              <a:rPr lang="en-US" dirty="0">
                <a:latin typeface="Arial" charset="0"/>
                <a:cs typeface="Arial" charset="0"/>
              </a:rPr>
              <a:t>Reads all characters </a:t>
            </a:r>
            <a:r>
              <a:rPr lang="en-US" u="sng" dirty="0">
                <a:latin typeface="Arial" charset="0"/>
                <a:cs typeface="Arial" charset="0"/>
              </a:rPr>
              <a:t>until the newline</a:t>
            </a:r>
            <a:r>
              <a:rPr lang="en-US" dirty="0">
                <a:latin typeface="Arial" charset="0"/>
                <a:cs typeface="Arial" charset="0"/>
              </a:rPr>
              <a:t> (</a:t>
            </a:r>
            <a:r>
              <a:rPr lang="en-US" b="1" dirty="0">
                <a:latin typeface="Arial" charset="0"/>
                <a:cs typeface="Arial" charset="0"/>
              </a:rPr>
              <a:t>'\n'</a:t>
            </a:r>
            <a:r>
              <a:rPr lang="en-US" dirty="0">
                <a:latin typeface="Arial" charset="0"/>
                <a:cs typeface="Arial" charset="0"/>
              </a:rPr>
              <a:t>), </a:t>
            </a:r>
          </a:p>
          <a:p>
            <a:pPr marL="0" indent="0" defTabSz="914400">
              <a:lnSpc>
                <a:spcPct val="90000"/>
              </a:lnSpc>
              <a:buNone/>
            </a:pPr>
            <a:endParaRPr lang="en-US" altLang="vi-VN" dirty="0">
              <a:solidFill>
                <a:srgbClr val="0000CC"/>
              </a:solidFill>
            </a:endParaRPr>
          </a:p>
        </p:txBody>
      </p:sp>
      <p:sp>
        <p:nvSpPr>
          <p:cNvPr id="24582" name="Rectangle 5"/>
          <p:cNvSpPr>
            <a:spLocks noGrp="1"/>
          </p:cNvSpPr>
          <p:nvPr>
            <p:ph type="title"/>
          </p:nvPr>
        </p:nvSpPr>
        <p:spPr>
          <a:xfrm>
            <a:off x="1872342" y="365127"/>
            <a:ext cx="6643007" cy="685798"/>
          </a:xfrm>
        </p:spPr>
        <p:txBody>
          <a:bodyPr>
            <a:normAutofit fontScale="90000"/>
          </a:bodyPr>
          <a:lstStyle/>
          <a:p>
            <a:r>
              <a:rPr lang="en-US" altLang="vi-VN" b="1" dirty="0" err="1">
                <a:solidFill>
                  <a:srgbClr val="0000CC"/>
                </a:solidFill>
              </a:rPr>
              <a:t>Nhập</a:t>
            </a:r>
            <a:r>
              <a:rPr lang="en-US" altLang="vi-VN" b="1" dirty="0">
                <a:solidFill>
                  <a:srgbClr val="0000CC"/>
                </a:solidFill>
              </a:rPr>
              <a:t> </a:t>
            </a:r>
            <a:r>
              <a:rPr lang="en-US" altLang="vi-VN" b="1" dirty="0" err="1">
                <a:solidFill>
                  <a:srgbClr val="0000CC"/>
                </a:solidFill>
              </a:rPr>
              <a:t>chuỗi</a:t>
            </a:r>
            <a:r>
              <a:rPr lang="en-US" altLang="vi-VN" b="1" dirty="0">
                <a:solidFill>
                  <a:srgbClr val="0000CC"/>
                </a:solidFill>
              </a:rPr>
              <a:t> </a:t>
            </a:r>
            <a:r>
              <a:rPr lang="en-US" altLang="vi-VN" b="1" dirty="0" err="1">
                <a:solidFill>
                  <a:srgbClr val="0000CC"/>
                </a:solidFill>
              </a:rPr>
              <a:t>có</a:t>
            </a:r>
            <a:r>
              <a:rPr lang="en-US" altLang="vi-VN" b="1" dirty="0">
                <a:solidFill>
                  <a:srgbClr val="0000CC"/>
                </a:solidFill>
              </a:rPr>
              <a:t> </a:t>
            </a:r>
            <a:r>
              <a:rPr lang="en-US" altLang="vi-VN" b="1" dirty="0" err="1">
                <a:solidFill>
                  <a:srgbClr val="0000CC"/>
                </a:solidFill>
              </a:rPr>
              <a:t>khoảng</a:t>
            </a:r>
            <a:r>
              <a:rPr lang="en-US" altLang="vi-VN" b="1" dirty="0">
                <a:solidFill>
                  <a:srgbClr val="0000CC"/>
                </a:solidFill>
              </a:rPr>
              <a:t> </a:t>
            </a:r>
            <a:r>
              <a:rPr lang="en-US" altLang="vi-VN" b="1" dirty="0" err="1">
                <a:solidFill>
                  <a:srgbClr val="0000CC"/>
                </a:solidFill>
              </a:rPr>
              <a:t>trắng</a:t>
            </a:r>
            <a:r>
              <a:rPr lang="en-US" altLang="vi-VN" b="1" dirty="0">
                <a:solidFill>
                  <a:srgbClr val="0000CC"/>
                </a:solidFill>
              </a:rPr>
              <a:t> </a:t>
            </a:r>
            <a:r>
              <a:rPr lang="en-US" altLang="vi-VN" b="1" dirty="0" err="1">
                <a:solidFill>
                  <a:srgbClr val="0000CC"/>
                </a:solidFill>
              </a:rPr>
              <a:t>với</a:t>
            </a:r>
            <a:r>
              <a:rPr lang="en-US" altLang="vi-VN" b="1" dirty="0">
                <a:solidFill>
                  <a:srgbClr val="0000CC"/>
                </a:solidFill>
              </a:rPr>
              <a:t> </a:t>
            </a:r>
            <a:r>
              <a:rPr lang="en-US" altLang="vi-VN" b="1" dirty="0" err="1">
                <a:solidFill>
                  <a:srgbClr val="0000CC"/>
                </a:solidFill>
              </a:rPr>
              <a:t>hàm</a:t>
            </a:r>
            <a:r>
              <a:rPr lang="en-US" altLang="vi-VN" b="1" dirty="0">
                <a:solidFill>
                  <a:srgbClr val="0000CC"/>
                </a:solidFill>
              </a:rPr>
              <a:t> </a:t>
            </a:r>
            <a:r>
              <a:rPr lang="en-US" altLang="vi-VN" b="1" dirty="0" err="1">
                <a:solidFill>
                  <a:srgbClr val="0000CC"/>
                </a:solidFill>
              </a:rPr>
              <a:t>scanf</a:t>
            </a:r>
            <a:r>
              <a:rPr lang="en-US" altLang="vi-VN" b="1" dirty="0">
                <a:solidFill>
                  <a:srgbClr val="0000CC"/>
                </a:solidFill>
              </a:rPr>
              <a:t>()</a:t>
            </a:r>
          </a:p>
        </p:txBody>
      </p:sp>
    </p:spTree>
    <p:extLst>
      <p:ext uri="{BB962C8B-B14F-4D97-AF65-F5344CB8AC3E}">
        <p14:creationId xmlns:p14="http://schemas.microsoft.com/office/powerpoint/2010/main" val="852837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2B4B45-90FF-41D0-ADDC-1303A9A8FEBD}" type="slidenum">
              <a:rPr lang="en-US" altLang="vi-VN">
                <a:solidFill>
                  <a:srgbClr val="FFFF00"/>
                </a:solidFill>
              </a:rPr>
              <a:pPr eaLnBrk="1" hangingPunct="1"/>
              <a:t>32</a:t>
            </a:fld>
            <a:endParaRPr lang="en-GB" altLang="vi-VN">
              <a:solidFill>
                <a:srgbClr val="FFFF00"/>
              </a:solidFill>
            </a:endParaRPr>
          </a:p>
        </p:txBody>
      </p:sp>
      <p:sp>
        <p:nvSpPr>
          <p:cNvPr id="24582" name="Rectangle 5"/>
          <p:cNvSpPr>
            <a:spLocks noGrp="1"/>
          </p:cNvSpPr>
          <p:nvPr>
            <p:ph type="title"/>
          </p:nvPr>
        </p:nvSpPr>
        <p:spPr>
          <a:xfrm>
            <a:off x="1872342" y="365127"/>
            <a:ext cx="6643007" cy="685798"/>
          </a:xfrm>
        </p:spPr>
        <p:txBody>
          <a:bodyPr>
            <a:normAutofit fontScale="90000"/>
          </a:bodyPr>
          <a:lstStyle/>
          <a:p>
            <a:r>
              <a:rPr lang="en-US" altLang="vi-VN" b="1" dirty="0" err="1">
                <a:solidFill>
                  <a:srgbClr val="0000CC"/>
                </a:solidFill>
              </a:rPr>
              <a:t>Nhập</a:t>
            </a:r>
            <a:r>
              <a:rPr lang="en-US" altLang="vi-VN" b="1" dirty="0">
                <a:solidFill>
                  <a:srgbClr val="0000CC"/>
                </a:solidFill>
              </a:rPr>
              <a:t> </a:t>
            </a:r>
            <a:r>
              <a:rPr lang="en-US" altLang="vi-VN" b="1" dirty="0" err="1">
                <a:solidFill>
                  <a:srgbClr val="0000CC"/>
                </a:solidFill>
              </a:rPr>
              <a:t>chuỗi</a:t>
            </a:r>
            <a:r>
              <a:rPr lang="en-US" altLang="vi-VN" b="1" dirty="0">
                <a:solidFill>
                  <a:srgbClr val="0000CC"/>
                </a:solidFill>
              </a:rPr>
              <a:t> </a:t>
            </a:r>
            <a:r>
              <a:rPr lang="en-US" altLang="vi-VN" b="1" dirty="0" err="1">
                <a:solidFill>
                  <a:srgbClr val="0000CC"/>
                </a:solidFill>
              </a:rPr>
              <a:t>với</a:t>
            </a:r>
            <a:r>
              <a:rPr lang="en-US" altLang="vi-VN" b="1" dirty="0">
                <a:solidFill>
                  <a:srgbClr val="0000CC"/>
                </a:solidFill>
              </a:rPr>
              <a:t> </a:t>
            </a:r>
            <a:r>
              <a:rPr lang="en-US" altLang="vi-VN" b="1" dirty="0" err="1">
                <a:solidFill>
                  <a:srgbClr val="0000CC"/>
                </a:solidFill>
              </a:rPr>
              <a:t>hàm</a:t>
            </a:r>
            <a:r>
              <a:rPr lang="en-US" altLang="vi-VN" b="1" dirty="0">
                <a:solidFill>
                  <a:srgbClr val="0000CC"/>
                </a:solidFill>
              </a:rPr>
              <a:t> </a:t>
            </a:r>
            <a:r>
              <a:rPr lang="en-US" altLang="vi-VN" b="1" dirty="0" err="1">
                <a:solidFill>
                  <a:srgbClr val="0000CC"/>
                </a:solidFill>
              </a:rPr>
              <a:t>scanf</a:t>
            </a:r>
            <a:r>
              <a:rPr lang="en-US" altLang="vi-VN" b="1" dirty="0">
                <a:solidFill>
                  <a:srgbClr val="0000CC"/>
                </a:solidFill>
              </a:rPr>
              <a:t>()</a:t>
            </a:r>
          </a:p>
        </p:txBody>
      </p:sp>
      <p:graphicFrame>
        <p:nvGraphicFramePr>
          <p:cNvPr id="7" name="Table 6"/>
          <p:cNvGraphicFramePr>
            <a:graphicFrameLocks noGrp="1"/>
          </p:cNvGraphicFramePr>
          <p:nvPr>
            <p:extLst>
              <p:ext uri="{D42A27DB-BD31-4B8C-83A1-F6EECF244321}">
                <p14:modId xmlns:p14="http://schemas.microsoft.com/office/powerpoint/2010/main" val="1302971860"/>
              </p:ext>
            </p:extLst>
          </p:nvPr>
        </p:nvGraphicFramePr>
        <p:xfrm>
          <a:off x="342900" y="1471749"/>
          <a:ext cx="8458200" cy="3005908"/>
        </p:xfrm>
        <a:graphic>
          <a:graphicData uri="http://schemas.openxmlformats.org/drawingml/2006/table">
            <a:tbl>
              <a:tblPr firstRow="1" bandRow="1">
                <a:tableStyleId>{5C22544A-7EE6-4342-B048-85BDC9FD1C3A}</a:tableStyleId>
              </a:tblPr>
              <a:tblGrid>
                <a:gridCol w="1796432">
                  <a:extLst>
                    <a:ext uri="{9D8B030D-6E8A-4147-A177-3AD203B41FA5}">
                      <a16:colId xmlns:a16="http://schemas.microsoft.com/office/drawing/2014/main" val="20000"/>
                    </a:ext>
                  </a:extLst>
                </a:gridCol>
                <a:gridCol w="6661768">
                  <a:extLst>
                    <a:ext uri="{9D8B030D-6E8A-4147-A177-3AD203B41FA5}">
                      <a16:colId xmlns:a16="http://schemas.microsoft.com/office/drawing/2014/main" val="20001"/>
                    </a:ext>
                  </a:extLst>
                </a:gridCol>
              </a:tblGrid>
              <a:tr h="389708">
                <a:tc>
                  <a:txBody>
                    <a:bodyPr/>
                    <a:lstStyle/>
                    <a:p>
                      <a:r>
                        <a:rPr lang="en-US" dirty="0" err="1"/>
                        <a:t>Chuỗi</a:t>
                      </a:r>
                      <a:r>
                        <a:rPr lang="en-US" baseline="0" dirty="0"/>
                        <a:t> </a:t>
                      </a:r>
                      <a:r>
                        <a:rPr lang="en-US" baseline="0" dirty="0" err="1"/>
                        <a:t>định</a:t>
                      </a:r>
                      <a:r>
                        <a:rPr lang="en-US" baseline="0" dirty="0"/>
                        <a:t> </a:t>
                      </a:r>
                      <a:r>
                        <a:rPr lang="en-US" baseline="0" dirty="0" err="1"/>
                        <a:t>dạnh</a:t>
                      </a:r>
                      <a:endParaRPr lang="en-US" dirty="0"/>
                    </a:p>
                  </a:txBody>
                  <a:tcPr/>
                </a:tc>
                <a:tc>
                  <a:txBody>
                    <a:bodyPr/>
                    <a:lstStyle/>
                    <a:p>
                      <a:r>
                        <a:rPr lang="en-US" dirty="0" err="1"/>
                        <a:t>Mô</a:t>
                      </a:r>
                      <a:r>
                        <a:rPr lang="en-US" baseline="0" dirty="0"/>
                        <a:t> </a:t>
                      </a:r>
                      <a:r>
                        <a:rPr lang="en-US" baseline="0" dirty="0" err="1"/>
                        <a:t>tả</a:t>
                      </a:r>
                      <a:endParaRPr lang="en-US" dirty="0"/>
                    </a:p>
                  </a:txBody>
                  <a:tcPr/>
                </a:tc>
                <a:extLst>
                  <a:ext uri="{0D108BD9-81ED-4DB2-BD59-A6C34878D82A}">
                    <a16:rowId xmlns:a16="http://schemas.microsoft.com/office/drawing/2014/main" val="10000"/>
                  </a:ext>
                </a:extLst>
              </a:tr>
              <a:tr h="381000">
                <a:tc>
                  <a:txBody>
                    <a:bodyPr/>
                    <a:lstStyle/>
                    <a:p>
                      <a:r>
                        <a:rPr lang="en-US" sz="1800" dirty="0">
                          <a:latin typeface="Arial" charset="0"/>
                          <a:cs typeface="Arial" charset="0"/>
                        </a:rPr>
                        <a:t>%[abcd]</a:t>
                      </a:r>
                      <a:endParaRPr lang="en-US" dirty="0"/>
                    </a:p>
                  </a:txBody>
                  <a:tcPr/>
                </a:tc>
                <a:tc>
                  <a:txBody>
                    <a:bodyPr/>
                    <a:lstStyle/>
                    <a:p>
                      <a:r>
                        <a:rPr lang="en-US" sz="1800" dirty="0">
                          <a:latin typeface="Arial" charset="0"/>
                          <a:cs typeface="Arial" charset="0"/>
                        </a:rPr>
                        <a:t>Cho</a:t>
                      </a:r>
                      <a:r>
                        <a:rPr lang="en-US" sz="1800" baseline="0" dirty="0">
                          <a:latin typeface="Arial" charset="0"/>
                          <a:cs typeface="Arial" charset="0"/>
                        </a:rPr>
                        <a:t> </a:t>
                      </a:r>
                      <a:r>
                        <a:rPr lang="en-US" sz="1800" baseline="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nhận</a:t>
                      </a:r>
                      <a:r>
                        <a:rPr lang="en-US" sz="1800" baseline="0" dirty="0">
                          <a:latin typeface="Arial" charset="0"/>
                          <a:cs typeface="Arial" charset="0"/>
                        </a:rPr>
                        <a:t> </a:t>
                      </a:r>
                      <a:r>
                        <a:rPr lang="en-US" sz="1800" baseline="0" dirty="0" err="1">
                          <a:latin typeface="Arial" charset="0"/>
                          <a:cs typeface="Arial" charset="0"/>
                        </a:rPr>
                        <a:t>các</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tự</a:t>
                      </a:r>
                      <a:r>
                        <a:rPr lang="en-US" sz="1800" dirty="0">
                          <a:latin typeface="Arial" charset="0"/>
                          <a:cs typeface="Arial" charset="0"/>
                        </a:rPr>
                        <a:t> a, b, c, </a:t>
                      </a:r>
                      <a:r>
                        <a:rPr lang="en-US" sz="1800" dirty="0" err="1">
                          <a:latin typeface="Arial" charset="0"/>
                          <a:cs typeface="Arial" charset="0"/>
                        </a:rPr>
                        <a:t>và</a:t>
                      </a:r>
                      <a:r>
                        <a:rPr lang="en-US" sz="1800" baseline="0" dirty="0">
                          <a:latin typeface="Arial" charset="0"/>
                          <a:cs typeface="Arial" charset="0"/>
                        </a:rPr>
                        <a:t> </a:t>
                      </a:r>
                      <a:r>
                        <a:rPr lang="en-US" sz="1800" dirty="0">
                          <a:latin typeface="Arial" charset="0"/>
                          <a:cs typeface="Arial" charset="0"/>
                        </a:rPr>
                        <a:t>d</a:t>
                      </a:r>
                      <a:endParaRPr lang="en-US" dirty="0"/>
                    </a:p>
                  </a:txBody>
                  <a:tcPr/>
                </a:tc>
                <a:extLst>
                  <a:ext uri="{0D108BD9-81ED-4DB2-BD59-A6C34878D82A}">
                    <a16:rowId xmlns:a16="http://schemas.microsoft.com/office/drawing/2014/main" val="10001"/>
                  </a:ext>
                </a:extLst>
              </a:tr>
              <a:tr h="381000">
                <a:tc>
                  <a:txBody>
                    <a:bodyPr/>
                    <a:lstStyle/>
                    <a:p>
                      <a:r>
                        <a:rPr lang="en-US" sz="1800" dirty="0">
                          <a:latin typeface="Arial" charset="0"/>
                          <a:cs typeface="Arial" charset="0"/>
                        </a:rPr>
                        <a:t>%[^abcd]</a:t>
                      </a:r>
                      <a:endParaRPr lang="en-US" dirty="0"/>
                    </a:p>
                  </a:txBody>
                  <a:tcPr/>
                </a:tc>
                <a:tc>
                  <a:txBody>
                    <a:bodyPr/>
                    <a:lstStyle/>
                    <a:p>
                      <a:r>
                        <a:rPr lang="en-US" sz="1800" dirty="0">
                          <a:latin typeface="Arial" charset="0"/>
                          <a:cs typeface="Arial" charset="0"/>
                        </a:rPr>
                        <a:t>Cho </a:t>
                      </a:r>
                      <a:r>
                        <a:rPr lang="en-US" sz="180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nhập</a:t>
                      </a:r>
                      <a:r>
                        <a:rPr lang="en-US" sz="1800" baseline="0" dirty="0">
                          <a:latin typeface="Arial" charset="0"/>
                          <a:cs typeface="Arial" charset="0"/>
                        </a:rPr>
                        <a:t> </a:t>
                      </a:r>
                      <a:r>
                        <a:rPr lang="en-US" sz="1800" baseline="0" dirty="0" err="1">
                          <a:latin typeface="Arial" charset="0"/>
                          <a:cs typeface="Arial" charset="0"/>
                        </a:rPr>
                        <a:t>tất</a:t>
                      </a:r>
                      <a:r>
                        <a:rPr lang="en-US" sz="1800" baseline="0" dirty="0">
                          <a:latin typeface="Arial" charset="0"/>
                          <a:cs typeface="Arial" charset="0"/>
                        </a:rPr>
                        <a:t> </a:t>
                      </a:r>
                      <a:r>
                        <a:rPr lang="en-US" sz="1800" baseline="0" dirty="0" err="1">
                          <a:latin typeface="Arial" charset="0"/>
                          <a:cs typeface="Arial" charset="0"/>
                        </a:rPr>
                        <a:t>cả</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tự</a:t>
                      </a:r>
                      <a:r>
                        <a:rPr lang="en-US" sz="1800" baseline="0" dirty="0">
                          <a:latin typeface="Arial" charset="0"/>
                          <a:cs typeface="Arial" charset="0"/>
                        </a:rPr>
                        <a:t> </a:t>
                      </a:r>
                      <a:r>
                        <a:rPr lang="en-US" sz="1800" baseline="0" dirty="0" err="1">
                          <a:latin typeface="Arial" charset="0"/>
                          <a:cs typeface="Arial" charset="0"/>
                        </a:rPr>
                        <a:t>ngoại</a:t>
                      </a:r>
                      <a:r>
                        <a:rPr lang="en-US" sz="1800" baseline="0" dirty="0">
                          <a:latin typeface="Arial" charset="0"/>
                          <a:cs typeface="Arial" charset="0"/>
                        </a:rPr>
                        <a:t> </a:t>
                      </a:r>
                      <a:r>
                        <a:rPr lang="en-US" sz="1800" baseline="0" dirty="0" err="1">
                          <a:latin typeface="Arial" charset="0"/>
                          <a:cs typeface="Arial" charset="0"/>
                        </a:rPr>
                        <a:t>trừ</a:t>
                      </a:r>
                      <a:r>
                        <a:rPr lang="en-US" sz="1800" dirty="0">
                          <a:latin typeface="Arial" charset="0"/>
                          <a:cs typeface="Arial" charset="0"/>
                        </a:rPr>
                        <a:t> a, b, c, </a:t>
                      </a:r>
                      <a:r>
                        <a:rPr lang="en-US" sz="1800" dirty="0" err="1">
                          <a:latin typeface="Arial" charset="0"/>
                          <a:cs typeface="Arial" charset="0"/>
                        </a:rPr>
                        <a:t>và</a:t>
                      </a:r>
                      <a:r>
                        <a:rPr lang="en-US" sz="1800" dirty="0">
                          <a:latin typeface="Arial" charset="0"/>
                          <a:cs typeface="Arial" charset="0"/>
                        </a:rPr>
                        <a:t> d</a:t>
                      </a:r>
                      <a:endParaRPr lang="en-US" dirty="0"/>
                    </a:p>
                  </a:txBody>
                  <a:tcPr/>
                </a:tc>
                <a:extLst>
                  <a:ext uri="{0D108BD9-81ED-4DB2-BD59-A6C34878D82A}">
                    <a16:rowId xmlns:a16="http://schemas.microsoft.com/office/drawing/2014/main" val="10002"/>
                  </a:ext>
                </a:extLst>
              </a:tr>
              <a:tr h="457200">
                <a:tc>
                  <a:txBody>
                    <a:bodyPr/>
                    <a:lstStyle/>
                    <a:p>
                      <a:r>
                        <a:rPr lang="en-US" sz="1800" dirty="0">
                          <a:latin typeface="Arial" charset="0"/>
                          <a:cs typeface="Arial" charset="0"/>
                        </a:rPr>
                        <a:t>%[0-9]</a:t>
                      </a:r>
                      <a:endParaRPr lang="en-US" dirty="0"/>
                    </a:p>
                  </a:txBody>
                  <a:tcPr/>
                </a:tc>
                <a:tc>
                  <a:txBody>
                    <a:bodyPr/>
                    <a:lstStyle/>
                    <a:p>
                      <a:r>
                        <a:rPr lang="en-US" sz="1800" dirty="0">
                          <a:latin typeface="Arial" charset="0"/>
                          <a:cs typeface="Arial" charset="0"/>
                        </a:rPr>
                        <a:t>Cho </a:t>
                      </a:r>
                      <a:r>
                        <a:rPr lang="en-US" sz="180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nhập</a:t>
                      </a:r>
                      <a:r>
                        <a:rPr lang="en-US" sz="1800" baseline="0" dirty="0">
                          <a:latin typeface="Arial" charset="0"/>
                          <a:cs typeface="Arial" charset="0"/>
                        </a:rPr>
                        <a:t> </a:t>
                      </a:r>
                      <a:r>
                        <a:rPr lang="en-US" sz="1800" baseline="0" dirty="0" err="1">
                          <a:latin typeface="Arial" charset="0"/>
                          <a:cs typeface="Arial" charset="0"/>
                        </a:rPr>
                        <a:t>các</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số</a:t>
                      </a:r>
                      <a:r>
                        <a:rPr lang="en-US" sz="1800" baseline="0" dirty="0">
                          <a:latin typeface="Arial" charset="0"/>
                          <a:cs typeface="Arial" charset="0"/>
                        </a:rPr>
                        <a:t> </a:t>
                      </a:r>
                      <a:r>
                        <a:rPr lang="en-US" sz="1800" baseline="0" dirty="0" err="1">
                          <a:latin typeface="Arial" charset="0"/>
                          <a:cs typeface="Arial" charset="0"/>
                        </a:rPr>
                        <a:t>từ</a:t>
                      </a:r>
                      <a:r>
                        <a:rPr lang="en-US" sz="1800" baseline="0" dirty="0">
                          <a:latin typeface="Arial" charset="0"/>
                          <a:cs typeface="Arial" charset="0"/>
                        </a:rPr>
                        <a:t> 0 </a:t>
                      </a:r>
                      <a:r>
                        <a:rPr lang="en-US" sz="1800" baseline="0" dirty="0" err="1">
                          <a:latin typeface="Arial" charset="0"/>
                          <a:cs typeface="Arial" charset="0"/>
                        </a:rPr>
                        <a:t>đến</a:t>
                      </a:r>
                      <a:r>
                        <a:rPr lang="en-US" sz="1800" baseline="0" dirty="0">
                          <a:latin typeface="Arial" charset="0"/>
                          <a:cs typeface="Arial" charset="0"/>
                        </a:rPr>
                        <a:t> 9</a:t>
                      </a:r>
                      <a:endParaRPr lang="en-US" dirty="0"/>
                    </a:p>
                  </a:txBody>
                  <a:tcPr/>
                </a:tc>
                <a:extLst>
                  <a:ext uri="{0D108BD9-81ED-4DB2-BD59-A6C34878D82A}">
                    <a16:rowId xmlns:a16="http://schemas.microsoft.com/office/drawing/2014/main" val="10003"/>
                  </a:ext>
                </a:extLst>
              </a:tr>
              <a:tr h="381000">
                <a:tc>
                  <a:txBody>
                    <a:bodyPr/>
                    <a:lstStyle/>
                    <a:p>
                      <a:r>
                        <a:rPr lang="en-US" sz="1800" dirty="0">
                          <a:latin typeface="Arial" charset="0"/>
                          <a:cs typeface="Arial" charset="0"/>
                        </a:rPr>
                        <a:t>%[A-Z]</a:t>
                      </a:r>
                      <a:endParaRPr lang="en-US" dirty="0"/>
                    </a:p>
                  </a:txBody>
                  <a:tcPr/>
                </a:tc>
                <a:tc>
                  <a:txBody>
                    <a:bodyPr/>
                    <a:lstStyle/>
                    <a:p>
                      <a:r>
                        <a:rPr lang="en-US" sz="1800" dirty="0">
                          <a:latin typeface="Arial" charset="0"/>
                          <a:cs typeface="Arial" charset="0"/>
                        </a:rPr>
                        <a:t>Cho </a:t>
                      </a:r>
                      <a:r>
                        <a:rPr lang="en-US" sz="180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nhập</a:t>
                      </a:r>
                      <a:r>
                        <a:rPr lang="en-US" sz="1800" baseline="0" dirty="0">
                          <a:latin typeface="Arial" charset="0"/>
                          <a:cs typeface="Arial" charset="0"/>
                        </a:rPr>
                        <a:t> </a:t>
                      </a:r>
                      <a:r>
                        <a:rPr lang="en-US" sz="1800" baseline="0" dirty="0" err="1">
                          <a:latin typeface="Arial" charset="0"/>
                          <a:cs typeface="Arial" charset="0"/>
                        </a:rPr>
                        <a:t>các</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tự</a:t>
                      </a:r>
                      <a:r>
                        <a:rPr lang="en-US" sz="1800" baseline="0" dirty="0">
                          <a:latin typeface="Arial" charset="0"/>
                          <a:cs typeface="Arial" charset="0"/>
                        </a:rPr>
                        <a:t> </a:t>
                      </a:r>
                      <a:r>
                        <a:rPr lang="en-US" sz="1800" baseline="0" dirty="0" err="1">
                          <a:latin typeface="Arial" charset="0"/>
                          <a:cs typeface="Arial" charset="0"/>
                        </a:rPr>
                        <a:t>hoa</a:t>
                      </a:r>
                      <a:r>
                        <a:rPr lang="en-US" sz="1800" baseline="0" dirty="0">
                          <a:latin typeface="Arial" charset="0"/>
                          <a:cs typeface="Arial" charset="0"/>
                        </a:rPr>
                        <a:t> </a:t>
                      </a:r>
                      <a:r>
                        <a:rPr lang="en-US" sz="1800" baseline="0" dirty="0" err="1">
                          <a:latin typeface="Arial" charset="0"/>
                          <a:cs typeface="Arial" charset="0"/>
                        </a:rPr>
                        <a:t>từ</a:t>
                      </a:r>
                      <a:r>
                        <a:rPr lang="en-US" sz="1800" baseline="0" dirty="0">
                          <a:latin typeface="Arial" charset="0"/>
                          <a:cs typeface="Arial" charset="0"/>
                        </a:rPr>
                        <a:t> A</a:t>
                      </a:r>
                      <a:r>
                        <a:rPr lang="en-US" sz="1800" baseline="0" dirty="0">
                          <a:latin typeface="Arial" charset="0"/>
                          <a:cs typeface="Arial" charset="0"/>
                          <a:sym typeface="Wingdings" panose="05000000000000000000" pitchFamily="2" charset="2"/>
                        </a:rPr>
                        <a:t>Z</a:t>
                      </a:r>
                      <a:endParaRPr lang="en-US" dirty="0"/>
                    </a:p>
                  </a:txBody>
                  <a:tcPr/>
                </a:tc>
                <a:extLst>
                  <a:ext uri="{0D108BD9-81ED-4DB2-BD59-A6C34878D82A}">
                    <a16:rowId xmlns:a16="http://schemas.microsoft.com/office/drawing/2014/main" val="10004"/>
                  </a:ext>
                </a:extLst>
              </a:tr>
              <a:tr h="381000">
                <a:tc>
                  <a:txBody>
                    <a:bodyPr/>
                    <a:lstStyle/>
                    <a:p>
                      <a:r>
                        <a:rPr lang="en-US" sz="1800" dirty="0">
                          <a:latin typeface="Arial" charset="0"/>
                          <a:cs typeface="Arial" charset="0"/>
                        </a:rPr>
                        <a:t>%[0-9A-Za-z]</a:t>
                      </a:r>
                      <a:endParaRPr lang="en-US" dirty="0"/>
                    </a:p>
                  </a:txBody>
                  <a:tcPr/>
                </a:tc>
                <a:tc>
                  <a:txBody>
                    <a:bodyPr/>
                    <a:lstStyle/>
                    <a:p>
                      <a:r>
                        <a:rPr lang="en-US" sz="1800" dirty="0">
                          <a:latin typeface="Arial" charset="0"/>
                          <a:cs typeface="Arial" charset="0"/>
                        </a:rPr>
                        <a:t>Cho </a:t>
                      </a:r>
                      <a:r>
                        <a:rPr lang="en-US" sz="180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nhập</a:t>
                      </a:r>
                      <a:r>
                        <a:rPr lang="en-US" sz="1800" baseline="0" dirty="0">
                          <a:latin typeface="Arial" charset="0"/>
                          <a:cs typeface="Arial" charset="0"/>
                        </a:rPr>
                        <a:t> </a:t>
                      </a:r>
                      <a:r>
                        <a:rPr lang="en-US" sz="1800" baseline="0" dirty="0" err="1">
                          <a:latin typeface="Arial" charset="0"/>
                          <a:cs typeface="Arial" charset="0"/>
                        </a:rPr>
                        <a:t>các</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số</a:t>
                      </a:r>
                      <a:r>
                        <a:rPr lang="en-US" sz="1800" baseline="0" dirty="0">
                          <a:latin typeface="Arial" charset="0"/>
                          <a:cs typeface="Arial" charset="0"/>
                        </a:rPr>
                        <a:t> </a:t>
                      </a:r>
                      <a:r>
                        <a:rPr lang="en-US" sz="1800" baseline="0" dirty="0" err="1">
                          <a:latin typeface="Arial" charset="0"/>
                          <a:cs typeface="Arial" charset="0"/>
                        </a:rPr>
                        <a:t>từ</a:t>
                      </a:r>
                      <a:r>
                        <a:rPr lang="en-US" sz="1800" baseline="0" dirty="0">
                          <a:latin typeface="Arial" charset="0"/>
                          <a:cs typeface="Arial" charset="0"/>
                        </a:rPr>
                        <a:t> 0</a:t>
                      </a:r>
                      <a:r>
                        <a:rPr lang="en-US" sz="1800" baseline="0" dirty="0">
                          <a:latin typeface="Arial" charset="0"/>
                          <a:cs typeface="Arial" charset="0"/>
                          <a:sym typeface="Wingdings" panose="05000000000000000000" pitchFamily="2" charset="2"/>
                        </a:rPr>
                        <a:t>9, </a:t>
                      </a:r>
                      <a:r>
                        <a:rPr lang="en-US" sz="1800" baseline="0" dirty="0" err="1">
                          <a:latin typeface="Arial" charset="0"/>
                          <a:cs typeface="Arial" charset="0"/>
                          <a:sym typeface="Wingdings" panose="05000000000000000000" pitchFamily="2" charset="2"/>
                        </a:rPr>
                        <a:t>ký</a:t>
                      </a:r>
                      <a:r>
                        <a:rPr lang="en-US" sz="1800" baseline="0" dirty="0">
                          <a:latin typeface="Arial" charset="0"/>
                          <a:cs typeface="Arial" charset="0"/>
                          <a:sym typeface="Wingdings" panose="05000000000000000000" pitchFamily="2" charset="2"/>
                        </a:rPr>
                        <a:t> </a:t>
                      </a:r>
                      <a:r>
                        <a:rPr lang="en-US" sz="1800" baseline="0" dirty="0" err="1">
                          <a:latin typeface="Arial" charset="0"/>
                          <a:cs typeface="Arial" charset="0"/>
                          <a:sym typeface="Wingdings" panose="05000000000000000000" pitchFamily="2" charset="2"/>
                        </a:rPr>
                        <a:t>tự</a:t>
                      </a:r>
                      <a:r>
                        <a:rPr lang="en-US" sz="1800" baseline="0" dirty="0">
                          <a:latin typeface="Arial" charset="0"/>
                          <a:cs typeface="Arial" charset="0"/>
                        </a:rPr>
                        <a:t> A</a:t>
                      </a:r>
                      <a:r>
                        <a:rPr lang="en-US" sz="1800" baseline="0" dirty="0">
                          <a:latin typeface="Arial" charset="0"/>
                          <a:cs typeface="Arial" charset="0"/>
                          <a:sym typeface="Wingdings" panose="05000000000000000000" pitchFamily="2" charset="2"/>
                        </a:rPr>
                        <a:t>Z, </a:t>
                      </a:r>
                      <a:r>
                        <a:rPr lang="en-US" sz="1800" baseline="0" dirty="0" err="1">
                          <a:latin typeface="Arial" charset="0"/>
                          <a:cs typeface="Arial" charset="0"/>
                          <a:sym typeface="Wingdings" panose="05000000000000000000" pitchFamily="2" charset="2"/>
                        </a:rPr>
                        <a:t>az</a:t>
                      </a:r>
                      <a:r>
                        <a:rPr lang="en-US" sz="1800" baseline="0" dirty="0">
                          <a:latin typeface="Arial" charset="0"/>
                          <a:cs typeface="Arial" charset="0"/>
                          <a:sym typeface="Wingdings" panose="05000000000000000000" pitchFamily="2" charset="2"/>
                        </a:rPr>
                        <a:t> </a:t>
                      </a:r>
                      <a:endParaRPr lang="en-US" dirty="0"/>
                    </a:p>
                  </a:txBody>
                  <a:tcPr/>
                </a:tc>
                <a:extLst>
                  <a:ext uri="{0D108BD9-81ED-4DB2-BD59-A6C34878D82A}">
                    <a16:rowId xmlns:a16="http://schemas.microsoft.com/office/drawing/2014/main" val="10005"/>
                  </a:ext>
                </a:extLst>
              </a:tr>
              <a:tr h="635000">
                <a:tc>
                  <a:txBody>
                    <a:bodyPr/>
                    <a:lstStyle/>
                    <a:p>
                      <a:r>
                        <a:rPr lang="en-US" sz="1800" dirty="0">
                          <a:latin typeface="Arial" charset="0"/>
                          <a:cs typeface="Arial" charset="0"/>
                        </a:rPr>
                        <a:t>%[A-FT-Z]</a:t>
                      </a:r>
                      <a:endParaRPr lang="en-US" dirty="0"/>
                    </a:p>
                  </a:txBody>
                  <a:tcPr/>
                </a:tc>
                <a:tc>
                  <a:txBody>
                    <a:bodyPr/>
                    <a:lstStyle/>
                    <a:p>
                      <a:r>
                        <a:rPr lang="en-US" sz="1800" dirty="0">
                          <a:latin typeface="Arial" charset="0"/>
                          <a:cs typeface="Arial" charset="0"/>
                        </a:rPr>
                        <a:t>Cho</a:t>
                      </a:r>
                      <a:r>
                        <a:rPr lang="en-US" sz="1800" baseline="0" dirty="0">
                          <a:latin typeface="Arial" charset="0"/>
                          <a:cs typeface="Arial" charset="0"/>
                        </a:rPr>
                        <a:t> </a:t>
                      </a:r>
                      <a:r>
                        <a:rPr lang="en-US" sz="1800" baseline="0" dirty="0" err="1">
                          <a:latin typeface="Arial" charset="0"/>
                          <a:cs typeface="Arial" charset="0"/>
                        </a:rPr>
                        <a:t>phép</a:t>
                      </a:r>
                      <a:r>
                        <a:rPr lang="en-US" sz="1800" baseline="0" dirty="0">
                          <a:latin typeface="Arial" charset="0"/>
                          <a:cs typeface="Arial" charset="0"/>
                        </a:rPr>
                        <a:t> </a:t>
                      </a:r>
                      <a:r>
                        <a:rPr lang="en-US" sz="1800" baseline="0" dirty="0" err="1">
                          <a:latin typeface="Arial" charset="0"/>
                          <a:cs typeface="Arial" charset="0"/>
                        </a:rPr>
                        <a:t>nhập</a:t>
                      </a:r>
                      <a:r>
                        <a:rPr lang="en-US" sz="1800" baseline="0" dirty="0">
                          <a:latin typeface="Arial" charset="0"/>
                          <a:cs typeface="Arial" charset="0"/>
                        </a:rPr>
                        <a:t> </a:t>
                      </a:r>
                      <a:r>
                        <a:rPr lang="en-US" sz="1800" baseline="0" dirty="0" err="1">
                          <a:latin typeface="Arial" charset="0"/>
                          <a:cs typeface="Arial" charset="0"/>
                        </a:rPr>
                        <a:t>các</a:t>
                      </a:r>
                      <a:r>
                        <a:rPr lang="en-US" sz="1800" baseline="0" dirty="0">
                          <a:latin typeface="Arial" charset="0"/>
                          <a:cs typeface="Arial" charset="0"/>
                        </a:rPr>
                        <a:t> </a:t>
                      </a:r>
                      <a:r>
                        <a:rPr lang="en-US" sz="1800" baseline="0" dirty="0" err="1">
                          <a:latin typeface="Arial" charset="0"/>
                          <a:cs typeface="Arial" charset="0"/>
                        </a:rPr>
                        <a:t>ký</a:t>
                      </a:r>
                      <a:r>
                        <a:rPr lang="en-US" sz="1800" baseline="0" dirty="0">
                          <a:latin typeface="Arial" charset="0"/>
                          <a:cs typeface="Arial" charset="0"/>
                        </a:rPr>
                        <a:t> </a:t>
                      </a:r>
                      <a:r>
                        <a:rPr lang="en-US" sz="1800" baseline="0" dirty="0" err="1">
                          <a:latin typeface="Arial" charset="0"/>
                          <a:cs typeface="Arial" charset="0"/>
                        </a:rPr>
                        <a:t>tự</a:t>
                      </a:r>
                      <a:r>
                        <a:rPr lang="en-US" sz="1800" baseline="0" dirty="0">
                          <a:latin typeface="Arial" charset="0"/>
                          <a:cs typeface="Arial" charset="0"/>
                        </a:rPr>
                        <a:t> </a:t>
                      </a:r>
                      <a:r>
                        <a:rPr lang="en-US" sz="1800" baseline="0" dirty="0" err="1">
                          <a:latin typeface="Arial" charset="0"/>
                          <a:cs typeface="Arial" charset="0"/>
                        </a:rPr>
                        <a:t>hoa</a:t>
                      </a:r>
                      <a:r>
                        <a:rPr lang="en-US" sz="1800" baseline="0" dirty="0">
                          <a:latin typeface="Arial" charset="0"/>
                          <a:cs typeface="Arial" charset="0"/>
                        </a:rPr>
                        <a:t> </a:t>
                      </a:r>
                      <a:r>
                        <a:rPr lang="en-US" sz="1800" baseline="0" dirty="0" err="1">
                          <a:latin typeface="Arial" charset="0"/>
                          <a:cs typeface="Arial" charset="0"/>
                        </a:rPr>
                        <a:t>từ</a:t>
                      </a:r>
                      <a:r>
                        <a:rPr lang="en-US" sz="1800" baseline="0" dirty="0">
                          <a:latin typeface="Arial" charset="0"/>
                          <a:cs typeface="Arial" charset="0"/>
                        </a:rPr>
                        <a:t> </a:t>
                      </a:r>
                      <a:r>
                        <a:rPr lang="en-US" sz="1800" dirty="0">
                          <a:latin typeface="Arial" charset="0"/>
                          <a:cs typeface="Arial" charset="0"/>
                        </a:rPr>
                        <a:t>A</a:t>
                      </a:r>
                      <a:r>
                        <a:rPr lang="en-US" sz="1800" dirty="0">
                          <a:latin typeface="Arial" charset="0"/>
                          <a:cs typeface="Arial" charset="0"/>
                          <a:sym typeface="Wingdings" panose="05000000000000000000" pitchFamily="2" charset="2"/>
                        </a:rPr>
                        <a:t></a:t>
                      </a:r>
                      <a:r>
                        <a:rPr lang="en-US" sz="1800" dirty="0">
                          <a:latin typeface="Arial" charset="0"/>
                          <a:cs typeface="Arial" charset="0"/>
                        </a:rPr>
                        <a:t>F </a:t>
                      </a:r>
                      <a:r>
                        <a:rPr lang="en-US" sz="1800" dirty="0" err="1">
                          <a:latin typeface="Arial" charset="0"/>
                          <a:cs typeface="Arial" charset="0"/>
                        </a:rPr>
                        <a:t>và</a:t>
                      </a:r>
                      <a:r>
                        <a:rPr lang="en-US" sz="1800" baseline="0" dirty="0">
                          <a:latin typeface="Arial" charset="0"/>
                          <a:cs typeface="Arial" charset="0"/>
                        </a:rPr>
                        <a:t> </a:t>
                      </a:r>
                      <a:r>
                        <a:rPr lang="en-US" sz="1800" baseline="0" dirty="0" err="1">
                          <a:latin typeface="Arial" charset="0"/>
                          <a:cs typeface="Arial" charset="0"/>
                        </a:rPr>
                        <a:t>từ</a:t>
                      </a:r>
                      <a:r>
                        <a:rPr lang="en-US" sz="1800" dirty="0">
                          <a:latin typeface="Arial" charset="0"/>
                          <a:cs typeface="Arial" charset="0"/>
                        </a:rPr>
                        <a:t> T</a:t>
                      </a:r>
                      <a:r>
                        <a:rPr lang="en-US" sz="1800" dirty="0">
                          <a:latin typeface="Arial" charset="0"/>
                          <a:cs typeface="Arial" charset="0"/>
                          <a:sym typeface="Wingdings" panose="05000000000000000000" pitchFamily="2" charset="2"/>
                        </a:rPr>
                        <a:t></a:t>
                      </a:r>
                      <a:r>
                        <a:rPr lang="en-US" sz="1800" dirty="0">
                          <a:latin typeface="Arial" charset="0"/>
                          <a:cs typeface="Arial" charset="0"/>
                        </a:rPr>
                        <a:t>Z</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3224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D23E0D-9FE5-4C20-AF3D-B88680FB559C}" type="slidenum">
              <a:rPr lang="en-US" altLang="vi-VN">
                <a:solidFill>
                  <a:srgbClr val="FFFF00"/>
                </a:solidFill>
              </a:rPr>
              <a:pPr eaLnBrk="1" hangingPunct="1"/>
              <a:t>33</a:t>
            </a:fld>
            <a:endParaRPr lang="en-GB" altLang="vi-VN">
              <a:solidFill>
                <a:srgbClr val="FFFF00"/>
              </a:solidFill>
            </a:endParaRPr>
          </a:p>
        </p:txBody>
      </p:sp>
      <p:sp>
        <p:nvSpPr>
          <p:cNvPr id="25604" name="Text Box 3"/>
          <p:cNvSpPr txBox="1">
            <a:spLocks noChangeArrowheads="1"/>
          </p:cNvSpPr>
          <p:nvPr/>
        </p:nvSpPr>
        <p:spPr bwMode="auto">
          <a:xfrm>
            <a:off x="381000" y="1295400"/>
            <a:ext cx="6324600" cy="4494213"/>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vi-VN" sz="2200">
                <a:solidFill>
                  <a:srgbClr val="0000CC"/>
                </a:solidFill>
              </a:rPr>
              <a:t>#include&lt;stdio.h&gt;</a:t>
            </a:r>
          </a:p>
          <a:p>
            <a:pPr algn="l" eaLnBrk="1" hangingPunct="1"/>
            <a:r>
              <a:rPr lang="en-US" altLang="vi-VN" sz="2200">
                <a:solidFill>
                  <a:srgbClr val="0000CC"/>
                </a:solidFill>
              </a:rPr>
              <a:t>#include&lt;conio.h&gt;</a:t>
            </a:r>
          </a:p>
          <a:p>
            <a:pPr algn="l" eaLnBrk="1" hangingPunct="1"/>
            <a:r>
              <a:rPr lang="en-US" altLang="vi-VN" sz="2200">
                <a:solidFill>
                  <a:srgbClr val="0000CC"/>
                </a:solidFill>
              </a:rPr>
              <a:t>void main()</a:t>
            </a:r>
          </a:p>
          <a:p>
            <a:pPr algn="l" eaLnBrk="1" hangingPunct="1"/>
            <a:r>
              <a:rPr lang="en-US" altLang="vi-VN" sz="2200">
                <a:solidFill>
                  <a:srgbClr val="0000CC"/>
                </a:solidFill>
              </a:rPr>
              <a:t>{	char S[20];</a:t>
            </a:r>
          </a:p>
          <a:p>
            <a:pPr algn="l" eaLnBrk="1" hangingPunct="1"/>
            <a:r>
              <a:rPr lang="en-US" altLang="vi-VN" sz="2200">
                <a:solidFill>
                  <a:srgbClr val="0000CC"/>
                </a:solidFill>
              </a:rPr>
              <a:t>	printf("Nhap chuoi bang ham scanf ");</a:t>
            </a:r>
          </a:p>
          <a:p>
            <a:pPr algn="l" eaLnBrk="1" hangingPunct="1"/>
            <a:r>
              <a:rPr lang="en-US" altLang="vi-VN" sz="2200">
                <a:solidFill>
                  <a:srgbClr val="0000CC"/>
                </a:solidFill>
              </a:rPr>
              <a:t>	scanf("%s", &amp;S);</a:t>
            </a:r>
          </a:p>
          <a:p>
            <a:pPr algn="l" eaLnBrk="1" hangingPunct="1"/>
            <a:r>
              <a:rPr lang="en-US" altLang="vi-VN" sz="2200">
                <a:solidFill>
                  <a:srgbClr val="0000CC"/>
                </a:solidFill>
              </a:rPr>
              <a:t>	printf("\nChuoi vua nhap: %s", S);</a:t>
            </a:r>
          </a:p>
          <a:p>
            <a:pPr algn="l" eaLnBrk="1" hangingPunct="1"/>
            <a:r>
              <a:rPr lang="en-US" altLang="vi-VN" sz="2200">
                <a:solidFill>
                  <a:srgbClr val="0000CC"/>
                </a:solidFill>
              </a:rPr>
              <a:t>	printf("\nNhap chuoi bang ham gets");</a:t>
            </a:r>
          </a:p>
          <a:p>
            <a:pPr algn="l" eaLnBrk="1" hangingPunct="1"/>
            <a:r>
              <a:rPr lang="en-US" altLang="vi-VN" sz="2200">
                <a:solidFill>
                  <a:srgbClr val="0000CC"/>
                </a:solidFill>
              </a:rPr>
              <a:t>	gets(S);</a:t>
            </a:r>
          </a:p>
          <a:p>
            <a:pPr algn="l" eaLnBrk="1" hangingPunct="1"/>
            <a:r>
              <a:rPr lang="en-US" altLang="vi-VN" sz="2200">
                <a:solidFill>
                  <a:srgbClr val="0000CC"/>
                </a:solidFill>
              </a:rPr>
              <a:t>	printf("\nChuoi vua nhap:");</a:t>
            </a:r>
          </a:p>
          <a:p>
            <a:pPr algn="l" eaLnBrk="1" hangingPunct="1"/>
            <a:r>
              <a:rPr lang="en-US" altLang="vi-VN" sz="2200">
                <a:solidFill>
                  <a:srgbClr val="0000CC"/>
                </a:solidFill>
              </a:rPr>
              <a:t>    	puts(S);</a:t>
            </a:r>
          </a:p>
          <a:p>
            <a:pPr algn="l" eaLnBrk="1" hangingPunct="1"/>
            <a:r>
              <a:rPr lang="en-US" altLang="vi-VN" sz="2200">
                <a:solidFill>
                  <a:srgbClr val="0000CC"/>
                </a:solidFill>
              </a:rPr>
              <a:t>	getch();</a:t>
            </a:r>
          </a:p>
          <a:p>
            <a:pPr algn="l" eaLnBrk="1" hangingPunct="1"/>
            <a:r>
              <a:rPr lang="en-US" altLang="vi-VN" sz="2200">
                <a:solidFill>
                  <a:srgbClr val="0000CC"/>
                </a:solidFill>
              </a:rPr>
              <a:t>}</a:t>
            </a:r>
          </a:p>
        </p:txBody>
      </p:sp>
      <p:sp>
        <p:nvSpPr>
          <p:cNvPr id="25605" name="Rectangle 4"/>
          <p:cNvSpPr>
            <a:spLocks noGrp="1"/>
          </p:cNvSpPr>
          <p:nvPr>
            <p:ph type="title"/>
          </p:nvPr>
        </p:nvSpPr>
        <p:spPr>
          <a:xfrm>
            <a:off x="1774370" y="365127"/>
            <a:ext cx="6740979" cy="777874"/>
          </a:xfrm>
        </p:spPr>
        <p:txBody>
          <a:bodyPr/>
          <a:lstStyle/>
          <a:p>
            <a:r>
              <a:rPr lang="en-US" altLang="vi-VN" b="1" dirty="0" err="1">
                <a:solidFill>
                  <a:srgbClr val="0000CC"/>
                </a:solidFill>
              </a:rPr>
              <a:t>Nhập</a:t>
            </a:r>
            <a:r>
              <a:rPr lang="en-US" altLang="vi-VN" b="1" dirty="0">
                <a:solidFill>
                  <a:srgbClr val="0000CC"/>
                </a:solidFill>
              </a:rPr>
              <a:t>/</a:t>
            </a:r>
            <a:r>
              <a:rPr lang="en-US" altLang="vi-VN" b="1" dirty="0" err="1">
                <a:solidFill>
                  <a:srgbClr val="0000CC"/>
                </a:solidFill>
              </a:rPr>
              <a:t>xuất</a:t>
            </a:r>
            <a:r>
              <a:rPr lang="en-US" altLang="vi-VN" b="1" dirty="0">
                <a:solidFill>
                  <a:srgbClr val="0000CC"/>
                </a:solidFill>
              </a:rPr>
              <a:t> </a:t>
            </a:r>
            <a:r>
              <a:rPr lang="en-US" altLang="vi-VN" b="1" dirty="0" err="1">
                <a:solidFill>
                  <a:srgbClr val="0000CC"/>
                </a:solidFill>
              </a:rPr>
              <a:t>chuỗi</a:t>
            </a:r>
            <a:endParaRPr lang="en-US" altLang="vi-VN" b="1" dirty="0">
              <a:solidFill>
                <a:srgbClr val="0000CC"/>
              </a:solidFill>
            </a:endParaRPr>
          </a:p>
        </p:txBody>
      </p:sp>
      <p:sp>
        <p:nvSpPr>
          <p:cNvPr id="675845" name="Rectangle 5"/>
          <p:cNvSpPr>
            <a:spLocks noChangeArrowheads="1"/>
          </p:cNvSpPr>
          <p:nvPr/>
        </p:nvSpPr>
        <p:spPr bwMode="auto">
          <a:xfrm>
            <a:off x="6934200" y="4572000"/>
            <a:ext cx="2057400" cy="1371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b="1"/>
              <a:t>puts(S)</a:t>
            </a:r>
          </a:p>
          <a:p>
            <a:pPr eaLnBrk="1" hangingPunct="1"/>
            <a:r>
              <a:rPr lang="en-US" altLang="vi-VN" b="1"/>
              <a:t>tương đương với</a:t>
            </a:r>
          </a:p>
          <a:p>
            <a:pPr eaLnBrk="1" hangingPunct="1"/>
            <a:r>
              <a:rPr lang="en-US" altLang="vi-VN" b="1"/>
              <a:t>printf(“%s\n”,S)</a:t>
            </a:r>
          </a:p>
        </p:txBody>
      </p:sp>
    </p:spTree>
    <p:extLst>
      <p:ext uri="{BB962C8B-B14F-4D97-AF65-F5344CB8AC3E}">
        <p14:creationId xmlns:p14="http://schemas.microsoft.com/office/powerpoint/2010/main" val="2674409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45"/>
                                        </p:tgtEl>
                                        <p:attrNameLst>
                                          <p:attrName>style.visibility</p:attrName>
                                        </p:attrNameLst>
                                      </p:cBhvr>
                                      <p:to>
                                        <p:strVal val="visible"/>
                                      </p:to>
                                    </p:set>
                                    <p:anim calcmode="lin" valueType="num">
                                      <p:cBhvr additive="base">
                                        <p:cTn id="7" dur="2000" fill="hold"/>
                                        <p:tgtEl>
                                          <p:spTgt spid="675845"/>
                                        </p:tgtEl>
                                        <p:attrNameLst>
                                          <p:attrName>ppt_x</p:attrName>
                                        </p:attrNameLst>
                                      </p:cBhvr>
                                      <p:tavLst>
                                        <p:tav tm="0">
                                          <p:val>
                                            <p:strVal val="#ppt_x"/>
                                          </p:val>
                                        </p:tav>
                                        <p:tav tm="100000">
                                          <p:val>
                                            <p:strVal val="#ppt_x"/>
                                          </p:val>
                                        </p:tav>
                                      </p:tavLst>
                                    </p:anim>
                                    <p:anim calcmode="lin" valueType="num">
                                      <p:cBhvr additive="base">
                                        <p:cTn id="8" dur="2000" fill="hold"/>
                                        <p:tgtEl>
                                          <p:spTgt spid="6758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7"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A7734E-E9B2-4321-9BF7-0E73264C739A}" type="slidenum">
              <a:rPr lang="en-US" altLang="vi-VN">
                <a:solidFill>
                  <a:srgbClr val="FFFF00"/>
                </a:solidFill>
              </a:rPr>
              <a:pPr eaLnBrk="1" hangingPunct="1"/>
              <a:t>34</a:t>
            </a:fld>
            <a:endParaRPr lang="en-GB" altLang="vi-VN">
              <a:solidFill>
                <a:srgbClr val="FFFF00"/>
              </a:solidFill>
            </a:endParaRPr>
          </a:p>
        </p:txBody>
      </p:sp>
      <p:sp>
        <p:nvSpPr>
          <p:cNvPr id="26628" name="Rectangle 3"/>
          <p:cNvSpPr>
            <a:spLocks noGrp="1" noChangeArrowheads="1"/>
          </p:cNvSpPr>
          <p:nvPr>
            <p:ph type="body" idx="1"/>
          </p:nvPr>
        </p:nvSpPr>
        <p:spPr>
          <a:xfrm>
            <a:off x="228600" y="1066800"/>
            <a:ext cx="8686800" cy="914400"/>
          </a:xfrm>
        </p:spPr>
        <p:txBody>
          <a:bodyPr/>
          <a:lstStyle/>
          <a:p>
            <a:pPr defTabSz="914400"/>
            <a:r>
              <a:rPr lang="en-US" altLang="vi-VN" sz="2800" dirty="0" err="1">
                <a:solidFill>
                  <a:srgbClr val="0000CC"/>
                </a:solidFill>
                <a:cs typeface="Arial" panose="020B0604020202020204" pitchFamily="34" charset="0"/>
              </a:rPr>
              <a:t>Chuỗi</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là</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một</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mảng</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các</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ký</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tự</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Vì</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thế</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chúng</a:t>
            </a:r>
            <a:r>
              <a:rPr lang="en-US" altLang="vi-VN" sz="2800" dirty="0">
                <a:solidFill>
                  <a:srgbClr val="0000CC"/>
                </a:solidFill>
                <a:cs typeface="Arial" panose="020B0604020202020204" pitchFamily="34" charset="0"/>
              </a:rPr>
              <a:t> ta </a:t>
            </a:r>
            <a:r>
              <a:rPr lang="en-US" altLang="vi-VN" sz="2800" dirty="0" err="1">
                <a:solidFill>
                  <a:srgbClr val="0000CC"/>
                </a:solidFill>
                <a:cs typeface="Arial" panose="020B0604020202020204" pitchFamily="34" charset="0"/>
              </a:rPr>
              <a:t>có</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thể</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truy</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xuất</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vào</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từng</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ký</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tự</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của</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nó</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bằng</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chỉ</a:t>
            </a:r>
            <a:r>
              <a:rPr lang="en-US" altLang="vi-VN" sz="2800" dirty="0">
                <a:solidFill>
                  <a:srgbClr val="0000CC"/>
                </a:solidFill>
                <a:cs typeface="Arial" panose="020B0604020202020204" pitchFamily="34" charset="0"/>
              </a:rPr>
              <a:t> </a:t>
            </a:r>
            <a:r>
              <a:rPr lang="en-US" altLang="vi-VN" sz="2800" dirty="0" err="1">
                <a:solidFill>
                  <a:srgbClr val="0000CC"/>
                </a:solidFill>
                <a:cs typeface="Arial" panose="020B0604020202020204" pitchFamily="34" charset="0"/>
              </a:rPr>
              <a:t>số</a:t>
            </a:r>
            <a:r>
              <a:rPr lang="en-US" altLang="vi-VN" sz="2800" dirty="0">
                <a:solidFill>
                  <a:srgbClr val="0000CC"/>
                </a:solidFill>
                <a:cs typeface="Arial" panose="020B0604020202020204" pitchFamily="34" charset="0"/>
              </a:rPr>
              <a:t>.</a:t>
            </a:r>
          </a:p>
        </p:txBody>
      </p:sp>
      <p:sp>
        <p:nvSpPr>
          <p:cNvPr id="677892" name="Text Box 4"/>
          <p:cNvSpPr txBox="1">
            <a:spLocks noChangeArrowheads="1"/>
          </p:cNvSpPr>
          <p:nvPr/>
        </p:nvSpPr>
        <p:spPr bwMode="auto">
          <a:xfrm>
            <a:off x="838200" y="1981200"/>
            <a:ext cx="4675188" cy="4032250"/>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eaLnBrk="1" hangingPunct="1"/>
            <a:r>
              <a:rPr lang="en-US" altLang="vi-VN" sz="1600">
                <a:solidFill>
                  <a:srgbClr val="0000CC"/>
                </a:solidFill>
              </a:rPr>
              <a:t>#include&lt;stdio.h&gt;</a:t>
            </a:r>
          </a:p>
          <a:p>
            <a:pPr algn="l" eaLnBrk="1" hangingPunct="1"/>
            <a:r>
              <a:rPr lang="en-US" altLang="vi-VN" sz="1600">
                <a:solidFill>
                  <a:srgbClr val="0000CC"/>
                </a:solidFill>
              </a:rPr>
              <a:t>#include&lt;conio.h&gt;</a:t>
            </a:r>
          </a:p>
          <a:p>
            <a:pPr algn="l" eaLnBrk="1" hangingPunct="1"/>
            <a:r>
              <a:rPr lang="en-US" altLang="vi-VN" sz="1600">
                <a:solidFill>
                  <a:srgbClr val="0000CC"/>
                </a:solidFill>
              </a:rPr>
              <a:t>#include&lt;ctype.h&gt;</a:t>
            </a:r>
          </a:p>
          <a:p>
            <a:pPr algn="l" eaLnBrk="1" hangingPunct="1"/>
            <a:r>
              <a:rPr lang="en-US" altLang="vi-VN" sz="1600">
                <a:solidFill>
                  <a:srgbClr val="0000CC"/>
                </a:solidFill>
              </a:rPr>
              <a:t>void main()</a:t>
            </a:r>
          </a:p>
          <a:p>
            <a:pPr algn="l" eaLnBrk="1" hangingPunct="1"/>
            <a:r>
              <a:rPr lang="en-US" altLang="vi-VN" sz="1600">
                <a:solidFill>
                  <a:srgbClr val="0000CC"/>
                </a:solidFill>
              </a:rPr>
              <a:t>{	char S[20];</a:t>
            </a:r>
          </a:p>
          <a:p>
            <a:pPr algn="l" eaLnBrk="1" hangingPunct="1"/>
            <a:r>
              <a:rPr lang="en-US" altLang="vi-VN" sz="1600">
                <a:solidFill>
                  <a:srgbClr val="0000CC"/>
                </a:solidFill>
              </a:rPr>
              <a:t>	printf("Nhap chuoi: ");</a:t>
            </a:r>
          </a:p>
          <a:p>
            <a:pPr algn="l" eaLnBrk="1" hangingPunct="1"/>
            <a:r>
              <a:rPr lang="en-US" altLang="vi-VN" sz="1600">
                <a:solidFill>
                  <a:srgbClr val="0000CC"/>
                </a:solidFill>
              </a:rPr>
              <a:t>	gets(S);</a:t>
            </a:r>
          </a:p>
          <a:p>
            <a:pPr algn="l" eaLnBrk="1" hangingPunct="1"/>
            <a:r>
              <a:rPr lang="en-US" altLang="vi-VN" sz="1600">
                <a:solidFill>
                  <a:srgbClr val="0000CC"/>
                </a:solidFill>
              </a:rPr>
              <a:t>	int i=0;</a:t>
            </a:r>
          </a:p>
          <a:p>
            <a:pPr algn="l" eaLnBrk="1" hangingPunct="1"/>
            <a:r>
              <a:rPr lang="en-US" altLang="vi-VN" sz="1600">
                <a:solidFill>
                  <a:srgbClr val="0000CC"/>
                </a:solidFill>
              </a:rPr>
              <a:t>	while(S[i]!=NULL)</a:t>
            </a:r>
          </a:p>
          <a:p>
            <a:pPr algn="l" eaLnBrk="1" hangingPunct="1"/>
            <a:r>
              <a:rPr lang="en-US" altLang="vi-VN" sz="1600">
                <a:solidFill>
                  <a:srgbClr val="0000CC"/>
                </a:solidFill>
              </a:rPr>
              <a:t>	{	S[i] = toupper(S[i]);</a:t>
            </a:r>
          </a:p>
          <a:p>
            <a:pPr algn="l" eaLnBrk="1" hangingPunct="1"/>
            <a:r>
              <a:rPr lang="en-US" altLang="vi-VN" sz="1600">
                <a:solidFill>
                  <a:srgbClr val="0000CC"/>
                </a:solidFill>
              </a:rPr>
              <a:t>		i++;</a:t>
            </a:r>
          </a:p>
          <a:p>
            <a:pPr algn="l" eaLnBrk="1" hangingPunct="1"/>
            <a:r>
              <a:rPr lang="en-US" altLang="vi-VN" sz="1600">
                <a:solidFill>
                  <a:srgbClr val="0000CC"/>
                </a:solidFill>
              </a:rPr>
              <a:t>	}</a:t>
            </a:r>
          </a:p>
          <a:p>
            <a:pPr algn="l" eaLnBrk="1" hangingPunct="1"/>
            <a:r>
              <a:rPr lang="en-US" altLang="vi-VN" sz="1600">
                <a:solidFill>
                  <a:srgbClr val="0000CC"/>
                </a:solidFill>
              </a:rPr>
              <a:t>	printf("Chuoi vua nhap duoc viet hoa:");</a:t>
            </a:r>
          </a:p>
          <a:p>
            <a:pPr algn="l" eaLnBrk="1" hangingPunct="1"/>
            <a:r>
              <a:rPr lang="en-US" altLang="vi-VN" sz="1600">
                <a:solidFill>
                  <a:srgbClr val="0000CC"/>
                </a:solidFill>
              </a:rPr>
              <a:t>	puts(S);</a:t>
            </a:r>
          </a:p>
          <a:p>
            <a:pPr algn="l" eaLnBrk="1" hangingPunct="1"/>
            <a:r>
              <a:rPr lang="en-US" altLang="vi-VN" sz="1600">
                <a:solidFill>
                  <a:srgbClr val="0000CC"/>
                </a:solidFill>
              </a:rPr>
              <a:t>	getch();</a:t>
            </a:r>
          </a:p>
          <a:p>
            <a:pPr algn="l" eaLnBrk="1" hangingPunct="1"/>
            <a:r>
              <a:rPr lang="en-US" altLang="vi-VN" sz="1600">
                <a:solidFill>
                  <a:srgbClr val="0000CC"/>
                </a:solidFill>
              </a:rPr>
              <a:t>}</a:t>
            </a:r>
          </a:p>
        </p:txBody>
      </p:sp>
      <p:sp>
        <p:nvSpPr>
          <p:cNvPr id="677893" name="AutoShape 5"/>
          <p:cNvSpPr>
            <a:spLocks noChangeArrowheads="1"/>
          </p:cNvSpPr>
          <p:nvPr/>
        </p:nvSpPr>
        <p:spPr bwMode="auto">
          <a:xfrm>
            <a:off x="5715000" y="2209800"/>
            <a:ext cx="3124200" cy="3276600"/>
          </a:xfrm>
          <a:prstGeom prst="irregularSeal1">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rgbClr val="0000CC"/>
                </a:solidFill>
                <a:latin typeface="Tahoma" panose="020B0604030504040204" pitchFamily="34" charset="0"/>
              </a:rPr>
              <a:t>Nhập 1 chuỗi </a:t>
            </a:r>
          </a:p>
          <a:p>
            <a:pPr eaLnBrk="1" hangingPunct="1"/>
            <a:r>
              <a:rPr lang="en-US" altLang="vi-VN">
                <a:solidFill>
                  <a:srgbClr val="0000CC"/>
                </a:solidFill>
                <a:latin typeface="Tahoma" panose="020B0604030504040204" pitchFamily="34" charset="0"/>
              </a:rPr>
              <a:t>rồi đổi chuỗi </a:t>
            </a:r>
          </a:p>
          <a:p>
            <a:pPr eaLnBrk="1" hangingPunct="1"/>
            <a:r>
              <a:rPr lang="en-US" altLang="vi-VN">
                <a:solidFill>
                  <a:srgbClr val="0000CC"/>
                </a:solidFill>
                <a:latin typeface="Tahoma" panose="020B0604030504040204" pitchFamily="34" charset="0"/>
              </a:rPr>
              <a:t>đó ra chữ hoa</a:t>
            </a:r>
            <a:endParaRPr lang="vi-VN" altLang="vi-VN">
              <a:solidFill>
                <a:srgbClr val="0000CC"/>
              </a:solidFill>
              <a:latin typeface="Tahoma" panose="020B0604030504040204" pitchFamily="34" charset="0"/>
            </a:endParaRPr>
          </a:p>
        </p:txBody>
      </p:sp>
      <p:sp>
        <p:nvSpPr>
          <p:cNvPr id="26631" name="Rectangle 6"/>
          <p:cNvSpPr>
            <a:spLocks noGrp="1"/>
          </p:cNvSpPr>
          <p:nvPr>
            <p:ph type="title"/>
          </p:nvPr>
        </p:nvSpPr>
        <p:spPr>
          <a:xfrm>
            <a:off x="1774372" y="365127"/>
            <a:ext cx="6740978" cy="701674"/>
          </a:xfrm>
        </p:spPr>
        <p:txBody>
          <a:bodyPr>
            <a:normAutofit/>
          </a:bodyPr>
          <a:lstStyle/>
          <a:p>
            <a:r>
              <a:rPr lang="en-US" altLang="vi-VN" sz="4000" b="1" dirty="0" err="1">
                <a:solidFill>
                  <a:srgbClr val="0000CC"/>
                </a:solidFill>
              </a:rPr>
              <a:t>Truy</a:t>
            </a:r>
            <a:r>
              <a:rPr lang="en-US" altLang="vi-VN" sz="4000" b="1" dirty="0">
                <a:solidFill>
                  <a:srgbClr val="0000CC"/>
                </a:solidFill>
              </a:rPr>
              <a:t> </a:t>
            </a:r>
            <a:r>
              <a:rPr lang="en-US" altLang="vi-VN" sz="4000" b="1" dirty="0" err="1">
                <a:solidFill>
                  <a:srgbClr val="0000CC"/>
                </a:solidFill>
              </a:rPr>
              <a:t>xuất</a:t>
            </a:r>
            <a:r>
              <a:rPr lang="en-US" altLang="vi-VN" sz="4000" b="1" dirty="0">
                <a:solidFill>
                  <a:srgbClr val="0000CC"/>
                </a:solidFill>
              </a:rPr>
              <a:t> </a:t>
            </a:r>
            <a:r>
              <a:rPr lang="en-US" altLang="vi-VN" sz="4000" b="1" dirty="0" err="1">
                <a:solidFill>
                  <a:srgbClr val="0000CC"/>
                </a:solidFill>
              </a:rPr>
              <a:t>từng</a:t>
            </a:r>
            <a:r>
              <a:rPr lang="en-US" altLang="vi-VN" sz="4000" b="1" dirty="0">
                <a:solidFill>
                  <a:srgbClr val="0000CC"/>
                </a:solidFill>
              </a:rPr>
              <a:t> </a:t>
            </a:r>
            <a:r>
              <a:rPr lang="en-US" altLang="vi-VN" sz="4000" b="1" dirty="0" err="1">
                <a:solidFill>
                  <a:srgbClr val="0000CC"/>
                </a:solidFill>
              </a:rPr>
              <a:t>ký</a:t>
            </a:r>
            <a:r>
              <a:rPr lang="en-US" altLang="vi-VN" sz="4000" b="1" dirty="0">
                <a:solidFill>
                  <a:srgbClr val="0000CC"/>
                </a:solidFill>
              </a:rPr>
              <a:t> </a:t>
            </a:r>
            <a:r>
              <a:rPr lang="en-US" altLang="vi-VN" sz="4000" b="1" dirty="0" err="1">
                <a:solidFill>
                  <a:srgbClr val="0000CC"/>
                </a:solidFill>
              </a:rPr>
              <a:t>tự</a:t>
            </a:r>
            <a:r>
              <a:rPr lang="en-US" altLang="vi-VN" sz="4000" b="1" dirty="0">
                <a:solidFill>
                  <a:srgbClr val="0000CC"/>
                </a:solidFill>
              </a:rPr>
              <a:t> </a:t>
            </a:r>
            <a:r>
              <a:rPr lang="en-US" altLang="vi-VN" sz="4000" b="1" dirty="0" err="1">
                <a:solidFill>
                  <a:srgbClr val="0000CC"/>
                </a:solidFill>
              </a:rPr>
              <a:t>của</a:t>
            </a:r>
            <a:r>
              <a:rPr lang="en-US" altLang="vi-VN" sz="4000" b="1" dirty="0">
                <a:solidFill>
                  <a:srgbClr val="0000CC"/>
                </a:solidFill>
              </a:rPr>
              <a:t> </a:t>
            </a:r>
            <a:r>
              <a:rPr lang="en-US" altLang="vi-VN" sz="4000" b="1" dirty="0" err="1">
                <a:solidFill>
                  <a:srgbClr val="0000CC"/>
                </a:solidFill>
              </a:rPr>
              <a:t>chuỗi</a:t>
            </a:r>
            <a:endParaRPr lang="en-US" altLang="vi-VN" sz="4000" b="1" dirty="0">
              <a:solidFill>
                <a:srgbClr val="0000CC"/>
              </a:solidFill>
            </a:endParaRPr>
          </a:p>
        </p:txBody>
      </p:sp>
    </p:spTree>
    <p:extLst>
      <p:ext uri="{BB962C8B-B14F-4D97-AF65-F5344CB8AC3E}">
        <p14:creationId xmlns:p14="http://schemas.microsoft.com/office/powerpoint/2010/main" val="2129897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7893"/>
                                        </p:tgtEl>
                                        <p:attrNameLst>
                                          <p:attrName>style.visibility</p:attrName>
                                        </p:attrNameLst>
                                      </p:cBhvr>
                                      <p:to>
                                        <p:strVal val="visible"/>
                                      </p:to>
                                    </p:set>
                                    <p:animEffect transition="in" filter="checkerboard(across)">
                                      <p:cBhvr>
                                        <p:cTn id="7" dur="500"/>
                                        <p:tgtEl>
                                          <p:spTgt spid="67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677892"/>
                                        </p:tgtEl>
                                        <p:attrNameLst>
                                          <p:attrName>style.visibility</p:attrName>
                                        </p:attrNameLst>
                                      </p:cBhvr>
                                      <p:to>
                                        <p:strVal val="visible"/>
                                      </p:to>
                                    </p:set>
                                    <p:animEffect transition="in" filter="wheel(4)">
                                      <p:cBhvr>
                                        <p:cTn id="12" dur="2000"/>
                                        <p:tgtEl>
                                          <p:spTgt spid="67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2" grpId="0" animBg="1"/>
      <p:bldP spid="67789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7EEADF-D14B-4D44-95C4-A58F77DAA0EF}" type="slidenum">
              <a:rPr lang="en-US" altLang="vi-VN">
                <a:solidFill>
                  <a:srgbClr val="FFFF00"/>
                </a:solidFill>
              </a:rPr>
              <a:pPr eaLnBrk="1" hangingPunct="1"/>
              <a:t>35</a:t>
            </a:fld>
            <a:endParaRPr lang="en-GB" altLang="vi-VN">
              <a:solidFill>
                <a:srgbClr val="FFFF00"/>
              </a:solidFill>
            </a:endParaRPr>
          </a:p>
        </p:txBody>
      </p:sp>
      <p:sp>
        <p:nvSpPr>
          <p:cNvPr id="27652" name="Rectangle 3"/>
          <p:cNvSpPr>
            <a:spLocks noGrp="1" noChangeArrowheads="1"/>
          </p:cNvSpPr>
          <p:nvPr>
            <p:ph type="body" idx="1"/>
          </p:nvPr>
        </p:nvSpPr>
        <p:spPr>
          <a:xfrm>
            <a:off x="381000" y="1233488"/>
            <a:ext cx="8305800" cy="1012825"/>
          </a:xfrm>
        </p:spPr>
        <p:txBody>
          <a:bodyPr>
            <a:normAutofit lnSpcReduction="10000"/>
          </a:bodyPr>
          <a:lstStyle/>
          <a:p>
            <a:pPr>
              <a:lnSpc>
                <a:spcPct val="80000"/>
              </a:lnSpc>
              <a:buFontTx/>
              <a:buChar char="-"/>
            </a:pPr>
            <a:r>
              <a:rPr lang="en-US" altLang="vi-VN" sz="2600" b="1">
                <a:solidFill>
                  <a:srgbClr val="0000CC"/>
                </a:solidFill>
              </a:rPr>
              <a:t> strlen(s)</a:t>
            </a:r>
          </a:p>
          <a:p>
            <a:pPr lvl="1">
              <a:lnSpc>
                <a:spcPct val="80000"/>
              </a:lnSpc>
              <a:buFontTx/>
              <a:buNone/>
            </a:pPr>
            <a:r>
              <a:rPr lang="en-US" altLang="vi-VN" sz="2200">
                <a:solidFill>
                  <a:srgbClr val="0000CC"/>
                </a:solidFill>
              </a:rPr>
              <a:t>Cho biết độ dài của chuỗi s</a:t>
            </a:r>
          </a:p>
          <a:p>
            <a:pPr lvl="1">
              <a:lnSpc>
                <a:spcPct val="80000"/>
              </a:lnSpc>
              <a:buFontTx/>
              <a:buNone/>
            </a:pPr>
            <a:r>
              <a:rPr lang="en-US" altLang="vi-VN" sz="2200">
                <a:solidFill>
                  <a:srgbClr val="0000CC"/>
                </a:solidFill>
              </a:rPr>
              <a:t>Ví dụ : n = strlen(“abcd”) </a:t>
            </a:r>
            <a:r>
              <a:rPr lang="en-US" altLang="vi-VN" sz="2200">
                <a:solidFill>
                  <a:srgbClr val="0000CC"/>
                </a:solidFill>
                <a:sym typeface="Wingdings" panose="05000000000000000000" pitchFamily="2" charset="2"/>
              </a:rPr>
              <a:t> n = 4</a:t>
            </a:r>
            <a:endParaRPr lang="en-US" altLang="vi-VN" sz="2200">
              <a:solidFill>
                <a:srgbClr val="0000CC"/>
              </a:solidFill>
            </a:endParaRPr>
          </a:p>
          <a:p>
            <a:pPr lvl="1">
              <a:lnSpc>
                <a:spcPct val="80000"/>
              </a:lnSpc>
              <a:buFontTx/>
              <a:buNone/>
            </a:pPr>
            <a:endParaRPr lang="en-US" altLang="vi-VN" sz="2200">
              <a:solidFill>
                <a:srgbClr val="0000CC"/>
              </a:solidFill>
            </a:endParaRPr>
          </a:p>
          <a:p>
            <a:pPr lvl="1">
              <a:lnSpc>
                <a:spcPct val="80000"/>
              </a:lnSpc>
              <a:buFontTx/>
              <a:buNone/>
            </a:pPr>
            <a:endParaRPr lang="en-US" altLang="vi-VN" sz="2200">
              <a:solidFill>
                <a:srgbClr val="0000CC"/>
              </a:solidFill>
            </a:endParaRPr>
          </a:p>
        </p:txBody>
      </p:sp>
      <p:sp>
        <p:nvSpPr>
          <p:cNvPr id="27653" name="Rectangle 4"/>
          <p:cNvSpPr>
            <a:spLocks noChangeArrowheads="1"/>
          </p:cNvSpPr>
          <p:nvPr/>
        </p:nvSpPr>
        <p:spPr bwMode="auto">
          <a:xfrm>
            <a:off x="457200" y="2743200"/>
            <a:ext cx="84582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Tx/>
              <a:buChar char="-"/>
            </a:pPr>
            <a:r>
              <a:rPr lang="en-US" altLang="vi-VN" sz="2600" b="1">
                <a:solidFill>
                  <a:srgbClr val="0000CC"/>
                </a:solidFill>
              </a:rPr>
              <a:t> strcmp(s1, s2)</a:t>
            </a:r>
          </a:p>
          <a:p>
            <a:pPr lvl="1" algn="l">
              <a:spcBef>
                <a:spcPct val="20000"/>
              </a:spcBef>
              <a:buClr>
                <a:schemeClr val="accent1"/>
              </a:buClr>
            </a:pPr>
            <a:r>
              <a:rPr lang="en-US" altLang="vi-VN" sz="2200">
                <a:solidFill>
                  <a:srgbClr val="0000CC"/>
                </a:solidFill>
              </a:rPr>
              <a:t>So sánh chuỗi s1 với s2.</a:t>
            </a:r>
          </a:p>
          <a:p>
            <a:pPr lvl="1" algn="l">
              <a:spcBef>
                <a:spcPct val="20000"/>
              </a:spcBef>
              <a:buClr>
                <a:schemeClr val="accent1"/>
              </a:buClr>
            </a:pPr>
            <a:r>
              <a:rPr lang="en-US" altLang="vi-VN" sz="2200">
                <a:solidFill>
                  <a:srgbClr val="0000CC"/>
                </a:solidFill>
              </a:rPr>
              <a:t>Ví dụ : n = strcmp(s1, s2);</a:t>
            </a:r>
          </a:p>
          <a:p>
            <a:pPr lvl="1" algn="l">
              <a:spcBef>
                <a:spcPct val="20000"/>
              </a:spcBef>
              <a:buClr>
                <a:schemeClr val="accent1"/>
              </a:buClr>
            </a:pPr>
            <a:r>
              <a:rPr lang="en-US" altLang="vi-VN" sz="2200">
                <a:solidFill>
                  <a:srgbClr val="0000CC"/>
                </a:solidFill>
              </a:rPr>
              <a:t>			Nếu n &gt; 0 thì s1 &gt; s2</a:t>
            </a:r>
          </a:p>
          <a:p>
            <a:pPr lvl="1" algn="l">
              <a:spcBef>
                <a:spcPct val="20000"/>
              </a:spcBef>
              <a:buClr>
                <a:schemeClr val="accent1"/>
              </a:buClr>
            </a:pPr>
            <a:r>
              <a:rPr lang="en-US" altLang="vi-VN" sz="2200">
                <a:solidFill>
                  <a:srgbClr val="0000CC"/>
                </a:solidFill>
              </a:rPr>
              <a:t> 			Nếu n = 0 thì s1 = s2</a:t>
            </a:r>
          </a:p>
          <a:p>
            <a:pPr lvl="1" algn="l">
              <a:spcBef>
                <a:spcPct val="20000"/>
              </a:spcBef>
              <a:buClr>
                <a:schemeClr val="accent1"/>
              </a:buClr>
            </a:pPr>
            <a:r>
              <a:rPr lang="en-US" altLang="vi-VN" sz="2200">
                <a:solidFill>
                  <a:srgbClr val="0000CC"/>
                </a:solidFill>
              </a:rPr>
              <a:t>			Nếu n &lt; 0 thì s1 &lt; s2</a:t>
            </a:r>
          </a:p>
          <a:p>
            <a:pPr lvl="1" algn="l">
              <a:spcBef>
                <a:spcPct val="20000"/>
              </a:spcBef>
              <a:buClr>
                <a:schemeClr val="accent1"/>
              </a:buClr>
            </a:pPr>
            <a:r>
              <a:rPr lang="en-US" altLang="vi-VN" sz="2200" i="1">
                <a:solidFill>
                  <a:srgbClr val="0000CC"/>
                </a:solidFill>
              </a:rPr>
              <a:t>(</a:t>
            </a:r>
            <a:r>
              <a:rPr lang="en-US" altLang="vi-VN" sz="2800" i="1">
                <a:solidFill>
                  <a:srgbClr val="0000CC"/>
                </a:solidFill>
              </a:rPr>
              <a:t>So sánh dựa vào bảng mã ASCII)</a:t>
            </a:r>
            <a:endParaRPr lang="en-US" altLang="vi-VN" sz="2200" i="1">
              <a:solidFill>
                <a:srgbClr val="0000CC"/>
              </a:solidFill>
            </a:endParaRPr>
          </a:p>
          <a:p>
            <a:pPr lvl="1" algn="l">
              <a:spcBef>
                <a:spcPct val="20000"/>
              </a:spcBef>
              <a:buClr>
                <a:schemeClr val="accent1"/>
              </a:buClr>
            </a:pPr>
            <a:endParaRPr lang="en-US" altLang="vi-VN" sz="2200" i="1">
              <a:solidFill>
                <a:srgbClr val="0000CC"/>
              </a:solidFill>
            </a:endParaRPr>
          </a:p>
        </p:txBody>
      </p:sp>
      <p:sp>
        <p:nvSpPr>
          <p:cNvPr id="27654" name="Rectangle 5"/>
          <p:cNvSpPr>
            <a:spLocks noGrp="1"/>
          </p:cNvSpPr>
          <p:nvPr>
            <p:ph type="title"/>
          </p:nvPr>
        </p:nvSpPr>
        <p:spPr>
          <a:xfrm>
            <a:off x="1839686" y="365127"/>
            <a:ext cx="6675664" cy="868362"/>
          </a:xfrm>
        </p:spPr>
        <p:txBody>
          <a:bodyPr/>
          <a:lstStyle/>
          <a:p>
            <a:r>
              <a:rPr lang="en-US" altLang="vi-VN" b="1" dirty="0" err="1">
                <a:solidFill>
                  <a:srgbClr val="0000CC"/>
                </a:solidFill>
              </a:rPr>
              <a:t>Một</a:t>
            </a:r>
            <a:r>
              <a:rPr lang="en-US" altLang="vi-VN" b="1" dirty="0">
                <a:solidFill>
                  <a:srgbClr val="0000CC"/>
                </a:solidFill>
              </a:rPr>
              <a:t> </a:t>
            </a:r>
            <a:r>
              <a:rPr lang="en-US" altLang="vi-VN" b="1" dirty="0" err="1">
                <a:solidFill>
                  <a:srgbClr val="0000CC"/>
                </a:solidFill>
              </a:rPr>
              <a:t>số</a:t>
            </a:r>
            <a:r>
              <a:rPr lang="en-US" altLang="vi-VN" b="1" dirty="0">
                <a:solidFill>
                  <a:srgbClr val="0000CC"/>
                </a:solidFill>
              </a:rPr>
              <a:t> </a:t>
            </a:r>
            <a:r>
              <a:rPr lang="en-US" altLang="vi-VN" b="1" dirty="0" err="1">
                <a:solidFill>
                  <a:srgbClr val="0000CC"/>
                </a:solidFill>
              </a:rPr>
              <a:t>hàm</a:t>
            </a:r>
            <a:r>
              <a:rPr lang="en-US" altLang="vi-VN" b="1" dirty="0">
                <a:solidFill>
                  <a:srgbClr val="0000CC"/>
                </a:solidFill>
              </a:rPr>
              <a:t> </a:t>
            </a:r>
            <a:r>
              <a:rPr lang="en-US" altLang="vi-VN" b="1" dirty="0" err="1">
                <a:solidFill>
                  <a:srgbClr val="0000CC"/>
                </a:solidFill>
              </a:rPr>
              <a:t>về</a:t>
            </a:r>
            <a:r>
              <a:rPr lang="en-US" altLang="vi-VN" b="1" dirty="0">
                <a:solidFill>
                  <a:srgbClr val="0000CC"/>
                </a:solidFill>
              </a:rPr>
              <a:t> </a:t>
            </a:r>
            <a:r>
              <a:rPr lang="en-US" altLang="vi-VN" b="1" dirty="0" err="1">
                <a:solidFill>
                  <a:srgbClr val="0000CC"/>
                </a:solidFill>
              </a:rPr>
              <a:t>chuỗi</a:t>
            </a:r>
            <a:endParaRPr lang="en-US" altLang="vi-VN" b="1" dirty="0">
              <a:solidFill>
                <a:srgbClr val="0000CC"/>
              </a:solidFill>
            </a:endParaRPr>
          </a:p>
        </p:txBody>
      </p:sp>
    </p:spTree>
    <p:extLst>
      <p:ext uri="{BB962C8B-B14F-4D97-AF65-F5344CB8AC3E}">
        <p14:creationId xmlns:p14="http://schemas.microsoft.com/office/powerpoint/2010/main" val="2545514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F43FC0-FB89-4BA1-B3DE-5BDB4BADC3D3}" type="slidenum">
              <a:rPr lang="en-US" altLang="vi-VN">
                <a:solidFill>
                  <a:srgbClr val="FFFF00"/>
                </a:solidFill>
              </a:rPr>
              <a:pPr eaLnBrk="1" hangingPunct="1"/>
              <a:t>36</a:t>
            </a:fld>
            <a:endParaRPr lang="en-GB" altLang="vi-VN">
              <a:solidFill>
                <a:srgbClr val="FFFF00"/>
              </a:solidFill>
            </a:endParaRPr>
          </a:p>
        </p:txBody>
      </p:sp>
      <p:sp>
        <p:nvSpPr>
          <p:cNvPr id="28676" name="Rectangle 3"/>
          <p:cNvSpPr>
            <a:spLocks noGrp="1" noChangeArrowheads="1"/>
          </p:cNvSpPr>
          <p:nvPr>
            <p:ph type="body" idx="1"/>
          </p:nvPr>
        </p:nvSpPr>
        <p:spPr>
          <a:xfrm>
            <a:off x="457200" y="1227819"/>
            <a:ext cx="8305800" cy="1285875"/>
          </a:xfrm>
        </p:spPr>
        <p:txBody>
          <a:bodyPr/>
          <a:lstStyle/>
          <a:p>
            <a:pPr>
              <a:lnSpc>
                <a:spcPct val="90000"/>
              </a:lnSpc>
              <a:buFontTx/>
              <a:buChar char="-"/>
            </a:pPr>
            <a:r>
              <a:rPr lang="en-US" altLang="vi-VN" sz="2600" b="1" dirty="0" err="1">
                <a:solidFill>
                  <a:srgbClr val="0000CC"/>
                </a:solidFill>
              </a:rPr>
              <a:t>strcpy</a:t>
            </a:r>
            <a:r>
              <a:rPr lang="en-US" altLang="vi-VN" sz="2600" b="1" dirty="0">
                <a:solidFill>
                  <a:srgbClr val="0000CC"/>
                </a:solidFill>
              </a:rPr>
              <a:t>(</a:t>
            </a:r>
            <a:r>
              <a:rPr lang="en-US" altLang="vi-VN" sz="2600" b="1" dirty="0" err="1">
                <a:solidFill>
                  <a:srgbClr val="0000CC"/>
                </a:solidFill>
              </a:rPr>
              <a:t>đích</a:t>
            </a:r>
            <a:r>
              <a:rPr lang="en-US" altLang="vi-VN" sz="2600" b="1" dirty="0">
                <a:solidFill>
                  <a:srgbClr val="0000CC"/>
                </a:solidFill>
              </a:rPr>
              <a:t>, </a:t>
            </a:r>
            <a:r>
              <a:rPr lang="en-US" altLang="vi-VN" sz="2600" b="1" dirty="0" err="1">
                <a:solidFill>
                  <a:srgbClr val="0000CC"/>
                </a:solidFill>
              </a:rPr>
              <a:t>nguồn</a:t>
            </a:r>
            <a:r>
              <a:rPr lang="en-US" altLang="vi-VN" sz="2600" b="1" dirty="0">
                <a:solidFill>
                  <a:srgbClr val="0000CC"/>
                </a:solidFill>
              </a:rPr>
              <a:t>)</a:t>
            </a:r>
          </a:p>
          <a:p>
            <a:pPr lvl="1">
              <a:lnSpc>
                <a:spcPct val="90000"/>
              </a:lnSpc>
              <a:buFontTx/>
              <a:buNone/>
            </a:pPr>
            <a:r>
              <a:rPr lang="en-US" altLang="vi-VN" sz="2200" dirty="0" err="1">
                <a:solidFill>
                  <a:srgbClr val="0000CC"/>
                </a:solidFill>
              </a:rPr>
              <a:t>Chép</a:t>
            </a:r>
            <a:r>
              <a:rPr lang="en-US" altLang="vi-VN" sz="2200" dirty="0">
                <a:solidFill>
                  <a:srgbClr val="0000CC"/>
                </a:solidFill>
              </a:rPr>
              <a:t> </a:t>
            </a:r>
            <a:r>
              <a:rPr lang="en-US" altLang="vi-VN" sz="2200" dirty="0" err="1">
                <a:solidFill>
                  <a:srgbClr val="0000CC"/>
                </a:solidFill>
              </a:rPr>
              <a:t>chuỗi</a:t>
            </a:r>
            <a:r>
              <a:rPr lang="en-US" altLang="vi-VN" sz="2200" dirty="0">
                <a:solidFill>
                  <a:srgbClr val="0000CC"/>
                </a:solidFill>
              </a:rPr>
              <a:t> </a:t>
            </a:r>
            <a:r>
              <a:rPr lang="en-US" altLang="vi-VN" sz="2200" dirty="0" err="1">
                <a:solidFill>
                  <a:srgbClr val="0000CC"/>
                </a:solidFill>
              </a:rPr>
              <a:t>nguồn</a:t>
            </a:r>
            <a:r>
              <a:rPr lang="en-US" altLang="vi-VN" sz="2200" dirty="0">
                <a:solidFill>
                  <a:srgbClr val="0000CC"/>
                </a:solidFill>
              </a:rPr>
              <a:t> </a:t>
            </a:r>
            <a:r>
              <a:rPr lang="en-US" altLang="vi-VN" sz="2200" dirty="0" err="1">
                <a:solidFill>
                  <a:srgbClr val="0000CC"/>
                </a:solidFill>
              </a:rPr>
              <a:t>vào</a:t>
            </a:r>
            <a:r>
              <a:rPr lang="en-US" altLang="vi-VN" sz="2200" dirty="0">
                <a:solidFill>
                  <a:srgbClr val="0000CC"/>
                </a:solidFill>
              </a:rPr>
              <a:t> </a:t>
            </a:r>
            <a:r>
              <a:rPr lang="en-US" altLang="vi-VN" sz="2200" dirty="0" err="1">
                <a:solidFill>
                  <a:srgbClr val="0000CC"/>
                </a:solidFill>
              </a:rPr>
              <a:t>chuỗi</a:t>
            </a:r>
            <a:r>
              <a:rPr lang="en-US" altLang="vi-VN" sz="2200" dirty="0">
                <a:solidFill>
                  <a:srgbClr val="0000CC"/>
                </a:solidFill>
              </a:rPr>
              <a:t> </a:t>
            </a:r>
            <a:r>
              <a:rPr lang="en-US" altLang="vi-VN" sz="2200" dirty="0" err="1">
                <a:solidFill>
                  <a:srgbClr val="0000CC"/>
                </a:solidFill>
              </a:rPr>
              <a:t>đích</a:t>
            </a:r>
            <a:r>
              <a:rPr lang="en-US" altLang="vi-VN" sz="2200" dirty="0">
                <a:solidFill>
                  <a:srgbClr val="0000CC"/>
                </a:solidFill>
              </a:rPr>
              <a:t> (</a:t>
            </a:r>
            <a:r>
              <a:rPr lang="en-US" altLang="vi-VN" sz="2200" dirty="0" err="1">
                <a:solidFill>
                  <a:srgbClr val="0000CC"/>
                </a:solidFill>
              </a:rPr>
              <a:t>gán</a:t>
            </a:r>
            <a:r>
              <a:rPr lang="en-US" altLang="vi-VN" sz="2200" dirty="0">
                <a:solidFill>
                  <a:srgbClr val="0000CC"/>
                </a:solidFill>
              </a:rPr>
              <a:t> </a:t>
            </a:r>
            <a:r>
              <a:rPr lang="en-US" altLang="vi-VN" sz="2200" dirty="0" err="1">
                <a:solidFill>
                  <a:srgbClr val="0000CC"/>
                </a:solidFill>
              </a:rPr>
              <a:t>chuỗi</a:t>
            </a:r>
            <a:r>
              <a:rPr lang="en-US" altLang="vi-VN" sz="2200" dirty="0">
                <a:solidFill>
                  <a:srgbClr val="0000CC"/>
                </a:solidFill>
              </a:rPr>
              <a:t>)</a:t>
            </a:r>
          </a:p>
          <a:p>
            <a:pPr lvl="1">
              <a:lnSpc>
                <a:spcPct val="90000"/>
              </a:lnSpc>
              <a:buFontTx/>
              <a:buNone/>
            </a:pPr>
            <a:r>
              <a:rPr lang="en-US" altLang="vi-VN" sz="2200" dirty="0" err="1">
                <a:solidFill>
                  <a:srgbClr val="0000CC"/>
                </a:solidFill>
              </a:rPr>
              <a:t>Ví</a:t>
            </a:r>
            <a:r>
              <a:rPr lang="en-US" altLang="vi-VN" sz="2200" dirty="0">
                <a:solidFill>
                  <a:srgbClr val="0000CC"/>
                </a:solidFill>
              </a:rPr>
              <a:t> </a:t>
            </a:r>
            <a:r>
              <a:rPr lang="en-US" altLang="vi-VN" sz="2200" dirty="0" err="1">
                <a:solidFill>
                  <a:srgbClr val="0000CC"/>
                </a:solidFill>
              </a:rPr>
              <a:t>dụ</a:t>
            </a:r>
            <a:r>
              <a:rPr lang="en-US" altLang="vi-VN" sz="2200" dirty="0">
                <a:solidFill>
                  <a:srgbClr val="0000CC"/>
                </a:solidFill>
              </a:rPr>
              <a:t> : </a:t>
            </a:r>
            <a:r>
              <a:rPr lang="en-US" altLang="vi-VN" sz="2200" dirty="0" err="1">
                <a:solidFill>
                  <a:srgbClr val="0000CC"/>
                </a:solidFill>
              </a:rPr>
              <a:t>strcpy</a:t>
            </a:r>
            <a:r>
              <a:rPr lang="en-US" altLang="vi-VN" sz="2200" dirty="0">
                <a:solidFill>
                  <a:srgbClr val="0000CC"/>
                </a:solidFill>
              </a:rPr>
              <a:t>(ten, “Nguyen Van A”); </a:t>
            </a:r>
            <a:r>
              <a:rPr lang="en-US" altLang="vi-VN" sz="2200" dirty="0">
                <a:solidFill>
                  <a:srgbClr val="0000CC"/>
                </a:solidFill>
                <a:sym typeface="Wingdings" panose="05000000000000000000" pitchFamily="2" charset="2"/>
              </a:rPr>
              <a:t> ten = Nguyen Van A</a:t>
            </a:r>
            <a:endParaRPr lang="en-US" altLang="vi-VN" sz="2200" dirty="0">
              <a:solidFill>
                <a:srgbClr val="0000CC"/>
              </a:solidFill>
            </a:endParaRPr>
          </a:p>
          <a:p>
            <a:pPr lvl="1">
              <a:lnSpc>
                <a:spcPct val="90000"/>
              </a:lnSpc>
              <a:buFontTx/>
              <a:buNone/>
            </a:pPr>
            <a:endParaRPr lang="en-US" altLang="vi-VN" sz="2200" dirty="0">
              <a:solidFill>
                <a:srgbClr val="0000CC"/>
              </a:solidFill>
            </a:endParaRPr>
          </a:p>
          <a:p>
            <a:pPr lvl="1">
              <a:lnSpc>
                <a:spcPct val="90000"/>
              </a:lnSpc>
              <a:buFontTx/>
              <a:buNone/>
            </a:pPr>
            <a:endParaRPr lang="en-US" altLang="vi-VN" sz="2200" dirty="0">
              <a:solidFill>
                <a:srgbClr val="0000CC"/>
              </a:solidFill>
            </a:endParaRPr>
          </a:p>
        </p:txBody>
      </p:sp>
      <p:sp>
        <p:nvSpPr>
          <p:cNvPr id="28677" name="Rectangle 4"/>
          <p:cNvSpPr>
            <a:spLocks noChangeArrowheads="1"/>
          </p:cNvSpPr>
          <p:nvPr/>
        </p:nvSpPr>
        <p:spPr bwMode="auto">
          <a:xfrm>
            <a:off x="457200" y="2743200"/>
            <a:ext cx="8458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spcBef>
                <a:spcPct val="20000"/>
              </a:spcBef>
              <a:buClr>
                <a:schemeClr val="tx2"/>
              </a:buClr>
              <a:buFontTx/>
              <a:buChar char="-"/>
            </a:pPr>
            <a:r>
              <a:rPr lang="en-US" altLang="vi-VN" sz="2600" b="1">
                <a:solidFill>
                  <a:srgbClr val="0000CC"/>
                </a:solidFill>
              </a:rPr>
              <a:t>strcat(s1, s2)</a:t>
            </a:r>
          </a:p>
          <a:p>
            <a:pPr lvl="1" algn="l">
              <a:spcBef>
                <a:spcPct val="20000"/>
              </a:spcBef>
              <a:buClr>
                <a:schemeClr val="accent1"/>
              </a:buClr>
            </a:pPr>
            <a:r>
              <a:rPr lang="en-US" altLang="vi-VN" sz="2200">
                <a:solidFill>
                  <a:srgbClr val="0000CC"/>
                </a:solidFill>
              </a:rPr>
              <a:t>N</a:t>
            </a:r>
            <a:r>
              <a:rPr lang="en-US" altLang="vi-VN" sz="2800">
                <a:solidFill>
                  <a:srgbClr val="0000CC"/>
                </a:solidFill>
              </a:rPr>
              <a:t>ối chuỗi s2 vào sau s1</a:t>
            </a:r>
            <a:r>
              <a:rPr lang="en-US" altLang="vi-VN" sz="2200">
                <a:solidFill>
                  <a:srgbClr val="0000CC"/>
                </a:solidFill>
              </a:rPr>
              <a:t>.</a:t>
            </a:r>
          </a:p>
          <a:p>
            <a:pPr lvl="1" algn="l">
              <a:spcBef>
                <a:spcPct val="20000"/>
              </a:spcBef>
              <a:buClr>
                <a:schemeClr val="accent1"/>
              </a:buClr>
            </a:pPr>
            <a:r>
              <a:rPr lang="en-US" altLang="vi-VN" sz="2200">
                <a:solidFill>
                  <a:srgbClr val="0000CC"/>
                </a:solidFill>
              </a:rPr>
              <a:t>Ví dụ : s1 = “abcde”; s2 = ”ghk”</a:t>
            </a:r>
          </a:p>
          <a:p>
            <a:pPr lvl="1" algn="l">
              <a:spcBef>
                <a:spcPct val="20000"/>
              </a:spcBef>
              <a:buClr>
                <a:schemeClr val="accent1"/>
              </a:buClr>
            </a:pPr>
            <a:r>
              <a:rPr lang="en-US" altLang="vi-VN" sz="2200">
                <a:solidFill>
                  <a:srgbClr val="0000CC"/>
                </a:solidFill>
              </a:rPr>
              <a:t>		     strcat(s1, s2) ;  </a:t>
            </a:r>
            <a:r>
              <a:rPr lang="en-US" altLang="vi-VN" sz="2200">
                <a:solidFill>
                  <a:srgbClr val="0000CC"/>
                </a:solidFill>
                <a:sym typeface="Wingdings" panose="05000000000000000000" pitchFamily="2" charset="2"/>
              </a:rPr>
              <a:t> s1=abcdeghk</a:t>
            </a:r>
            <a:r>
              <a:rPr lang="en-US" altLang="vi-VN" sz="2200">
                <a:solidFill>
                  <a:srgbClr val="0000CC"/>
                </a:solidFill>
              </a:rPr>
              <a:t>	</a:t>
            </a:r>
            <a:r>
              <a:rPr lang="en-US" altLang="vi-VN" sz="2200">
                <a:solidFill>
                  <a:srgbClr val="0000CC"/>
                </a:solidFill>
                <a:sym typeface="Wingdings" panose="05000000000000000000" pitchFamily="2" charset="2"/>
              </a:rPr>
              <a:t> </a:t>
            </a:r>
            <a:endParaRPr lang="en-US" altLang="vi-VN" sz="2200">
              <a:solidFill>
                <a:srgbClr val="0000CC"/>
              </a:solidFill>
            </a:endParaRPr>
          </a:p>
          <a:p>
            <a:pPr lvl="1" algn="l">
              <a:spcBef>
                <a:spcPct val="20000"/>
              </a:spcBef>
              <a:buClr>
                <a:schemeClr val="accent1"/>
              </a:buClr>
            </a:pPr>
            <a:r>
              <a:rPr lang="en-US" altLang="vi-VN" sz="2200">
                <a:solidFill>
                  <a:srgbClr val="0000CC"/>
                </a:solidFill>
              </a:rPr>
              <a:t>			</a:t>
            </a:r>
          </a:p>
          <a:p>
            <a:pPr lvl="1" algn="l">
              <a:spcBef>
                <a:spcPct val="20000"/>
              </a:spcBef>
              <a:buClr>
                <a:schemeClr val="accent1"/>
              </a:buClr>
            </a:pPr>
            <a:endParaRPr lang="en-US" altLang="vi-VN" sz="2200">
              <a:solidFill>
                <a:srgbClr val="0000CC"/>
              </a:solidFill>
            </a:endParaRPr>
          </a:p>
        </p:txBody>
      </p:sp>
      <p:sp>
        <p:nvSpPr>
          <p:cNvPr id="28678" name="Rectangle 6"/>
          <p:cNvSpPr>
            <a:spLocks noGrp="1"/>
          </p:cNvSpPr>
          <p:nvPr>
            <p:ph type="title"/>
          </p:nvPr>
        </p:nvSpPr>
        <p:spPr>
          <a:xfrm>
            <a:off x="1796142" y="365126"/>
            <a:ext cx="6719207" cy="897617"/>
          </a:xfrm>
        </p:spPr>
        <p:txBody>
          <a:bodyPr/>
          <a:lstStyle/>
          <a:p>
            <a:r>
              <a:rPr lang="en-US" altLang="vi-VN" b="1" dirty="0" err="1">
                <a:solidFill>
                  <a:srgbClr val="0000CC"/>
                </a:solidFill>
              </a:rPr>
              <a:t>Một</a:t>
            </a:r>
            <a:r>
              <a:rPr lang="en-US" altLang="vi-VN" b="1" dirty="0">
                <a:solidFill>
                  <a:srgbClr val="0000CC"/>
                </a:solidFill>
              </a:rPr>
              <a:t> </a:t>
            </a:r>
            <a:r>
              <a:rPr lang="en-US" altLang="vi-VN" b="1" dirty="0" err="1">
                <a:solidFill>
                  <a:srgbClr val="0000CC"/>
                </a:solidFill>
              </a:rPr>
              <a:t>số</a:t>
            </a:r>
            <a:r>
              <a:rPr lang="en-US" altLang="vi-VN" b="1" dirty="0">
                <a:solidFill>
                  <a:srgbClr val="0000CC"/>
                </a:solidFill>
              </a:rPr>
              <a:t> </a:t>
            </a:r>
            <a:r>
              <a:rPr lang="en-US" altLang="vi-VN" b="1" dirty="0" err="1">
                <a:solidFill>
                  <a:srgbClr val="0000CC"/>
                </a:solidFill>
              </a:rPr>
              <a:t>hàm</a:t>
            </a:r>
            <a:r>
              <a:rPr lang="en-US" altLang="vi-VN" b="1" dirty="0">
                <a:solidFill>
                  <a:srgbClr val="0000CC"/>
                </a:solidFill>
              </a:rPr>
              <a:t> </a:t>
            </a:r>
            <a:r>
              <a:rPr lang="en-US" altLang="vi-VN" b="1" dirty="0" err="1">
                <a:solidFill>
                  <a:srgbClr val="0000CC"/>
                </a:solidFill>
              </a:rPr>
              <a:t>về</a:t>
            </a:r>
            <a:r>
              <a:rPr lang="en-US" altLang="vi-VN" b="1" dirty="0">
                <a:solidFill>
                  <a:srgbClr val="0000CC"/>
                </a:solidFill>
              </a:rPr>
              <a:t> </a:t>
            </a:r>
            <a:r>
              <a:rPr lang="en-US" altLang="vi-VN" b="1" dirty="0" err="1">
                <a:solidFill>
                  <a:srgbClr val="0000CC"/>
                </a:solidFill>
              </a:rPr>
              <a:t>chuỗi</a:t>
            </a:r>
            <a:endParaRPr lang="en-US" altLang="vi-VN" b="1" dirty="0">
              <a:solidFill>
                <a:srgbClr val="0000CC"/>
              </a:solidFill>
            </a:endParaRPr>
          </a:p>
        </p:txBody>
      </p:sp>
    </p:spTree>
    <p:extLst>
      <p:ext uri="{BB962C8B-B14F-4D97-AF65-F5344CB8AC3E}">
        <p14:creationId xmlns:p14="http://schemas.microsoft.com/office/powerpoint/2010/main" val="1072460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8"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385CF0-CDC6-49A9-9B0A-807705046B97}" type="slidenum">
              <a:rPr lang="en-US" altLang="vi-VN">
                <a:solidFill>
                  <a:srgbClr val="FFFF00"/>
                </a:solidFill>
              </a:rPr>
              <a:pPr eaLnBrk="1" hangingPunct="1"/>
              <a:t>37</a:t>
            </a:fld>
            <a:endParaRPr lang="en-GB" altLang="vi-VN">
              <a:solidFill>
                <a:srgbClr val="FFFF00"/>
              </a:solidFill>
            </a:endParaRPr>
          </a:p>
        </p:txBody>
      </p:sp>
      <p:sp>
        <p:nvSpPr>
          <p:cNvPr id="29700" name="Rectangle 2"/>
          <p:cNvSpPr>
            <a:spLocks noGrp="1" noChangeArrowheads="1"/>
          </p:cNvSpPr>
          <p:nvPr>
            <p:ph type="body" idx="1"/>
          </p:nvPr>
        </p:nvSpPr>
        <p:spPr>
          <a:xfrm>
            <a:off x="457200" y="1076325"/>
            <a:ext cx="8305800" cy="981075"/>
          </a:xfrm>
        </p:spPr>
        <p:txBody>
          <a:bodyPr/>
          <a:lstStyle/>
          <a:p>
            <a:pPr>
              <a:lnSpc>
                <a:spcPct val="90000"/>
              </a:lnSpc>
              <a:buFontTx/>
              <a:buChar char="-"/>
            </a:pPr>
            <a:r>
              <a:rPr lang="en-US" altLang="vi-VN" sz="2600" b="1" dirty="0">
                <a:solidFill>
                  <a:srgbClr val="0000CC"/>
                </a:solidFill>
              </a:rPr>
              <a:t>   </a:t>
            </a:r>
            <a:r>
              <a:rPr lang="en-US" altLang="vi-VN" sz="2600" b="1" dirty="0" err="1">
                <a:solidFill>
                  <a:srgbClr val="0000CC"/>
                </a:solidFill>
              </a:rPr>
              <a:t>toupper</a:t>
            </a:r>
            <a:r>
              <a:rPr lang="en-US" altLang="vi-VN" sz="2600" b="1" dirty="0">
                <a:solidFill>
                  <a:srgbClr val="0000CC"/>
                </a:solidFill>
              </a:rPr>
              <a:t>(</a:t>
            </a:r>
            <a:r>
              <a:rPr lang="en-US" altLang="vi-VN" sz="2600" b="1" dirty="0" err="1">
                <a:solidFill>
                  <a:srgbClr val="FF0000"/>
                </a:solidFill>
              </a:rPr>
              <a:t>ch</a:t>
            </a:r>
            <a:r>
              <a:rPr lang="en-US" altLang="vi-VN" sz="2600" b="1" dirty="0">
                <a:solidFill>
                  <a:srgbClr val="0000CC"/>
                </a:solidFill>
              </a:rPr>
              <a:t>)</a:t>
            </a:r>
          </a:p>
          <a:p>
            <a:pPr lvl="1">
              <a:lnSpc>
                <a:spcPct val="90000"/>
              </a:lnSpc>
              <a:buFontTx/>
              <a:buNone/>
            </a:pPr>
            <a:r>
              <a:rPr lang="en-US" altLang="vi-VN" sz="2200" dirty="0" err="1">
                <a:solidFill>
                  <a:srgbClr val="0000CC"/>
                </a:solidFill>
              </a:rPr>
              <a:t>Đổi</a:t>
            </a:r>
            <a:r>
              <a:rPr lang="en-US" altLang="vi-VN" sz="2200" dirty="0">
                <a:solidFill>
                  <a:srgbClr val="0000CC"/>
                </a:solidFill>
              </a:rPr>
              <a:t> </a:t>
            </a:r>
            <a:r>
              <a:rPr lang="en-US" altLang="vi-VN" sz="2200" dirty="0" err="1">
                <a:solidFill>
                  <a:srgbClr val="0000CC"/>
                </a:solidFill>
              </a:rPr>
              <a:t>ký</a:t>
            </a:r>
            <a:r>
              <a:rPr lang="en-US" altLang="vi-VN" sz="2200" dirty="0">
                <a:solidFill>
                  <a:srgbClr val="0000CC"/>
                </a:solidFill>
              </a:rPr>
              <a:t> </a:t>
            </a:r>
            <a:r>
              <a:rPr lang="en-US" altLang="vi-VN" sz="2200" err="1">
                <a:solidFill>
                  <a:srgbClr val="0000CC"/>
                </a:solidFill>
              </a:rPr>
              <a:t>tự</a:t>
            </a:r>
            <a:r>
              <a:rPr lang="en-US" altLang="vi-VN" sz="2200">
                <a:solidFill>
                  <a:srgbClr val="0000CC"/>
                </a:solidFill>
              </a:rPr>
              <a:t> </a:t>
            </a:r>
            <a:r>
              <a:rPr lang="en-US" altLang="vi-VN" sz="2600" b="1">
                <a:solidFill>
                  <a:srgbClr val="FF0000"/>
                </a:solidFill>
              </a:rPr>
              <a:t>ch</a:t>
            </a:r>
            <a:r>
              <a:rPr lang="en-US" altLang="vi-VN" sz="2200">
                <a:solidFill>
                  <a:srgbClr val="0000CC"/>
                </a:solidFill>
              </a:rPr>
              <a:t> </a:t>
            </a:r>
            <a:r>
              <a:rPr lang="en-US" altLang="vi-VN" sz="2200" dirty="0" err="1">
                <a:solidFill>
                  <a:srgbClr val="0000CC"/>
                </a:solidFill>
              </a:rPr>
              <a:t>thành</a:t>
            </a:r>
            <a:r>
              <a:rPr lang="en-US" altLang="vi-VN" sz="2200" dirty="0">
                <a:solidFill>
                  <a:srgbClr val="0000CC"/>
                </a:solidFill>
              </a:rPr>
              <a:t> </a:t>
            </a:r>
            <a:r>
              <a:rPr lang="en-US" altLang="vi-VN" sz="2200" err="1">
                <a:solidFill>
                  <a:srgbClr val="0000CC"/>
                </a:solidFill>
              </a:rPr>
              <a:t>chữ</a:t>
            </a:r>
            <a:r>
              <a:rPr lang="en-US" altLang="vi-VN" sz="2200">
                <a:solidFill>
                  <a:srgbClr val="0000CC"/>
                </a:solidFill>
              </a:rPr>
              <a:t> in hoa</a:t>
            </a:r>
            <a:endParaRPr lang="en-US" altLang="vi-VN" sz="2200" dirty="0">
              <a:solidFill>
                <a:srgbClr val="0000CC"/>
              </a:solidFill>
            </a:endParaRPr>
          </a:p>
          <a:p>
            <a:pPr lvl="1">
              <a:lnSpc>
                <a:spcPct val="90000"/>
              </a:lnSpc>
              <a:buFontTx/>
              <a:buNone/>
            </a:pPr>
            <a:endParaRPr lang="en-US" altLang="vi-VN" sz="2200" dirty="0">
              <a:solidFill>
                <a:srgbClr val="0000CC"/>
              </a:solidFill>
            </a:endParaRPr>
          </a:p>
        </p:txBody>
      </p:sp>
      <p:sp>
        <p:nvSpPr>
          <p:cNvPr id="29701" name="Rectangle 3"/>
          <p:cNvSpPr>
            <a:spLocks noChangeArrowheads="1"/>
          </p:cNvSpPr>
          <p:nvPr/>
        </p:nvSpPr>
        <p:spPr bwMode="auto">
          <a:xfrm>
            <a:off x="419100" y="2768599"/>
            <a:ext cx="830580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0000"/>
              </a:lnSpc>
              <a:spcBef>
                <a:spcPct val="20000"/>
              </a:spcBef>
              <a:buClr>
                <a:schemeClr val="tx2"/>
              </a:buClr>
              <a:buFontTx/>
              <a:buChar char="-"/>
            </a:pPr>
            <a:r>
              <a:rPr lang="en-US" altLang="vi-VN" sz="2600" b="1" dirty="0">
                <a:solidFill>
                  <a:srgbClr val="0000CC"/>
                </a:solidFill>
                <a:latin typeface="Tahoma" panose="020B0604030504040204" pitchFamily="34" charset="0"/>
              </a:rPr>
              <a:t> </a:t>
            </a:r>
            <a:r>
              <a:rPr lang="en-US" altLang="vi-VN" sz="2600" b="1" dirty="0" err="1">
                <a:solidFill>
                  <a:srgbClr val="0000CC"/>
                </a:solidFill>
                <a:latin typeface="Tahoma" panose="020B0604030504040204" pitchFamily="34" charset="0"/>
              </a:rPr>
              <a:t>tolower</a:t>
            </a:r>
            <a:r>
              <a:rPr lang="en-US" altLang="vi-VN" sz="2600" b="1" dirty="0">
                <a:solidFill>
                  <a:srgbClr val="0000CC"/>
                </a:solidFill>
                <a:latin typeface="Tahoma" panose="020B0604030504040204" pitchFamily="34" charset="0"/>
              </a:rPr>
              <a:t>(</a:t>
            </a:r>
            <a:r>
              <a:rPr lang="en-US" altLang="vi-VN" sz="2600" b="1" dirty="0" err="1">
                <a:solidFill>
                  <a:srgbClr val="0000CC"/>
                </a:solidFill>
                <a:latin typeface="Tahoma" panose="020B0604030504040204" pitchFamily="34" charset="0"/>
              </a:rPr>
              <a:t>ch</a:t>
            </a:r>
            <a:r>
              <a:rPr lang="en-US" altLang="vi-VN" sz="2600" b="1" dirty="0">
                <a:solidFill>
                  <a:srgbClr val="0000CC"/>
                </a:solidFill>
                <a:latin typeface="Tahoma" panose="020B0604030504040204" pitchFamily="34" charset="0"/>
              </a:rPr>
              <a:t>)</a:t>
            </a:r>
          </a:p>
          <a:p>
            <a:pPr lvl="1" algn="l">
              <a:lnSpc>
                <a:spcPct val="90000"/>
              </a:lnSpc>
              <a:spcBef>
                <a:spcPct val="20000"/>
              </a:spcBef>
              <a:buClr>
                <a:schemeClr val="accent1"/>
              </a:buClr>
            </a:pPr>
            <a:r>
              <a:rPr lang="en-US" altLang="vi-VN" sz="2200" dirty="0" err="1">
                <a:solidFill>
                  <a:srgbClr val="0000CC"/>
                </a:solidFill>
                <a:latin typeface="Tahoma" panose="020B0604030504040204" pitchFamily="34" charset="0"/>
              </a:rPr>
              <a:t>Đổi</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err="1">
                <a:solidFill>
                  <a:srgbClr val="0000CC"/>
                </a:solidFill>
                <a:latin typeface="Tahoma" panose="020B0604030504040204" pitchFamily="34" charset="0"/>
              </a:rPr>
              <a:t>tự</a:t>
            </a:r>
            <a:r>
              <a:rPr lang="en-US" altLang="vi-VN" sz="2200">
                <a:solidFill>
                  <a:srgbClr val="0000CC"/>
                </a:solidFill>
                <a:latin typeface="Tahoma" panose="020B0604030504040204" pitchFamily="34" charset="0"/>
              </a:rPr>
              <a:t> </a:t>
            </a:r>
            <a:r>
              <a:rPr lang="en-US" altLang="vi-VN" sz="2200" b="1">
                <a:solidFill>
                  <a:srgbClr val="FF0000"/>
                </a:solidFill>
                <a:latin typeface="Tahoma" panose="020B0604030504040204" pitchFamily="34" charset="0"/>
              </a:rPr>
              <a:t>ch</a:t>
            </a:r>
            <a:r>
              <a:rPr lang="en-US" altLang="vi-VN" sz="220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th</a:t>
            </a:r>
            <a:r>
              <a:rPr lang="en-US" altLang="vi-VN" sz="2200" dirty="0" err="1">
                <a:solidFill>
                  <a:srgbClr val="0000CC"/>
                </a:solidFill>
              </a:rPr>
              <a:t>à</a:t>
            </a:r>
            <a:r>
              <a:rPr lang="en-US" altLang="vi-VN" sz="2200" dirty="0" err="1">
                <a:solidFill>
                  <a:srgbClr val="0000CC"/>
                </a:solidFill>
                <a:latin typeface="Tahoma" panose="020B0604030504040204" pitchFamily="34" charset="0"/>
              </a:rPr>
              <a:t>nh</a:t>
            </a:r>
            <a:r>
              <a:rPr lang="en-US" altLang="vi-VN" sz="2200" dirty="0">
                <a:solidFill>
                  <a:srgbClr val="0000CC"/>
                </a:solidFill>
                <a:latin typeface="Tahoma" panose="020B0604030504040204" pitchFamily="34" charset="0"/>
              </a:rPr>
              <a:t> </a:t>
            </a:r>
            <a:r>
              <a:rPr lang="en-US" altLang="vi-VN" sz="2200" err="1">
                <a:solidFill>
                  <a:srgbClr val="0000CC"/>
                </a:solidFill>
                <a:latin typeface="Tahoma" panose="020B0604030504040204" pitchFamily="34" charset="0"/>
              </a:rPr>
              <a:t>chữ</a:t>
            </a:r>
            <a:r>
              <a:rPr lang="en-US" altLang="vi-VN" sz="2200">
                <a:solidFill>
                  <a:srgbClr val="0000CC"/>
                </a:solidFill>
                <a:latin typeface="Tahoma" panose="020B0604030504040204" pitchFamily="34" charset="0"/>
              </a:rPr>
              <a:t> in thường</a:t>
            </a:r>
            <a:endParaRPr lang="en-US" altLang="vi-VN" sz="2200" dirty="0">
              <a:solidFill>
                <a:srgbClr val="0000CC"/>
              </a:solidFill>
              <a:latin typeface="Tahoma" panose="020B0604030504040204" pitchFamily="34" charset="0"/>
            </a:endParaRPr>
          </a:p>
          <a:p>
            <a:pPr lvl="1" algn="l">
              <a:lnSpc>
                <a:spcPct val="90000"/>
              </a:lnSpc>
              <a:spcBef>
                <a:spcPct val="20000"/>
              </a:spcBef>
              <a:buClr>
                <a:schemeClr val="accent1"/>
              </a:buClr>
            </a:pPr>
            <a:endParaRPr lang="en-US" altLang="vi-VN" sz="2200" dirty="0">
              <a:solidFill>
                <a:srgbClr val="0000CC"/>
              </a:solidFill>
              <a:latin typeface="Tahoma" panose="020B0604030504040204" pitchFamily="34" charset="0"/>
            </a:endParaRPr>
          </a:p>
        </p:txBody>
      </p:sp>
      <p:sp>
        <p:nvSpPr>
          <p:cNvPr id="29702" name="Rectangle 4"/>
          <p:cNvSpPr>
            <a:spLocks noChangeArrowheads="1"/>
          </p:cNvSpPr>
          <p:nvPr/>
        </p:nvSpPr>
        <p:spPr bwMode="auto">
          <a:xfrm>
            <a:off x="419100" y="1904319"/>
            <a:ext cx="83058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0000"/>
              </a:lnSpc>
              <a:spcBef>
                <a:spcPct val="20000"/>
              </a:spcBef>
              <a:buClr>
                <a:schemeClr val="tx2"/>
              </a:buClr>
              <a:buFontTx/>
              <a:buChar char="-"/>
            </a:pPr>
            <a:r>
              <a:rPr lang="en-US" altLang="vi-VN" sz="2600" b="1" dirty="0">
                <a:solidFill>
                  <a:srgbClr val="0000CC"/>
                </a:solidFill>
              </a:rPr>
              <a:t> </a:t>
            </a:r>
            <a:r>
              <a:rPr lang="en-US" altLang="vi-VN" sz="2600" b="1" dirty="0" err="1">
                <a:solidFill>
                  <a:srgbClr val="0000CC"/>
                </a:solidFill>
              </a:rPr>
              <a:t>isupper</a:t>
            </a:r>
            <a:r>
              <a:rPr lang="en-US" altLang="vi-VN" sz="2600" b="1" dirty="0">
                <a:solidFill>
                  <a:srgbClr val="0000CC"/>
                </a:solidFill>
              </a:rPr>
              <a:t>(</a:t>
            </a:r>
            <a:r>
              <a:rPr lang="en-US" altLang="vi-VN" sz="2600" b="1" dirty="0" err="1">
                <a:solidFill>
                  <a:srgbClr val="FF0000"/>
                </a:solidFill>
                <a:latin typeface="+mn-lt"/>
                <a:cs typeface="+mn-cs"/>
              </a:rPr>
              <a:t>ch</a:t>
            </a:r>
            <a:r>
              <a:rPr lang="en-US" altLang="vi-VN" sz="2600" b="1" dirty="0">
                <a:solidFill>
                  <a:srgbClr val="0000CC"/>
                </a:solidFill>
              </a:rPr>
              <a:t>)</a:t>
            </a:r>
          </a:p>
          <a:p>
            <a:pPr lvl="1" algn="l">
              <a:lnSpc>
                <a:spcPct val="90000"/>
              </a:lnSpc>
              <a:spcBef>
                <a:spcPct val="20000"/>
              </a:spcBef>
              <a:buClr>
                <a:schemeClr val="accent1"/>
              </a:buClr>
            </a:pPr>
            <a:r>
              <a:rPr lang="en-US" altLang="vi-VN" sz="2200" dirty="0" err="1">
                <a:solidFill>
                  <a:srgbClr val="0000CC"/>
                </a:solidFill>
              </a:rPr>
              <a:t>Kiểm</a:t>
            </a:r>
            <a:r>
              <a:rPr lang="en-US" altLang="vi-VN" sz="2200" dirty="0">
                <a:solidFill>
                  <a:srgbClr val="0000CC"/>
                </a:solidFill>
              </a:rPr>
              <a:t> </a:t>
            </a:r>
            <a:r>
              <a:rPr lang="en-US" altLang="vi-VN" sz="2200" dirty="0" err="1">
                <a:solidFill>
                  <a:srgbClr val="0000CC"/>
                </a:solidFill>
              </a:rPr>
              <a:t>tra</a:t>
            </a:r>
            <a:r>
              <a:rPr lang="en-US" altLang="vi-VN" sz="2200" dirty="0">
                <a:solidFill>
                  <a:srgbClr val="0000CC"/>
                </a:solidFill>
              </a:rPr>
              <a:t> </a:t>
            </a:r>
            <a:r>
              <a:rPr lang="en-US" altLang="vi-VN" sz="2200" dirty="0" err="1">
                <a:solidFill>
                  <a:srgbClr val="0000CC"/>
                </a:solidFill>
              </a:rPr>
              <a:t>ký</a:t>
            </a:r>
            <a:r>
              <a:rPr lang="en-US" altLang="vi-VN" sz="2200" dirty="0">
                <a:solidFill>
                  <a:srgbClr val="0000CC"/>
                </a:solidFill>
              </a:rPr>
              <a:t> </a:t>
            </a:r>
            <a:r>
              <a:rPr lang="en-US" altLang="vi-VN" sz="2200" err="1">
                <a:solidFill>
                  <a:srgbClr val="0000CC"/>
                </a:solidFill>
              </a:rPr>
              <a:t>tự</a:t>
            </a:r>
            <a:r>
              <a:rPr lang="en-US" altLang="vi-VN" sz="2200">
                <a:solidFill>
                  <a:srgbClr val="0000CC"/>
                </a:solidFill>
              </a:rPr>
              <a:t> </a:t>
            </a:r>
            <a:r>
              <a:rPr lang="en-US" altLang="vi-VN" sz="2600" b="1">
                <a:solidFill>
                  <a:srgbClr val="FF0000"/>
                </a:solidFill>
                <a:latin typeface="+mn-lt"/>
                <a:cs typeface="+mn-cs"/>
              </a:rPr>
              <a:t>ch</a:t>
            </a:r>
            <a:r>
              <a:rPr lang="en-US" altLang="vi-VN" sz="2200">
                <a:solidFill>
                  <a:srgbClr val="0000CC"/>
                </a:solidFill>
              </a:rPr>
              <a:t> </a:t>
            </a:r>
            <a:r>
              <a:rPr lang="en-US" altLang="vi-VN" sz="2200" dirty="0" err="1">
                <a:solidFill>
                  <a:srgbClr val="0000CC"/>
                </a:solidFill>
              </a:rPr>
              <a:t>có</a:t>
            </a:r>
            <a:r>
              <a:rPr lang="en-US" altLang="vi-VN" sz="2200" dirty="0">
                <a:solidFill>
                  <a:srgbClr val="0000CC"/>
                </a:solidFill>
              </a:rPr>
              <a:t> </a:t>
            </a:r>
            <a:r>
              <a:rPr lang="en-US" altLang="vi-VN" sz="2200" dirty="0" err="1">
                <a:solidFill>
                  <a:srgbClr val="0000CC"/>
                </a:solidFill>
              </a:rPr>
              <a:t>phải</a:t>
            </a:r>
            <a:r>
              <a:rPr lang="en-US" altLang="vi-VN" sz="2200" dirty="0">
                <a:solidFill>
                  <a:srgbClr val="0000CC"/>
                </a:solidFill>
              </a:rPr>
              <a:t> </a:t>
            </a:r>
            <a:r>
              <a:rPr lang="en-US" altLang="vi-VN" sz="2200" dirty="0" err="1">
                <a:solidFill>
                  <a:srgbClr val="0000CC"/>
                </a:solidFill>
              </a:rPr>
              <a:t>là</a:t>
            </a:r>
            <a:r>
              <a:rPr lang="en-US" altLang="vi-VN" sz="2200" dirty="0">
                <a:solidFill>
                  <a:srgbClr val="0000CC"/>
                </a:solidFill>
              </a:rPr>
              <a:t> </a:t>
            </a:r>
            <a:r>
              <a:rPr lang="en-US" altLang="vi-VN" sz="2200" err="1">
                <a:solidFill>
                  <a:srgbClr val="0000CC"/>
                </a:solidFill>
              </a:rPr>
              <a:t>chữ</a:t>
            </a:r>
            <a:r>
              <a:rPr lang="en-US" altLang="vi-VN" sz="2200">
                <a:solidFill>
                  <a:srgbClr val="0000CC"/>
                </a:solidFill>
              </a:rPr>
              <a:t> in hoa không?</a:t>
            </a:r>
            <a:endParaRPr lang="en-US" altLang="vi-VN" sz="2200" dirty="0">
              <a:solidFill>
                <a:srgbClr val="0000CC"/>
              </a:solidFill>
            </a:endParaRPr>
          </a:p>
          <a:p>
            <a:pPr lvl="1" algn="l">
              <a:lnSpc>
                <a:spcPct val="90000"/>
              </a:lnSpc>
              <a:spcBef>
                <a:spcPct val="20000"/>
              </a:spcBef>
              <a:buClr>
                <a:schemeClr val="accent1"/>
              </a:buClr>
            </a:pPr>
            <a:endParaRPr lang="en-US" altLang="vi-VN" sz="2600" b="1" dirty="0">
              <a:solidFill>
                <a:srgbClr val="FF0000"/>
              </a:solidFill>
              <a:latin typeface="+mn-lt"/>
              <a:cs typeface="+mn-cs"/>
            </a:endParaRPr>
          </a:p>
        </p:txBody>
      </p:sp>
      <p:sp>
        <p:nvSpPr>
          <p:cNvPr id="29703" name="Rectangle 5"/>
          <p:cNvSpPr>
            <a:spLocks noChangeArrowheads="1"/>
          </p:cNvSpPr>
          <p:nvPr/>
        </p:nvSpPr>
        <p:spPr bwMode="auto">
          <a:xfrm>
            <a:off x="419100" y="3713389"/>
            <a:ext cx="8305800" cy="92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0000"/>
              </a:lnSpc>
              <a:spcBef>
                <a:spcPct val="20000"/>
              </a:spcBef>
              <a:buClr>
                <a:schemeClr val="tx2"/>
              </a:buClr>
              <a:buFontTx/>
              <a:buChar char="-"/>
            </a:pPr>
            <a:r>
              <a:rPr lang="en-US" altLang="vi-VN" sz="2600" b="1" dirty="0">
                <a:solidFill>
                  <a:srgbClr val="0000CC"/>
                </a:solidFill>
                <a:latin typeface="Tahoma" panose="020B0604030504040204" pitchFamily="34" charset="0"/>
              </a:rPr>
              <a:t> </a:t>
            </a:r>
            <a:r>
              <a:rPr lang="en-US" altLang="vi-VN" sz="2600" b="1" dirty="0" err="1">
                <a:solidFill>
                  <a:srgbClr val="0000CC"/>
                </a:solidFill>
                <a:latin typeface="Tahoma" panose="020B0604030504040204" pitchFamily="34" charset="0"/>
              </a:rPr>
              <a:t>islower</a:t>
            </a:r>
            <a:r>
              <a:rPr lang="en-US" altLang="vi-VN" sz="2600" b="1" dirty="0">
                <a:solidFill>
                  <a:srgbClr val="0000CC"/>
                </a:solidFill>
                <a:latin typeface="Tahoma" panose="020B0604030504040204" pitchFamily="34" charset="0"/>
              </a:rPr>
              <a:t>(</a:t>
            </a:r>
            <a:r>
              <a:rPr lang="en-US" altLang="vi-VN" sz="2600" b="1" dirty="0" err="1">
                <a:solidFill>
                  <a:srgbClr val="0000CC"/>
                </a:solidFill>
                <a:latin typeface="Tahoma" panose="020B0604030504040204" pitchFamily="34" charset="0"/>
              </a:rPr>
              <a:t>ch</a:t>
            </a:r>
            <a:r>
              <a:rPr lang="en-US" altLang="vi-VN" sz="2600" b="1" dirty="0">
                <a:solidFill>
                  <a:srgbClr val="0000CC"/>
                </a:solidFill>
                <a:latin typeface="Tahoma" panose="020B0604030504040204" pitchFamily="34" charset="0"/>
              </a:rPr>
              <a:t>)</a:t>
            </a:r>
          </a:p>
          <a:p>
            <a:pPr lvl="1" algn="l">
              <a:lnSpc>
                <a:spcPct val="90000"/>
              </a:lnSpc>
              <a:spcBef>
                <a:spcPct val="20000"/>
              </a:spcBef>
              <a:buClr>
                <a:schemeClr val="accent1"/>
              </a:buClr>
            </a:pPr>
            <a:r>
              <a:rPr lang="en-US" altLang="vi-VN" sz="2200" dirty="0" err="1">
                <a:solidFill>
                  <a:srgbClr val="0000CC"/>
                </a:solidFill>
                <a:latin typeface="Tahoma" panose="020B0604030504040204" pitchFamily="34" charset="0"/>
              </a:rPr>
              <a:t>Kiểm</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tra</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err="1">
                <a:solidFill>
                  <a:srgbClr val="0000CC"/>
                </a:solidFill>
                <a:latin typeface="Tahoma" panose="020B0604030504040204" pitchFamily="34" charset="0"/>
              </a:rPr>
              <a:t>tự</a:t>
            </a:r>
            <a:r>
              <a:rPr lang="en-US" altLang="vi-VN" sz="2200">
                <a:solidFill>
                  <a:srgbClr val="0000CC"/>
                </a:solidFill>
                <a:latin typeface="Tahoma" panose="020B0604030504040204" pitchFamily="34" charset="0"/>
              </a:rPr>
              <a:t> ch c</a:t>
            </a:r>
            <a:r>
              <a:rPr lang="en-US" altLang="vi-VN" sz="2200">
                <a:solidFill>
                  <a:srgbClr val="0000CC"/>
                </a:solidFill>
              </a:rPr>
              <a:t>ó</a:t>
            </a:r>
            <a:r>
              <a:rPr lang="en-US" altLang="vi-VN" sz="220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phải</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l</a:t>
            </a:r>
            <a:r>
              <a:rPr lang="en-US" altLang="vi-VN" sz="2200" dirty="0" err="1">
                <a:solidFill>
                  <a:srgbClr val="0000CC"/>
                </a:solidFill>
              </a:rPr>
              <a:t>à</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chữ</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thường</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không</a:t>
            </a:r>
            <a:endParaRPr lang="en-US" altLang="vi-VN" sz="2200" dirty="0">
              <a:solidFill>
                <a:srgbClr val="0000CC"/>
              </a:solidFill>
              <a:latin typeface="Tahoma" panose="020B0604030504040204" pitchFamily="34" charset="0"/>
            </a:endParaRPr>
          </a:p>
          <a:p>
            <a:pPr lvl="1" algn="l">
              <a:lnSpc>
                <a:spcPct val="90000"/>
              </a:lnSpc>
              <a:spcBef>
                <a:spcPct val="20000"/>
              </a:spcBef>
              <a:buClr>
                <a:schemeClr val="accent1"/>
              </a:buClr>
            </a:pPr>
            <a:endParaRPr lang="en-US" altLang="vi-VN" sz="2200" dirty="0">
              <a:solidFill>
                <a:srgbClr val="0000CC"/>
              </a:solidFill>
              <a:latin typeface="Tahoma" panose="020B0604030504040204" pitchFamily="34" charset="0"/>
            </a:endParaRPr>
          </a:p>
        </p:txBody>
      </p:sp>
      <p:sp>
        <p:nvSpPr>
          <p:cNvPr id="29704" name="Rectangle 6"/>
          <p:cNvSpPr>
            <a:spLocks noGrp="1"/>
          </p:cNvSpPr>
          <p:nvPr>
            <p:ph type="title"/>
          </p:nvPr>
        </p:nvSpPr>
        <p:spPr>
          <a:xfrm>
            <a:off x="1872342" y="365126"/>
            <a:ext cx="6643007" cy="810531"/>
          </a:xfrm>
        </p:spPr>
        <p:txBody>
          <a:bodyPr/>
          <a:lstStyle/>
          <a:p>
            <a:r>
              <a:rPr lang="en-US" altLang="vi-VN" b="1" dirty="0" err="1">
                <a:solidFill>
                  <a:srgbClr val="0000CC"/>
                </a:solidFill>
              </a:rPr>
              <a:t>Một</a:t>
            </a:r>
            <a:r>
              <a:rPr lang="en-US" altLang="vi-VN" b="1" dirty="0">
                <a:solidFill>
                  <a:srgbClr val="0000CC"/>
                </a:solidFill>
              </a:rPr>
              <a:t> </a:t>
            </a:r>
            <a:r>
              <a:rPr lang="en-US" altLang="vi-VN" b="1" dirty="0" err="1">
                <a:solidFill>
                  <a:srgbClr val="0000CC"/>
                </a:solidFill>
              </a:rPr>
              <a:t>số</a:t>
            </a:r>
            <a:r>
              <a:rPr lang="en-US" altLang="vi-VN" b="1" dirty="0">
                <a:solidFill>
                  <a:srgbClr val="0000CC"/>
                </a:solidFill>
              </a:rPr>
              <a:t> </a:t>
            </a:r>
            <a:r>
              <a:rPr lang="en-US" altLang="vi-VN" b="1" dirty="0" err="1">
                <a:solidFill>
                  <a:srgbClr val="0000CC"/>
                </a:solidFill>
              </a:rPr>
              <a:t>hàm</a:t>
            </a:r>
            <a:r>
              <a:rPr lang="en-US" altLang="vi-VN" b="1" dirty="0">
                <a:solidFill>
                  <a:srgbClr val="0000CC"/>
                </a:solidFill>
              </a:rPr>
              <a:t> </a:t>
            </a:r>
            <a:r>
              <a:rPr lang="en-US" altLang="vi-VN" b="1" dirty="0" err="1">
                <a:solidFill>
                  <a:srgbClr val="0000CC"/>
                </a:solidFill>
              </a:rPr>
              <a:t>về</a:t>
            </a:r>
            <a:r>
              <a:rPr lang="en-US" altLang="vi-VN" b="1" dirty="0">
                <a:solidFill>
                  <a:srgbClr val="0000CC"/>
                </a:solidFill>
              </a:rPr>
              <a:t> </a:t>
            </a:r>
            <a:r>
              <a:rPr lang="en-US" altLang="vi-VN" b="1" dirty="0" err="1">
                <a:solidFill>
                  <a:srgbClr val="0000CC"/>
                </a:solidFill>
              </a:rPr>
              <a:t>ký</a:t>
            </a:r>
            <a:r>
              <a:rPr lang="en-US" altLang="vi-VN" b="1" dirty="0">
                <a:solidFill>
                  <a:srgbClr val="0000CC"/>
                </a:solidFill>
              </a:rPr>
              <a:t> </a:t>
            </a:r>
            <a:r>
              <a:rPr lang="en-US" altLang="vi-VN" b="1" dirty="0" err="1">
                <a:solidFill>
                  <a:srgbClr val="0000CC"/>
                </a:solidFill>
              </a:rPr>
              <a:t>tự</a:t>
            </a:r>
            <a:endParaRPr lang="en-US" altLang="vi-VN" b="1" dirty="0">
              <a:solidFill>
                <a:srgbClr val="0000CC"/>
              </a:solidFill>
            </a:endParaRPr>
          </a:p>
        </p:txBody>
      </p:sp>
      <p:sp>
        <p:nvSpPr>
          <p:cNvPr id="9" name="Rectangle 5"/>
          <p:cNvSpPr>
            <a:spLocks noChangeArrowheads="1"/>
          </p:cNvSpPr>
          <p:nvPr/>
        </p:nvSpPr>
        <p:spPr bwMode="auto">
          <a:xfrm>
            <a:off x="419100" y="4572906"/>
            <a:ext cx="8305800" cy="92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0000"/>
              </a:lnSpc>
              <a:spcBef>
                <a:spcPct val="20000"/>
              </a:spcBef>
              <a:buClr>
                <a:schemeClr val="tx2"/>
              </a:buClr>
              <a:buFontTx/>
              <a:buChar char="-"/>
            </a:pPr>
            <a:r>
              <a:rPr lang="en-US" altLang="vi-VN" sz="2600" dirty="0">
                <a:solidFill>
                  <a:srgbClr val="0000CC"/>
                </a:solidFill>
                <a:latin typeface="Tahoma" panose="020B0604030504040204" pitchFamily="34" charset="0"/>
              </a:rPr>
              <a:t> </a:t>
            </a:r>
            <a:r>
              <a:rPr lang="en-US" altLang="vi-VN" sz="2600" b="1" dirty="0" err="1">
                <a:solidFill>
                  <a:srgbClr val="0000CC"/>
                </a:solidFill>
                <a:latin typeface="Tahoma" panose="020B0604030504040204" pitchFamily="34" charset="0"/>
              </a:rPr>
              <a:t>isdigit</a:t>
            </a:r>
            <a:r>
              <a:rPr lang="en-US" altLang="vi-VN" sz="2600" b="1" dirty="0">
                <a:solidFill>
                  <a:srgbClr val="0000CC"/>
                </a:solidFill>
                <a:latin typeface="Tahoma" panose="020B0604030504040204" pitchFamily="34" charset="0"/>
              </a:rPr>
              <a:t>(</a:t>
            </a:r>
            <a:r>
              <a:rPr lang="en-US" altLang="vi-VN" sz="2600" b="1" dirty="0" err="1">
                <a:solidFill>
                  <a:srgbClr val="0000CC"/>
                </a:solidFill>
                <a:latin typeface="Tahoma" panose="020B0604030504040204" pitchFamily="34" charset="0"/>
              </a:rPr>
              <a:t>ch</a:t>
            </a:r>
            <a:r>
              <a:rPr lang="en-US" altLang="vi-VN" sz="2600" b="1" dirty="0">
                <a:solidFill>
                  <a:srgbClr val="0000CC"/>
                </a:solidFill>
                <a:latin typeface="Tahoma" panose="020B0604030504040204" pitchFamily="34" charset="0"/>
              </a:rPr>
              <a:t>)</a:t>
            </a:r>
          </a:p>
          <a:p>
            <a:pPr lvl="1" algn="l">
              <a:lnSpc>
                <a:spcPct val="90000"/>
              </a:lnSpc>
              <a:spcBef>
                <a:spcPct val="20000"/>
              </a:spcBef>
              <a:buClr>
                <a:schemeClr val="accent1"/>
              </a:buClr>
            </a:pPr>
            <a:r>
              <a:rPr lang="en-US" altLang="vi-VN" sz="2200" dirty="0" err="1">
                <a:solidFill>
                  <a:srgbClr val="0000CC"/>
                </a:solidFill>
                <a:latin typeface="Tahoma" panose="020B0604030504040204" pitchFamily="34" charset="0"/>
              </a:rPr>
              <a:t>Kiểm</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tra</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tự</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ch</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a:t>
            </a:r>
            <a:r>
              <a:rPr lang="en-US" altLang="vi-VN" sz="2200" dirty="0" err="1">
                <a:solidFill>
                  <a:srgbClr val="0000CC"/>
                </a:solidFill>
              </a:rPr>
              <a:t>ó</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phải</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l</a:t>
            </a:r>
            <a:r>
              <a:rPr lang="en-US" altLang="vi-VN" sz="2200" dirty="0" err="1">
                <a:solidFill>
                  <a:srgbClr val="0000CC"/>
                </a:solidFill>
              </a:rPr>
              <a:t>à</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tự</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số</a:t>
            </a:r>
            <a:r>
              <a:rPr lang="en-US" altLang="vi-VN" sz="2200" dirty="0">
                <a:solidFill>
                  <a:srgbClr val="0000CC"/>
                </a:solidFill>
                <a:latin typeface="Tahoma" panose="020B0604030504040204" pitchFamily="34" charset="0"/>
              </a:rPr>
              <a:t> hay </a:t>
            </a:r>
            <a:r>
              <a:rPr lang="en-US" altLang="vi-VN" sz="2200" dirty="0" err="1">
                <a:solidFill>
                  <a:srgbClr val="0000CC"/>
                </a:solidFill>
                <a:latin typeface="Tahoma" panose="020B0604030504040204" pitchFamily="34" charset="0"/>
              </a:rPr>
              <a:t>không</a:t>
            </a:r>
            <a:endParaRPr lang="en-US" altLang="vi-VN" sz="2200" dirty="0">
              <a:solidFill>
                <a:srgbClr val="0000CC"/>
              </a:solidFill>
              <a:latin typeface="Tahoma" panose="020B0604030504040204" pitchFamily="34" charset="0"/>
            </a:endParaRPr>
          </a:p>
          <a:p>
            <a:pPr lvl="1" algn="l">
              <a:lnSpc>
                <a:spcPct val="90000"/>
              </a:lnSpc>
              <a:spcBef>
                <a:spcPct val="20000"/>
              </a:spcBef>
              <a:buClr>
                <a:schemeClr val="accent1"/>
              </a:buClr>
            </a:pPr>
            <a:endParaRPr lang="en-US" altLang="vi-VN" sz="2200" dirty="0">
              <a:solidFill>
                <a:srgbClr val="0000CC"/>
              </a:solidFill>
              <a:latin typeface="Tahoma" panose="020B0604030504040204" pitchFamily="34" charset="0"/>
            </a:endParaRPr>
          </a:p>
        </p:txBody>
      </p:sp>
      <p:sp>
        <p:nvSpPr>
          <p:cNvPr id="10" name="Rectangle 5"/>
          <p:cNvSpPr>
            <a:spLocks noChangeArrowheads="1"/>
          </p:cNvSpPr>
          <p:nvPr/>
        </p:nvSpPr>
        <p:spPr bwMode="auto">
          <a:xfrm>
            <a:off x="419100" y="5617710"/>
            <a:ext cx="8305800" cy="92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13873163" eaLnBrk="0" hangingPunct="0">
              <a:defRPr>
                <a:solidFill>
                  <a:schemeClr val="tx1"/>
                </a:solidFill>
                <a:latin typeface="Arial" panose="020B0604020202020204" pitchFamily="34" charset="0"/>
                <a:cs typeface="Arial" panose="020B0604020202020204" pitchFamily="34" charset="0"/>
              </a:defRPr>
            </a:lvl1pPr>
            <a:lvl2pPr marL="742950" indent="-285750" defTabSz="-13873163" eaLnBrk="0" hangingPunct="0">
              <a:defRPr>
                <a:solidFill>
                  <a:schemeClr val="tx1"/>
                </a:solidFill>
                <a:latin typeface="Arial" panose="020B0604020202020204" pitchFamily="34" charset="0"/>
                <a:cs typeface="Arial" panose="020B0604020202020204" pitchFamily="34" charset="0"/>
              </a:defRPr>
            </a:lvl2pPr>
            <a:lvl3pPr marL="1143000" indent="-228600" defTabSz="-13873163" eaLnBrk="0" hangingPunct="0">
              <a:defRPr>
                <a:solidFill>
                  <a:schemeClr val="tx1"/>
                </a:solidFill>
                <a:latin typeface="Arial" panose="020B0604020202020204" pitchFamily="34" charset="0"/>
                <a:cs typeface="Arial" panose="020B0604020202020204" pitchFamily="34" charset="0"/>
              </a:defRPr>
            </a:lvl3pPr>
            <a:lvl4pPr marL="1600200" indent="-228600" defTabSz="-13873163" eaLnBrk="0" hangingPunct="0">
              <a:defRPr>
                <a:solidFill>
                  <a:schemeClr val="tx1"/>
                </a:solidFill>
                <a:latin typeface="Arial" panose="020B0604020202020204" pitchFamily="34" charset="0"/>
                <a:cs typeface="Arial" panose="020B0604020202020204" pitchFamily="34" charset="0"/>
              </a:defRPr>
            </a:lvl4pPr>
            <a:lvl5pPr marL="2057400" indent="-228600" defTabSz="-13873163" eaLnBrk="0" hangingPunct="0">
              <a:defRPr>
                <a:solidFill>
                  <a:schemeClr val="tx1"/>
                </a:solidFill>
                <a:latin typeface="Arial" panose="020B0604020202020204" pitchFamily="34" charset="0"/>
                <a:cs typeface="Arial" panose="020B0604020202020204" pitchFamily="34" charset="0"/>
              </a:defRPr>
            </a:lvl5pPr>
            <a:lvl6pPr marL="25146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1387316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lnSpc>
                <a:spcPct val="90000"/>
              </a:lnSpc>
              <a:spcBef>
                <a:spcPct val="20000"/>
              </a:spcBef>
              <a:buClr>
                <a:schemeClr val="tx2"/>
              </a:buClr>
              <a:buFontTx/>
              <a:buChar char="-"/>
            </a:pPr>
            <a:r>
              <a:rPr lang="en-US" altLang="vi-VN" sz="2600" b="1" dirty="0">
                <a:solidFill>
                  <a:srgbClr val="0000CC"/>
                </a:solidFill>
                <a:latin typeface="Tahoma" panose="020B0604030504040204" pitchFamily="34" charset="0"/>
              </a:rPr>
              <a:t> </a:t>
            </a:r>
            <a:r>
              <a:rPr lang="en-US" altLang="vi-VN" sz="2600" b="1" dirty="0" err="1">
                <a:solidFill>
                  <a:srgbClr val="0000CC"/>
                </a:solidFill>
                <a:latin typeface="Tahoma" panose="020B0604030504040204" pitchFamily="34" charset="0"/>
              </a:rPr>
              <a:t>isalpha</a:t>
            </a:r>
            <a:r>
              <a:rPr lang="en-US" altLang="vi-VN" sz="2600" b="1" dirty="0">
                <a:solidFill>
                  <a:srgbClr val="0000CC"/>
                </a:solidFill>
                <a:latin typeface="Tahoma" panose="020B0604030504040204" pitchFamily="34" charset="0"/>
              </a:rPr>
              <a:t>(</a:t>
            </a:r>
            <a:r>
              <a:rPr lang="en-US" altLang="vi-VN" sz="2600" b="1" dirty="0" err="1">
                <a:solidFill>
                  <a:srgbClr val="0000CC"/>
                </a:solidFill>
                <a:latin typeface="Tahoma" panose="020B0604030504040204" pitchFamily="34" charset="0"/>
              </a:rPr>
              <a:t>ch</a:t>
            </a:r>
            <a:r>
              <a:rPr lang="en-US" altLang="vi-VN" sz="2600" b="1" dirty="0">
                <a:solidFill>
                  <a:srgbClr val="0000CC"/>
                </a:solidFill>
                <a:latin typeface="Tahoma" panose="020B0604030504040204" pitchFamily="34" charset="0"/>
              </a:rPr>
              <a:t>)</a:t>
            </a:r>
          </a:p>
          <a:p>
            <a:pPr lvl="1" algn="l">
              <a:lnSpc>
                <a:spcPct val="90000"/>
              </a:lnSpc>
              <a:spcBef>
                <a:spcPct val="20000"/>
              </a:spcBef>
              <a:buClr>
                <a:schemeClr val="accent1"/>
              </a:buClr>
            </a:pPr>
            <a:r>
              <a:rPr lang="en-US" altLang="vi-VN" sz="2200" dirty="0" err="1">
                <a:solidFill>
                  <a:srgbClr val="0000CC"/>
                </a:solidFill>
                <a:latin typeface="Tahoma" panose="020B0604030504040204" pitchFamily="34" charset="0"/>
              </a:rPr>
              <a:t>Kiểm</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tra</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tự</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ch</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a:t>
            </a:r>
            <a:r>
              <a:rPr lang="en-US" altLang="vi-VN" sz="2200" dirty="0" err="1">
                <a:solidFill>
                  <a:srgbClr val="0000CC"/>
                </a:solidFill>
              </a:rPr>
              <a:t>ó</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phải</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l</a:t>
            </a:r>
            <a:r>
              <a:rPr lang="en-US" altLang="vi-VN" sz="2200" dirty="0" err="1">
                <a:solidFill>
                  <a:srgbClr val="0000CC"/>
                </a:solidFill>
              </a:rPr>
              <a:t>à</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ký</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tự</a:t>
            </a:r>
            <a:r>
              <a:rPr lang="en-US" altLang="vi-VN" sz="2200" dirty="0">
                <a:solidFill>
                  <a:srgbClr val="0000CC"/>
                </a:solidFill>
                <a:latin typeface="Tahoma" panose="020B0604030504040204" pitchFamily="34" charset="0"/>
              </a:rPr>
              <a:t> </a:t>
            </a:r>
            <a:r>
              <a:rPr lang="en-US" altLang="vi-VN" sz="2200" dirty="0" err="1">
                <a:solidFill>
                  <a:srgbClr val="0000CC"/>
                </a:solidFill>
                <a:latin typeface="Tahoma" panose="020B0604030504040204" pitchFamily="34" charset="0"/>
              </a:rPr>
              <a:t>chữ</a:t>
            </a:r>
            <a:r>
              <a:rPr lang="en-US" altLang="vi-VN" sz="2200" dirty="0">
                <a:solidFill>
                  <a:srgbClr val="0000CC"/>
                </a:solidFill>
                <a:latin typeface="Tahoma" panose="020B0604030504040204" pitchFamily="34" charset="0"/>
              </a:rPr>
              <a:t> hay </a:t>
            </a:r>
            <a:r>
              <a:rPr lang="en-US" altLang="vi-VN" sz="2200" dirty="0" err="1">
                <a:solidFill>
                  <a:srgbClr val="0000CC"/>
                </a:solidFill>
                <a:latin typeface="Tahoma" panose="020B0604030504040204" pitchFamily="34" charset="0"/>
              </a:rPr>
              <a:t>không</a:t>
            </a:r>
            <a:endParaRPr lang="en-US" altLang="vi-VN" sz="2200" dirty="0">
              <a:solidFill>
                <a:srgbClr val="0000CC"/>
              </a:solidFill>
              <a:latin typeface="Tahoma" panose="020B0604030504040204" pitchFamily="34" charset="0"/>
            </a:endParaRPr>
          </a:p>
          <a:p>
            <a:pPr lvl="1" algn="l">
              <a:lnSpc>
                <a:spcPct val="90000"/>
              </a:lnSpc>
              <a:spcBef>
                <a:spcPct val="20000"/>
              </a:spcBef>
              <a:buClr>
                <a:schemeClr val="accent1"/>
              </a:buClr>
            </a:pPr>
            <a:endParaRPr lang="en-US" altLang="vi-VN" sz="2200" dirty="0">
              <a:solidFill>
                <a:srgbClr val="0000CC"/>
              </a:solidFill>
              <a:latin typeface="Tahoma" panose="020B0604030504040204" pitchFamily="34" charset="0"/>
            </a:endParaRPr>
          </a:p>
        </p:txBody>
      </p:sp>
    </p:spTree>
    <p:extLst>
      <p:ext uri="{BB962C8B-B14F-4D97-AF65-F5344CB8AC3E}">
        <p14:creationId xmlns:p14="http://schemas.microsoft.com/office/powerpoint/2010/main" val="822507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vi-VN">
                <a:solidFill>
                  <a:schemeClr val="bg1"/>
                </a:solidFill>
              </a:rPr>
              <a:t>www.hoasen.edu.vn</a:t>
            </a:r>
            <a:endParaRPr lang="en-GB" altLang="vi-VN">
              <a:solidFill>
                <a:schemeClr val="bg1"/>
              </a:solidFill>
            </a:endParaRPr>
          </a:p>
        </p:txBody>
      </p:sp>
      <p:sp>
        <p:nvSpPr>
          <p:cNvPr id="5"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10A972-4D81-426C-98C1-BD4B46B4ACC2}" type="slidenum">
              <a:rPr lang="en-US" altLang="vi-VN">
                <a:solidFill>
                  <a:srgbClr val="FFFF00"/>
                </a:solidFill>
              </a:rPr>
              <a:pPr eaLnBrk="1" hangingPunct="1"/>
              <a:t>38</a:t>
            </a:fld>
            <a:endParaRPr lang="en-GB" altLang="vi-VN">
              <a:solidFill>
                <a:srgbClr val="FFFF00"/>
              </a:solidFill>
            </a:endParaRPr>
          </a:p>
        </p:txBody>
      </p:sp>
      <p:sp>
        <p:nvSpPr>
          <p:cNvPr id="30724" name="Rectangle 3"/>
          <p:cNvSpPr>
            <a:spLocks noGrp="1" noChangeArrowheads="1"/>
          </p:cNvSpPr>
          <p:nvPr>
            <p:ph type="body" idx="1"/>
          </p:nvPr>
        </p:nvSpPr>
        <p:spPr>
          <a:xfrm>
            <a:off x="304800" y="1143000"/>
            <a:ext cx="8686800" cy="5029200"/>
          </a:xfrm>
        </p:spPr>
        <p:txBody>
          <a:bodyPr/>
          <a:lstStyle/>
          <a:p>
            <a:pPr>
              <a:lnSpc>
                <a:spcPct val="80000"/>
              </a:lnSpc>
              <a:buFontTx/>
              <a:buChar char="-"/>
            </a:pPr>
            <a:r>
              <a:rPr lang="en-US" altLang="vi-VN" sz="2200" dirty="0" err="1">
                <a:solidFill>
                  <a:srgbClr val="0000CC"/>
                </a:solidFill>
                <a:cs typeface="Arial" panose="020B0604020202020204" pitchFamily="34" charset="0"/>
              </a:rPr>
              <a:t>Viết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chương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họ</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một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người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rồi</a:t>
            </a:r>
            <a:r>
              <a:rPr lang="en-US" altLang="vi-VN" sz="2200" dirty="0">
                <a:solidFill>
                  <a:srgbClr val="0000CC"/>
                </a:solidFill>
                <a:cs typeface="Arial" panose="020B0604020202020204" pitchFamily="34" charset="0"/>
              </a:rPr>
              <a:t> in </a:t>
            </a:r>
            <a:r>
              <a:rPr lang="en-US" altLang="vi-VN" sz="2200" dirty="0" err="1">
                <a:solidFill>
                  <a:srgbClr val="0000CC"/>
                </a:solidFill>
                <a:cs typeface="Arial" panose="020B0604020202020204" pitchFamily="34" charset="0"/>
              </a:rPr>
              <a:t>ra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màn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hình</a:t>
            </a:r>
            <a:endParaRPr lang="en-US" altLang="vi-VN" sz="2200" dirty="0">
              <a:solidFill>
                <a:srgbClr val="0000CC"/>
              </a:solidFill>
              <a:cs typeface="Arial" panose="020B0604020202020204" pitchFamily="34" charset="0"/>
            </a:endParaRPr>
          </a:p>
          <a:p>
            <a:pPr>
              <a:lnSpc>
                <a:spcPct val="80000"/>
              </a:lnSpc>
              <a:buFontTx/>
              <a:buChar char="-"/>
            </a:pPr>
            <a:r>
              <a:rPr lang="en-US" altLang="vi-VN" sz="2200" dirty="0" err="1">
                <a:solidFill>
                  <a:srgbClr val="0000CC"/>
                </a:solidFill>
                <a:cs typeface="Arial" panose="020B0604020202020204" pitchFamily="34" charset="0"/>
              </a:rPr>
              <a:t>Viết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chương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vào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một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chuỗi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rồi</a:t>
            </a:r>
            <a:r>
              <a:rPr lang="en-US" altLang="vi-VN" sz="2200" dirty="0">
                <a:solidFill>
                  <a:srgbClr val="0000CC"/>
                </a:solidFill>
                <a:cs typeface="Arial" panose="020B0604020202020204" pitchFamily="34" charset="0"/>
              </a:rPr>
              <a:t> in </a:t>
            </a:r>
            <a:r>
              <a:rPr lang="en-US" altLang="vi-VN" sz="2200" dirty="0" err="1">
                <a:solidFill>
                  <a:srgbClr val="0000CC"/>
                </a:solidFill>
                <a:cs typeface="Arial" panose="020B0604020202020204" pitchFamily="34" charset="0"/>
              </a:rPr>
              <a:t>các</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ký</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tự</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chuỗi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ra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màn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ký</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tự</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là</a:t>
            </a:r>
            <a:r>
              <a:rPr lang="en-US" altLang="vi-VN" sz="2200" dirty="0">
                <a:solidFill>
                  <a:srgbClr val="0000CC"/>
                </a:solidFill>
                <a:cs typeface="Arial" panose="020B0604020202020204" pitchFamily="34" charset="0"/>
              </a:rPr>
              <a:t> 1 </a:t>
            </a:r>
            <a:r>
              <a:rPr lang="en-US" altLang="vi-VN" sz="2200" dirty="0" err="1">
                <a:solidFill>
                  <a:srgbClr val="0000CC"/>
                </a:solidFill>
                <a:cs typeface="Arial" panose="020B0604020202020204" pitchFamily="34" charset="0"/>
              </a:rPr>
              <a:t>hàng</a:t>
            </a:r>
            <a:r>
              <a:rPr lang="en-US" altLang="vi-VN" sz="2200" dirty="0">
                <a:solidFill>
                  <a:srgbClr val="0000CC"/>
                </a:solidFill>
                <a:cs typeface="Arial" panose="020B0604020202020204" pitchFamily="34" charset="0"/>
              </a:rPr>
              <a:t>)</a:t>
            </a:r>
          </a:p>
          <a:p>
            <a:pPr>
              <a:lnSpc>
                <a:spcPct val="80000"/>
              </a:lnSpc>
              <a:buFontTx/>
              <a:buChar char="-"/>
            </a:pPr>
            <a:r>
              <a:rPr lang="en-US" altLang="vi-VN" sz="2200" dirty="0" err="1">
                <a:solidFill>
                  <a:srgbClr val="0000CC"/>
                </a:solidFill>
                <a:cs typeface="Arial" panose="020B0604020202020204" pitchFamily="34" charset="0"/>
              </a:rPr>
              <a:t>Viết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chương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một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chuỗi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hãy</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biết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số</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ký</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tự</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chữ</a:t>
            </a:r>
            <a:r>
              <a:rPr lang="en-US" altLang="vi-VN" sz="2200" dirty="0">
                <a:solidFill>
                  <a:srgbClr val="0000CC"/>
                </a:solidFill>
                <a:cs typeface="Arial" panose="020B0604020202020204" pitchFamily="34" charset="0"/>
              </a:rPr>
              <a:t> (letter), </a:t>
            </a:r>
            <a:r>
              <a:rPr lang="en-US" altLang="vi-VN" sz="2200" dirty="0" err="1">
                <a:solidFill>
                  <a:srgbClr val="0000CC"/>
                </a:solidFill>
                <a:cs typeface="Arial" panose="020B0604020202020204" pitchFamily="34" charset="0"/>
              </a:rPr>
              <a:t>số</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ký</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tự</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số</a:t>
            </a:r>
            <a:r>
              <a:rPr lang="en-US" altLang="vi-VN" sz="2200" dirty="0">
                <a:solidFill>
                  <a:srgbClr val="0000CC"/>
                </a:solidFill>
                <a:cs typeface="Arial" panose="020B0604020202020204" pitchFamily="34" charset="0"/>
              </a:rPr>
              <a:t> (digit), </a:t>
            </a:r>
            <a:r>
              <a:rPr lang="en-US" altLang="vi-VN" sz="2200" dirty="0" err="1">
                <a:solidFill>
                  <a:srgbClr val="0000CC"/>
                </a:solidFill>
                <a:cs typeface="Arial" panose="020B0604020202020204" pitchFamily="34" charset="0"/>
              </a:rPr>
              <a:t>số</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khoảng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trắng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số</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ký</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tự</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khác</a:t>
            </a:r>
            <a:r>
              <a:rPr lang="en-US" altLang="vi-VN" sz="2200" dirty="0">
                <a:solidFill>
                  <a:srgbClr val="0000CC"/>
                </a:solidFill>
                <a:cs typeface="Arial" panose="020B0604020202020204" pitchFamily="34" charset="0"/>
              </a:rPr>
              <a:t>.</a:t>
            </a:r>
          </a:p>
          <a:p>
            <a:pPr>
              <a:lnSpc>
                <a:spcPct val="80000"/>
              </a:lnSpc>
              <a:buFontTx/>
              <a:buChar char="-"/>
            </a:pP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vào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một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chuỗi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hãy</a:t>
            </a:r>
            <a:r>
              <a:rPr lang="en-US" altLang="vi-VN" sz="2200" dirty="0">
                <a:solidFill>
                  <a:srgbClr val="0000CC"/>
                </a:solidFill>
                <a:cs typeface="Arial" panose="020B0604020202020204" pitchFamily="34" charset="0"/>
              </a:rPr>
              <a:t> in </a:t>
            </a:r>
            <a:r>
              <a:rPr lang="en-US" altLang="vi-VN" sz="2200" dirty="0" err="1">
                <a:solidFill>
                  <a:srgbClr val="0000CC"/>
                </a:solidFill>
                <a:cs typeface="Arial" panose="020B0604020202020204" pitchFamily="34" charset="0"/>
              </a:rPr>
              <a:t>ngược</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chuỗi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đã</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endParaRPr lang="en-US" altLang="vi-VN" sz="2200" dirty="0">
              <a:solidFill>
                <a:srgbClr val="0000CC"/>
              </a:solidFill>
              <a:cs typeface="Arial" panose="020B0604020202020204" pitchFamily="34" charset="0"/>
            </a:endParaRPr>
          </a:p>
          <a:p>
            <a:pPr>
              <a:lnSpc>
                <a:spcPct val="80000"/>
              </a:lnSpc>
              <a:buFontTx/>
              <a:buChar char="-"/>
            </a:pP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họ</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sinh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viên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rồi</a:t>
            </a:r>
            <a:r>
              <a:rPr lang="en-US" altLang="vi-VN" sz="2200" dirty="0">
                <a:solidFill>
                  <a:srgbClr val="0000CC"/>
                </a:solidFill>
                <a:cs typeface="Arial" panose="020B0604020202020204" pitchFamily="34" charset="0"/>
              </a:rPr>
              <a:t> in </a:t>
            </a:r>
            <a:r>
              <a:rPr lang="en-US" altLang="vi-VN" sz="2200" dirty="0" err="1">
                <a:solidFill>
                  <a:srgbClr val="0000CC"/>
                </a:solidFill>
                <a:cs typeface="Arial" panose="020B0604020202020204" pitchFamily="34" charset="0"/>
              </a:rPr>
              <a:t>ra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tắt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sinh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viên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đó</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Ví</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dụ</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 Nguyen </a:t>
            </a:r>
            <a:r>
              <a:rPr lang="en-US" altLang="vi-VN" sz="2200" dirty="0" err="1">
                <a:solidFill>
                  <a:srgbClr val="0000CC"/>
                </a:solidFill>
                <a:cs typeface="Arial" panose="020B0604020202020204" pitchFamily="34" charset="0"/>
              </a:rPr>
              <a:t>Thi</a:t>
            </a:r>
            <a:r>
              <a:rPr lang="en-US" altLang="vi-VN" sz="2200" dirty="0">
                <a:solidFill>
                  <a:srgbClr val="0000CC"/>
                </a:solidFill>
                <a:cs typeface="Arial" panose="020B0604020202020204" pitchFamily="34" charset="0"/>
              </a:rPr>
              <a:t> Lan </a:t>
            </a:r>
            <a:r>
              <a:rPr lang="en-US" altLang="vi-VN" sz="2200" dirty="0" err="1">
                <a:solidFill>
                  <a:srgbClr val="0000CC"/>
                </a:solidFill>
                <a:cs typeface="Arial" panose="020B0604020202020204" pitchFamily="34" charset="0"/>
              </a:rPr>
              <a:t>Anh</a:t>
            </a:r>
            <a:r>
              <a:rPr lang="en-US" altLang="vi-VN" sz="2200" dirty="0">
                <a:solidFill>
                  <a:srgbClr val="0000CC"/>
                </a:solidFill>
                <a:cs typeface="Arial" panose="020B0604020202020204" pitchFamily="34" charset="0"/>
              </a:rPr>
              <a:t> </a:t>
            </a:r>
            <a:r>
              <a:rPr lang="en-US" altLang="vi-VN" sz="2200" dirty="0">
                <a:solidFill>
                  <a:srgbClr val="0000CC"/>
                </a:solidFill>
                <a:cs typeface="Arial" panose="020B0604020202020204" pitchFamily="34" charset="0"/>
                <a:sym typeface="Wingdings" panose="05000000000000000000" pitchFamily="2" charset="2"/>
              </a:rPr>
              <a:t> NTLA</a:t>
            </a:r>
          </a:p>
          <a:p>
            <a:pPr>
              <a:lnSpc>
                <a:spcPct val="80000"/>
              </a:lnSpc>
              <a:buFontTx/>
              <a:buChar char="-"/>
            </a:pP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họ</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giáo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viên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rồi</a:t>
            </a:r>
            <a:r>
              <a:rPr lang="en-US" altLang="vi-VN" sz="2200" dirty="0">
                <a:solidFill>
                  <a:srgbClr val="0000CC"/>
                </a:solidFill>
                <a:cs typeface="Arial" panose="020B0604020202020204" pitchFamily="34" charset="0"/>
              </a:rPr>
              <a:t> in </a:t>
            </a:r>
            <a:r>
              <a:rPr lang="en-US" altLang="vi-VN" sz="2200" dirty="0" err="1">
                <a:solidFill>
                  <a:srgbClr val="0000CC"/>
                </a:solidFill>
                <a:cs typeface="Arial" panose="020B0604020202020204" pitchFamily="34" charset="0"/>
              </a:rPr>
              <a:t>ra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địa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chỉ</a:t>
            </a:r>
            <a:r>
              <a:rPr lang="en-US" altLang="vi-VN" sz="2200" dirty="0">
                <a:solidFill>
                  <a:srgbClr val="0000CC"/>
                </a:solidFill>
                <a:cs typeface="Arial" panose="020B0604020202020204" pitchFamily="34" charset="0"/>
              </a:rPr>
              <a:t> email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giáo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viên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đó</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Ví</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dụ</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 Nguyen Van Son  </a:t>
            </a:r>
            <a:r>
              <a:rPr lang="en-US" altLang="vi-VN" sz="2200" dirty="0">
                <a:solidFill>
                  <a:srgbClr val="0000CC"/>
                </a:solidFill>
                <a:cs typeface="Arial" panose="020B0604020202020204" pitchFamily="34" charset="0"/>
                <a:sym typeface="Wingdings" panose="05000000000000000000" pitchFamily="2" charset="2"/>
              </a:rPr>
              <a:t> son.nguyenvan@hoasen.edu.vn</a:t>
            </a:r>
          </a:p>
          <a:p>
            <a:pPr>
              <a:lnSpc>
                <a:spcPct val="80000"/>
              </a:lnSpc>
              <a:buFontTx/>
              <a:buChar char="-"/>
            </a:pPr>
            <a:r>
              <a:rPr lang="en-US" altLang="vi-VN" sz="2200" dirty="0" err="1">
                <a:solidFill>
                  <a:srgbClr val="0000CC"/>
                </a:solidFill>
                <a:cs typeface="Arial" panose="020B0604020202020204" pitchFamily="34" charset="0"/>
              </a:rPr>
              <a:t>Viết</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chương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nhập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họ</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tên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mã</a:t>
            </a:r>
            <a:r>
              <a:rPr lang="en-US" altLang="vi-VN" sz="2200" dirty="0">
                <a:solidFill>
                  <a:srgbClr val="0000CC"/>
                </a:solidFill>
                <a:cs typeface="Arial" panose="020B0604020202020204" pitchFamily="34" charset="0"/>
              </a:rPr>
              <a:t> SV. In </a:t>
            </a:r>
            <a:r>
              <a:rPr lang="en-US" altLang="vi-VN" sz="2200" dirty="0" err="1">
                <a:solidFill>
                  <a:srgbClr val="0000CC"/>
                </a:solidFill>
                <a:cs typeface="Arial" panose="020B0604020202020204" pitchFamily="34" charset="0"/>
              </a:rPr>
              <a:t>ra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địa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chỉ</a:t>
            </a:r>
            <a:r>
              <a:rPr lang="en-US" altLang="vi-VN" sz="2200" dirty="0">
                <a:solidFill>
                  <a:srgbClr val="0000CC"/>
                </a:solidFill>
                <a:cs typeface="Arial" panose="020B0604020202020204" pitchFamily="34" charset="0"/>
              </a:rPr>
              <a:t> email </a:t>
            </a:r>
            <a:r>
              <a:rPr lang="en-US" altLang="vi-VN" sz="2200" dirty="0" err="1">
                <a:solidFill>
                  <a:srgbClr val="0000CC"/>
                </a:solidFill>
                <a:cs typeface="Arial" panose="020B0604020202020204" pitchFamily="34" charset="0"/>
              </a:rPr>
              <a:t>của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mình</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như</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trường</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Đại</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học</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Hoa</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sen</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đã</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cấp</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cho</a:t>
            </a:r>
            <a:r>
              <a:rPr lang="en-US" altLang="vi-VN" sz="2200" dirty="0">
                <a:solidFill>
                  <a:srgbClr val="0000CC"/>
                </a:solidFill>
                <a:cs typeface="Arial" panose="020B0604020202020204" pitchFamily="34" charset="0"/>
              </a:rPr>
              <a:t> </a:t>
            </a:r>
            <a:r>
              <a:rPr lang="en-US" altLang="vi-VN" sz="2200" dirty="0" err="1">
                <a:solidFill>
                  <a:srgbClr val="0000CC"/>
                </a:solidFill>
                <a:cs typeface="Arial" panose="020B0604020202020204" pitchFamily="34" charset="0"/>
              </a:rPr>
              <a:t>mình</a:t>
            </a:r>
            <a:r>
              <a:rPr lang="en-US" altLang="vi-VN" sz="2200" dirty="0">
                <a:solidFill>
                  <a:srgbClr val="0000CC"/>
                </a:solidFill>
                <a:cs typeface="Arial" panose="020B0604020202020204" pitchFamily="34" charset="0"/>
              </a:rPr>
              <a:t>.</a:t>
            </a:r>
          </a:p>
        </p:txBody>
      </p:sp>
      <p:sp>
        <p:nvSpPr>
          <p:cNvPr id="30725" name="Rectangle 4"/>
          <p:cNvSpPr>
            <a:spLocks noGrp="1"/>
          </p:cNvSpPr>
          <p:nvPr>
            <p:ph type="title"/>
          </p:nvPr>
        </p:nvSpPr>
        <p:spPr>
          <a:xfrm>
            <a:off x="1883228" y="365127"/>
            <a:ext cx="6632121" cy="777874"/>
          </a:xfrm>
        </p:spPr>
        <p:txBody>
          <a:bodyPr/>
          <a:lstStyle/>
          <a:p>
            <a:r>
              <a:rPr lang="en-US" altLang="vi-VN" b="1" dirty="0" err="1">
                <a:solidFill>
                  <a:srgbClr val="0000CC"/>
                </a:solidFill>
              </a:rPr>
              <a:t>Bài</a:t>
            </a:r>
            <a:r>
              <a:rPr lang="en-US" altLang="vi-VN" b="1" dirty="0">
                <a:solidFill>
                  <a:srgbClr val="0000CC"/>
                </a:solidFill>
              </a:rPr>
              <a:t> </a:t>
            </a:r>
            <a:r>
              <a:rPr lang="en-US" altLang="vi-VN" b="1" dirty="0" err="1">
                <a:solidFill>
                  <a:srgbClr val="0000CC"/>
                </a:solidFill>
              </a:rPr>
              <a:t>tập</a:t>
            </a:r>
            <a:endParaRPr lang="en-US" altLang="vi-VN" b="1" dirty="0">
              <a:solidFill>
                <a:srgbClr val="0000CC"/>
              </a:solidFill>
            </a:endParaRPr>
          </a:p>
        </p:txBody>
      </p:sp>
    </p:spTree>
    <p:extLst>
      <p:ext uri="{BB962C8B-B14F-4D97-AF65-F5344CB8AC3E}">
        <p14:creationId xmlns:p14="http://schemas.microsoft.com/office/powerpoint/2010/main" val="3962539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900" y="695459"/>
            <a:ext cx="6841097" cy="454317"/>
          </a:xfrm>
        </p:spPr>
        <p:txBody>
          <a:bodyPr>
            <a:normAutofit fontScale="90000"/>
          </a:bodyPr>
          <a:lstStyle/>
          <a:p>
            <a:r>
              <a:rPr lang="en-US" dirty="0">
                <a:latin typeface="Myriad Pro" panose="020B0503030403020204" pitchFamily="34" charset="0"/>
              </a:rPr>
              <a:t>HỎI ĐÁP</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574" y="1885713"/>
            <a:ext cx="5668166" cy="3391373"/>
          </a:xfrm>
          <a:prstGeom prst="rect">
            <a:avLst/>
          </a:prstGeom>
        </p:spPr>
      </p:pic>
    </p:spTree>
    <p:extLst>
      <p:ext uri="{BB962C8B-B14F-4D97-AF65-F5344CB8AC3E}">
        <p14:creationId xmlns:p14="http://schemas.microsoft.com/office/powerpoint/2010/main" val="2277019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1244</TotalTime>
  <Words>4564</Words>
  <Application>Microsoft Office PowerPoint</Application>
  <PresentationFormat>On-screen Show (4:3)</PresentationFormat>
  <Paragraphs>637</Paragraphs>
  <Slides>39</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Calibri</vt:lpstr>
      <vt:lpstr>Calibri Light</vt:lpstr>
      <vt:lpstr>Myriad Pro</vt:lpstr>
      <vt:lpstr>Tahoma</vt:lpstr>
      <vt:lpstr>Wingdings</vt:lpstr>
      <vt:lpstr>Office Theme</vt:lpstr>
      <vt:lpstr>1_Office Theme</vt:lpstr>
      <vt:lpstr>BÀI GIẢNG TUẦN 9 + 10</vt:lpstr>
      <vt:lpstr>PowerPoint Presentation</vt:lpstr>
      <vt:lpstr>PowerPoint Presentation</vt:lpstr>
      <vt:lpstr>Khái niệm</vt:lpstr>
      <vt:lpstr>PowerPoint Presentation</vt:lpstr>
      <vt:lpstr>Khai báo biến con trỏ</vt:lpstr>
      <vt:lpstr>Vùng trỏ tới</vt:lpstr>
      <vt:lpstr>Ví dụ</vt:lpstr>
      <vt:lpstr>Bộ nhớ được tổ chức thế nào</vt:lpstr>
      <vt:lpstr>Bộ nhớ được tổ chức thế nào</vt:lpstr>
      <vt:lpstr>STACK vs HEAP</vt:lpstr>
      <vt:lpstr>Cấp phát và giải phóng vùng nhớ</vt:lpstr>
      <vt:lpstr>Cấp phát và giải phóng vùng nhớ</vt:lpstr>
      <vt:lpstr>Cấp phát và giải phóng vùng nhớ</vt:lpstr>
      <vt:lpstr>Cấp phát và giải phóng vùng nhớ</vt:lpstr>
      <vt:lpstr>Con trỏ và mảng 1 chiều</vt:lpstr>
      <vt:lpstr>Con trỏ và mảng 1 chiều</vt:lpstr>
      <vt:lpstr>Khai báo mảng 1 chiều và con trỏ</vt:lpstr>
      <vt:lpstr>Truy xuất các phần tử trong mảng</vt:lpstr>
      <vt:lpstr>Con trỏ và xâu ký tự</vt:lpstr>
      <vt:lpstr>Bài tập</vt:lpstr>
      <vt:lpstr>Giải Example 1</vt:lpstr>
      <vt:lpstr>Giải Example 1 (tiếp theo)</vt:lpstr>
      <vt:lpstr>Giải Example 1 (sử dụng con trỏ)</vt:lpstr>
      <vt:lpstr>Giải Example 1 (sử dụng con trỏ)</vt:lpstr>
      <vt:lpstr>Bài tập</vt:lpstr>
      <vt:lpstr>PowerPoint Presentation</vt:lpstr>
      <vt:lpstr>Khái niệm</vt:lpstr>
      <vt:lpstr>Khai báo chuỗi</vt:lpstr>
      <vt:lpstr>Nhập xuất chuỗi</vt:lpstr>
      <vt:lpstr>Nhập chuỗi có khoảng trắng với hàm scanf()</vt:lpstr>
      <vt:lpstr>Nhập chuỗi với hàm scanf()</vt:lpstr>
      <vt:lpstr>Nhập/xuất chuỗi</vt:lpstr>
      <vt:lpstr>Truy xuất từng ký tự của chuỗi</vt:lpstr>
      <vt:lpstr>Một số hàm về chuỗi</vt:lpstr>
      <vt:lpstr>Một số hàm về chuỗi</vt:lpstr>
      <vt:lpstr>Một số hàm về ký tự</vt:lpstr>
      <vt:lpstr>Bài tập</vt:lpstr>
      <vt:lpstr>HỎI ĐÁP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Thi Thanh Thanh</dc:creator>
  <cp:lastModifiedBy>User</cp:lastModifiedBy>
  <cp:revision>350</cp:revision>
  <dcterms:created xsi:type="dcterms:W3CDTF">2017-02-14T04:20:55Z</dcterms:created>
  <dcterms:modified xsi:type="dcterms:W3CDTF">2023-08-05T05:11:26Z</dcterms:modified>
</cp:coreProperties>
</file>