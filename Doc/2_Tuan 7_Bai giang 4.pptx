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rels" ContentType="application/vnd.openxmlformats-package.relationships+xml"/>
  <Default Extension="tmp" ContentType="image/p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20"/>
  </p:notesMasterIdLst>
  <p:sldIdLst>
    <p:sldId id="256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13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94C450-71A6-4247-A59B-E04E8B0516FC}" type="datetimeFigureOut">
              <a:rPr lang="vi-VN" smtClean="0"/>
              <a:t>13/11/2023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EC684F-6D70-43DC-AAAB-B6C950FDED51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65309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20A9567-559C-4F48-B43B-B6EAC354186F}" type="slidenum">
              <a:rPr lang="en-US" altLang="vi-VN"/>
              <a:pPr eaLnBrk="1" hangingPunct="1"/>
              <a:t>3</a:t>
            </a:fld>
            <a:endParaRPr lang="en-US" altLang="vi-VN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vi-VN" altLang="vi-V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567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C19DC64-4CA3-492C-BD69-96AEBC45CBB9}" type="slidenum">
              <a:rPr lang="en-US" altLang="vi-VN"/>
              <a:pPr eaLnBrk="1" hangingPunct="1"/>
              <a:t>4</a:t>
            </a:fld>
            <a:endParaRPr lang="en-US" altLang="vi-VN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vi-VN" altLang="vi-V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02349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FBF4DD8-7D9A-4A56-8192-D2341A45C96C}" type="slidenum">
              <a:rPr lang="en-US" altLang="vi-VN"/>
              <a:pPr eaLnBrk="1" hangingPunct="1"/>
              <a:t>5</a:t>
            </a:fld>
            <a:endParaRPr lang="en-US" altLang="vi-VN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vi-VN" altLang="vi-V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20713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7CD3D3E-CD05-4AF4-8DC7-B66C72648B72}" type="slidenum">
              <a:rPr lang="en-US" altLang="vi-VN"/>
              <a:pPr eaLnBrk="1" hangingPunct="1"/>
              <a:t>6</a:t>
            </a:fld>
            <a:endParaRPr lang="en-US" altLang="vi-VN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vi-VN" altLang="vi-V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52695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1C70254-1030-49E6-A84C-BEFC2F3F2412}" type="slidenum">
              <a:rPr lang="en-US" altLang="vi-VN"/>
              <a:pPr eaLnBrk="1" hangingPunct="1"/>
              <a:t>7</a:t>
            </a:fld>
            <a:endParaRPr lang="en-US" altLang="vi-VN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vi-VN" altLang="vi-V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17991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6DDE805-6C44-4F59-BD62-AC3CB34E2CCC}" type="slidenum">
              <a:rPr lang="en-US" altLang="vi-VN"/>
              <a:pPr eaLnBrk="1" hangingPunct="1"/>
              <a:t>8</a:t>
            </a:fld>
            <a:endParaRPr lang="en-US" altLang="vi-VN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vi-VN" altLang="vi-V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50332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667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2D7ED87-23AA-4E11-9C93-2EC26A6D281F}" type="slidenum">
              <a:rPr lang="en-US" altLang="vi-VN"/>
              <a:pPr eaLnBrk="1" hangingPunct="1"/>
              <a:t>9</a:t>
            </a:fld>
            <a:endParaRPr lang="en-US" altLang="vi-VN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vi-VN" altLang="vi-V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016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4034B-4B31-483C-B33E-16E724396FEE}" type="datetimeFigureOut">
              <a:rPr lang="en-US" smtClean="0"/>
              <a:t>13/11/2023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D39CD-9FF8-49B8-B0DF-CC3B27D0E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701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4034B-4B31-483C-B33E-16E724396FEE}" type="datetimeFigureOut">
              <a:rPr lang="en-US" smtClean="0"/>
              <a:t>13/11/2023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D39CD-9FF8-49B8-B0DF-CC3B27D0E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7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4034B-4B31-483C-B33E-16E724396FEE}" type="datetimeFigureOut">
              <a:rPr lang="en-US" smtClean="0"/>
              <a:t>13/11/2023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D39CD-9FF8-49B8-B0DF-CC3B27D0E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747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4034B-4B31-483C-B33E-16E724396FEE}" type="datetimeFigureOut">
              <a:rPr lang="en-US" smtClean="0"/>
              <a:t>13/11/2023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D39CD-9FF8-49B8-B0DF-CC3B27D0E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406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4034B-4B31-483C-B33E-16E724396FEE}" type="datetimeFigureOut">
              <a:rPr lang="en-US" smtClean="0"/>
              <a:t>13/11/2023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D39CD-9FF8-49B8-B0DF-CC3B27D0E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129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4034B-4B31-483C-B33E-16E724396FEE}" type="datetimeFigureOut">
              <a:rPr lang="en-US" smtClean="0"/>
              <a:t>13/11/2023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D39CD-9FF8-49B8-B0DF-CC3B27D0E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437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4034B-4B31-483C-B33E-16E724396FEE}" type="datetimeFigureOut">
              <a:rPr lang="en-US" smtClean="0"/>
              <a:t>13/11/2023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D39CD-9FF8-49B8-B0DF-CC3B27D0E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797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4034B-4B31-483C-B33E-16E724396FEE}" type="datetimeFigureOut">
              <a:rPr lang="en-US" smtClean="0"/>
              <a:t>13/11/2023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D39CD-9FF8-49B8-B0DF-CC3B27D0E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694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4034B-4B31-483C-B33E-16E724396FEE}" type="datetimeFigureOut">
              <a:rPr lang="en-US" smtClean="0"/>
              <a:t>13/11/2023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D39CD-9FF8-49B8-B0DF-CC3B27D0E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196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4034B-4B31-483C-B33E-16E724396FEE}" type="datetimeFigureOut">
              <a:rPr lang="en-US" smtClean="0"/>
              <a:t>13/11/2023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D39CD-9FF8-49B8-B0DF-CC3B27D0E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606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4034B-4B31-483C-B33E-16E724396FEE}" type="datetimeFigureOut">
              <a:rPr lang="en-US" smtClean="0"/>
              <a:t>13/11/2023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D39CD-9FF8-49B8-B0DF-CC3B27D0E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983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A4034B-4B31-483C-B33E-16E724396FEE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13/11/2023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D39CD-9FF8-49B8-B0DF-CC3B27D0E33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61505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A4034B-4B31-483C-B33E-16E724396FEE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13/11/2023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D39CD-9FF8-49B8-B0DF-CC3B27D0E33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11440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A4034B-4B31-483C-B33E-16E724396FEE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13/11/2023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D39CD-9FF8-49B8-B0DF-CC3B27D0E33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56127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A4034B-4B31-483C-B33E-16E724396FEE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13/11/2023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D39CD-9FF8-49B8-B0DF-CC3B27D0E33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4455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A4034B-4B31-483C-B33E-16E724396FEE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13/11/2023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D39CD-9FF8-49B8-B0DF-CC3B27D0E33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91589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A4034B-4B31-483C-B33E-16E724396FEE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13/11/2023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D39CD-9FF8-49B8-B0DF-CC3B27D0E33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65188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A4034B-4B31-483C-B33E-16E724396FEE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13/11/2023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D39CD-9FF8-49B8-B0DF-CC3B27D0E33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33823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A4034B-4B31-483C-B33E-16E724396FEE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13/11/2023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D39CD-9FF8-49B8-B0DF-CC3B27D0E33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30927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A4034B-4B31-483C-B33E-16E724396FEE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13/11/2023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D39CD-9FF8-49B8-B0DF-CC3B27D0E33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7545655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A4034B-4B31-483C-B33E-16E724396FEE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13/11/2023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D39CD-9FF8-49B8-B0DF-CC3B27D0E33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98281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A4034B-4B31-483C-B33E-16E724396FEE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13/11/2023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D39CD-9FF8-49B8-B0DF-CC3B27D0E33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2419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381000" y="168275"/>
            <a:ext cx="8323263" cy="6094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www.hoasen.edu.vn</a:t>
            </a:r>
            <a:endParaRPr lang="en-GB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0436A4-A3CA-4BEA-9B48-0B14768C7EE1}" type="slidenum">
              <a:rPr lang="en-US" altLang="vi-VN"/>
              <a:pPr/>
              <a:t>‹#›</a:t>
            </a:fld>
            <a:endParaRPr lang="en-GB" altLang="vi-VN"/>
          </a:p>
        </p:txBody>
      </p:sp>
    </p:spTree>
    <p:extLst>
      <p:ext uri="{BB962C8B-B14F-4D97-AF65-F5344CB8AC3E}">
        <p14:creationId xmlns:p14="http://schemas.microsoft.com/office/powerpoint/2010/main" val="3316329414"/>
      </p:ext>
    </p:extLst>
  </p:cSld>
  <p:clrMapOvr>
    <a:masterClrMapping/>
  </p:clrMapOvr>
  <p:transition>
    <p:push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A4034B-4B31-483C-B33E-16E724396FEE}" type="datetimeFigureOut">
              <a:rPr lang="en-US" smtClean="0"/>
              <a:t>13/11/2023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6D39CD-9FF8-49B8-B0DF-CC3B27D0E3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16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A4034B-4B31-483C-B33E-16E724396FEE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13/11/2023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96D39CD-9FF8-49B8-B0DF-CC3B27D0E33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2466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7" Type="http://schemas.openxmlformats.org/officeDocument/2006/relationships/image" Target="../media/image10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1333" y="4726547"/>
            <a:ext cx="7772400" cy="689490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Myriad Pro" panose="020B0503030403020204" pitchFamily="34" charset="0"/>
              </a:rPr>
              <a:t>BÀI GIẢNG TUẦN 4</a:t>
            </a:r>
          </a:p>
        </p:txBody>
      </p:sp>
    </p:spTree>
    <p:extLst>
      <p:ext uri="{BB962C8B-B14F-4D97-AF65-F5344CB8AC3E}">
        <p14:creationId xmlns:p14="http://schemas.microsoft.com/office/powerpoint/2010/main" val="793442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loud Callout 6"/>
          <p:cNvSpPr/>
          <p:nvPr/>
        </p:nvSpPr>
        <p:spPr>
          <a:xfrm>
            <a:off x="1273630" y="1524000"/>
            <a:ext cx="6955971" cy="3287486"/>
          </a:xfrm>
          <a:prstGeom prst="cloudCallout">
            <a:avLst>
              <a:gd name="adj1" fmla="val -42899"/>
              <a:gd name="adj2" fmla="val 62170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Kiểu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dữ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liệu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hằng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biến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nhập</a:t>
            </a: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40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xuất</a:t>
            </a:r>
            <a:endParaRPr kumimoji="0" lang="vi-VN" sz="6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14400" y="5442858"/>
            <a:ext cx="1328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BÀI 4</a:t>
            </a:r>
            <a:endParaRPr kumimoji="0" lang="vi-V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8751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vi-VN">
                <a:solidFill>
                  <a:schemeClr val="bg1"/>
                </a:solidFill>
              </a:rPr>
              <a:t>www.hoasen.edu.vn</a:t>
            </a:r>
            <a:endParaRPr lang="en-GB" altLang="vi-VN">
              <a:solidFill>
                <a:schemeClr val="bg1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36B0F8D-046F-43D2-B3BF-DC75DF0752F9}" type="slidenum">
              <a:rPr lang="en-US" altLang="vi-VN">
                <a:solidFill>
                  <a:srgbClr val="FFFF00"/>
                </a:solidFill>
              </a:rPr>
              <a:pPr eaLnBrk="1" hangingPunct="1"/>
              <a:t>3</a:t>
            </a:fld>
            <a:endParaRPr lang="en-GB" altLang="vi-VN">
              <a:solidFill>
                <a:srgbClr val="FFFF00"/>
              </a:solidFill>
            </a:endParaRPr>
          </a:p>
        </p:txBody>
      </p:sp>
      <p:sp>
        <p:nvSpPr>
          <p:cNvPr id="6149" name="Text Box 11"/>
          <p:cNvSpPr txBox="1">
            <a:spLocks noChangeArrowheads="1"/>
          </p:cNvSpPr>
          <p:nvPr/>
        </p:nvSpPr>
        <p:spPr bwMode="auto">
          <a:xfrm>
            <a:off x="457200" y="1371600"/>
            <a:ext cx="8153400" cy="45307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27" tIns="45714" rIns="91427" bIns="45714"/>
          <a:lstStyle>
            <a:lvl1pPr marL="342900" indent="-342900" defTabSz="-138731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-138731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-138731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-138731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-138731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defTabSz="-138731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defTabSz="-138731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defTabSz="-138731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defTabSz="-138731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altLang="vi-VN" sz="2800">
                <a:solidFill>
                  <a:srgbClr val="0000CC"/>
                </a:solidFill>
              </a:rPr>
              <a:t>Kiểu cho số nguyên: 	</a:t>
            </a:r>
            <a:r>
              <a:rPr lang="en-US" altLang="vi-VN" sz="2800" b="1">
                <a:solidFill>
                  <a:srgbClr val="0000CC"/>
                </a:solidFill>
              </a:rPr>
              <a:t>char , int , long </a:t>
            </a:r>
          </a:p>
          <a:p>
            <a:pPr algn="l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altLang="vi-VN" sz="2800">
                <a:solidFill>
                  <a:srgbClr val="0000CC"/>
                </a:solidFill>
              </a:rPr>
              <a:t>Kiểu cho ký tự: </a:t>
            </a:r>
            <a:r>
              <a:rPr lang="en-US" altLang="vi-VN" sz="2800" b="1">
                <a:solidFill>
                  <a:srgbClr val="0000CC"/>
                </a:solidFill>
              </a:rPr>
              <a:t>char </a:t>
            </a:r>
            <a:r>
              <a:rPr lang="en-US" altLang="vi-VN" sz="2800">
                <a:solidFill>
                  <a:srgbClr val="0000CC"/>
                </a:solidFill>
              </a:rPr>
              <a:t>(lưu trữ dạng mã ASCII của ký tự).</a:t>
            </a:r>
          </a:p>
          <a:p>
            <a:pPr algn="l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altLang="vi-VN" sz="2800">
                <a:solidFill>
                  <a:srgbClr val="0000CC"/>
                </a:solidFill>
              </a:rPr>
              <a:t>Kiểu rời rạc : </a:t>
            </a:r>
            <a:r>
              <a:rPr lang="en-US" altLang="vi-VN" sz="2800" b="1">
                <a:solidFill>
                  <a:srgbClr val="0000CC"/>
                </a:solidFill>
              </a:rPr>
              <a:t>enum</a:t>
            </a:r>
          </a:p>
          <a:p>
            <a:pPr algn="l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</a:pPr>
            <a:r>
              <a:rPr lang="en-US" altLang="vi-VN" sz="2800">
                <a:solidFill>
                  <a:srgbClr val="0000CC"/>
                </a:solidFill>
              </a:rPr>
              <a:t>Kiểu cho số thực: </a:t>
            </a:r>
            <a:r>
              <a:rPr lang="en-US" altLang="vi-VN" sz="2800" b="1">
                <a:solidFill>
                  <a:srgbClr val="0000CC"/>
                </a:solidFill>
              </a:rPr>
              <a:t>float , double , long double</a:t>
            </a:r>
          </a:p>
          <a:p>
            <a:pPr algn="l">
              <a:buFont typeface="Wingdings" panose="05000000000000000000" pitchFamily="2" charset="2"/>
              <a:buNone/>
            </a:pPr>
            <a:endParaRPr lang="en-US" altLang="vi-VN" sz="2800">
              <a:solidFill>
                <a:srgbClr val="0000CC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1875746" y="576910"/>
            <a:ext cx="6841097" cy="53680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latin typeface="Myriad Pro" panose="020B0503030403020204" pitchFamily="34" charset="0"/>
              </a:rPr>
              <a:t>CÁC KIỂU DỮ LIỆU CƠ BẢN</a:t>
            </a:r>
          </a:p>
        </p:txBody>
      </p:sp>
    </p:spTree>
    <p:extLst>
      <p:ext uri="{BB962C8B-B14F-4D97-AF65-F5344CB8AC3E}">
        <p14:creationId xmlns:p14="http://schemas.microsoft.com/office/powerpoint/2010/main" val="2814331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vi-VN">
                <a:solidFill>
                  <a:schemeClr val="bg1"/>
                </a:solidFill>
              </a:rPr>
              <a:t>www.hoasen.edu.vn</a:t>
            </a:r>
            <a:endParaRPr lang="en-GB" altLang="vi-VN">
              <a:solidFill>
                <a:schemeClr val="bg1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AC18BD6-75E6-4368-B72D-0EB5104C8E48}" type="slidenum">
              <a:rPr lang="en-US" altLang="vi-VN">
                <a:solidFill>
                  <a:srgbClr val="FFFF00"/>
                </a:solidFill>
              </a:rPr>
              <a:pPr eaLnBrk="1" hangingPunct="1"/>
              <a:t>4</a:t>
            </a:fld>
            <a:endParaRPr lang="en-GB" altLang="vi-VN">
              <a:solidFill>
                <a:srgbClr val="FFFF00"/>
              </a:solidFill>
            </a:endParaRPr>
          </a:p>
        </p:txBody>
      </p:sp>
      <p:sp>
        <p:nvSpPr>
          <p:cNvPr id="7172" name="Rectangle 9"/>
          <p:cNvSpPr>
            <a:spLocks noChangeArrowheads="1"/>
          </p:cNvSpPr>
          <p:nvPr/>
        </p:nvSpPr>
        <p:spPr bwMode="auto">
          <a:xfrm>
            <a:off x="457200" y="1295400"/>
            <a:ext cx="838200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1793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1793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1793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1793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179388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defTabSz="1793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defTabSz="1793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defTabSz="1793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defTabSz="1793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vi-VN" sz="2800">
                <a:solidFill>
                  <a:srgbClr val="0000CC"/>
                </a:solidFill>
                <a:latin typeface="Tahoma" panose="020B0604030504040204" pitchFamily="34" charset="0"/>
              </a:rPr>
              <a:t>			Kích thước và tầm trị của kiểu dữ liệu phụ thuộc vào trình biên dịch ( xem file </a:t>
            </a:r>
            <a:r>
              <a:rPr lang="en-US" altLang="vi-VN" sz="2800" i="1">
                <a:solidFill>
                  <a:srgbClr val="0000CC"/>
                </a:solidFill>
                <a:latin typeface="Tahoma" panose="020B0604030504040204" pitchFamily="34" charset="0"/>
              </a:rPr>
              <a:t>limit.h</a:t>
            </a:r>
            <a:r>
              <a:rPr lang="en-US" altLang="vi-VN" sz="2800">
                <a:solidFill>
                  <a:srgbClr val="0000CC"/>
                </a:solidFill>
                <a:latin typeface="Tahoma" panose="020B0604030504040204" pitchFamily="34" charset="0"/>
              </a:rPr>
              <a:t>  và  </a:t>
            </a:r>
            <a:r>
              <a:rPr lang="en-US" altLang="vi-VN" sz="2800" i="1">
                <a:solidFill>
                  <a:srgbClr val="0000CC"/>
                </a:solidFill>
                <a:latin typeface="Tahoma" panose="020B0604030504040204" pitchFamily="34" charset="0"/>
              </a:rPr>
              <a:t>float.h</a:t>
            </a:r>
            <a:r>
              <a:rPr lang="en-US" altLang="vi-VN" sz="2800">
                <a:solidFill>
                  <a:srgbClr val="0000CC"/>
                </a:solidFill>
                <a:latin typeface="Tahoma" panose="020B0604030504040204" pitchFamily="34" charset="0"/>
              </a:rPr>
              <a:t>)</a:t>
            </a:r>
          </a:p>
          <a:p>
            <a:pPr algn="l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vi-VN" sz="2800" u="sng">
              <a:solidFill>
                <a:srgbClr val="0000CC"/>
              </a:solidFill>
              <a:latin typeface="Tahoma" panose="020B0604030504040204" pitchFamily="34" charset="0"/>
            </a:endParaRPr>
          </a:p>
          <a:p>
            <a:pPr algn="l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vi-VN" sz="2000" b="1" u="sng"/>
              <a:t>   Kiểu          	  				Số bit  				Tầmtrị			</a:t>
            </a:r>
            <a:endParaRPr lang="en-US" altLang="vi-VN" sz="2000"/>
          </a:p>
          <a:p>
            <a:pPr algn="l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vi-VN" sz="2000"/>
              <a:t>   </a:t>
            </a:r>
            <a:r>
              <a:rPr lang="en-US" altLang="vi-VN" sz="2000" b="1">
                <a:solidFill>
                  <a:srgbClr val="0000CC"/>
                </a:solidFill>
              </a:rPr>
              <a:t>unsigned char  		8 bits      	0 .. 255</a:t>
            </a:r>
          </a:p>
          <a:p>
            <a:pPr algn="l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vi-VN" sz="2000"/>
              <a:t>   </a:t>
            </a:r>
            <a:r>
              <a:rPr lang="en-US" altLang="vi-VN" sz="2000" b="1"/>
              <a:t>char          	    		 	8 bits     		-128 .. 127</a:t>
            </a:r>
          </a:p>
          <a:p>
            <a:pPr algn="l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vi-VN" sz="2000" b="1"/>
              <a:t>   </a:t>
            </a:r>
            <a:r>
              <a:rPr lang="en-US" altLang="vi-VN" sz="2000" b="1">
                <a:solidFill>
                  <a:srgbClr val="0000CC"/>
                </a:solidFill>
              </a:rPr>
              <a:t>enum          	  		  	16 bits 				-32,768 .. 32,767</a:t>
            </a:r>
          </a:p>
          <a:p>
            <a:pPr algn="l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vi-VN" sz="2000"/>
              <a:t>   </a:t>
            </a:r>
            <a:r>
              <a:rPr lang="en-US" altLang="vi-VN" sz="2000" b="1"/>
              <a:t>unsigned int     	16 bits 				0 .. 65,535</a:t>
            </a:r>
          </a:p>
          <a:p>
            <a:pPr algn="l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vi-VN" sz="2000" b="1"/>
              <a:t>   </a:t>
            </a:r>
            <a:r>
              <a:rPr lang="en-US" altLang="vi-VN" sz="2000" b="1">
                <a:solidFill>
                  <a:srgbClr val="0000CC"/>
                </a:solidFill>
              </a:rPr>
              <a:t>short int     	  		 	16 bits    		-32,768 .. 32,767</a:t>
            </a:r>
          </a:p>
          <a:p>
            <a:pPr algn="l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vi-VN" sz="2000"/>
              <a:t>   </a:t>
            </a:r>
            <a:r>
              <a:rPr lang="en-US" altLang="vi-VN" sz="2000" b="1"/>
              <a:t>int           	  			 	16 bits   			-32,768 .. 32,767</a:t>
            </a:r>
          </a:p>
          <a:p>
            <a:pPr algn="l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vi-VN" sz="2000"/>
              <a:t>   </a:t>
            </a:r>
            <a:r>
              <a:rPr lang="en-US" altLang="vi-VN" sz="2000" b="1">
                <a:solidFill>
                  <a:srgbClr val="0000CC"/>
                </a:solidFill>
              </a:rPr>
              <a:t>unsigned long  	32 bits    		0 .. 4,294,967,295</a:t>
            </a:r>
          </a:p>
          <a:p>
            <a:pPr algn="l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vi-VN" sz="2000"/>
              <a:t>   </a:t>
            </a:r>
            <a:r>
              <a:rPr lang="en-US" altLang="vi-VN" sz="2000" b="1"/>
              <a:t>long          	   		32 bits    		-2,147,483,648 ..2,147,483,647</a:t>
            </a:r>
          </a:p>
          <a:p>
            <a:pPr algn="l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vi-VN" sz="2000"/>
              <a:t>   </a:t>
            </a:r>
            <a:r>
              <a:rPr lang="en-US" altLang="vi-VN" sz="2000" b="1">
                <a:solidFill>
                  <a:srgbClr val="0000CC"/>
                </a:solidFill>
              </a:rPr>
              <a:t>float         	   			32 bits 				3.4 * (10</a:t>
            </a:r>
            <a:r>
              <a:rPr lang="en-US" altLang="vi-VN" sz="2000" b="1" baseline="30000">
                <a:solidFill>
                  <a:srgbClr val="0000CC"/>
                </a:solidFill>
              </a:rPr>
              <a:t>-38</a:t>
            </a:r>
            <a:r>
              <a:rPr lang="en-US" altLang="vi-VN" sz="2000" b="1">
                <a:solidFill>
                  <a:srgbClr val="0000CC"/>
                </a:solidFill>
              </a:rPr>
              <a:t>) ..3.4 * (10</a:t>
            </a:r>
            <a:r>
              <a:rPr lang="en-US" altLang="vi-VN" sz="2000" b="1" baseline="30000">
                <a:solidFill>
                  <a:srgbClr val="0000CC"/>
                </a:solidFill>
              </a:rPr>
              <a:t>+38</a:t>
            </a:r>
            <a:r>
              <a:rPr lang="en-US" altLang="vi-VN" sz="2000" b="1">
                <a:solidFill>
                  <a:srgbClr val="0000CC"/>
                </a:solidFill>
              </a:rPr>
              <a:t>)</a:t>
            </a:r>
          </a:p>
          <a:p>
            <a:pPr algn="l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vi-VN" sz="2000"/>
              <a:t>   </a:t>
            </a:r>
            <a:r>
              <a:rPr lang="en-US" altLang="vi-VN" sz="2000" b="1"/>
              <a:t>double        	   		64 bits 				1.7 * (10</a:t>
            </a:r>
            <a:r>
              <a:rPr lang="en-US" altLang="vi-VN" sz="2000" b="1" baseline="30000"/>
              <a:t>-308</a:t>
            </a:r>
            <a:r>
              <a:rPr lang="en-US" altLang="vi-VN" sz="2000" b="1"/>
              <a:t>) .. 1.7 * (10</a:t>
            </a:r>
            <a:r>
              <a:rPr lang="en-US" altLang="vi-VN" sz="2000" b="1" baseline="30000"/>
              <a:t>+308</a:t>
            </a:r>
            <a:r>
              <a:rPr lang="en-US" altLang="vi-VN" sz="2000" b="1"/>
              <a:t>)</a:t>
            </a:r>
          </a:p>
          <a:p>
            <a:pPr algn="l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vi-VN" sz="2000"/>
              <a:t>   </a:t>
            </a:r>
            <a:r>
              <a:rPr lang="en-US" altLang="vi-VN" sz="2000" b="1">
                <a:solidFill>
                  <a:srgbClr val="0000CC"/>
                </a:solidFill>
              </a:rPr>
              <a:t>long double      	80 bits 				3.4 * (10</a:t>
            </a:r>
            <a:r>
              <a:rPr lang="en-US" altLang="vi-VN" sz="2000" b="1" baseline="30000">
                <a:solidFill>
                  <a:srgbClr val="0000CC"/>
                </a:solidFill>
              </a:rPr>
              <a:t>-4932</a:t>
            </a:r>
            <a:r>
              <a:rPr lang="en-US" altLang="vi-VN" sz="2000" b="1">
                <a:solidFill>
                  <a:srgbClr val="0000CC"/>
                </a:solidFill>
              </a:rPr>
              <a:t>) .. 1.1 * (10</a:t>
            </a:r>
            <a:r>
              <a:rPr lang="en-US" altLang="vi-VN" sz="2000" b="1" baseline="30000">
                <a:solidFill>
                  <a:srgbClr val="0000CC"/>
                </a:solidFill>
              </a:rPr>
              <a:t>+4932</a:t>
            </a:r>
            <a:r>
              <a:rPr lang="en-US" altLang="vi-VN" sz="2000" b="1">
                <a:solidFill>
                  <a:srgbClr val="0000CC"/>
                </a:solidFill>
              </a:rPr>
              <a:t>)</a:t>
            </a:r>
          </a:p>
        </p:txBody>
      </p:sp>
      <p:sp>
        <p:nvSpPr>
          <p:cNvPr id="7173" name="Oval 10"/>
          <p:cNvSpPr>
            <a:spLocks noChangeArrowheads="1"/>
          </p:cNvSpPr>
          <p:nvPr/>
        </p:nvSpPr>
        <p:spPr bwMode="auto">
          <a:xfrm>
            <a:off x="1314450" y="349249"/>
            <a:ext cx="6172200" cy="7620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vi-VN" sz="2800" b="1" dirty="0">
                <a:latin typeface="Tahoma" panose="020B0604030504040204" pitchFamily="34" charset="0"/>
              </a:rPr>
              <a:t>CÁC KIỂU DỮ LIỆU CƠ BẢN </a:t>
            </a:r>
          </a:p>
        </p:txBody>
      </p:sp>
    </p:spTree>
    <p:extLst>
      <p:ext uri="{BB962C8B-B14F-4D97-AF65-F5344CB8AC3E}">
        <p14:creationId xmlns:p14="http://schemas.microsoft.com/office/powerpoint/2010/main" val="1034285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vi-VN">
                <a:solidFill>
                  <a:schemeClr val="bg1"/>
                </a:solidFill>
              </a:rPr>
              <a:t>www.hoasen.edu.vn</a:t>
            </a:r>
            <a:endParaRPr lang="en-GB" altLang="vi-VN">
              <a:solidFill>
                <a:schemeClr val="bg1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2A0288B-E3B5-4D19-9D9E-221CEB2D7936}" type="slidenum">
              <a:rPr lang="en-US" altLang="vi-VN">
                <a:solidFill>
                  <a:srgbClr val="FFFF00"/>
                </a:solidFill>
              </a:rPr>
              <a:pPr eaLnBrk="1" hangingPunct="1"/>
              <a:t>5</a:t>
            </a:fld>
            <a:endParaRPr lang="en-GB" altLang="vi-VN">
              <a:solidFill>
                <a:srgbClr val="FFFF00"/>
              </a:solidFill>
            </a:endParaRPr>
          </a:p>
        </p:txBody>
      </p:sp>
      <p:sp>
        <p:nvSpPr>
          <p:cNvPr id="8196" name="Oval 5"/>
          <p:cNvSpPr>
            <a:spLocks noChangeArrowheads="1"/>
          </p:cNvSpPr>
          <p:nvPr/>
        </p:nvSpPr>
        <p:spPr bwMode="auto">
          <a:xfrm>
            <a:off x="1676400" y="228600"/>
            <a:ext cx="6172200" cy="7620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vi-VN" sz="2800" b="1" dirty="0">
                <a:latin typeface="Tahoma" panose="020B0604030504040204" pitchFamily="34" charset="0"/>
              </a:rPr>
              <a:t>HẰNG - CONSTANT</a:t>
            </a:r>
          </a:p>
        </p:txBody>
      </p:sp>
      <p:sp>
        <p:nvSpPr>
          <p:cNvPr id="8197" name="Text Box 6"/>
          <p:cNvSpPr txBox="1">
            <a:spLocks noChangeArrowheads="1"/>
          </p:cNvSpPr>
          <p:nvPr/>
        </p:nvSpPr>
        <p:spPr bwMode="auto">
          <a:xfrm>
            <a:off x="457200" y="1219200"/>
            <a:ext cx="8382000" cy="4876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27" tIns="45714" rIns="91427" bIns="45714"/>
          <a:lstStyle>
            <a:lvl1pPr defTabSz="1143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1143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1143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1143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1143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defTabSz="114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defTabSz="114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defTabSz="114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defTabSz="114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vi-VN" sz="2400" b="1" dirty="0">
                <a:solidFill>
                  <a:srgbClr val="0000CC"/>
                </a:solidFill>
              </a:rPr>
              <a:t>			</a:t>
            </a:r>
            <a:r>
              <a:rPr lang="en-US" altLang="vi-VN" sz="2800" b="1" dirty="0">
                <a:solidFill>
                  <a:srgbClr val="0000CC"/>
                </a:solidFill>
              </a:rPr>
              <a:t>- </a:t>
            </a:r>
            <a:r>
              <a:rPr lang="en-US" altLang="vi-VN" sz="2400" b="1" dirty="0" err="1">
                <a:solidFill>
                  <a:srgbClr val="0000CC"/>
                </a:solidFill>
              </a:rPr>
              <a:t>H</a:t>
            </a:r>
            <a:r>
              <a:rPr lang="en-US" altLang="vi-VN" sz="2800" b="1" dirty="0" err="1">
                <a:solidFill>
                  <a:srgbClr val="0000CC"/>
                </a:solidFill>
              </a:rPr>
              <a:t>ằng</a:t>
            </a:r>
            <a:r>
              <a:rPr lang="en-US" altLang="vi-VN" sz="2800" b="1" dirty="0">
                <a:solidFill>
                  <a:srgbClr val="0000CC"/>
                </a:solidFill>
              </a:rPr>
              <a:t> </a:t>
            </a:r>
            <a:r>
              <a:rPr lang="en-US" altLang="vi-VN" sz="2800" b="1" dirty="0" err="1">
                <a:solidFill>
                  <a:srgbClr val="0000CC"/>
                </a:solidFill>
              </a:rPr>
              <a:t>là</a:t>
            </a:r>
            <a:r>
              <a:rPr lang="en-US" altLang="vi-VN" sz="2800" b="1" dirty="0">
                <a:solidFill>
                  <a:srgbClr val="0000CC"/>
                </a:solidFill>
              </a:rPr>
              <a:t> </a:t>
            </a:r>
            <a:r>
              <a:rPr lang="en-US" altLang="vi-VN" sz="2800" b="1" dirty="0" err="1">
                <a:solidFill>
                  <a:srgbClr val="0000CC"/>
                </a:solidFill>
              </a:rPr>
              <a:t>đại</a:t>
            </a:r>
            <a:r>
              <a:rPr lang="en-US" altLang="vi-VN" sz="2800" b="1" dirty="0">
                <a:solidFill>
                  <a:srgbClr val="0000CC"/>
                </a:solidFill>
              </a:rPr>
              <a:t> </a:t>
            </a:r>
            <a:r>
              <a:rPr lang="en-US" altLang="vi-VN" sz="2800" b="1" dirty="0" err="1">
                <a:solidFill>
                  <a:srgbClr val="0000CC"/>
                </a:solidFill>
              </a:rPr>
              <a:t>lượng</a:t>
            </a:r>
            <a:r>
              <a:rPr lang="en-US" altLang="vi-VN" sz="2800" b="1" dirty="0">
                <a:solidFill>
                  <a:srgbClr val="0000CC"/>
                </a:solidFill>
              </a:rPr>
              <a:t> </a:t>
            </a:r>
            <a:r>
              <a:rPr lang="en-US" altLang="vi-VN" sz="2800" b="1" dirty="0" err="1">
                <a:solidFill>
                  <a:srgbClr val="0000CC"/>
                </a:solidFill>
              </a:rPr>
              <a:t>mà</a:t>
            </a:r>
            <a:r>
              <a:rPr lang="en-US" altLang="vi-VN" sz="2800" b="1" dirty="0">
                <a:solidFill>
                  <a:srgbClr val="0000CC"/>
                </a:solidFill>
              </a:rPr>
              <a:t> </a:t>
            </a:r>
            <a:r>
              <a:rPr lang="en-US" altLang="vi-VN" sz="2800" b="1" dirty="0" err="1">
                <a:solidFill>
                  <a:srgbClr val="0000CC"/>
                </a:solidFill>
              </a:rPr>
              <a:t>giá</a:t>
            </a:r>
            <a:r>
              <a:rPr lang="en-US" altLang="vi-VN" sz="2800" b="1" dirty="0">
                <a:solidFill>
                  <a:srgbClr val="0000CC"/>
                </a:solidFill>
              </a:rPr>
              <a:t> </a:t>
            </a:r>
            <a:r>
              <a:rPr lang="en-US" altLang="vi-VN" sz="2800" b="1" dirty="0" err="1">
                <a:solidFill>
                  <a:srgbClr val="0000CC"/>
                </a:solidFill>
              </a:rPr>
              <a:t>trị</a:t>
            </a:r>
            <a:r>
              <a:rPr lang="en-US" altLang="vi-VN" sz="2800" b="1" dirty="0">
                <a:solidFill>
                  <a:srgbClr val="0000CC"/>
                </a:solidFill>
              </a:rPr>
              <a:t> </a:t>
            </a:r>
            <a:r>
              <a:rPr lang="en-US" altLang="vi-VN" sz="2800" b="1" dirty="0" err="1">
                <a:solidFill>
                  <a:srgbClr val="0000CC"/>
                </a:solidFill>
              </a:rPr>
              <a:t>của</a:t>
            </a:r>
            <a:r>
              <a:rPr lang="en-US" altLang="vi-VN" sz="2800" b="1" dirty="0">
                <a:solidFill>
                  <a:srgbClr val="0000CC"/>
                </a:solidFill>
              </a:rPr>
              <a:t> </a:t>
            </a:r>
            <a:r>
              <a:rPr lang="en-US" altLang="vi-VN" sz="2800" b="1" dirty="0" err="1">
                <a:solidFill>
                  <a:srgbClr val="0000CC"/>
                </a:solidFill>
              </a:rPr>
              <a:t>nó</a:t>
            </a:r>
            <a:r>
              <a:rPr lang="en-US" altLang="vi-VN" sz="2800" b="1" dirty="0">
                <a:solidFill>
                  <a:srgbClr val="0000CC"/>
                </a:solidFill>
              </a:rPr>
              <a:t> </a:t>
            </a:r>
            <a:r>
              <a:rPr lang="en-US" altLang="vi-VN" sz="2800" b="1" dirty="0" err="1">
                <a:solidFill>
                  <a:srgbClr val="FF0000"/>
                </a:solidFill>
              </a:rPr>
              <a:t>không</a:t>
            </a:r>
            <a:r>
              <a:rPr lang="en-US" altLang="vi-VN" sz="2800" b="1" dirty="0">
                <a:solidFill>
                  <a:srgbClr val="0000CC"/>
                </a:solidFill>
              </a:rPr>
              <a:t> </a:t>
            </a:r>
            <a:r>
              <a:rPr lang="en-US" altLang="vi-VN" sz="2800" b="1" dirty="0" err="1">
                <a:solidFill>
                  <a:srgbClr val="0000CC"/>
                </a:solidFill>
              </a:rPr>
              <a:t>thay</a:t>
            </a:r>
            <a:r>
              <a:rPr lang="en-US" altLang="vi-VN" sz="2800" b="1" dirty="0">
                <a:solidFill>
                  <a:srgbClr val="0000CC"/>
                </a:solidFill>
              </a:rPr>
              <a:t> </a:t>
            </a:r>
            <a:r>
              <a:rPr lang="en-US" altLang="vi-VN" sz="2800" b="1" dirty="0" err="1">
                <a:solidFill>
                  <a:srgbClr val="0000CC"/>
                </a:solidFill>
              </a:rPr>
              <a:t>đổi</a:t>
            </a:r>
            <a:r>
              <a:rPr lang="en-US" altLang="vi-VN" sz="2800" b="1" dirty="0">
                <a:solidFill>
                  <a:srgbClr val="0000CC"/>
                </a:solidFill>
              </a:rPr>
              <a:t> </a:t>
            </a:r>
            <a:r>
              <a:rPr lang="en-US" altLang="vi-VN" sz="2800" b="1" dirty="0" err="1">
                <a:solidFill>
                  <a:srgbClr val="0000CC"/>
                </a:solidFill>
              </a:rPr>
              <a:t>trong</a:t>
            </a:r>
            <a:r>
              <a:rPr lang="en-US" altLang="vi-VN" sz="2800" b="1" dirty="0">
                <a:solidFill>
                  <a:srgbClr val="0000CC"/>
                </a:solidFill>
              </a:rPr>
              <a:t> </a:t>
            </a:r>
            <a:r>
              <a:rPr lang="en-US" altLang="vi-VN" sz="2800" b="1" dirty="0" err="1">
                <a:solidFill>
                  <a:srgbClr val="0000CC"/>
                </a:solidFill>
              </a:rPr>
              <a:t>quá</a:t>
            </a:r>
            <a:r>
              <a:rPr lang="en-US" altLang="vi-VN" sz="2800" b="1" dirty="0">
                <a:solidFill>
                  <a:srgbClr val="0000CC"/>
                </a:solidFill>
              </a:rPr>
              <a:t> </a:t>
            </a:r>
            <a:r>
              <a:rPr lang="en-US" altLang="vi-VN" sz="2800" b="1" dirty="0" err="1">
                <a:solidFill>
                  <a:srgbClr val="0000CC"/>
                </a:solidFill>
              </a:rPr>
              <a:t>trình</a:t>
            </a:r>
            <a:r>
              <a:rPr lang="en-US" altLang="vi-VN" sz="2800" b="1" dirty="0">
                <a:solidFill>
                  <a:srgbClr val="0000CC"/>
                </a:solidFill>
              </a:rPr>
              <a:t> </a:t>
            </a:r>
            <a:r>
              <a:rPr lang="en-US" altLang="vi-VN" sz="2800" b="1" dirty="0" err="1">
                <a:solidFill>
                  <a:srgbClr val="0000CC"/>
                </a:solidFill>
              </a:rPr>
              <a:t>chạy</a:t>
            </a:r>
            <a:r>
              <a:rPr lang="en-US" altLang="vi-VN" sz="2800" b="1" dirty="0">
                <a:solidFill>
                  <a:srgbClr val="0000CC"/>
                </a:solidFill>
              </a:rPr>
              <a:t> </a:t>
            </a:r>
            <a:r>
              <a:rPr lang="en-US" altLang="vi-VN" sz="2800" b="1" dirty="0" err="1">
                <a:solidFill>
                  <a:srgbClr val="0000CC"/>
                </a:solidFill>
              </a:rPr>
              <a:t>chương</a:t>
            </a:r>
            <a:r>
              <a:rPr lang="en-US" altLang="vi-VN" sz="2800" b="1" dirty="0">
                <a:solidFill>
                  <a:srgbClr val="0000CC"/>
                </a:solidFill>
              </a:rPr>
              <a:t> </a:t>
            </a:r>
            <a:r>
              <a:rPr lang="en-US" altLang="vi-VN" sz="2800" b="1" dirty="0" err="1">
                <a:solidFill>
                  <a:srgbClr val="0000CC"/>
                </a:solidFill>
              </a:rPr>
              <a:t>trình</a:t>
            </a:r>
            <a:r>
              <a:rPr lang="en-US" altLang="vi-VN" sz="2800" b="1" dirty="0">
                <a:solidFill>
                  <a:srgbClr val="0000CC"/>
                </a:solidFill>
              </a:rPr>
              <a:t>. </a:t>
            </a:r>
          </a:p>
          <a:p>
            <a:pPr algn="l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vi-VN" sz="2800" b="1" dirty="0">
                <a:solidFill>
                  <a:srgbClr val="0000CC"/>
                </a:solidFill>
              </a:rPr>
              <a:t>			- </a:t>
            </a:r>
            <a:r>
              <a:rPr lang="en-US" altLang="vi-VN" sz="2800" b="1" dirty="0" err="1">
                <a:solidFill>
                  <a:srgbClr val="0000CC"/>
                </a:solidFill>
              </a:rPr>
              <a:t>Khai</a:t>
            </a:r>
            <a:r>
              <a:rPr lang="en-US" altLang="vi-VN" sz="2800" b="1" dirty="0">
                <a:solidFill>
                  <a:srgbClr val="0000CC"/>
                </a:solidFill>
              </a:rPr>
              <a:t> </a:t>
            </a:r>
            <a:r>
              <a:rPr lang="en-US" altLang="vi-VN" sz="2800" b="1" dirty="0" err="1">
                <a:solidFill>
                  <a:srgbClr val="0000CC"/>
                </a:solidFill>
              </a:rPr>
              <a:t>báo</a:t>
            </a:r>
            <a:r>
              <a:rPr lang="en-US" altLang="vi-VN" sz="2800" b="1" dirty="0">
                <a:solidFill>
                  <a:srgbClr val="0000CC"/>
                </a:solidFill>
              </a:rPr>
              <a:t> </a:t>
            </a:r>
            <a:r>
              <a:rPr lang="en-US" altLang="vi-VN" sz="2800" b="1" dirty="0" err="1">
                <a:solidFill>
                  <a:srgbClr val="0000CC"/>
                </a:solidFill>
              </a:rPr>
              <a:t>hằng</a:t>
            </a:r>
            <a:r>
              <a:rPr lang="en-US" altLang="vi-VN" sz="2800" b="1" dirty="0">
                <a:solidFill>
                  <a:srgbClr val="0000CC"/>
                </a:solidFill>
              </a:rPr>
              <a:t>:</a:t>
            </a:r>
          </a:p>
          <a:p>
            <a:pPr lvl="1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vi-VN" sz="2400" dirty="0" err="1">
                <a:solidFill>
                  <a:srgbClr val="0000CC"/>
                </a:solidFill>
              </a:rPr>
              <a:t>Cách</a:t>
            </a:r>
            <a:r>
              <a:rPr lang="en-US" altLang="vi-VN" sz="2400" dirty="0">
                <a:solidFill>
                  <a:srgbClr val="0000CC"/>
                </a:solidFill>
              </a:rPr>
              <a:t> 1:Dùng macro. </a:t>
            </a:r>
            <a:r>
              <a:rPr lang="en-US" altLang="vi-VN" sz="2400" dirty="0" err="1">
                <a:solidFill>
                  <a:srgbClr val="0000CC"/>
                </a:solidFill>
              </a:rPr>
              <a:t>Thí</a:t>
            </a:r>
            <a:r>
              <a:rPr lang="en-US" altLang="vi-VN" sz="2400" dirty="0">
                <a:solidFill>
                  <a:srgbClr val="0000CC"/>
                </a:solidFill>
              </a:rPr>
              <a:t> </a:t>
            </a:r>
            <a:r>
              <a:rPr lang="en-US" altLang="vi-VN" sz="2400" dirty="0" err="1">
                <a:solidFill>
                  <a:srgbClr val="0000CC"/>
                </a:solidFill>
              </a:rPr>
              <a:t>dụ</a:t>
            </a:r>
            <a:r>
              <a:rPr lang="en-US" altLang="vi-VN" sz="2400" dirty="0">
                <a:solidFill>
                  <a:srgbClr val="0000CC"/>
                </a:solidFill>
              </a:rPr>
              <a:t>:</a:t>
            </a:r>
          </a:p>
          <a:p>
            <a:pPr lvl="1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en-US" altLang="vi-VN" sz="2400" dirty="0">
                <a:solidFill>
                  <a:srgbClr val="0000CC"/>
                </a:solidFill>
              </a:rPr>
              <a:t>   #define  PI 3.141592</a:t>
            </a:r>
          </a:p>
          <a:p>
            <a:pPr lvl="1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vi-VN" sz="2400" dirty="0" err="1">
                <a:solidFill>
                  <a:srgbClr val="0000CC"/>
                </a:solidFill>
              </a:rPr>
              <a:t>Cách</a:t>
            </a:r>
            <a:r>
              <a:rPr lang="en-US" altLang="vi-VN" sz="2400" dirty="0">
                <a:solidFill>
                  <a:srgbClr val="0000CC"/>
                </a:solidFill>
              </a:rPr>
              <a:t> 2: </a:t>
            </a:r>
            <a:r>
              <a:rPr lang="en-US" altLang="vi-VN" sz="2400" dirty="0" err="1">
                <a:solidFill>
                  <a:srgbClr val="0000CC"/>
                </a:solidFill>
              </a:rPr>
              <a:t>Định</a:t>
            </a:r>
            <a:r>
              <a:rPr lang="en-US" altLang="vi-VN" sz="2400" dirty="0">
                <a:solidFill>
                  <a:srgbClr val="0000CC"/>
                </a:solidFill>
              </a:rPr>
              <a:t> </a:t>
            </a:r>
            <a:r>
              <a:rPr lang="en-US" altLang="vi-VN" sz="2400" dirty="0" err="1">
                <a:solidFill>
                  <a:srgbClr val="0000CC"/>
                </a:solidFill>
              </a:rPr>
              <a:t>nghĩa</a:t>
            </a:r>
            <a:r>
              <a:rPr lang="en-US" altLang="vi-VN" sz="2400" dirty="0">
                <a:solidFill>
                  <a:srgbClr val="0000CC"/>
                </a:solidFill>
              </a:rPr>
              <a:t> </a:t>
            </a:r>
            <a:r>
              <a:rPr lang="en-US" altLang="vi-VN" sz="2400" dirty="0" err="1">
                <a:solidFill>
                  <a:srgbClr val="0000CC"/>
                </a:solidFill>
              </a:rPr>
              <a:t>hằng</a:t>
            </a:r>
            <a:r>
              <a:rPr lang="en-US" altLang="vi-VN" sz="2400" dirty="0">
                <a:solidFill>
                  <a:srgbClr val="0000CC"/>
                </a:solidFill>
              </a:rPr>
              <a:t> </a:t>
            </a:r>
            <a:r>
              <a:rPr lang="en-US" altLang="vi-VN" sz="2400" dirty="0" err="1">
                <a:solidFill>
                  <a:srgbClr val="0000CC"/>
                </a:solidFill>
              </a:rPr>
              <a:t>không</a:t>
            </a:r>
            <a:r>
              <a:rPr lang="en-US" altLang="vi-VN" sz="2400" dirty="0">
                <a:solidFill>
                  <a:srgbClr val="0000CC"/>
                </a:solidFill>
              </a:rPr>
              <a:t> </a:t>
            </a:r>
            <a:r>
              <a:rPr lang="en-US" altLang="vi-VN" sz="2400" dirty="0" err="1">
                <a:solidFill>
                  <a:srgbClr val="0000CC"/>
                </a:solidFill>
              </a:rPr>
              <a:t>kiểu</a:t>
            </a:r>
            <a:r>
              <a:rPr lang="en-US" altLang="vi-VN" sz="2400" dirty="0">
                <a:solidFill>
                  <a:srgbClr val="0000CC"/>
                </a:solidFill>
              </a:rPr>
              <a:t>. </a:t>
            </a:r>
            <a:r>
              <a:rPr lang="en-US" altLang="vi-VN" sz="2400" dirty="0" err="1">
                <a:solidFill>
                  <a:srgbClr val="0000CC"/>
                </a:solidFill>
              </a:rPr>
              <a:t>Thí</a:t>
            </a:r>
            <a:r>
              <a:rPr lang="en-US" altLang="vi-VN" sz="2400" dirty="0">
                <a:solidFill>
                  <a:srgbClr val="0000CC"/>
                </a:solidFill>
              </a:rPr>
              <a:t> </a:t>
            </a:r>
            <a:r>
              <a:rPr lang="en-US" altLang="vi-VN" sz="2400" dirty="0" err="1">
                <a:solidFill>
                  <a:srgbClr val="0000CC"/>
                </a:solidFill>
              </a:rPr>
              <a:t>dụ</a:t>
            </a:r>
            <a:r>
              <a:rPr lang="en-US" altLang="vi-VN" sz="2400" dirty="0">
                <a:solidFill>
                  <a:srgbClr val="0000CC"/>
                </a:solidFill>
              </a:rPr>
              <a:t>:</a:t>
            </a:r>
          </a:p>
          <a:p>
            <a:pPr lvl="1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en-US" altLang="vi-VN" sz="2400" dirty="0">
                <a:solidFill>
                  <a:srgbClr val="0000CC"/>
                </a:solidFill>
              </a:rPr>
              <a:t>   </a:t>
            </a:r>
            <a:r>
              <a:rPr lang="en-US" altLang="vi-VN" sz="2400" dirty="0" err="1">
                <a:solidFill>
                  <a:srgbClr val="0000CC"/>
                </a:solidFill>
              </a:rPr>
              <a:t>const</a:t>
            </a:r>
            <a:r>
              <a:rPr lang="en-US" altLang="vi-VN" sz="2400" dirty="0">
                <a:solidFill>
                  <a:srgbClr val="0000CC"/>
                </a:solidFill>
              </a:rPr>
              <a:t>  </a:t>
            </a:r>
            <a:r>
              <a:rPr lang="en-US" altLang="vi-VN" sz="2400" dirty="0" err="1">
                <a:solidFill>
                  <a:srgbClr val="0000CC"/>
                </a:solidFill>
              </a:rPr>
              <a:t>MaxnN</a:t>
            </a:r>
            <a:r>
              <a:rPr lang="en-US" altLang="vi-VN" sz="2400" dirty="0">
                <a:solidFill>
                  <a:srgbClr val="0000CC"/>
                </a:solidFill>
              </a:rPr>
              <a:t>=100;</a:t>
            </a:r>
          </a:p>
          <a:p>
            <a:pPr lvl="1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vi-VN" sz="2400" dirty="0" err="1">
                <a:solidFill>
                  <a:srgbClr val="0000CC"/>
                </a:solidFill>
              </a:rPr>
              <a:t>Cách</a:t>
            </a:r>
            <a:r>
              <a:rPr lang="en-US" altLang="vi-VN" sz="2400" dirty="0">
                <a:solidFill>
                  <a:srgbClr val="0000CC"/>
                </a:solidFill>
              </a:rPr>
              <a:t> 3: </a:t>
            </a:r>
            <a:r>
              <a:rPr lang="en-US" altLang="vi-VN" sz="2400" dirty="0" err="1">
                <a:solidFill>
                  <a:srgbClr val="0000CC"/>
                </a:solidFill>
              </a:rPr>
              <a:t>Định</a:t>
            </a:r>
            <a:r>
              <a:rPr lang="en-US" altLang="vi-VN" sz="2400" dirty="0">
                <a:solidFill>
                  <a:srgbClr val="0000CC"/>
                </a:solidFill>
              </a:rPr>
              <a:t> </a:t>
            </a:r>
            <a:r>
              <a:rPr lang="en-US" altLang="vi-VN" sz="2400" dirty="0" err="1">
                <a:solidFill>
                  <a:srgbClr val="0000CC"/>
                </a:solidFill>
              </a:rPr>
              <a:t>nghĩa</a:t>
            </a:r>
            <a:r>
              <a:rPr lang="en-US" altLang="vi-VN" sz="2400" dirty="0">
                <a:solidFill>
                  <a:srgbClr val="0000CC"/>
                </a:solidFill>
              </a:rPr>
              <a:t> </a:t>
            </a:r>
            <a:r>
              <a:rPr lang="en-US" altLang="vi-VN" sz="2400" dirty="0" err="1">
                <a:solidFill>
                  <a:srgbClr val="0000CC"/>
                </a:solidFill>
              </a:rPr>
              <a:t>hằng</a:t>
            </a:r>
            <a:r>
              <a:rPr lang="en-US" altLang="vi-VN" sz="2400" dirty="0">
                <a:solidFill>
                  <a:srgbClr val="0000CC"/>
                </a:solidFill>
              </a:rPr>
              <a:t> </a:t>
            </a:r>
            <a:r>
              <a:rPr lang="en-US" altLang="vi-VN" sz="2400" dirty="0" err="1">
                <a:solidFill>
                  <a:srgbClr val="0000CC"/>
                </a:solidFill>
              </a:rPr>
              <a:t>có</a:t>
            </a:r>
            <a:r>
              <a:rPr lang="en-US" altLang="vi-VN" sz="2400" dirty="0">
                <a:solidFill>
                  <a:srgbClr val="0000CC"/>
                </a:solidFill>
              </a:rPr>
              <a:t> </a:t>
            </a:r>
            <a:r>
              <a:rPr lang="en-US" altLang="vi-VN" sz="2400" dirty="0" err="1">
                <a:solidFill>
                  <a:srgbClr val="0000CC"/>
                </a:solidFill>
              </a:rPr>
              <a:t>kiểu</a:t>
            </a:r>
            <a:r>
              <a:rPr lang="en-US" altLang="vi-VN" sz="2400" dirty="0">
                <a:solidFill>
                  <a:srgbClr val="0000CC"/>
                </a:solidFill>
              </a:rPr>
              <a:t>. </a:t>
            </a:r>
            <a:r>
              <a:rPr lang="en-US" altLang="vi-VN" sz="2400" dirty="0" err="1">
                <a:solidFill>
                  <a:srgbClr val="0000CC"/>
                </a:solidFill>
              </a:rPr>
              <a:t>Thí</a:t>
            </a:r>
            <a:r>
              <a:rPr lang="en-US" altLang="vi-VN" sz="2400" dirty="0">
                <a:solidFill>
                  <a:srgbClr val="0000CC"/>
                </a:solidFill>
              </a:rPr>
              <a:t> </a:t>
            </a:r>
            <a:r>
              <a:rPr lang="en-US" altLang="vi-VN" sz="2400" dirty="0" err="1">
                <a:solidFill>
                  <a:srgbClr val="0000CC"/>
                </a:solidFill>
              </a:rPr>
              <a:t>dụ</a:t>
            </a:r>
            <a:r>
              <a:rPr lang="en-US" altLang="vi-VN" sz="2400" dirty="0">
                <a:solidFill>
                  <a:srgbClr val="0000CC"/>
                </a:solidFill>
              </a:rPr>
              <a:t>:</a:t>
            </a:r>
          </a:p>
          <a:p>
            <a:pPr lvl="1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</a:pPr>
            <a:r>
              <a:rPr lang="en-US" altLang="vi-VN" sz="2400" dirty="0">
                <a:solidFill>
                  <a:srgbClr val="0000CC"/>
                </a:solidFill>
              </a:rPr>
              <a:t>	</a:t>
            </a:r>
            <a:r>
              <a:rPr lang="en-US" altLang="vi-VN" sz="2400" dirty="0" err="1">
                <a:solidFill>
                  <a:srgbClr val="0000CC"/>
                </a:solidFill>
              </a:rPr>
              <a:t>const</a:t>
            </a:r>
            <a:r>
              <a:rPr lang="en-US" altLang="vi-VN" sz="2400" dirty="0">
                <a:solidFill>
                  <a:srgbClr val="0000CC"/>
                </a:solidFill>
              </a:rPr>
              <a:t>  long </a:t>
            </a:r>
            <a:r>
              <a:rPr lang="en-US" altLang="vi-VN" sz="2400" dirty="0" err="1">
                <a:solidFill>
                  <a:srgbClr val="0000CC"/>
                </a:solidFill>
              </a:rPr>
              <a:t>MaxSalary</a:t>
            </a:r>
            <a:r>
              <a:rPr lang="en-US" altLang="vi-VN" sz="2400" dirty="0">
                <a:solidFill>
                  <a:srgbClr val="0000CC"/>
                </a:solidFill>
              </a:rPr>
              <a:t>=12000000;</a:t>
            </a:r>
          </a:p>
          <a:p>
            <a:pPr lvl="1" algn="l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altLang="vi-VN" sz="2400" dirty="0" err="1">
                <a:solidFill>
                  <a:srgbClr val="0000CC"/>
                </a:solidFill>
              </a:rPr>
              <a:t>Cách</a:t>
            </a:r>
            <a:r>
              <a:rPr lang="en-US" altLang="vi-VN" sz="2400" dirty="0">
                <a:solidFill>
                  <a:srgbClr val="0000CC"/>
                </a:solidFill>
              </a:rPr>
              <a:t> 4: </a:t>
            </a:r>
            <a:r>
              <a:rPr lang="en-US" altLang="vi-VN" sz="2400" dirty="0" err="1">
                <a:solidFill>
                  <a:srgbClr val="0000CC"/>
                </a:solidFill>
              </a:rPr>
              <a:t>Viết</a:t>
            </a:r>
            <a:r>
              <a:rPr lang="en-US" altLang="vi-VN" sz="2400" dirty="0">
                <a:solidFill>
                  <a:srgbClr val="0000CC"/>
                </a:solidFill>
              </a:rPr>
              <a:t> </a:t>
            </a:r>
            <a:r>
              <a:rPr lang="en-US" altLang="vi-VN" sz="2400" dirty="0" err="1">
                <a:solidFill>
                  <a:srgbClr val="0000CC"/>
                </a:solidFill>
              </a:rPr>
              <a:t>thẳng</a:t>
            </a:r>
            <a:r>
              <a:rPr lang="en-US" altLang="vi-VN" sz="2400" dirty="0">
                <a:solidFill>
                  <a:srgbClr val="0000CC"/>
                </a:solidFill>
              </a:rPr>
              <a:t> </a:t>
            </a:r>
            <a:r>
              <a:rPr lang="en-US" altLang="vi-VN" sz="2400" dirty="0" err="1">
                <a:solidFill>
                  <a:srgbClr val="0000CC"/>
                </a:solidFill>
              </a:rPr>
              <a:t>trị</a:t>
            </a:r>
            <a:r>
              <a:rPr lang="en-US" altLang="vi-VN" sz="2400" dirty="0">
                <a:solidFill>
                  <a:srgbClr val="0000CC"/>
                </a:solidFill>
              </a:rPr>
              <a:t> </a:t>
            </a:r>
            <a:r>
              <a:rPr lang="en-US" altLang="vi-VN" sz="2400" dirty="0" err="1">
                <a:solidFill>
                  <a:srgbClr val="0000CC"/>
                </a:solidFill>
              </a:rPr>
              <a:t>hằng</a:t>
            </a:r>
            <a:r>
              <a:rPr lang="en-US" altLang="vi-VN" sz="2400" dirty="0">
                <a:solidFill>
                  <a:srgbClr val="0000CC"/>
                </a:solidFill>
              </a:rPr>
              <a:t> </a:t>
            </a:r>
            <a:r>
              <a:rPr lang="en-US" altLang="vi-VN" sz="2400" dirty="0" err="1">
                <a:solidFill>
                  <a:srgbClr val="0000CC"/>
                </a:solidFill>
              </a:rPr>
              <a:t>trong</a:t>
            </a:r>
            <a:r>
              <a:rPr lang="en-US" altLang="vi-VN" sz="2400" dirty="0">
                <a:solidFill>
                  <a:srgbClr val="0000CC"/>
                </a:solidFill>
              </a:rPr>
              <a:t> </a:t>
            </a:r>
            <a:r>
              <a:rPr lang="en-US" altLang="vi-VN" sz="2400" dirty="0" err="1">
                <a:solidFill>
                  <a:srgbClr val="0000CC"/>
                </a:solidFill>
              </a:rPr>
              <a:t>chương</a:t>
            </a:r>
            <a:r>
              <a:rPr lang="en-US" altLang="vi-VN" sz="2400" dirty="0">
                <a:solidFill>
                  <a:srgbClr val="0000CC"/>
                </a:solidFill>
              </a:rPr>
              <a:t> </a:t>
            </a:r>
            <a:r>
              <a:rPr lang="en-US" altLang="vi-VN" sz="2400" dirty="0" err="1">
                <a:solidFill>
                  <a:srgbClr val="0000CC"/>
                </a:solidFill>
              </a:rPr>
              <a:t>trình</a:t>
            </a:r>
            <a:r>
              <a:rPr lang="en-US" altLang="vi-VN" sz="2400" dirty="0">
                <a:solidFill>
                  <a:srgbClr val="0000CC"/>
                </a:solidFill>
              </a:rPr>
              <a:t>.</a:t>
            </a:r>
          </a:p>
          <a:p>
            <a:pPr algn="l"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vi-VN" sz="2400" b="1" dirty="0">
              <a:solidFill>
                <a:srgbClr val="0000CC"/>
              </a:solidFill>
            </a:endParaRPr>
          </a:p>
          <a:p>
            <a:pPr algn="l">
              <a:buFont typeface="Wingdings" panose="05000000000000000000" pitchFamily="2" charset="2"/>
              <a:buNone/>
            </a:pPr>
            <a:endParaRPr lang="en-US" altLang="vi-VN" sz="2400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3623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vi-VN">
                <a:solidFill>
                  <a:schemeClr val="bg1"/>
                </a:solidFill>
              </a:rPr>
              <a:t>www.hoasen.edu.vn</a:t>
            </a:r>
            <a:endParaRPr lang="en-GB" altLang="vi-VN">
              <a:solidFill>
                <a:schemeClr val="bg1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689FC41-9060-4ED9-A610-5EAB6FED859F}" type="slidenum">
              <a:rPr lang="en-US" altLang="vi-VN">
                <a:solidFill>
                  <a:srgbClr val="FFFF00"/>
                </a:solidFill>
              </a:rPr>
              <a:pPr eaLnBrk="1" hangingPunct="1"/>
              <a:t>6</a:t>
            </a:fld>
            <a:endParaRPr lang="en-GB" altLang="vi-VN">
              <a:solidFill>
                <a:srgbClr val="FFFF00"/>
              </a:solidFill>
            </a:endParaRPr>
          </a:p>
        </p:txBody>
      </p:sp>
      <p:sp>
        <p:nvSpPr>
          <p:cNvPr id="9220" name="Oval 5"/>
          <p:cNvSpPr>
            <a:spLocks noChangeArrowheads="1"/>
          </p:cNvSpPr>
          <p:nvPr/>
        </p:nvSpPr>
        <p:spPr bwMode="auto">
          <a:xfrm>
            <a:off x="1676400" y="228600"/>
            <a:ext cx="6172200" cy="7620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vi-VN" sz="2800" b="1" dirty="0">
                <a:latin typeface="Tahoma" panose="020B0604030504040204" pitchFamily="34" charset="0"/>
              </a:rPr>
              <a:t>BIẾN - VARIABLE</a:t>
            </a:r>
          </a:p>
        </p:txBody>
      </p:sp>
      <p:sp>
        <p:nvSpPr>
          <p:cNvPr id="9221" name="Text Box 6"/>
          <p:cNvSpPr txBox="1">
            <a:spLocks noChangeArrowheads="1"/>
          </p:cNvSpPr>
          <p:nvPr/>
        </p:nvSpPr>
        <p:spPr bwMode="auto">
          <a:xfrm>
            <a:off x="228600" y="1143000"/>
            <a:ext cx="8763000" cy="4876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27" tIns="45714" rIns="91427" bIns="45714"/>
          <a:lstStyle>
            <a:lvl1pPr marL="341313" indent="-287338" defTabSz="1143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1143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1143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1143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1143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defTabSz="114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defTabSz="114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defTabSz="114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defTabSz="114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buFont typeface="Wingdings" panose="05000000000000000000" pitchFamily="2" charset="2"/>
              <a:buNone/>
            </a:pPr>
            <a:r>
              <a:rPr lang="en-US" altLang="vi-VN" sz="2800">
                <a:solidFill>
                  <a:srgbClr val="0000CC"/>
                </a:solidFill>
              </a:rPr>
              <a:t>- Biến là gì?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en-US" altLang="vi-VN" sz="2400">
                <a:solidFill>
                  <a:srgbClr val="0000CC"/>
                </a:solidFill>
              </a:rPr>
              <a:t>  	+ Biến là một giá trị có thể thay đổi khi chương trình thực thi. 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en-US" altLang="vi-VN" sz="2400">
                <a:solidFill>
                  <a:srgbClr val="0000CC"/>
                </a:solidFill>
              </a:rPr>
              <a:t>	+ Khi biến được tạo sẽ xuất hiện một vùng nhớ để lưu trữ giá trị của biến. </a:t>
            </a:r>
          </a:p>
          <a:p>
            <a:pPr algn="l">
              <a:buFont typeface="Wingdings" panose="05000000000000000000" pitchFamily="2" charset="2"/>
              <a:buNone/>
            </a:pPr>
            <a:endParaRPr lang="en-US" altLang="vi-VN" sz="2400">
              <a:solidFill>
                <a:srgbClr val="0000CC"/>
              </a:solidFill>
            </a:endParaRPr>
          </a:p>
          <a:p>
            <a:pPr algn="l">
              <a:buFont typeface="Wingdings" panose="05000000000000000000" pitchFamily="2" charset="2"/>
              <a:buNone/>
            </a:pPr>
            <a:r>
              <a:rPr lang="en-US" altLang="vi-VN" sz="2800">
                <a:solidFill>
                  <a:srgbClr val="0000CC"/>
                </a:solidFill>
              </a:rPr>
              <a:t>- Mọi biến đều phải khai báo trước khi sử dụng.</a:t>
            </a:r>
            <a:r>
              <a:rPr lang="en-US" altLang="vi-VN" sz="2400">
                <a:solidFill>
                  <a:srgbClr val="0000CC"/>
                </a:solidFill>
              </a:rPr>
              <a:t> 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en-US" altLang="vi-VN" sz="2400">
                <a:solidFill>
                  <a:srgbClr val="0000CC"/>
                </a:solidFill>
              </a:rPr>
              <a:t>	Ví dụ khai báo biến:	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en-US" altLang="vi-VN" sz="2400">
                <a:solidFill>
                  <a:srgbClr val="0000CC"/>
                </a:solidFill>
              </a:rPr>
              <a:t>	int a;  		</a:t>
            </a:r>
            <a:r>
              <a:rPr lang="en-US" altLang="vi-VN" sz="2400" i="1">
                <a:solidFill>
                  <a:srgbClr val="0000CC"/>
                </a:solidFill>
              </a:rPr>
              <a:t>/* khai báo 1 biến kiểu số nguyên */</a:t>
            </a:r>
            <a:endParaRPr lang="en-US" altLang="vi-VN" sz="2400">
              <a:solidFill>
                <a:srgbClr val="0000CC"/>
              </a:solidFill>
            </a:endParaRPr>
          </a:p>
          <a:p>
            <a:pPr algn="l">
              <a:buFont typeface="Wingdings" panose="05000000000000000000" pitchFamily="2" charset="2"/>
              <a:buNone/>
            </a:pPr>
            <a:r>
              <a:rPr lang="en-US" altLang="vi-VN" sz="2400">
                <a:solidFill>
                  <a:srgbClr val="0000CC"/>
                </a:solidFill>
              </a:rPr>
              <a:t>	float b,c,d; 	</a:t>
            </a:r>
            <a:r>
              <a:rPr lang="en-US" altLang="vi-VN" sz="2400" i="1">
                <a:solidFill>
                  <a:srgbClr val="0000CC"/>
                </a:solidFill>
              </a:rPr>
              <a:t>/*khai báo 3 biến kiểu float */</a:t>
            </a:r>
            <a:endParaRPr lang="en-US" altLang="vi-VN" sz="2400">
              <a:solidFill>
                <a:srgbClr val="0000CC"/>
              </a:solidFill>
            </a:endParaRPr>
          </a:p>
          <a:p>
            <a:pPr algn="l">
              <a:buFont typeface="Wingdings" panose="05000000000000000000" pitchFamily="2" charset="2"/>
              <a:buNone/>
            </a:pPr>
            <a:r>
              <a:rPr lang="en-US" altLang="vi-VN" sz="2400">
                <a:solidFill>
                  <a:srgbClr val="0000CC"/>
                </a:solidFill>
              </a:rPr>
              <a:t>	int x=10,y=5;  	</a:t>
            </a:r>
            <a:r>
              <a:rPr lang="en-US" altLang="vi-VN" sz="2400" i="1">
                <a:solidFill>
                  <a:srgbClr val="0000CC"/>
                </a:solidFill>
              </a:rPr>
              <a:t>/*khai báo 2 biến kiểu int và khởi 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en-US" altLang="vi-VN" sz="2400" i="1">
                <a:solidFill>
                  <a:srgbClr val="0000CC"/>
                </a:solidFill>
              </a:rPr>
              <a:t>				                        tạo giá trị ban đầu cho nó */</a:t>
            </a:r>
            <a:endParaRPr lang="en-US" altLang="vi-VN" sz="2400">
              <a:solidFill>
                <a:srgbClr val="0000CC"/>
              </a:solidFill>
            </a:endParaRPr>
          </a:p>
          <a:p>
            <a:pPr algn="l">
              <a:buFont typeface="Wingdings" panose="05000000000000000000" pitchFamily="2" charset="2"/>
              <a:buNone/>
            </a:pPr>
            <a:r>
              <a:rPr lang="en-US" altLang="vi-VN" sz="2800">
                <a:solidFill>
                  <a:srgbClr val="0000CC"/>
                </a:solidFill>
              </a:rPr>
              <a:t>-	Để lấy địa chỉ của biến ta dùng phép toán:&amp;tênbiến</a:t>
            </a:r>
          </a:p>
        </p:txBody>
      </p:sp>
    </p:spTree>
    <p:extLst>
      <p:ext uri="{BB962C8B-B14F-4D97-AF65-F5344CB8AC3E}">
        <p14:creationId xmlns:p14="http://schemas.microsoft.com/office/powerpoint/2010/main" val="1990323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vi-VN">
                <a:solidFill>
                  <a:schemeClr val="bg1"/>
                </a:solidFill>
              </a:rPr>
              <a:t>www.hoasen.edu.vn</a:t>
            </a:r>
            <a:endParaRPr lang="en-GB" altLang="vi-VN">
              <a:solidFill>
                <a:schemeClr val="bg1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4FEA693-A51A-477E-BE2D-88C5886C380E}" type="slidenum">
              <a:rPr lang="en-US" altLang="vi-VN">
                <a:solidFill>
                  <a:srgbClr val="FFFF00"/>
                </a:solidFill>
              </a:rPr>
              <a:pPr eaLnBrk="1" hangingPunct="1"/>
              <a:t>7</a:t>
            </a:fld>
            <a:endParaRPr lang="en-GB" altLang="vi-VN">
              <a:solidFill>
                <a:srgbClr val="FFFF00"/>
              </a:solidFill>
            </a:endParaRPr>
          </a:p>
        </p:txBody>
      </p:sp>
      <p:sp>
        <p:nvSpPr>
          <p:cNvPr id="10244" name="Oval 5"/>
          <p:cNvSpPr>
            <a:spLocks noChangeArrowheads="1"/>
          </p:cNvSpPr>
          <p:nvPr/>
        </p:nvSpPr>
        <p:spPr bwMode="auto">
          <a:xfrm>
            <a:off x="1676400" y="228600"/>
            <a:ext cx="6172200" cy="7620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vi-VN" sz="2800" b="1" dirty="0">
                <a:latin typeface="Tahoma" panose="020B0604030504040204" pitchFamily="34" charset="0"/>
              </a:rPr>
              <a:t>NHẬP/XUẤT DỮ LIỆU</a:t>
            </a:r>
          </a:p>
        </p:txBody>
      </p:sp>
      <p:sp>
        <p:nvSpPr>
          <p:cNvPr id="10245" name="Text Box 6"/>
          <p:cNvSpPr txBox="1">
            <a:spLocks noChangeArrowheads="1"/>
          </p:cNvSpPr>
          <p:nvPr/>
        </p:nvSpPr>
        <p:spPr bwMode="auto">
          <a:xfrm>
            <a:off x="228600" y="1219200"/>
            <a:ext cx="8610600" cy="4876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27" tIns="45714" rIns="91427" bIns="45714"/>
          <a:lstStyle>
            <a:lvl1pPr marL="342900" indent="-342900" defTabSz="-138731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-138731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-138731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-138731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-138731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defTabSz="-138731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defTabSz="-138731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defTabSz="-138731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defTabSz="-138731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buFont typeface="Wingdings" panose="05000000000000000000" pitchFamily="2" charset="2"/>
              <a:buNone/>
            </a:pPr>
            <a:r>
              <a:rPr lang="en-US" altLang="vi-VN" sz="2800">
                <a:solidFill>
                  <a:srgbClr val="0000CC"/>
                </a:solidFill>
              </a:rPr>
              <a:t> 	Xuất dữ liệu ra màn hình với hàm </a:t>
            </a:r>
            <a:r>
              <a:rPr lang="en-US" altLang="vi-VN" sz="6600">
                <a:solidFill>
                  <a:srgbClr val="0000CC"/>
                </a:solidFill>
              </a:rPr>
              <a:t>printf</a:t>
            </a:r>
            <a:endParaRPr lang="en-US" altLang="vi-VN" sz="2800">
              <a:solidFill>
                <a:srgbClr val="0000CC"/>
              </a:solidFill>
            </a:endParaRPr>
          </a:p>
          <a:p>
            <a:pPr algn="l">
              <a:buFont typeface="Wingdings" panose="05000000000000000000" pitchFamily="2" charset="2"/>
              <a:buNone/>
            </a:pPr>
            <a:r>
              <a:rPr lang="en-US" altLang="vi-VN" sz="2800">
                <a:solidFill>
                  <a:srgbClr val="0000CC"/>
                </a:solidFill>
              </a:rPr>
              <a:t>	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en-US" altLang="vi-VN" sz="2800">
                <a:solidFill>
                  <a:srgbClr val="0000CC"/>
                </a:solidFill>
              </a:rPr>
              <a:t>	printf(“chuỗi định dạng”, bt1,bt2…);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en-US" altLang="vi-VN" sz="2800">
                <a:solidFill>
                  <a:srgbClr val="0000CC"/>
                </a:solidFill>
              </a:rPr>
              <a:t>	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en-US" altLang="vi-VN" sz="2800">
                <a:solidFill>
                  <a:srgbClr val="0000CC"/>
                </a:solidFill>
              </a:rPr>
              <a:t>	Ví dụ: 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en-US" altLang="vi-VN" sz="2800">
                <a:solidFill>
                  <a:srgbClr val="0000CC"/>
                </a:solidFill>
              </a:rPr>
              <a:t>	printf(“Gia tri cua x la : %6.2f”,x);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en-US" altLang="vi-VN" sz="2800">
                <a:solidFill>
                  <a:srgbClr val="0000CC"/>
                </a:solidFill>
              </a:rPr>
              <a:t>		</a:t>
            </a:r>
          </a:p>
          <a:p>
            <a:pPr algn="l">
              <a:buFont typeface="Wingdings" panose="05000000000000000000" pitchFamily="2" charset="2"/>
              <a:buNone/>
            </a:pPr>
            <a:endParaRPr lang="en-US" altLang="vi-VN" sz="280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4081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vi-VN">
                <a:solidFill>
                  <a:schemeClr val="bg1"/>
                </a:solidFill>
              </a:rPr>
              <a:t>www.hoasen.edu.vn</a:t>
            </a:r>
            <a:endParaRPr lang="en-GB" altLang="vi-VN">
              <a:solidFill>
                <a:schemeClr val="bg1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B9B806F-8A2E-4C0D-B555-98C1BDF75F18}" type="slidenum">
              <a:rPr lang="en-US" altLang="vi-VN">
                <a:solidFill>
                  <a:srgbClr val="FFFF00"/>
                </a:solidFill>
              </a:rPr>
              <a:pPr eaLnBrk="1" hangingPunct="1"/>
              <a:t>8</a:t>
            </a:fld>
            <a:endParaRPr lang="en-GB" altLang="vi-VN">
              <a:solidFill>
                <a:srgbClr val="FFFF00"/>
              </a:solidFill>
            </a:endParaRPr>
          </a:p>
        </p:txBody>
      </p:sp>
      <p:sp>
        <p:nvSpPr>
          <p:cNvPr id="11268" name="Text Box 6"/>
          <p:cNvSpPr txBox="1">
            <a:spLocks noChangeArrowheads="1"/>
          </p:cNvSpPr>
          <p:nvPr/>
        </p:nvSpPr>
        <p:spPr bwMode="auto">
          <a:xfrm>
            <a:off x="228600" y="1219200"/>
            <a:ext cx="8610600" cy="4876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27" tIns="45714" rIns="91427" bIns="45714"/>
          <a:lstStyle>
            <a:lvl1pPr marL="342900" indent="-342900" defTabSz="-138731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-138731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-138731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-138731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-138731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defTabSz="-138731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defTabSz="-138731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defTabSz="-138731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defTabSz="-138731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buFont typeface="Wingdings" panose="05000000000000000000" pitchFamily="2" charset="2"/>
              <a:buNone/>
            </a:pPr>
            <a:r>
              <a:rPr lang="en-US" altLang="vi-VN" sz="2800">
                <a:solidFill>
                  <a:srgbClr val="0000CC"/>
                </a:solidFill>
              </a:rPr>
              <a:t>	Nhập dữ liệu với hàm </a:t>
            </a:r>
            <a:r>
              <a:rPr lang="en-US" altLang="vi-VN" sz="8800">
                <a:solidFill>
                  <a:srgbClr val="0000CC"/>
                </a:solidFill>
              </a:rPr>
              <a:t>scanf</a:t>
            </a:r>
            <a:r>
              <a:rPr lang="en-US" altLang="vi-VN" sz="2800">
                <a:solidFill>
                  <a:srgbClr val="0000CC"/>
                </a:solidFill>
              </a:rPr>
              <a:t>: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en-US" altLang="vi-VN" sz="2800">
                <a:solidFill>
                  <a:srgbClr val="0000CC"/>
                </a:solidFill>
              </a:rPr>
              <a:t> 	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en-US" altLang="vi-VN" sz="2800">
                <a:solidFill>
                  <a:srgbClr val="0000CC"/>
                </a:solidFill>
              </a:rPr>
              <a:t>	scanf(“chuỗi định dạng”,&amp;biến1,&amp;biến2…); 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en-US" altLang="vi-VN" sz="2800">
                <a:solidFill>
                  <a:srgbClr val="0000CC"/>
                </a:solidFill>
              </a:rPr>
              <a:t>	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en-US" altLang="vi-VN" sz="2800">
                <a:solidFill>
                  <a:srgbClr val="0000CC"/>
                </a:solidFill>
              </a:rPr>
              <a:t>	Ví dụ : 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en-US" altLang="vi-VN" sz="2800">
                <a:solidFill>
                  <a:srgbClr val="0000CC"/>
                </a:solidFill>
              </a:rPr>
              <a:t>	scanf(“%d%d”,&amp;x,&amp;y);</a:t>
            </a:r>
          </a:p>
        </p:txBody>
      </p:sp>
      <p:sp>
        <p:nvSpPr>
          <p:cNvPr id="11269" name="Oval 7"/>
          <p:cNvSpPr>
            <a:spLocks noChangeArrowheads="1"/>
          </p:cNvSpPr>
          <p:nvPr/>
        </p:nvSpPr>
        <p:spPr bwMode="auto">
          <a:xfrm>
            <a:off x="1676400" y="228600"/>
            <a:ext cx="6172200" cy="7620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vi-VN" sz="2800" b="1" dirty="0">
                <a:latin typeface="Tahoma" panose="020B0604030504040204" pitchFamily="34" charset="0"/>
              </a:rPr>
              <a:t>NHẬP/XUẤT DỮ LIỆU</a:t>
            </a:r>
          </a:p>
        </p:txBody>
      </p:sp>
    </p:spTree>
    <p:extLst>
      <p:ext uri="{BB962C8B-B14F-4D97-AF65-F5344CB8AC3E}">
        <p14:creationId xmlns:p14="http://schemas.microsoft.com/office/powerpoint/2010/main" val="3596523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vi-VN">
                <a:solidFill>
                  <a:schemeClr val="bg1"/>
                </a:solidFill>
              </a:rPr>
              <a:t>www.hoasen.edu.vn</a:t>
            </a:r>
            <a:endParaRPr lang="en-GB" altLang="vi-VN">
              <a:solidFill>
                <a:schemeClr val="bg1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B0CA42B-2CA3-4EE5-BA8D-484A82C80BCD}" type="slidenum">
              <a:rPr lang="en-US" altLang="vi-VN">
                <a:solidFill>
                  <a:srgbClr val="FFFF00"/>
                </a:solidFill>
              </a:rPr>
              <a:pPr eaLnBrk="1" hangingPunct="1"/>
              <a:t>9</a:t>
            </a:fld>
            <a:endParaRPr lang="en-GB" altLang="vi-VN">
              <a:solidFill>
                <a:srgbClr val="FFFF00"/>
              </a:solidFill>
            </a:endParaRPr>
          </a:p>
        </p:txBody>
      </p:sp>
      <p:sp>
        <p:nvSpPr>
          <p:cNvPr id="12292" name="Text Box 5"/>
          <p:cNvSpPr txBox="1">
            <a:spLocks noChangeArrowheads="1"/>
          </p:cNvSpPr>
          <p:nvPr/>
        </p:nvSpPr>
        <p:spPr bwMode="auto">
          <a:xfrm>
            <a:off x="228600" y="1219200"/>
            <a:ext cx="8610600" cy="4876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27" tIns="45714" rIns="91427" bIns="45714"/>
          <a:lstStyle>
            <a:lvl1pPr marL="342900" indent="-342900" defTabSz="-138731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-138731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-138731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-138731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-1387316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defTabSz="-138731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defTabSz="-138731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defTabSz="-138731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defTabSz="-138731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>
              <a:buFont typeface="Wingdings" panose="05000000000000000000" pitchFamily="2" charset="2"/>
              <a:buNone/>
            </a:pPr>
            <a:r>
              <a:rPr lang="en-US" altLang="vi-VN" sz="2400">
                <a:solidFill>
                  <a:srgbClr val="0000CC"/>
                </a:solidFill>
              </a:rPr>
              <a:t>	Chuỗi định dạng qui định: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en-US" altLang="vi-VN" sz="2400">
                <a:solidFill>
                  <a:srgbClr val="0000CC"/>
                </a:solidFill>
              </a:rPr>
              <a:t>	+ Phải nằm trong dấu nháy kép “ ” 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en-US" altLang="vi-VN" sz="2400">
                <a:solidFill>
                  <a:srgbClr val="0000CC"/>
                </a:solidFill>
              </a:rPr>
              <a:t>	+ Có bao nhiêu biến phải có bấy nhiêu định dạng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en-US" altLang="vi-VN" sz="2400">
                <a:solidFill>
                  <a:srgbClr val="0000CC"/>
                </a:solidFill>
              </a:rPr>
              <a:t>	+ Thứ tự định dạng phải phù hợp với DS biến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en-US" altLang="vi-VN" sz="2400">
                <a:solidFill>
                  <a:srgbClr val="0000CC"/>
                </a:solidFill>
              </a:rPr>
              <a:t>	+ Mã định dạng phải phù hợp với kiểu DL của biến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en-US" altLang="vi-VN" sz="2400">
                <a:solidFill>
                  <a:srgbClr val="0000CC"/>
                </a:solidFill>
              </a:rPr>
              <a:t>	+ Mỗi mã định dạng bắt đầu bằng dấu %</a:t>
            </a:r>
          </a:p>
          <a:p>
            <a:pPr algn="l">
              <a:buFont typeface="Wingdings" panose="05000000000000000000" pitchFamily="2" charset="2"/>
              <a:buNone/>
            </a:pPr>
            <a:endParaRPr lang="en-US" altLang="vi-VN" sz="2400">
              <a:solidFill>
                <a:srgbClr val="0000CC"/>
              </a:solidFill>
            </a:endParaRPr>
          </a:p>
          <a:p>
            <a:pPr algn="l">
              <a:buFont typeface="Wingdings" panose="05000000000000000000" pitchFamily="2" charset="2"/>
              <a:buNone/>
            </a:pPr>
            <a:r>
              <a:rPr lang="en-US" altLang="vi-VN" sz="2400">
                <a:solidFill>
                  <a:srgbClr val="0000CC"/>
                </a:solidFill>
              </a:rPr>
              <a:t>	Danh sách biến qui định: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en-US" altLang="vi-VN" sz="2400">
                <a:solidFill>
                  <a:srgbClr val="0000CC"/>
                </a:solidFill>
              </a:rPr>
              <a:t>	+ Các biến phải phân cách bằng dấu phẩy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en-US" altLang="vi-VN" sz="2400">
                <a:solidFill>
                  <a:srgbClr val="0000CC"/>
                </a:solidFill>
              </a:rPr>
              <a:t>	+ Giá trị của biến phải phù hợp với mã định dạng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en-US" altLang="vi-VN" sz="2400">
                <a:solidFill>
                  <a:srgbClr val="0000CC"/>
                </a:solidFill>
              </a:rPr>
              <a:t>	+ Riêng với lệnh scanf thì trước các biến phải có ký hiệu &amp; (ampersant)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en-US" altLang="vi-VN" sz="2400">
                <a:solidFill>
                  <a:srgbClr val="0000CC"/>
                </a:solidFill>
              </a:rPr>
              <a:t>	</a:t>
            </a:r>
          </a:p>
          <a:p>
            <a:pPr algn="l">
              <a:buFont typeface="Wingdings" panose="05000000000000000000" pitchFamily="2" charset="2"/>
              <a:buNone/>
            </a:pPr>
            <a:endParaRPr lang="en-US" altLang="vi-VN" sz="2400">
              <a:solidFill>
                <a:srgbClr val="0000CC"/>
              </a:solidFill>
            </a:endParaRPr>
          </a:p>
        </p:txBody>
      </p:sp>
      <p:sp>
        <p:nvSpPr>
          <p:cNvPr id="12293" name="Oval 6"/>
          <p:cNvSpPr>
            <a:spLocks noChangeArrowheads="1"/>
          </p:cNvSpPr>
          <p:nvPr/>
        </p:nvSpPr>
        <p:spPr bwMode="auto">
          <a:xfrm>
            <a:off x="1676400" y="228600"/>
            <a:ext cx="6172200" cy="7620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vi-VN" sz="2800" b="1" dirty="0">
                <a:latin typeface="Tahoma" panose="020B0604030504040204" pitchFamily="34" charset="0"/>
              </a:rPr>
              <a:t>NHẬP/XUẤT DỮ LIỆU</a:t>
            </a:r>
          </a:p>
        </p:txBody>
      </p:sp>
    </p:spTree>
    <p:extLst>
      <p:ext uri="{BB962C8B-B14F-4D97-AF65-F5344CB8AC3E}">
        <p14:creationId xmlns:p14="http://schemas.microsoft.com/office/powerpoint/2010/main" val="3702386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vi-VN">
                <a:solidFill>
                  <a:schemeClr val="bg1"/>
                </a:solidFill>
              </a:rPr>
              <a:t>www.hoasen.edu.vn</a:t>
            </a:r>
            <a:endParaRPr lang="en-GB" altLang="vi-VN">
              <a:solidFill>
                <a:schemeClr val="bg1"/>
              </a:solidFill>
            </a:endParaRPr>
          </a:p>
        </p:txBody>
      </p:sp>
      <p:sp>
        <p:nvSpPr>
          <p:cNvPr id="3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EB99CA0-DB07-48E4-B7FF-A139859EC311}" type="slidenum">
              <a:rPr lang="en-US" altLang="vi-VN">
                <a:solidFill>
                  <a:srgbClr val="FFFF00"/>
                </a:solidFill>
              </a:rPr>
              <a:pPr eaLnBrk="1" hangingPunct="1"/>
              <a:t>10</a:t>
            </a:fld>
            <a:endParaRPr lang="en-GB" altLang="vi-VN">
              <a:solidFill>
                <a:srgbClr val="FFFF00"/>
              </a:solidFill>
            </a:endParaRPr>
          </a:p>
        </p:txBody>
      </p:sp>
      <p:graphicFrame>
        <p:nvGraphicFramePr>
          <p:cNvPr id="220263" name="Group 103"/>
          <p:cNvGraphicFramePr>
            <a:graphicFrameLocks noGrp="1"/>
          </p:cNvGraphicFramePr>
          <p:nvPr>
            <p:ph/>
          </p:nvPr>
        </p:nvGraphicFramePr>
        <p:xfrm>
          <a:off x="381000" y="1158875"/>
          <a:ext cx="8323263" cy="5111748"/>
        </p:xfrm>
        <a:graphic>
          <a:graphicData uri="http://schemas.openxmlformats.org/drawingml/2006/table">
            <a:tbl>
              <a:tblPr/>
              <a:tblGrid>
                <a:gridCol w="231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1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5669"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Mã</a:t>
                      </a: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định</a:t>
                      </a: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dạng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Ý </a:t>
                      </a:r>
                      <a:r>
                        <a:rPr kumimoji="0" lang="en-US" sz="2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</a:rPr>
                        <a:t>nghĩa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669"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%3d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In số nguyên (int) có độ dài 3 ký tự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73"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%4ld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In số nguyên (long) có độ dài 4 ký tự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94"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%.2f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In số thực (float) có 2 số lẻ (phần nguyên không qui định)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94"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%5.3lf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In số thực (double) có 3 số lẻ, phần nguyên có độ dài là 5.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5669"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%o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In số nguyên hệ 8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5669"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%x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In số nguyên hệ 16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5669"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%c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In ký tự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5669"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%s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In chuỗi ký tự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6773">
                <a:tc>
                  <a:txBody>
                    <a:bodyPr/>
                    <a:lstStyle/>
                    <a:p>
                      <a:pPr marL="0" marR="0" lvl="0" indent="0" algn="ctr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%e hoặc %E </a:t>
                      </a:r>
                    </a:p>
                  </a:txBody>
                  <a:tcPr marT="45726" marB="45726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-13873163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In </a:t>
                      </a:r>
                      <a:r>
                        <a:rPr kumimoji="0" lang="en-US" sz="2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số</a:t>
                      </a: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thực</a:t>
                      </a: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dạng</a:t>
                      </a: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2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mũ</a:t>
                      </a: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Arial" charset="0"/>
                        </a:rPr>
                        <a:t>, VD : 1.134e+01</a:t>
                      </a:r>
                    </a:p>
                  </a:txBody>
                  <a:tcPr marT="45726" marB="45726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3351" name="Oval 105"/>
          <p:cNvSpPr>
            <a:spLocks noChangeArrowheads="1"/>
          </p:cNvSpPr>
          <p:nvPr/>
        </p:nvSpPr>
        <p:spPr bwMode="auto">
          <a:xfrm>
            <a:off x="1676400" y="228600"/>
            <a:ext cx="6172200" cy="7620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vi-VN" sz="2800" b="1" dirty="0">
                <a:latin typeface="Tahoma" panose="020B0604030504040204" pitchFamily="34" charset="0"/>
              </a:rPr>
              <a:t>NHẬP/XUẤT DỮ LIỆU</a:t>
            </a:r>
          </a:p>
        </p:txBody>
      </p:sp>
    </p:spTree>
    <p:extLst>
      <p:ext uri="{BB962C8B-B14F-4D97-AF65-F5344CB8AC3E}">
        <p14:creationId xmlns:p14="http://schemas.microsoft.com/office/powerpoint/2010/main" val="1934816695"/>
      </p:ext>
    </p:extLst>
  </p:cSld>
  <p:clrMapOvr>
    <a:masterClrMapping/>
  </p:clrMapOvr>
  <p:transition>
    <p:push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vi-VN">
                <a:solidFill>
                  <a:schemeClr val="bg1"/>
                </a:solidFill>
              </a:rPr>
              <a:t>www.hoasen.edu.vn</a:t>
            </a:r>
            <a:endParaRPr lang="en-GB" altLang="vi-VN">
              <a:solidFill>
                <a:schemeClr val="bg1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D3950F7-405F-4378-B3E9-CD43C368A5E1}" type="slidenum">
              <a:rPr lang="en-US" altLang="vi-VN">
                <a:solidFill>
                  <a:srgbClr val="FFFF00"/>
                </a:solidFill>
              </a:rPr>
              <a:pPr eaLnBrk="1" hangingPunct="1"/>
              <a:t>11</a:t>
            </a:fld>
            <a:endParaRPr lang="en-GB" altLang="vi-VN">
              <a:solidFill>
                <a:srgbClr val="FFFF00"/>
              </a:solidFill>
            </a:endParaRPr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534400" cy="51054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rmAutofit fontScale="92500" lnSpcReduction="10000"/>
          </a:bodyPr>
          <a:lstStyle/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vi-VN" sz="2000" b="1" dirty="0">
                <a:solidFill>
                  <a:srgbClr val="0000CC"/>
                </a:solidFill>
              </a:rPr>
              <a:t>CHUỖI ESCAPE</a:t>
            </a:r>
            <a:endParaRPr lang="en-US" altLang="vi-VN" sz="2000" i="1" u="sng" dirty="0">
              <a:solidFill>
                <a:srgbClr val="0000CC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vi-VN" sz="2000" i="1" u="sng" dirty="0" err="1">
                <a:solidFill>
                  <a:srgbClr val="0000CC"/>
                </a:solidFill>
                <a:latin typeface="Tahoma" panose="020B0604030504040204" pitchFamily="34" charset="0"/>
              </a:rPr>
              <a:t>Tổ</a:t>
            </a:r>
            <a:r>
              <a:rPr lang="en-US" altLang="vi-VN" sz="2000" i="1" u="sng" dirty="0">
                <a:solidFill>
                  <a:srgbClr val="0000CC"/>
                </a:solidFill>
                <a:latin typeface="Tahoma" panose="020B0604030504040204" pitchFamily="34" charset="0"/>
              </a:rPr>
              <a:t> </a:t>
            </a:r>
            <a:r>
              <a:rPr lang="en-US" altLang="vi-VN" sz="2000" i="1" u="sng" dirty="0" err="1">
                <a:solidFill>
                  <a:srgbClr val="0000CC"/>
                </a:solidFill>
                <a:latin typeface="Tahoma" panose="020B0604030504040204" pitchFamily="34" charset="0"/>
              </a:rPr>
              <a:t>hợp</a:t>
            </a:r>
            <a:r>
              <a:rPr lang="en-US" altLang="vi-VN" sz="2000" i="1" dirty="0">
                <a:solidFill>
                  <a:srgbClr val="0000CC"/>
                </a:solidFill>
                <a:latin typeface="Tahoma" panose="020B0604030504040204" pitchFamily="34" charset="0"/>
              </a:rPr>
              <a:t>   </a:t>
            </a:r>
            <a:r>
              <a:rPr lang="en-US" altLang="vi-VN" sz="2000" i="1" u="sng" dirty="0" err="1">
                <a:solidFill>
                  <a:srgbClr val="0000CC"/>
                </a:solidFill>
                <a:latin typeface="Tahoma" panose="020B0604030504040204" pitchFamily="34" charset="0"/>
              </a:rPr>
              <a:t>Tên</a:t>
            </a:r>
            <a:r>
              <a:rPr lang="en-US" altLang="vi-VN" sz="2000" i="1" u="sng" dirty="0">
                <a:solidFill>
                  <a:srgbClr val="0000CC"/>
                </a:solidFill>
                <a:latin typeface="Tahoma" panose="020B0604030504040204" pitchFamily="34" charset="0"/>
              </a:rPr>
              <a:t> </a:t>
            </a:r>
            <a:r>
              <a:rPr lang="en-US" altLang="vi-VN" sz="2000" i="1" u="sng" dirty="0" err="1">
                <a:solidFill>
                  <a:srgbClr val="0000CC"/>
                </a:solidFill>
                <a:latin typeface="Tahoma" panose="020B0604030504040204" pitchFamily="34" charset="0"/>
              </a:rPr>
              <a:t>gọi</a:t>
            </a:r>
            <a:r>
              <a:rPr lang="en-US" altLang="vi-VN" sz="2000" i="1" u="sng" dirty="0">
                <a:solidFill>
                  <a:srgbClr val="0000CC"/>
                </a:solidFill>
                <a:latin typeface="Tahoma" panose="020B0604030504040204" pitchFamily="34" charset="0"/>
              </a:rPr>
              <a:t>		</a:t>
            </a:r>
            <a:r>
              <a:rPr lang="en-US" altLang="vi-VN" sz="2000" i="1" u="sng" dirty="0" err="1">
                <a:solidFill>
                  <a:srgbClr val="0000CC"/>
                </a:solidFill>
              </a:rPr>
              <a:t>Diễn</a:t>
            </a:r>
            <a:r>
              <a:rPr lang="en-US" altLang="vi-VN" sz="2000" i="1" u="sng" dirty="0">
                <a:solidFill>
                  <a:srgbClr val="0000CC"/>
                </a:solidFill>
              </a:rPr>
              <a:t> </a:t>
            </a:r>
            <a:r>
              <a:rPr lang="en-US" altLang="vi-VN" sz="2000" i="1" u="sng" dirty="0" err="1">
                <a:solidFill>
                  <a:srgbClr val="0000CC"/>
                </a:solidFill>
              </a:rPr>
              <a:t>giải</a:t>
            </a:r>
            <a:r>
              <a:rPr lang="en-US" altLang="vi-VN" sz="2000" i="1" u="sng" dirty="0">
                <a:solidFill>
                  <a:srgbClr val="0000CC"/>
                </a:solidFill>
                <a:latin typeface="Tahoma" panose="020B0604030504040204" pitchFamily="34" charset="0"/>
              </a:rPr>
              <a:t> </a:t>
            </a:r>
            <a:endParaRPr lang="en-US" altLang="vi-VN" sz="2000" dirty="0">
              <a:solidFill>
                <a:srgbClr val="0000CC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vi-VN" sz="2000" b="1" dirty="0">
                <a:solidFill>
                  <a:srgbClr val="0000CC"/>
                </a:solidFill>
                <a:latin typeface="Tahoma" panose="020B0604030504040204" pitchFamily="34" charset="0"/>
              </a:rPr>
              <a:t>\a	</a:t>
            </a:r>
            <a:r>
              <a:rPr lang="en-US" altLang="vi-VN" sz="2000" dirty="0">
                <a:solidFill>
                  <a:srgbClr val="0000CC"/>
                </a:solidFill>
                <a:latin typeface="Tahoma" panose="020B0604030504040204" pitchFamily="34" charset="0"/>
              </a:rPr>
              <a:t>Alert		</a:t>
            </a:r>
            <a:r>
              <a:rPr lang="en-US" altLang="vi-VN" sz="2000" dirty="0" err="1">
                <a:solidFill>
                  <a:srgbClr val="0000CC"/>
                </a:solidFill>
                <a:latin typeface="Tahoma" panose="020B0604030504040204" pitchFamily="34" charset="0"/>
              </a:rPr>
              <a:t>Ph</a:t>
            </a:r>
            <a:r>
              <a:rPr lang="en-US" altLang="vi-VN" sz="2000" dirty="0" err="1">
                <a:solidFill>
                  <a:srgbClr val="0000CC"/>
                </a:solidFill>
              </a:rPr>
              <a:t>á</a:t>
            </a:r>
            <a:r>
              <a:rPr lang="en-US" altLang="vi-VN" sz="2000" dirty="0" err="1">
                <a:solidFill>
                  <a:srgbClr val="0000CC"/>
                </a:solidFill>
                <a:latin typeface="Tahoma" panose="020B0604030504040204" pitchFamily="34" charset="0"/>
              </a:rPr>
              <a:t>t</a:t>
            </a:r>
            <a:r>
              <a:rPr lang="en-US" altLang="vi-VN" sz="2000" dirty="0">
                <a:solidFill>
                  <a:srgbClr val="0000CC"/>
                </a:solidFill>
                <a:latin typeface="Tahoma" panose="020B0604030504040204" pitchFamily="34" charset="0"/>
              </a:rPr>
              <a:t> </a:t>
            </a:r>
            <a:r>
              <a:rPr lang="en-US" altLang="vi-VN" sz="2000" dirty="0" err="1">
                <a:solidFill>
                  <a:srgbClr val="0000CC"/>
                </a:solidFill>
                <a:latin typeface="Tahoma" panose="020B0604030504040204" pitchFamily="34" charset="0"/>
              </a:rPr>
              <a:t>âmthanh</a:t>
            </a:r>
            <a:r>
              <a:rPr lang="en-US" altLang="vi-VN" sz="2000" dirty="0">
                <a:solidFill>
                  <a:srgbClr val="0000CC"/>
                </a:solidFill>
                <a:latin typeface="Tahoma" panose="020B0604030504040204" pitchFamily="34" charset="0"/>
              </a:rPr>
              <a:t> </a:t>
            </a:r>
            <a:r>
              <a:rPr lang="en-US" altLang="vi-VN" sz="2000" dirty="0" err="1">
                <a:solidFill>
                  <a:srgbClr val="0000CC"/>
                </a:solidFill>
                <a:latin typeface="Tahoma" panose="020B0604030504040204" pitchFamily="34" charset="0"/>
              </a:rPr>
              <a:t>ra</a:t>
            </a:r>
            <a:r>
              <a:rPr lang="en-US" altLang="vi-VN" sz="2000" dirty="0">
                <a:solidFill>
                  <a:srgbClr val="0000CC"/>
                </a:solidFill>
                <a:latin typeface="Tahoma" panose="020B0604030504040204" pitchFamily="34" charset="0"/>
              </a:rPr>
              <a:t> </a:t>
            </a:r>
            <a:r>
              <a:rPr lang="en-US" altLang="vi-VN" sz="2000" dirty="0" err="1">
                <a:solidFill>
                  <a:srgbClr val="0000CC"/>
                </a:solidFill>
                <a:latin typeface="Tahoma" panose="020B0604030504040204" pitchFamily="34" charset="0"/>
              </a:rPr>
              <a:t>loa</a:t>
            </a:r>
            <a:endParaRPr lang="en-US" altLang="vi-VN" sz="2000" b="1" dirty="0">
              <a:solidFill>
                <a:srgbClr val="0000CC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vi-VN" sz="2000" b="1" dirty="0">
                <a:solidFill>
                  <a:srgbClr val="0000CC"/>
                </a:solidFill>
                <a:latin typeface="Tahoma" panose="020B0604030504040204" pitchFamily="34" charset="0"/>
              </a:rPr>
              <a:t>\b</a:t>
            </a:r>
            <a:r>
              <a:rPr lang="en-US" altLang="vi-VN" sz="2000" dirty="0">
                <a:solidFill>
                  <a:srgbClr val="0000CC"/>
                </a:solidFill>
                <a:latin typeface="Tahoma" panose="020B0604030504040204" pitchFamily="34" charset="0"/>
              </a:rPr>
              <a:t>	Backspace	</a:t>
            </a:r>
            <a:r>
              <a:rPr lang="en-US" altLang="vi-VN" sz="2000" dirty="0" err="1">
                <a:solidFill>
                  <a:srgbClr val="0000CC"/>
                </a:solidFill>
                <a:latin typeface="Tahoma" panose="020B0604030504040204" pitchFamily="34" charset="0"/>
              </a:rPr>
              <a:t>L</a:t>
            </a:r>
            <a:r>
              <a:rPr lang="en-US" altLang="vi-VN" sz="2000" dirty="0" err="1">
                <a:solidFill>
                  <a:srgbClr val="0000CC"/>
                </a:solidFill>
              </a:rPr>
              <a:t>ù</a:t>
            </a:r>
            <a:r>
              <a:rPr lang="en-US" altLang="vi-VN" sz="2000" dirty="0" err="1">
                <a:solidFill>
                  <a:srgbClr val="0000CC"/>
                </a:solidFill>
                <a:latin typeface="Tahoma" panose="020B0604030504040204" pitchFamily="34" charset="0"/>
              </a:rPr>
              <a:t>i</a:t>
            </a:r>
            <a:r>
              <a:rPr lang="en-US" altLang="vi-VN" sz="2000" dirty="0">
                <a:solidFill>
                  <a:srgbClr val="0000CC"/>
                </a:solidFill>
                <a:latin typeface="Tahoma" panose="020B0604030504040204" pitchFamily="34" charset="0"/>
              </a:rPr>
              <a:t> con </a:t>
            </a:r>
            <a:r>
              <a:rPr lang="en-US" altLang="vi-VN" sz="2000" dirty="0" err="1">
                <a:solidFill>
                  <a:srgbClr val="0000CC"/>
                </a:solidFill>
                <a:latin typeface="Tahoma" panose="020B0604030504040204" pitchFamily="34" charset="0"/>
              </a:rPr>
              <a:t>nh</a:t>
            </a:r>
            <a:r>
              <a:rPr lang="en-US" altLang="vi-VN" sz="2000" dirty="0" err="1">
                <a:solidFill>
                  <a:srgbClr val="0000CC"/>
                </a:solidFill>
              </a:rPr>
              <a:t>á</a:t>
            </a:r>
            <a:r>
              <a:rPr lang="en-US" altLang="vi-VN" sz="2000" dirty="0" err="1">
                <a:solidFill>
                  <a:srgbClr val="0000CC"/>
                </a:solidFill>
                <a:latin typeface="Tahoma" panose="020B0604030504040204" pitchFamily="34" charset="0"/>
              </a:rPr>
              <a:t>y</a:t>
            </a:r>
            <a:r>
              <a:rPr lang="en-US" altLang="vi-VN" sz="2000" dirty="0">
                <a:solidFill>
                  <a:srgbClr val="0000CC"/>
                </a:solidFill>
                <a:latin typeface="Tahoma" panose="020B0604030504040204" pitchFamily="34" charset="0"/>
              </a:rPr>
              <a:t> 1 </a:t>
            </a:r>
            <a:r>
              <a:rPr lang="en-US" altLang="vi-VN" sz="2000" dirty="0" err="1">
                <a:solidFill>
                  <a:srgbClr val="0000CC"/>
                </a:solidFill>
                <a:latin typeface="Tahoma" panose="020B0604030504040204" pitchFamily="34" charset="0"/>
              </a:rPr>
              <a:t>vị</a:t>
            </a:r>
            <a:r>
              <a:rPr lang="en-US" altLang="vi-VN" sz="2000" dirty="0">
                <a:solidFill>
                  <a:srgbClr val="0000CC"/>
                </a:solidFill>
                <a:latin typeface="Tahoma" panose="020B0604030504040204" pitchFamily="34" charset="0"/>
              </a:rPr>
              <a:t> </a:t>
            </a:r>
            <a:r>
              <a:rPr lang="en-US" altLang="vi-VN" sz="2000" dirty="0" err="1">
                <a:solidFill>
                  <a:srgbClr val="0000CC"/>
                </a:solidFill>
                <a:latin typeface="Tahoma" panose="020B0604030504040204" pitchFamily="34" charset="0"/>
              </a:rPr>
              <a:t>tr</a:t>
            </a:r>
            <a:r>
              <a:rPr lang="en-US" altLang="vi-VN" sz="2000" dirty="0" err="1">
                <a:solidFill>
                  <a:srgbClr val="0000CC"/>
                </a:solidFill>
              </a:rPr>
              <a:t>í</a:t>
            </a:r>
            <a:endParaRPr lang="en-US" altLang="vi-VN" sz="2000" b="1" dirty="0">
              <a:solidFill>
                <a:srgbClr val="0000CC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vi-VN" sz="2000" b="1" dirty="0">
                <a:solidFill>
                  <a:srgbClr val="0000CC"/>
                </a:solidFill>
                <a:latin typeface="Tahoma" panose="020B0604030504040204" pitchFamily="34" charset="0"/>
              </a:rPr>
              <a:t>\f</a:t>
            </a:r>
            <a:r>
              <a:rPr lang="en-US" altLang="vi-VN" sz="2000" dirty="0">
                <a:solidFill>
                  <a:srgbClr val="0000CC"/>
                </a:solidFill>
                <a:latin typeface="Tahoma" panose="020B0604030504040204" pitchFamily="34" charset="0"/>
              </a:rPr>
              <a:t>	Form feed	Sang </a:t>
            </a:r>
            <a:r>
              <a:rPr lang="en-US" altLang="vi-VN" sz="2000" dirty="0" err="1">
                <a:solidFill>
                  <a:srgbClr val="0000CC"/>
                </a:solidFill>
                <a:latin typeface="Tahoma" panose="020B0604030504040204" pitchFamily="34" charset="0"/>
              </a:rPr>
              <a:t>trang</a:t>
            </a:r>
            <a:r>
              <a:rPr lang="en-US" altLang="vi-VN" sz="2000" dirty="0">
                <a:solidFill>
                  <a:srgbClr val="0000CC"/>
                </a:solidFill>
                <a:latin typeface="Tahoma" panose="020B0604030504040204" pitchFamily="34" charset="0"/>
              </a:rPr>
              <a:t> </a:t>
            </a:r>
            <a:r>
              <a:rPr lang="en-US" altLang="vi-VN" sz="2000" dirty="0" err="1">
                <a:solidFill>
                  <a:srgbClr val="0000CC"/>
                </a:solidFill>
                <a:latin typeface="Tahoma" panose="020B0604030504040204" pitchFamily="34" charset="0"/>
              </a:rPr>
              <a:t>kế</a:t>
            </a:r>
            <a:r>
              <a:rPr lang="en-US" altLang="vi-VN" sz="2000" dirty="0">
                <a:solidFill>
                  <a:srgbClr val="0000CC"/>
                </a:solidFill>
                <a:latin typeface="Tahoma" panose="020B0604030504040204" pitchFamily="34" charset="0"/>
              </a:rPr>
              <a:t> </a:t>
            </a:r>
            <a:r>
              <a:rPr lang="en-US" altLang="vi-VN" sz="2000" dirty="0" err="1">
                <a:solidFill>
                  <a:srgbClr val="0000CC"/>
                </a:solidFill>
                <a:latin typeface="Tahoma" panose="020B0604030504040204" pitchFamily="34" charset="0"/>
              </a:rPr>
              <a:t>tiếp</a:t>
            </a:r>
            <a:endParaRPr lang="en-US" altLang="vi-VN" sz="2000" b="1" dirty="0">
              <a:solidFill>
                <a:srgbClr val="0000CC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vi-VN" sz="2000" b="1" dirty="0">
                <a:solidFill>
                  <a:srgbClr val="FF0000"/>
                </a:solidFill>
                <a:latin typeface="Tahoma" panose="020B0604030504040204" pitchFamily="34" charset="0"/>
              </a:rPr>
              <a:t>\n	New line	Sang </a:t>
            </a:r>
            <a:r>
              <a:rPr lang="en-US" altLang="vi-VN" sz="2000" b="1" dirty="0" err="1">
                <a:solidFill>
                  <a:srgbClr val="FF0000"/>
                </a:solidFill>
                <a:latin typeface="Tahoma" panose="020B0604030504040204" pitchFamily="34" charset="0"/>
              </a:rPr>
              <a:t>dòng</a:t>
            </a:r>
            <a:r>
              <a:rPr lang="en-US" altLang="vi-VN" sz="2000" b="1" dirty="0">
                <a:solidFill>
                  <a:srgbClr val="FF0000"/>
                </a:solidFill>
                <a:latin typeface="Tahoma" panose="020B0604030504040204" pitchFamily="34" charset="0"/>
              </a:rPr>
              <a:t> </a:t>
            </a:r>
            <a:r>
              <a:rPr lang="en-US" altLang="vi-VN" sz="2000" b="1" dirty="0" err="1">
                <a:solidFill>
                  <a:srgbClr val="FF0000"/>
                </a:solidFill>
                <a:latin typeface="Tahoma" panose="020B0604030504040204" pitchFamily="34" charset="0"/>
              </a:rPr>
              <a:t>mới</a:t>
            </a:r>
            <a:endParaRPr lang="en-US" altLang="vi-VN" sz="2000" b="1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vi-VN" sz="2000" b="1" dirty="0">
                <a:solidFill>
                  <a:srgbClr val="0000CC"/>
                </a:solidFill>
                <a:latin typeface="Tahoma" panose="020B0604030504040204" pitchFamily="34" charset="0"/>
              </a:rPr>
              <a:t>\r</a:t>
            </a:r>
            <a:r>
              <a:rPr lang="en-US" altLang="vi-VN" sz="2000" dirty="0">
                <a:solidFill>
                  <a:srgbClr val="0000CC"/>
                </a:solidFill>
                <a:latin typeface="Tahoma" panose="020B0604030504040204" pitchFamily="34" charset="0"/>
              </a:rPr>
              <a:t>	Carriage return	</a:t>
            </a:r>
            <a:r>
              <a:rPr lang="en-US" altLang="vi-VN" sz="2000" dirty="0" err="1">
                <a:solidFill>
                  <a:srgbClr val="0000CC"/>
                </a:solidFill>
                <a:latin typeface="Tahoma" panose="020B0604030504040204" pitchFamily="34" charset="0"/>
              </a:rPr>
              <a:t>Đưa</a:t>
            </a:r>
            <a:r>
              <a:rPr lang="en-US" altLang="vi-VN" sz="2000" dirty="0">
                <a:solidFill>
                  <a:srgbClr val="0000CC"/>
                </a:solidFill>
                <a:latin typeface="Tahoma" panose="020B0604030504040204" pitchFamily="34" charset="0"/>
              </a:rPr>
              <a:t> con </a:t>
            </a:r>
            <a:r>
              <a:rPr lang="en-US" altLang="vi-VN" sz="2000" dirty="0" err="1">
                <a:solidFill>
                  <a:srgbClr val="0000CC"/>
                </a:solidFill>
                <a:latin typeface="Tahoma" panose="020B0604030504040204" pitchFamily="34" charset="0"/>
              </a:rPr>
              <a:t>trỏ</a:t>
            </a:r>
            <a:r>
              <a:rPr lang="en-US" altLang="vi-VN" sz="2000" dirty="0">
                <a:solidFill>
                  <a:srgbClr val="0000CC"/>
                </a:solidFill>
                <a:latin typeface="Tahoma" panose="020B0604030504040204" pitchFamily="34" charset="0"/>
              </a:rPr>
              <a:t> </a:t>
            </a:r>
            <a:r>
              <a:rPr lang="en-US" altLang="vi-VN" sz="2000" dirty="0" err="1">
                <a:solidFill>
                  <a:srgbClr val="0000CC"/>
                </a:solidFill>
                <a:latin typeface="Tahoma" panose="020B0604030504040204" pitchFamily="34" charset="0"/>
              </a:rPr>
              <a:t>về</a:t>
            </a:r>
            <a:r>
              <a:rPr lang="en-US" altLang="vi-VN" sz="2000" dirty="0">
                <a:solidFill>
                  <a:srgbClr val="0000CC"/>
                </a:solidFill>
                <a:latin typeface="Tahoma" panose="020B0604030504040204" pitchFamily="34" charset="0"/>
              </a:rPr>
              <a:t> </a:t>
            </a:r>
            <a:r>
              <a:rPr lang="en-US" altLang="vi-VN" sz="2000" dirty="0" err="1">
                <a:solidFill>
                  <a:srgbClr val="0000CC"/>
                </a:solidFill>
                <a:latin typeface="Tahoma" panose="020B0604030504040204" pitchFamily="34" charset="0"/>
              </a:rPr>
              <a:t>đầu</a:t>
            </a:r>
            <a:r>
              <a:rPr lang="en-US" altLang="vi-VN" sz="2000" dirty="0">
                <a:solidFill>
                  <a:srgbClr val="0000CC"/>
                </a:solidFill>
                <a:latin typeface="Tahoma" panose="020B0604030504040204" pitchFamily="34" charset="0"/>
              </a:rPr>
              <a:t> </a:t>
            </a:r>
            <a:r>
              <a:rPr lang="en-US" altLang="vi-VN" sz="2000" dirty="0" err="1">
                <a:solidFill>
                  <a:srgbClr val="0000CC"/>
                </a:solidFill>
                <a:latin typeface="Tahoma" panose="020B0604030504040204" pitchFamily="34" charset="0"/>
              </a:rPr>
              <a:t>dòng</a:t>
            </a:r>
            <a:endParaRPr lang="en-US" altLang="vi-VN" sz="2000" b="1" dirty="0">
              <a:solidFill>
                <a:srgbClr val="0000CC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vi-VN" sz="2000" b="1" dirty="0">
                <a:solidFill>
                  <a:srgbClr val="0000CC"/>
                </a:solidFill>
                <a:latin typeface="Tahoma" panose="020B0604030504040204" pitchFamily="34" charset="0"/>
              </a:rPr>
              <a:t>\t      </a:t>
            </a:r>
            <a:r>
              <a:rPr lang="en-US" altLang="vi-VN" sz="2000" dirty="0">
                <a:solidFill>
                  <a:srgbClr val="0000CC"/>
                </a:solidFill>
                <a:latin typeface="Tahoma" panose="020B0604030504040204" pitchFamily="34" charset="0"/>
              </a:rPr>
              <a:t>Horizontal tab	Di </a:t>
            </a:r>
            <a:r>
              <a:rPr lang="en-US" altLang="vi-VN" sz="2000" dirty="0" err="1">
                <a:solidFill>
                  <a:srgbClr val="0000CC"/>
                </a:solidFill>
                <a:latin typeface="Tahoma" panose="020B0604030504040204" pitchFamily="34" charset="0"/>
              </a:rPr>
              <a:t>chuyển</a:t>
            </a:r>
            <a:r>
              <a:rPr lang="en-US" altLang="vi-VN" sz="2000" dirty="0">
                <a:solidFill>
                  <a:srgbClr val="0000CC"/>
                </a:solidFill>
                <a:latin typeface="Tahoma" panose="020B0604030504040204" pitchFamily="34" charset="0"/>
              </a:rPr>
              <a:t> con </a:t>
            </a:r>
            <a:r>
              <a:rPr lang="en-US" altLang="vi-VN" sz="2000" dirty="0" err="1">
                <a:solidFill>
                  <a:srgbClr val="0000CC"/>
                </a:solidFill>
                <a:latin typeface="Tahoma" panose="020B0604030504040204" pitchFamily="34" charset="0"/>
              </a:rPr>
              <a:t>trỏ</a:t>
            </a:r>
            <a:r>
              <a:rPr lang="en-US" altLang="vi-VN" sz="2000" dirty="0">
                <a:solidFill>
                  <a:srgbClr val="0000CC"/>
                </a:solidFill>
                <a:latin typeface="Tahoma" panose="020B0604030504040204" pitchFamily="34" charset="0"/>
              </a:rPr>
              <a:t> </a:t>
            </a:r>
            <a:r>
              <a:rPr lang="en-US" altLang="vi-VN" sz="2000" dirty="0" err="1">
                <a:solidFill>
                  <a:srgbClr val="0000CC"/>
                </a:solidFill>
                <a:latin typeface="Tahoma" panose="020B0604030504040204" pitchFamily="34" charset="0"/>
              </a:rPr>
              <a:t>tới</a:t>
            </a:r>
            <a:r>
              <a:rPr lang="en-US" altLang="vi-VN" sz="2000" dirty="0">
                <a:solidFill>
                  <a:srgbClr val="0000CC"/>
                </a:solidFill>
                <a:latin typeface="Tahoma" panose="020B0604030504040204" pitchFamily="34" charset="0"/>
              </a:rPr>
              <a:t> </a:t>
            </a:r>
            <a:r>
              <a:rPr lang="en-US" altLang="vi-VN" sz="2000" dirty="0" err="1">
                <a:solidFill>
                  <a:srgbClr val="0000CC"/>
                </a:solidFill>
                <a:latin typeface="Tahoma" panose="020B0604030504040204" pitchFamily="34" charset="0"/>
              </a:rPr>
              <a:t>vị</a:t>
            </a:r>
            <a:r>
              <a:rPr lang="en-US" altLang="vi-VN" sz="2000" dirty="0">
                <a:solidFill>
                  <a:srgbClr val="0000CC"/>
                </a:solidFill>
                <a:latin typeface="Tahoma" panose="020B0604030504040204" pitchFamily="34" charset="0"/>
              </a:rPr>
              <a:t> </a:t>
            </a:r>
            <a:r>
              <a:rPr lang="en-US" altLang="vi-VN" sz="2000" dirty="0" err="1">
                <a:solidFill>
                  <a:srgbClr val="0000CC"/>
                </a:solidFill>
                <a:latin typeface="Tahoma" panose="020B0604030504040204" pitchFamily="34" charset="0"/>
              </a:rPr>
              <a:t>tr</a:t>
            </a:r>
            <a:r>
              <a:rPr lang="en-US" altLang="vi-VN" sz="2000" dirty="0" err="1">
                <a:solidFill>
                  <a:srgbClr val="0000CC"/>
                </a:solidFill>
              </a:rPr>
              <a:t>í</a:t>
            </a:r>
            <a:r>
              <a:rPr lang="en-US" altLang="vi-VN" sz="2000" dirty="0">
                <a:solidFill>
                  <a:srgbClr val="0000CC"/>
                </a:solidFill>
                <a:latin typeface="Tahoma" panose="020B0604030504040204" pitchFamily="34" charset="0"/>
              </a:rPr>
              <a:t> tab </a:t>
            </a:r>
            <a:r>
              <a:rPr lang="en-US" altLang="vi-VN" sz="2000" dirty="0" err="1">
                <a:solidFill>
                  <a:srgbClr val="0000CC"/>
                </a:solidFill>
                <a:latin typeface="Tahoma" panose="020B0604030504040204" pitchFamily="34" charset="0"/>
              </a:rPr>
              <a:t>kế</a:t>
            </a:r>
            <a:r>
              <a:rPr lang="en-US" altLang="vi-VN" sz="2000" dirty="0">
                <a:solidFill>
                  <a:srgbClr val="0000CC"/>
                </a:solidFill>
                <a:latin typeface="Tahoma" panose="020B0604030504040204" pitchFamily="34" charset="0"/>
              </a:rPr>
              <a:t> </a:t>
            </a:r>
            <a:r>
              <a:rPr lang="en-US" altLang="vi-VN" sz="2000" dirty="0" err="1">
                <a:solidFill>
                  <a:srgbClr val="0000CC"/>
                </a:solidFill>
                <a:latin typeface="Tahoma" panose="020B0604030504040204" pitchFamily="34" charset="0"/>
              </a:rPr>
              <a:t>tiếp</a:t>
            </a:r>
            <a:endParaRPr lang="en-US" altLang="vi-VN" sz="2000" b="1" dirty="0">
              <a:solidFill>
                <a:srgbClr val="0000CC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vi-VN" sz="2000" b="1" dirty="0">
                <a:solidFill>
                  <a:srgbClr val="0000CC"/>
                </a:solidFill>
                <a:latin typeface="Tahoma" panose="020B0604030504040204" pitchFamily="34" charset="0"/>
              </a:rPr>
              <a:t>\\</a:t>
            </a:r>
            <a:r>
              <a:rPr lang="en-US" altLang="vi-VN" sz="2000" dirty="0">
                <a:solidFill>
                  <a:srgbClr val="0000CC"/>
                </a:solidFill>
                <a:latin typeface="Tahoma" panose="020B0604030504040204" pitchFamily="34" charset="0"/>
              </a:rPr>
              <a:t>	Backslash	</a:t>
            </a:r>
            <a:r>
              <a:rPr lang="en-US" altLang="vi-VN" sz="2000" dirty="0" err="1">
                <a:solidFill>
                  <a:srgbClr val="0000CC"/>
                </a:solidFill>
                <a:latin typeface="Tahoma" panose="020B0604030504040204" pitchFamily="34" charset="0"/>
              </a:rPr>
              <a:t>Ký</a:t>
            </a:r>
            <a:r>
              <a:rPr lang="en-US" altLang="vi-VN" sz="2000" dirty="0">
                <a:solidFill>
                  <a:srgbClr val="0000CC"/>
                </a:solidFill>
                <a:latin typeface="Tahoma" panose="020B0604030504040204" pitchFamily="34" charset="0"/>
              </a:rPr>
              <a:t> </a:t>
            </a:r>
            <a:r>
              <a:rPr lang="en-US" altLang="vi-VN" sz="2000" dirty="0" err="1">
                <a:solidFill>
                  <a:srgbClr val="0000CC"/>
                </a:solidFill>
                <a:latin typeface="Tahoma" panose="020B0604030504040204" pitchFamily="34" charset="0"/>
              </a:rPr>
              <a:t>tự</a:t>
            </a:r>
            <a:r>
              <a:rPr lang="en-US" altLang="vi-VN" sz="2000" dirty="0">
                <a:solidFill>
                  <a:srgbClr val="0000CC"/>
                </a:solidFill>
                <a:latin typeface="Tahoma" panose="020B0604030504040204" pitchFamily="34" charset="0"/>
              </a:rPr>
              <a:t>  </a:t>
            </a:r>
            <a:r>
              <a:rPr lang="en-US" altLang="vi-VN" sz="2000" dirty="0">
                <a:solidFill>
                  <a:srgbClr val="0000CC"/>
                </a:solidFill>
              </a:rPr>
              <a:t>‘</a:t>
            </a:r>
            <a:r>
              <a:rPr lang="en-US" altLang="vi-VN" sz="2000" dirty="0">
                <a:solidFill>
                  <a:srgbClr val="0000CC"/>
                </a:solidFill>
                <a:latin typeface="Tahoma" panose="020B0604030504040204" pitchFamily="34" charset="0"/>
              </a:rPr>
              <a:t>\</a:t>
            </a:r>
            <a:r>
              <a:rPr lang="en-US" altLang="vi-VN" sz="2000" dirty="0">
                <a:solidFill>
                  <a:srgbClr val="0000CC"/>
                </a:solidFill>
              </a:rPr>
              <a:t>’</a:t>
            </a:r>
            <a:endParaRPr lang="en-US" altLang="vi-VN" sz="2000" b="1" dirty="0">
              <a:solidFill>
                <a:srgbClr val="0000CC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vi-VN" sz="2000" b="1" dirty="0">
                <a:solidFill>
                  <a:srgbClr val="0000CC"/>
                </a:solidFill>
                <a:latin typeface="Tahoma" panose="020B0604030504040204" pitchFamily="34" charset="0"/>
              </a:rPr>
              <a:t>\</a:t>
            </a:r>
            <a:r>
              <a:rPr lang="en-US" altLang="vi-VN" sz="2000" b="1" dirty="0">
                <a:solidFill>
                  <a:srgbClr val="0000CC"/>
                </a:solidFill>
              </a:rPr>
              <a:t>’</a:t>
            </a:r>
            <a:r>
              <a:rPr lang="en-US" altLang="vi-VN" sz="2000" dirty="0">
                <a:solidFill>
                  <a:srgbClr val="0000CC"/>
                </a:solidFill>
                <a:latin typeface="Tahoma" panose="020B0604030504040204" pitchFamily="34" charset="0"/>
              </a:rPr>
              <a:t>	Single quote	</a:t>
            </a:r>
            <a:r>
              <a:rPr lang="en-US" altLang="vi-VN" sz="2000" dirty="0" err="1">
                <a:solidFill>
                  <a:srgbClr val="0000CC"/>
                </a:solidFill>
                <a:latin typeface="Tahoma" panose="020B0604030504040204" pitchFamily="34" charset="0"/>
              </a:rPr>
              <a:t>Ký</a:t>
            </a:r>
            <a:r>
              <a:rPr lang="en-US" altLang="vi-VN" sz="2000" dirty="0">
                <a:solidFill>
                  <a:srgbClr val="0000CC"/>
                </a:solidFill>
                <a:latin typeface="Tahoma" panose="020B0604030504040204" pitchFamily="34" charset="0"/>
              </a:rPr>
              <a:t> </a:t>
            </a:r>
            <a:r>
              <a:rPr lang="en-US" altLang="vi-VN" sz="2000" dirty="0" err="1">
                <a:solidFill>
                  <a:srgbClr val="0000CC"/>
                </a:solidFill>
                <a:latin typeface="Tahoma" panose="020B0604030504040204" pitchFamily="34" charset="0"/>
              </a:rPr>
              <a:t>tự</a:t>
            </a:r>
            <a:r>
              <a:rPr lang="en-US" altLang="vi-VN" sz="2000" dirty="0">
                <a:solidFill>
                  <a:srgbClr val="0000CC"/>
                </a:solidFill>
                <a:latin typeface="Tahoma" panose="020B0604030504040204" pitchFamily="34" charset="0"/>
              </a:rPr>
              <a:t> </a:t>
            </a:r>
            <a:r>
              <a:rPr lang="en-US" altLang="vi-VN" sz="2000" dirty="0" err="1">
                <a:solidFill>
                  <a:srgbClr val="0000CC"/>
                </a:solidFill>
                <a:latin typeface="Tahoma" panose="020B0604030504040204" pitchFamily="34" charset="0"/>
              </a:rPr>
              <a:t>dấu</a:t>
            </a:r>
            <a:r>
              <a:rPr lang="en-US" altLang="vi-VN" sz="2000" dirty="0">
                <a:solidFill>
                  <a:srgbClr val="0000CC"/>
                </a:solidFill>
                <a:latin typeface="Tahoma" panose="020B0604030504040204" pitchFamily="34" charset="0"/>
              </a:rPr>
              <a:t> </a:t>
            </a:r>
            <a:r>
              <a:rPr lang="en-US" altLang="vi-VN" sz="2000" dirty="0" err="1">
                <a:solidFill>
                  <a:srgbClr val="0000CC"/>
                </a:solidFill>
                <a:latin typeface="Tahoma" panose="020B0604030504040204" pitchFamily="34" charset="0"/>
              </a:rPr>
              <a:t>nh</a:t>
            </a:r>
            <a:r>
              <a:rPr lang="en-US" altLang="vi-VN" sz="2000" dirty="0" err="1">
                <a:solidFill>
                  <a:srgbClr val="0000CC"/>
                </a:solidFill>
              </a:rPr>
              <a:t>á</a:t>
            </a:r>
            <a:r>
              <a:rPr lang="en-US" altLang="vi-VN" sz="2000" dirty="0" err="1">
                <a:solidFill>
                  <a:srgbClr val="0000CC"/>
                </a:solidFill>
                <a:latin typeface="Tahoma" panose="020B0604030504040204" pitchFamily="34" charset="0"/>
              </a:rPr>
              <a:t>y</a:t>
            </a:r>
            <a:r>
              <a:rPr lang="en-US" altLang="vi-VN" sz="2000" dirty="0">
                <a:solidFill>
                  <a:srgbClr val="0000CC"/>
                </a:solidFill>
                <a:latin typeface="Tahoma" panose="020B0604030504040204" pitchFamily="34" charset="0"/>
              </a:rPr>
              <a:t> </a:t>
            </a:r>
            <a:r>
              <a:rPr lang="en-US" altLang="vi-VN" sz="2000" dirty="0" err="1">
                <a:solidFill>
                  <a:srgbClr val="0000CC"/>
                </a:solidFill>
                <a:latin typeface="Tahoma" panose="020B0604030504040204" pitchFamily="34" charset="0"/>
              </a:rPr>
              <a:t>đơn</a:t>
            </a:r>
            <a:endParaRPr lang="en-US" altLang="vi-VN" sz="2000" b="1" dirty="0">
              <a:solidFill>
                <a:srgbClr val="0000CC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vi-VN" sz="2000" b="1" dirty="0">
                <a:solidFill>
                  <a:srgbClr val="0000CC"/>
                </a:solidFill>
                <a:latin typeface="Tahoma" panose="020B0604030504040204" pitchFamily="34" charset="0"/>
              </a:rPr>
              <a:t>\</a:t>
            </a:r>
            <a:r>
              <a:rPr lang="en-US" altLang="vi-VN" sz="2000" b="1" dirty="0">
                <a:solidFill>
                  <a:srgbClr val="0000CC"/>
                </a:solidFill>
              </a:rPr>
              <a:t>”</a:t>
            </a:r>
            <a:r>
              <a:rPr lang="en-US" altLang="vi-VN" sz="2000" b="1" dirty="0">
                <a:solidFill>
                  <a:srgbClr val="0000CC"/>
                </a:solidFill>
                <a:latin typeface="Tahoma" panose="020B0604030504040204" pitchFamily="34" charset="0"/>
              </a:rPr>
              <a:t>	</a:t>
            </a:r>
            <a:r>
              <a:rPr lang="en-US" altLang="vi-VN" sz="2000" dirty="0">
                <a:solidFill>
                  <a:srgbClr val="0000CC"/>
                </a:solidFill>
                <a:latin typeface="Tahoma" panose="020B0604030504040204" pitchFamily="34" charset="0"/>
              </a:rPr>
              <a:t>Double quote	</a:t>
            </a:r>
            <a:r>
              <a:rPr lang="en-US" altLang="vi-VN" sz="2000" dirty="0" err="1">
                <a:solidFill>
                  <a:srgbClr val="0000CC"/>
                </a:solidFill>
                <a:latin typeface="Tahoma" panose="020B0604030504040204" pitchFamily="34" charset="0"/>
              </a:rPr>
              <a:t>Ký</a:t>
            </a:r>
            <a:r>
              <a:rPr lang="en-US" altLang="vi-VN" sz="2000" dirty="0">
                <a:solidFill>
                  <a:srgbClr val="0000CC"/>
                </a:solidFill>
                <a:latin typeface="Tahoma" panose="020B0604030504040204" pitchFamily="34" charset="0"/>
              </a:rPr>
              <a:t> </a:t>
            </a:r>
            <a:r>
              <a:rPr lang="en-US" altLang="vi-VN" sz="2000" dirty="0" err="1">
                <a:solidFill>
                  <a:srgbClr val="0000CC"/>
                </a:solidFill>
                <a:latin typeface="Tahoma" panose="020B0604030504040204" pitchFamily="34" charset="0"/>
              </a:rPr>
              <a:t>tự</a:t>
            </a:r>
            <a:r>
              <a:rPr lang="en-US" altLang="vi-VN" sz="2000" dirty="0">
                <a:solidFill>
                  <a:srgbClr val="0000CC"/>
                </a:solidFill>
                <a:latin typeface="Tahoma" panose="020B0604030504040204" pitchFamily="34" charset="0"/>
              </a:rPr>
              <a:t> </a:t>
            </a:r>
            <a:r>
              <a:rPr lang="en-US" altLang="vi-VN" sz="2000" dirty="0" err="1">
                <a:solidFill>
                  <a:srgbClr val="0000CC"/>
                </a:solidFill>
                <a:latin typeface="Tahoma" panose="020B0604030504040204" pitchFamily="34" charset="0"/>
              </a:rPr>
              <a:t>dấu</a:t>
            </a:r>
            <a:r>
              <a:rPr lang="en-US" altLang="vi-VN" sz="2000" dirty="0">
                <a:solidFill>
                  <a:srgbClr val="0000CC"/>
                </a:solidFill>
                <a:latin typeface="Tahoma" panose="020B0604030504040204" pitchFamily="34" charset="0"/>
              </a:rPr>
              <a:t> </a:t>
            </a:r>
            <a:r>
              <a:rPr lang="en-US" altLang="vi-VN" sz="2000" dirty="0" err="1">
                <a:solidFill>
                  <a:srgbClr val="0000CC"/>
                </a:solidFill>
                <a:latin typeface="Tahoma" panose="020B0604030504040204" pitchFamily="34" charset="0"/>
              </a:rPr>
              <a:t>nh</a:t>
            </a:r>
            <a:r>
              <a:rPr lang="en-US" altLang="vi-VN" sz="2000" dirty="0" err="1">
                <a:solidFill>
                  <a:srgbClr val="0000CC"/>
                </a:solidFill>
              </a:rPr>
              <a:t>á</a:t>
            </a:r>
            <a:r>
              <a:rPr lang="en-US" altLang="vi-VN" sz="2000" dirty="0" err="1">
                <a:solidFill>
                  <a:srgbClr val="0000CC"/>
                </a:solidFill>
                <a:latin typeface="Tahoma" panose="020B0604030504040204" pitchFamily="34" charset="0"/>
              </a:rPr>
              <a:t>y</a:t>
            </a:r>
            <a:r>
              <a:rPr lang="en-US" altLang="vi-VN" sz="2000" dirty="0">
                <a:solidFill>
                  <a:srgbClr val="0000CC"/>
                </a:solidFill>
                <a:latin typeface="Tahoma" panose="020B0604030504040204" pitchFamily="34" charset="0"/>
              </a:rPr>
              <a:t> </a:t>
            </a:r>
            <a:r>
              <a:rPr lang="en-US" altLang="vi-VN" sz="2000" dirty="0" err="1">
                <a:solidFill>
                  <a:srgbClr val="0000CC"/>
                </a:solidFill>
                <a:latin typeface="Tahoma" panose="020B0604030504040204" pitchFamily="34" charset="0"/>
              </a:rPr>
              <a:t>đôi</a:t>
            </a:r>
            <a:endParaRPr lang="en-US" altLang="vi-VN" sz="2000" b="1" dirty="0">
              <a:solidFill>
                <a:srgbClr val="0000CC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vi-VN" sz="2000" b="1" dirty="0">
                <a:solidFill>
                  <a:srgbClr val="0000CC"/>
                </a:solidFill>
                <a:latin typeface="Tahoma" panose="020B0604030504040204" pitchFamily="34" charset="0"/>
              </a:rPr>
              <a:t>\?	</a:t>
            </a:r>
            <a:r>
              <a:rPr lang="en-US" altLang="vi-VN" sz="2000" dirty="0">
                <a:solidFill>
                  <a:srgbClr val="0000CC"/>
                </a:solidFill>
                <a:latin typeface="Tahoma" panose="020B0604030504040204" pitchFamily="34" charset="0"/>
              </a:rPr>
              <a:t>Question mark	</a:t>
            </a:r>
            <a:r>
              <a:rPr lang="en-US" altLang="vi-VN" sz="2000" dirty="0" err="1">
                <a:solidFill>
                  <a:srgbClr val="0000CC"/>
                </a:solidFill>
                <a:latin typeface="Tahoma" panose="020B0604030504040204" pitchFamily="34" charset="0"/>
              </a:rPr>
              <a:t>Ký</a:t>
            </a:r>
            <a:r>
              <a:rPr lang="en-US" altLang="vi-VN" sz="2000" dirty="0">
                <a:solidFill>
                  <a:srgbClr val="0000CC"/>
                </a:solidFill>
                <a:latin typeface="Tahoma" panose="020B0604030504040204" pitchFamily="34" charset="0"/>
              </a:rPr>
              <a:t> </a:t>
            </a:r>
            <a:r>
              <a:rPr lang="en-US" altLang="vi-VN" sz="2000" dirty="0" err="1">
                <a:solidFill>
                  <a:srgbClr val="0000CC"/>
                </a:solidFill>
                <a:latin typeface="Tahoma" panose="020B0604030504040204" pitchFamily="34" charset="0"/>
              </a:rPr>
              <a:t>tự</a:t>
            </a:r>
            <a:r>
              <a:rPr lang="en-US" altLang="vi-VN" sz="2000" dirty="0">
                <a:solidFill>
                  <a:srgbClr val="0000CC"/>
                </a:solidFill>
                <a:latin typeface="Tahoma" panose="020B0604030504040204" pitchFamily="34" charset="0"/>
              </a:rPr>
              <a:t> </a:t>
            </a:r>
            <a:r>
              <a:rPr lang="en-US" altLang="vi-VN" sz="2000" dirty="0" err="1">
                <a:solidFill>
                  <a:srgbClr val="0000CC"/>
                </a:solidFill>
                <a:latin typeface="Tahoma" panose="020B0604030504040204" pitchFamily="34" charset="0"/>
              </a:rPr>
              <a:t>dấu</a:t>
            </a:r>
            <a:r>
              <a:rPr lang="en-US" altLang="vi-VN" sz="2000" dirty="0">
                <a:solidFill>
                  <a:srgbClr val="0000CC"/>
                </a:solidFill>
                <a:latin typeface="Tahoma" panose="020B0604030504040204" pitchFamily="34" charset="0"/>
              </a:rPr>
              <a:t> </a:t>
            </a:r>
            <a:r>
              <a:rPr lang="en-US" altLang="vi-VN" sz="2000" dirty="0" err="1">
                <a:solidFill>
                  <a:srgbClr val="0000CC"/>
                </a:solidFill>
                <a:latin typeface="Tahoma" panose="020B0604030504040204" pitchFamily="34" charset="0"/>
              </a:rPr>
              <a:t>hỏi</a:t>
            </a:r>
            <a:endParaRPr lang="en-US" altLang="vi-VN" sz="2000" b="1" dirty="0">
              <a:solidFill>
                <a:srgbClr val="0000CC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vi-VN" sz="2000" b="1" dirty="0">
                <a:solidFill>
                  <a:srgbClr val="0000CC"/>
                </a:solidFill>
                <a:latin typeface="Tahoma" panose="020B0604030504040204" pitchFamily="34" charset="0"/>
              </a:rPr>
              <a:t>\&lt;octal digit&gt;	</a:t>
            </a:r>
            <a:r>
              <a:rPr lang="en-US" altLang="vi-VN" sz="2000" dirty="0" err="1">
                <a:solidFill>
                  <a:srgbClr val="0000CC"/>
                </a:solidFill>
                <a:latin typeface="Tahoma" panose="020B0604030504040204" pitchFamily="34" charset="0"/>
              </a:rPr>
              <a:t>Hằng</a:t>
            </a:r>
            <a:r>
              <a:rPr lang="en-US" altLang="vi-VN" sz="2000" dirty="0">
                <a:solidFill>
                  <a:srgbClr val="0000CC"/>
                </a:solidFill>
                <a:latin typeface="Tahoma" panose="020B0604030504040204" pitchFamily="34" charset="0"/>
              </a:rPr>
              <a:t> </a:t>
            </a:r>
            <a:r>
              <a:rPr lang="en-US" altLang="vi-VN" sz="2000" dirty="0" err="1">
                <a:solidFill>
                  <a:srgbClr val="0000CC"/>
                </a:solidFill>
                <a:latin typeface="Tahoma" panose="020B0604030504040204" pitchFamily="34" charset="0"/>
              </a:rPr>
              <a:t>hệ</a:t>
            </a:r>
            <a:r>
              <a:rPr lang="en-US" altLang="vi-VN" sz="2000" dirty="0">
                <a:solidFill>
                  <a:srgbClr val="0000CC"/>
                </a:solidFill>
                <a:latin typeface="Tahoma" panose="020B0604030504040204" pitchFamily="34" charset="0"/>
              </a:rPr>
              <a:t> 8</a:t>
            </a:r>
            <a:endParaRPr lang="en-US" altLang="vi-VN" sz="2000" b="1" dirty="0">
              <a:solidFill>
                <a:srgbClr val="0000CC"/>
              </a:solidFill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</a:pPr>
            <a:r>
              <a:rPr lang="en-US" altLang="vi-VN" sz="2000" b="1" dirty="0">
                <a:solidFill>
                  <a:srgbClr val="0000CC"/>
                </a:solidFill>
                <a:latin typeface="Tahoma" panose="020B0604030504040204" pitchFamily="34" charset="0"/>
              </a:rPr>
              <a:t>\&lt;</a:t>
            </a:r>
            <a:r>
              <a:rPr lang="en-US" altLang="vi-VN" sz="2000" b="1" dirty="0" err="1">
                <a:solidFill>
                  <a:srgbClr val="0000CC"/>
                </a:solidFill>
                <a:latin typeface="Tahoma" panose="020B0604030504040204" pitchFamily="34" charset="0"/>
              </a:rPr>
              <a:t>hexa</a:t>
            </a:r>
            <a:r>
              <a:rPr lang="en-US" altLang="vi-VN" sz="2000" b="1" dirty="0">
                <a:solidFill>
                  <a:srgbClr val="0000CC"/>
                </a:solidFill>
                <a:latin typeface="Tahoma" panose="020B0604030504040204" pitchFamily="34" charset="0"/>
              </a:rPr>
              <a:t> digit&gt;</a:t>
            </a:r>
            <a:r>
              <a:rPr lang="en-US" altLang="vi-VN" sz="2000" dirty="0">
                <a:solidFill>
                  <a:srgbClr val="0000CC"/>
                </a:solidFill>
                <a:latin typeface="Tahoma" panose="020B0604030504040204" pitchFamily="34" charset="0"/>
              </a:rPr>
              <a:t>	</a:t>
            </a:r>
            <a:r>
              <a:rPr lang="en-US" altLang="vi-VN" sz="2000" dirty="0" err="1">
                <a:solidFill>
                  <a:srgbClr val="0000CC"/>
                </a:solidFill>
                <a:latin typeface="Tahoma" panose="020B0604030504040204" pitchFamily="34" charset="0"/>
              </a:rPr>
              <a:t>Hằng</a:t>
            </a:r>
            <a:r>
              <a:rPr lang="en-US" altLang="vi-VN" sz="2000" dirty="0">
                <a:solidFill>
                  <a:srgbClr val="0000CC"/>
                </a:solidFill>
                <a:latin typeface="Tahoma" panose="020B0604030504040204" pitchFamily="34" charset="0"/>
              </a:rPr>
              <a:t> </a:t>
            </a:r>
            <a:r>
              <a:rPr lang="en-US" altLang="vi-VN" sz="2000" dirty="0" err="1">
                <a:solidFill>
                  <a:srgbClr val="0000CC"/>
                </a:solidFill>
                <a:latin typeface="Tahoma" panose="020B0604030504040204" pitchFamily="34" charset="0"/>
              </a:rPr>
              <a:t>hệ</a:t>
            </a:r>
            <a:r>
              <a:rPr lang="en-US" altLang="vi-VN" sz="2000" dirty="0">
                <a:solidFill>
                  <a:srgbClr val="0000CC"/>
                </a:solidFill>
                <a:latin typeface="Tahoma" panose="020B0604030504040204" pitchFamily="34" charset="0"/>
              </a:rPr>
              <a:t> 16</a:t>
            </a:r>
          </a:p>
          <a:p>
            <a:pPr marL="1681163" lvl="4" indent="-339725">
              <a:lnSpc>
                <a:spcPct val="80000"/>
              </a:lnSpc>
            </a:pPr>
            <a:endParaRPr lang="en-US" altLang="vi-VN" sz="1800" dirty="0">
              <a:solidFill>
                <a:srgbClr val="0000CC"/>
              </a:solidFill>
              <a:latin typeface="Tahoma" panose="020B0604030504040204" pitchFamily="34" charset="0"/>
            </a:endParaRPr>
          </a:p>
        </p:txBody>
      </p:sp>
      <p:sp>
        <p:nvSpPr>
          <p:cNvPr id="14341" name="Oval 4"/>
          <p:cNvSpPr>
            <a:spLocks noChangeArrowheads="1"/>
          </p:cNvSpPr>
          <p:nvPr/>
        </p:nvSpPr>
        <p:spPr bwMode="auto">
          <a:xfrm>
            <a:off x="1295400" y="228600"/>
            <a:ext cx="6172200" cy="7620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vi-VN" sz="2800" b="1" dirty="0">
                <a:latin typeface="Tahoma" panose="020B0604030504040204" pitchFamily="34" charset="0"/>
              </a:rPr>
              <a:t>NHẬP/XUẤT DỮ LIỆU</a:t>
            </a:r>
          </a:p>
        </p:txBody>
      </p:sp>
    </p:spTree>
    <p:extLst>
      <p:ext uri="{BB962C8B-B14F-4D97-AF65-F5344CB8AC3E}">
        <p14:creationId xmlns:p14="http://schemas.microsoft.com/office/powerpoint/2010/main" val="27523996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vi-VN">
                <a:solidFill>
                  <a:schemeClr val="bg1"/>
                </a:solidFill>
              </a:rPr>
              <a:t>www.hoasen.edu.vn</a:t>
            </a:r>
            <a:endParaRPr lang="en-GB" altLang="vi-VN">
              <a:solidFill>
                <a:schemeClr val="bg1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D3950F7-405F-4378-B3E9-CD43C368A5E1}" type="slidenum">
              <a:rPr lang="en-US" altLang="vi-VN">
                <a:solidFill>
                  <a:srgbClr val="FFFF00"/>
                </a:solidFill>
              </a:rPr>
              <a:pPr eaLnBrk="1" hangingPunct="1"/>
              <a:t>12</a:t>
            </a:fld>
            <a:endParaRPr lang="en-GB" altLang="vi-VN">
              <a:solidFill>
                <a:srgbClr val="FFFF00"/>
              </a:solidFill>
            </a:endParaRPr>
          </a:p>
        </p:txBody>
      </p:sp>
      <p:sp>
        <p:nvSpPr>
          <p:cNvPr id="14341" name="Oval 4"/>
          <p:cNvSpPr>
            <a:spLocks noChangeArrowheads="1"/>
          </p:cNvSpPr>
          <p:nvPr/>
        </p:nvSpPr>
        <p:spPr bwMode="auto">
          <a:xfrm>
            <a:off x="1295400" y="228600"/>
            <a:ext cx="6172200" cy="7620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vi-VN" sz="2800" b="1" dirty="0">
                <a:latin typeface="Tahoma" panose="020B0604030504040204" pitchFamily="34" charset="0"/>
              </a:rPr>
              <a:t>MỘT SỐ DEMO</a:t>
            </a:r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7019" y="1424714"/>
            <a:ext cx="6280776" cy="340264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086" y="1289096"/>
            <a:ext cx="232982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Nhập</a:t>
            </a:r>
            <a:r>
              <a:rPr lang="en-US" sz="24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bán</a:t>
            </a:r>
            <a:r>
              <a:rPr lang="en-US" sz="24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kính</a:t>
            </a:r>
            <a:r>
              <a:rPr lang="en-US" sz="24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4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sz="24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tròn</a:t>
            </a:r>
            <a:r>
              <a:rPr lang="en-US" sz="24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sz="24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4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</a:t>
            </a:r>
            <a:r>
              <a:rPr lang="en-US" sz="24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en-US" sz="24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sz="24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tích</a:t>
            </a:r>
            <a:r>
              <a:rPr lang="en-US" sz="24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sz="24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nó</a:t>
            </a:r>
            <a:r>
              <a:rPr lang="en-US" sz="24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sz="24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 </a:t>
            </a:r>
            <a:r>
              <a:rPr lang="en-US" sz="24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sz="2400" dirty="0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solidFill>
                  <a:srgbClr val="00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lẻ</a:t>
            </a:r>
            <a:endParaRPr lang="vi-VN" sz="2400" dirty="0">
              <a:solidFill>
                <a:srgbClr val="00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loud Callout 5"/>
          <p:cNvSpPr/>
          <p:nvPr/>
        </p:nvSpPr>
        <p:spPr>
          <a:xfrm>
            <a:off x="5344886" y="5192486"/>
            <a:ext cx="1469571" cy="1163865"/>
          </a:xfrm>
          <a:prstGeom prst="cloudCallout">
            <a:avLst>
              <a:gd name="adj1" fmla="val 66489"/>
              <a:gd name="adj2" fmla="val -110778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?????</a:t>
            </a:r>
            <a:endParaRPr lang="vi-VN" dirty="0"/>
          </a:p>
        </p:txBody>
      </p:sp>
      <p:sp>
        <p:nvSpPr>
          <p:cNvPr id="11" name="Cloud Callout 10"/>
          <p:cNvSpPr/>
          <p:nvPr/>
        </p:nvSpPr>
        <p:spPr>
          <a:xfrm>
            <a:off x="5943600" y="734740"/>
            <a:ext cx="1981200" cy="1419725"/>
          </a:xfrm>
          <a:prstGeom prst="cloudCallout">
            <a:avLst>
              <a:gd name="adj1" fmla="val -108196"/>
              <a:gd name="adj2" fmla="val 53299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?????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25578741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vi-VN">
                <a:solidFill>
                  <a:schemeClr val="bg1"/>
                </a:solidFill>
              </a:rPr>
              <a:t>www.hoasen.edu.vn</a:t>
            </a:r>
            <a:endParaRPr lang="en-GB" altLang="vi-VN">
              <a:solidFill>
                <a:schemeClr val="bg1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D3950F7-405F-4378-B3E9-CD43C368A5E1}" type="slidenum">
              <a:rPr lang="en-US" altLang="vi-VN">
                <a:solidFill>
                  <a:srgbClr val="FFFF00"/>
                </a:solidFill>
              </a:rPr>
              <a:pPr eaLnBrk="1" hangingPunct="1"/>
              <a:t>13</a:t>
            </a:fld>
            <a:endParaRPr lang="en-GB" altLang="vi-VN">
              <a:solidFill>
                <a:srgbClr val="FFFF00"/>
              </a:solidFill>
            </a:endParaRPr>
          </a:p>
        </p:txBody>
      </p:sp>
      <p:sp>
        <p:nvSpPr>
          <p:cNvPr id="14341" name="Oval 4"/>
          <p:cNvSpPr>
            <a:spLocks noChangeArrowheads="1"/>
          </p:cNvSpPr>
          <p:nvPr/>
        </p:nvSpPr>
        <p:spPr bwMode="auto">
          <a:xfrm>
            <a:off x="1295400" y="228600"/>
            <a:ext cx="6172200" cy="7620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vi-VN" sz="2800" b="1" dirty="0">
                <a:latin typeface="Tahoma" panose="020B0604030504040204" pitchFamily="34" charset="0"/>
              </a:rPr>
              <a:t>MỘT SỐ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402" y="1495029"/>
            <a:ext cx="211182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 err="1"/>
              <a:t>Nhập</a:t>
            </a:r>
            <a:r>
              <a:rPr lang="en-US" sz="2400" b="1" i="1" dirty="0"/>
              <a:t> 2 </a:t>
            </a:r>
            <a:r>
              <a:rPr lang="en-US" sz="2400" b="1" i="1" dirty="0" err="1"/>
              <a:t>số</a:t>
            </a:r>
            <a:r>
              <a:rPr lang="en-US" sz="2400" b="1" i="1" dirty="0"/>
              <a:t> </a:t>
            </a:r>
            <a:r>
              <a:rPr lang="en-US" sz="2400" b="1" i="1" dirty="0" err="1"/>
              <a:t>nguyên</a:t>
            </a:r>
            <a:r>
              <a:rPr lang="en-US" sz="2400" b="1" i="1" dirty="0"/>
              <a:t>, </a:t>
            </a:r>
            <a:r>
              <a:rPr lang="en-US" sz="2400" b="1" i="1" dirty="0" err="1"/>
              <a:t>tính</a:t>
            </a:r>
            <a:r>
              <a:rPr lang="en-US" sz="2400" b="1" i="1" dirty="0"/>
              <a:t> </a:t>
            </a:r>
            <a:r>
              <a:rPr lang="en-US" sz="2400" b="1" i="1" dirty="0" err="1"/>
              <a:t>tổng</a:t>
            </a:r>
            <a:r>
              <a:rPr lang="en-US" sz="2400" b="1" i="1" dirty="0"/>
              <a:t> </a:t>
            </a:r>
            <a:r>
              <a:rPr lang="en-US" sz="2400" b="1" i="1" dirty="0" err="1"/>
              <a:t>và</a:t>
            </a:r>
            <a:r>
              <a:rPr lang="en-US" sz="2400" b="1" i="1" dirty="0"/>
              <a:t> </a:t>
            </a:r>
            <a:r>
              <a:rPr lang="en-US" sz="2400" b="1" i="1" dirty="0" err="1"/>
              <a:t>thương</a:t>
            </a:r>
            <a:r>
              <a:rPr lang="en-US" sz="2400" b="1" i="1" dirty="0"/>
              <a:t> </a:t>
            </a:r>
            <a:r>
              <a:rPr lang="en-US" sz="2400" b="1" i="1" dirty="0" err="1"/>
              <a:t>của</a:t>
            </a:r>
            <a:r>
              <a:rPr lang="en-US" sz="2400" b="1" i="1" dirty="0"/>
              <a:t> </a:t>
            </a:r>
            <a:r>
              <a:rPr lang="en-US" sz="2400" b="1" i="1" dirty="0" err="1"/>
              <a:t>chúng</a:t>
            </a:r>
            <a:r>
              <a:rPr lang="en-US" sz="2400" b="1" i="1" dirty="0"/>
              <a:t>.</a:t>
            </a:r>
            <a:endParaRPr lang="vi-VN" sz="2400" b="1" i="1" dirty="0"/>
          </a:p>
        </p:txBody>
      </p:sp>
      <p:pic>
        <p:nvPicPr>
          <p:cNvPr id="2" name="Picture 1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8514" y="2396014"/>
            <a:ext cx="5965372" cy="3623786"/>
          </a:xfrm>
          <a:prstGeom prst="rect">
            <a:avLst/>
          </a:prstGeom>
        </p:spPr>
      </p:pic>
      <p:sp>
        <p:nvSpPr>
          <p:cNvPr id="11" name="Cloud Callout 10"/>
          <p:cNvSpPr/>
          <p:nvPr/>
        </p:nvSpPr>
        <p:spPr>
          <a:xfrm>
            <a:off x="6625318" y="684904"/>
            <a:ext cx="1722664" cy="2749117"/>
          </a:xfrm>
          <a:prstGeom prst="cloudCallout">
            <a:avLst>
              <a:gd name="adj1" fmla="val -75341"/>
              <a:gd name="adj2" fmla="val 77418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/>
              <a:t>Ép</a:t>
            </a:r>
            <a:r>
              <a:rPr lang="en-US" sz="2000" b="1" dirty="0"/>
              <a:t> </a:t>
            </a:r>
            <a:r>
              <a:rPr lang="en-US" sz="2000" b="1" dirty="0" err="1"/>
              <a:t>kiểu</a:t>
            </a:r>
            <a:endParaRPr lang="en-US" sz="2000" b="1" dirty="0"/>
          </a:p>
          <a:p>
            <a:pPr algn="ctr"/>
            <a:r>
              <a:rPr lang="en-US" sz="2000" b="1" dirty="0"/>
              <a:t>?????</a:t>
            </a:r>
            <a:endParaRPr lang="vi-VN" sz="2000" b="1" dirty="0"/>
          </a:p>
        </p:txBody>
      </p:sp>
    </p:spTree>
    <p:extLst>
      <p:ext uri="{BB962C8B-B14F-4D97-AF65-F5344CB8AC3E}">
        <p14:creationId xmlns:p14="http://schemas.microsoft.com/office/powerpoint/2010/main" val="765409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vi-VN">
                <a:solidFill>
                  <a:schemeClr val="bg1"/>
                </a:solidFill>
              </a:rPr>
              <a:t>www.hoasen.edu.vn</a:t>
            </a:r>
            <a:endParaRPr lang="en-GB" altLang="vi-VN">
              <a:solidFill>
                <a:schemeClr val="bg1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D3950F7-405F-4378-B3E9-CD43C368A5E1}" type="slidenum">
              <a:rPr lang="en-US" altLang="vi-VN">
                <a:solidFill>
                  <a:srgbClr val="FFFF00"/>
                </a:solidFill>
              </a:rPr>
              <a:pPr eaLnBrk="1" hangingPunct="1"/>
              <a:t>14</a:t>
            </a:fld>
            <a:endParaRPr lang="en-GB" altLang="vi-VN">
              <a:solidFill>
                <a:srgbClr val="FFFF00"/>
              </a:solidFill>
            </a:endParaRPr>
          </a:p>
        </p:txBody>
      </p:sp>
      <p:sp>
        <p:nvSpPr>
          <p:cNvPr id="14341" name="Oval 4"/>
          <p:cNvSpPr>
            <a:spLocks noChangeArrowheads="1"/>
          </p:cNvSpPr>
          <p:nvPr/>
        </p:nvSpPr>
        <p:spPr bwMode="auto">
          <a:xfrm>
            <a:off x="1295400" y="228600"/>
            <a:ext cx="6172200" cy="7620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vi-VN" sz="2800" b="1" dirty="0">
                <a:latin typeface="Tahoma" panose="020B0604030504040204" pitchFamily="34" charset="0"/>
              </a:rPr>
              <a:t>MỘT SỐ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402" y="1495029"/>
            <a:ext cx="211182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 err="1">
                <a:solidFill>
                  <a:srgbClr val="7030A0"/>
                </a:solidFill>
              </a:rPr>
              <a:t>Nhập</a:t>
            </a:r>
            <a:r>
              <a:rPr lang="en-US" sz="2400" b="1" i="1" dirty="0">
                <a:solidFill>
                  <a:srgbClr val="7030A0"/>
                </a:solidFill>
              </a:rPr>
              <a:t> </a:t>
            </a:r>
            <a:r>
              <a:rPr lang="en-US" sz="2400" b="1" i="1" dirty="0" err="1">
                <a:solidFill>
                  <a:srgbClr val="7030A0"/>
                </a:solidFill>
              </a:rPr>
              <a:t>một</a:t>
            </a:r>
            <a:r>
              <a:rPr lang="en-US" sz="2400" b="1" i="1" dirty="0">
                <a:solidFill>
                  <a:srgbClr val="7030A0"/>
                </a:solidFill>
              </a:rPr>
              <a:t> </a:t>
            </a:r>
            <a:r>
              <a:rPr lang="en-US" sz="2400" b="1" i="1" dirty="0" err="1">
                <a:solidFill>
                  <a:srgbClr val="7030A0"/>
                </a:solidFill>
              </a:rPr>
              <a:t>số</a:t>
            </a:r>
            <a:r>
              <a:rPr lang="en-US" sz="2400" b="1" i="1" dirty="0">
                <a:solidFill>
                  <a:srgbClr val="7030A0"/>
                </a:solidFill>
              </a:rPr>
              <a:t> </a:t>
            </a:r>
            <a:r>
              <a:rPr lang="en-US" sz="2400" b="1" i="1" dirty="0" err="1">
                <a:solidFill>
                  <a:srgbClr val="7030A0"/>
                </a:solidFill>
              </a:rPr>
              <a:t>nguyên</a:t>
            </a:r>
            <a:r>
              <a:rPr lang="en-US" sz="2400" b="1" i="1" dirty="0">
                <a:solidFill>
                  <a:srgbClr val="7030A0"/>
                </a:solidFill>
              </a:rPr>
              <a:t> N, </a:t>
            </a:r>
            <a:r>
              <a:rPr lang="en-US" sz="2400" b="1" i="1" dirty="0" err="1">
                <a:solidFill>
                  <a:srgbClr val="7030A0"/>
                </a:solidFill>
              </a:rPr>
              <a:t>tính</a:t>
            </a:r>
            <a:r>
              <a:rPr lang="en-US" sz="2400" b="1" i="1" dirty="0">
                <a:solidFill>
                  <a:srgbClr val="7030A0"/>
                </a:solidFill>
              </a:rPr>
              <a:t> </a:t>
            </a:r>
            <a:r>
              <a:rPr lang="en-US" sz="2400" b="1" i="1" dirty="0" err="1">
                <a:solidFill>
                  <a:srgbClr val="7030A0"/>
                </a:solidFill>
              </a:rPr>
              <a:t>và</a:t>
            </a:r>
            <a:r>
              <a:rPr lang="en-US" sz="2400" b="1" i="1" dirty="0">
                <a:solidFill>
                  <a:srgbClr val="7030A0"/>
                </a:solidFill>
              </a:rPr>
              <a:t> in </a:t>
            </a:r>
            <a:r>
              <a:rPr lang="en-US" sz="2400" b="1" i="1" dirty="0" err="1">
                <a:solidFill>
                  <a:srgbClr val="7030A0"/>
                </a:solidFill>
              </a:rPr>
              <a:t>ra</a:t>
            </a:r>
            <a:r>
              <a:rPr lang="en-US" sz="2400" b="1" i="1" dirty="0">
                <a:solidFill>
                  <a:srgbClr val="7030A0"/>
                </a:solidFill>
              </a:rPr>
              <a:t> </a:t>
            </a:r>
            <a:r>
              <a:rPr lang="en-US" sz="2400" b="1" i="1" dirty="0" err="1">
                <a:solidFill>
                  <a:srgbClr val="7030A0"/>
                </a:solidFill>
              </a:rPr>
              <a:t>căn</a:t>
            </a:r>
            <a:r>
              <a:rPr lang="en-US" sz="2400" b="1" i="1" dirty="0">
                <a:solidFill>
                  <a:srgbClr val="7030A0"/>
                </a:solidFill>
              </a:rPr>
              <a:t> </a:t>
            </a:r>
            <a:r>
              <a:rPr lang="en-US" sz="2400" b="1" i="1" dirty="0" err="1">
                <a:solidFill>
                  <a:srgbClr val="7030A0"/>
                </a:solidFill>
              </a:rPr>
              <a:t>bậc</a:t>
            </a:r>
            <a:r>
              <a:rPr lang="en-US" sz="2400" b="1" i="1" dirty="0">
                <a:solidFill>
                  <a:srgbClr val="7030A0"/>
                </a:solidFill>
              </a:rPr>
              <a:t> 2 </a:t>
            </a:r>
            <a:r>
              <a:rPr lang="en-US" sz="2400" b="1" i="1" dirty="0" err="1">
                <a:solidFill>
                  <a:srgbClr val="7030A0"/>
                </a:solidFill>
              </a:rPr>
              <a:t>của</a:t>
            </a:r>
            <a:r>
              <a:rPr lang="en-US" sz="2400" b="1" i="1" dirty="0">
                <a:solidFill>
                  <a:srgbClr val="7030A0"/>
                </a:solidFill>
              </a:rPr>
              <a:t> N</a:t>
            </a:r>
            <a:endParaRPr lang="vi-VN" sz="2400" b="1" i="1" dirty="0">
              <a:solidFill>
                <a:srgbClr val="7030A0"/>
              </a:solidFill>
            </a:endParaRPr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143" y="3064689"/>
            <a:ext cx="5932714" cy="3209767"/>
          </a:xfrm>
          <a:prstGeom prst="rect">
            <a:avLst/>
          </a:prstGeom>
        </p:spPr>
      </p:pic>
      <p:sp>
        <p:nvSpPr>
          <p:cNvPr id="11" name="Cloud Callout 10"/>
          <p:cNvSpPr/>
          <p:nvPr/>
        </p:nvSpPr>
        <p:spPr>
          <a:xfrm>
            <a:off x="6755946" y="2560260"/>
            <a:ext cx="1582511" cy="1572564"/>
          </a:xfrm>
          <a:prstGeom prst="cloudCallout">
            <a:avLst>
              <a:gd name="adj1" fmla="val -18469"/>
              <a:gd name="adj2" fmla="val 113055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?????</a:t>
            </a:r>
            <a:endParaRPr lang="vi-VN" sz="2000" b="1" dirty="0"/>
          </a:p>
        </p:txBody>
      </p:sp>
    </p:spTree>
    <p:extLst>
      <p:ext uri="{BB962C8B-B14F-4D97-AF65-F5344CB8AC3E}">
        <p14:creationId xmlns:p14="http://schemas.microsoft.com/office/powerpoint/2010/main" val="34494930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vi-VN">
                <a:solidFill>
                  <a:schemeClr val="bg1"/>
                </a:solidFill>
              </a:rPr>
              <a:t>www.hoasen.edu.vn</a:t>
            </a:r>
            <a:endParaRPr lang="en-GB" altLang="vi-VN">
              <a:solidFill>
                <a:schemeClr val="bg1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D3950F7-405F-4378-B3E9-CD43C368A5E1}" type="slidenum">
              <a:rPr lang="en-US" altLang="vi-VN">
                <a:solidFill>
                  <a:srgbClr val="FFFF00"/>
                </a:solidFill>
              </a:rPr>
              <a:pPr eaLnBrk="1" hangingPunct="1"/>
              <a:t>15</a:t>
            </a:fld>
            <a:endParaRPr lang="en-GB" altLang="vi-VN">
              <a:solidFill>
                <a:srgbClr val="FFFF00"/>
              </a:solidFill>
            </a:endParaRPr>
          </a:p>
        </p:txBody>
      </p:sp>
      <p:sp>
        <p:nvSpPr>
          <p:cNvPr id="14341" name="Oval 4"/>
          <p:cNvSpPr>
            <a:spLocks noChangeArrowheads="1"/>
          </p:cNvSpPr>
          <p:nvPr/>
        </p:nvSpPr>
        <p:spPr bwMode="auto">
          <a:xfrm>
            <a:off x="1295400" y="228600"/>
            <a:ext cx="6172200" cy="7620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vi-VN" sz="2800" b="1" dirty="0">
                <a:latin typeface="Tahoma" panose="020B0604030504040204" pitchFamily="34" charset="0"/>
              </a:rPr>
              <a:t>MỘT SỐ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402" y="1495029"/>
            <a:ext cx="211182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 err="1">
                <a:solidFill>
                  <a:srgbClr val="7030A0"/>
                </a:solidFill>
              </a:rPr>
              <a:t>Nhập</a:t>
            </a:r>
            <a:r>
              <a:rPr lang="en-US" sz="2400" b="1" i="1" dirty="0">
                <a:solidFill>
                  <a:srgbClr val="7030A0"/>
                </a:solidFill>
              </a:rPr>
              <a:t> 2 </a:t>
            </a:r>
            <a:r>
              <a:rPr lang="en-US" sz="2400" b="1" i="1" dirty="0" err="1">
                <a:solidFill>
                  <a:srgbClr val="7030A0"/>
                </a:solidFill>
              </a:rPr>
              <a:t>nguyên</a:t>
            </a:r>
            <a:r>
              <a:rPr lang="en-US" sz="2400" b="1" i="1" dirty="0">
                <a:solidFill>
                  <a:srgbClr val="7030A0"/>
                </a:solidFill>
              </a:rPr>
              <a:t> M </a:t>
            </a:r>
            <a:r>
              <a:rPr lang="en-US" sz="2400" b="1" i="1" dirty="0" err="1">
                <a:solidFill>
                  <a:srgbClr val="7030A0"/>
                </a:solidFill>
              </a:rPr>
              <a:t>và</a:t>
            </a:r>
            <a:r>
              <a:rPr lang="en-US" sz="2400" b="1" i="1" dirty="0">
                <a:solidFill>
                  <a:srgbClr val="7030A0"/>
                </a:solidFill>
              </a:rPr>
              <a:t> N. </a:t>
            </a:r>
            <a:r>
              <a:rPr lang="en-US" sz="2400" b="1" i="1" dirty="0" err="1">
                <a:solidFill>
                  <a:srgbClr val="7030A0"/>
                </a:solidFill>
              </a:rPr>
              <a:t>Tính</a:t>
            </a:r>
            <a:r>
              <a:rPr lang="en-US" sz="2400" b="1" i="1" dirty="0">
                <a:solidFill>
                  <a:srgbClr val="7030A0"/>
                </a:solidFill>
              </a:rPr>
              <a:t> </a:t>
            </a:r>
            <a:r>
              <a:rPr lang="en-US" sz="2400" b="1" i="1" dirty="0" err="1">
                <a:solidFill>
                  <a:srgbClr val="7030A0"/>
                </a:solidFill>
              </a:rPr>
              <a:t>và</a:t>
            </a:r>
            <a:r>
              <a:rPr lang="en-US" sz="2400" b="1" i="1" dirty="0">
                <a:solidFill>
                  <a:srgbClr val="7030A0"/>
                </a:solidFill>
              </a:rPr>
              <a:t> in </a:t>
            </a:r>
            <a:r>
              <a:rPr lang="en-US" sz="2400" b="1" i="1" dirty="0" err="1">
                <a:solidFill>
                  <a:srgbClr val="7030A0"/>
                </a:solidFill>
              </a:rPr>
              <a:t>ra</a:t>
            </a:r>
            <a:r>
              <a:rPr lang="en-US" sz="2400" b="1" i="1" dirty="0">
                <a:solidFill>
                  <a:srgbClr val="7030A0"/>
                </a:solidFill>
              </a:rPr>
              <a:t> </a:t>
            </a:r>
            <a:r>
              <a:rPr lang="en-US" sz="2400" b="1" i="1" dirty="0" err="1">
                <a:solidFill>
                  <a:srgbClr val="7030A0"/>
                </a:solidFill>
              </a:rPr>
              <a:t>căn</a:t>
            </a:r>
            <a:r>
              <a:rPr lang="en-US" sz="2400" b="1" i="1" dirty="0">
                <a:solidFill>
                  <a:srgbClr val="7030A0"/>
                </a:solidFill>
              </a:rPr>
              <a:t> </a:t>
            </a:r>
            <a:r>
              <a:rPr lang="en-US" sz="2400" b="1" i="1" dirty="0" err="1">
                <a:solidFill>
                  <a:srgbClr val="7030A0"/>
                </a:solidFill>
              </a:rPr>
              <a:t>bậc</a:t>
            </a:r>
            <a:r>
              <a:rPr lang="en-US" sz="2400" b="1" i="1" dirty="0">
                <a:solidFill>
                  <a:srgbClr val="7030A0"/>
                </a:solidFill>
              </a:rPr>
              <a:t> N </a:t>
            </a:r>
            <a:r>
              <a:rPr lang="en-US" sz="2400" b="1" i="1" dirty="0" err="1">
                <a:solidFill>
                  <a:srgbClr val="7030A0"/>
                </a:solidFill>
              </a:rPr>
              <a:t>của</a:t>
            </a:r>
            <a:r>
              <a:rPr lang="en-US" sz="2400" b="1" i="1" dirty="0">
                <a:solidFill>
                  <a:srgbClr val="7030A0"/>
                </a:solidFill>
              </a:rPr>
              <a:t> M</a:t>
            </a:r>
            <a:endParaRPr lang="vi-VN" sz="2400" b="1" i="1" dirty="0">
              <a:solidFill>
                <a:srgbClr val="7030A0"/>
              </a:solidFill>
            </a:endParaRPr>
          </a:p>
        </p:txBody>
      </p:sp>
      <p:pic>
        <p:nvPicPr>
          <p:cNvPr id="2" name="Picture 1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1495" y="1495029"/>
            <a:ext cx="5137734" cy="2779504"/>
          </a:xfrm>
          <a:prstGeom prst="rect">
            <a:avLst/>
          </a:prstGeom>
        </p:spPr>
      </p:pic>
      <p:sp>
        <p:nvSpPr>
          <p:cNvPr id="6" name="Cloud Callout 5"/>
          <p:cNvSpPr/>
          <p:nvPr/>
        </p:nvSpPr>
        <p:spPr>
          <a:xfrm>
            <a:off x="4572000" y="4274533"/>
            <a:ext cx="2340429" cy="1600200"/>
          </a:xfrm>
          <a:prstGeom prst="cloudCallout">
            <a:avLst>
              <a:gd name="adj1" fmla="val 30330"/>
              <a:gd name="adj2" fmla="val -85799"/>
            </a:avLst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???</a:t>
            </a:r>
            <a:endParaRPr lang="vi-VN" sz="2400" dirty="0"/>
          </a:p>
        </p:txBody>
      </p:sp>
    </p:spTree>
    <p:extLst>
      <p:ext uri="{BB962C8B-B14F-4D97-AF65-F5344CB8AC3E}">
        <p14:creationId xmlns:p14="http://schemas.microsoft.com/office/powerpoint/2010/main" val="6262562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7900" y="695459"/>
            <a:ext cx="6841097" cy="45431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Myriad Pro" panose="020B0503030403020204" pitchFamily="34" charset="0"/>
              </a:rPr>
              <a:t>HỎI ĐÁP</a:t>
            </a:r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9574" y="1885713"/>
            <a:ext cx="5668166" cy="339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0195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vi-VN">
                <a:solidFill>
                  <a:schemeClr val="bg1"/>
                </a:solidFill>
              </a:rPr>
              <a:t>www.hoasen.edu.vn</a:t>
            </a:r>
            <a:endParaRPr lang="en-GB" altLang="vi-VN">
              <a:solidFill>
                <a:schemeClr val="bg1"/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D3950F7-405F-4378-B3E9-CD43C368A5E1}" type="slidenum">
              <a:rPr lang="en-US" altLang="vi-VN">
                <a:solidFill>
                  <a:srgbClr val="FFFF00"/>
                </a:solidFill>
              </a:rPr>
              <a:pPr eaLnBrk="1" hangingPunct="1"/>
              <a:t>17</a:t>
            </a:fld>
            <a:endParaRPr lang="en-GB" altLang="vi-VN">
              <a:solidFill>
                <a:srgbClr val="FFFF00"/>
              </a:solidFill>
            </a:endParaRPr>
          </a:p>
        </p:txBody>
      </p:sp>
      <p:sp>
        <p:nvSpPr>
          <p:cNvPr id="14341" name="Oval 4"/>
          <p:cNvSpPr>
            <a:spLocks noChangeArrowheads="1"/>
          </p:cNvSpPr>
          <p:nvPr/>
        </p:nvSpPr>
        <p:spPr bwMode="auto">
          <a:xfrm>
            <a:off x="1295400" y="228600"/>
            <a:ext cx="6172200" cy="7620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vi-VN" sz="2800" b="1" dirty="0">
                <a:latin typeface="Tahoma" panose="020B0604030504040204" pitchFamily="34" charset="0"/>
              </a:rPr>
              <a:t>BÀI TẬP</a:t>
            </a:r>
          </a:p>
        </p:txBody>
      </p:sp>
      <p:sp>
        <p:nvSpPr>
          <p:cNvPr id="7" name="Text Box 10"/>
          <p:cNvSpPr txBox="1">
            <a:spLocks noChangeArrowheads="1"/>
          </p:cNvSpPr>
          <p:nvPr/>
        </p:nvSpPr>
        <p:spPr bwMode="auto">
          <a:xfrm>
            <a:off x="304800" y="1181101"/>
            <a:ext cx="8534400" cy="554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Font typeface="Wingdings" panose="05000000000000000000" pitchFamily="2" charset="2"/>
              <a:buChar char="§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722313" indent="-363538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vi-VN" sz="1800" dirty="0">
                <a:solidFill>
                  <a:srgbClr val="0000CC"/>
                </a:solidFill>
              </a:rPr>
              <a:t>1/ </a:t>
            </a:r>
            <a:r>
              <a:rPr lang="en-US" altLang="vi-VN" sz="1800" dirty="0" err="1">
                <a:solidFill>
                  <a:srgbClr val="0000CC"/>
                </a:solidFill>
              </a:rPr>
              <a:t>Viết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chương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trình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nhập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số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nguyên</a:t>
            </a:r>
            <a:r>
              <a:rPr lang="en-US" altLang="vi-VN" sz="1800" dirty="0">
                <a:solidFill>
                  <a:srgbClr val="0000CC"/>
                </a:solidFill>
              </a:rPr>
              <a:t> n </a:t>
            </a:r>
            <a:r>
              <a:rPr lang="en-US" altLang="vi-VN" sz="1800" dirty="0" err="1">
                <a:solidFill>
                  <a:srgbClr val="0000CC"/>
                </a:solidFill>
              </a:rPr>
              <a:t>và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số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thực</a:t>
            </a:r>
            <a:r>
              <a:rPr lang="en-US" altLang="vi-VN" sz="1800" dirty="0">
                <a:solidFill>
                  <a:srgbClr val="0000CC"/>
                </a:solidFill>
              </a:rPr>
              <a:t> x </a:t>
            </a:r>
            <a:r>
              <a:rPr lang="en-US" altLang="vi-VN" sz="1800" dirty="0" err="1">
                <a:solidFill>
                  <a:srgbClr val="0000CC"/>
                </a:solidFill>
              </a:rPr>
              <a:t>tính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các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biểu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thức</a:t>
            </a:r>
            <a:r>
              <a:rPr lang="en-US" altLang="vi-VN" sz="1800" dirty="0">
                <a:solidFill>
                  <a:srgbClr val="0000CC"/>
                </a:solidFill>
              </a:rPr>
              <a:t>: </a:t>
            </a:r>
            <a:endParaRPr lang="en-US" altLang="vi-VN" sz="1400" dirty="0">
              <a:solidFill>
                <a:srgbClr val="0000CC"/>
              </a:solidFill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vi-VN" sz="1800" dirty="0">
                <a:solidFill>
                  <a:srgbClr val="0000CC"/>
                </a:solidFill>
              </a:rPr>
              <a:t> 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vi-VN" sz="1400" dirty="0">
              <a:solidFill>
                <a:srgbClr val="0000CC"/>
              </a:solidFill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vi-VN" sz="1400" dirty="0">
              <a:solidFill>
                <a:srgbClr val="0000CC"/>
              </a:solidFill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vi-VN" sz="1800" dirty="0">
                <a:solidFill>
                  <a:srgbClr val="0000CC"/>
                </a:solidFill>
              </a:rPr>
              <a:t>2/ </a:t>
            </a:r>
            <a:r>
              <a:rPr lang="en-US" altLang="vi-VN" sz="1800" dirty="0" err="1">
                <a:solidFill>
                  <a:srgbClr val="0000CC"/>
                </a:solidFill>
              </a:rPr>
              <a:t>Viết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chương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trình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nhập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số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lượng</a:t>
            </a:r>
            <a:r>
              <a:rPr lang="en-US" altLang="vi-VN" sz="1800" dirty="0">
                <a:solidFill>
                  <a:srgbClr val="0000CC"/>
                </a:solidFill>
              </a:rPr>
              <a:t>, </a:t>
            </a:r>
            <a:r>
              <a:rPr lang="en-US" altLang="vi-VN" sz="1800" dirty="0" err="1">
                <a:solidFill>
                  <a:srgbClr val="0000CC"/>
                </a:solidFill>
              </a:rPr>
              <a:t>đơn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giá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của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một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mặt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hàng</a:t>
            </a:r>
            <a:r>
              <a:rPr lang="en-US" altLang="vi-VN" sz="1800" dirty="0">
                <a:solidFill>
                  <a:srgbClr val="0000CC"/>
                </a:solidFill>
              </a:rPr>
              <a:t>. </a:t>
            </a:r>
            <a:r>
              <a:rPr lang="en-US" altLang="vi-VN" sz="1800" dirty="0" err="1">
                <a:solidFill>
                  <a:srgbClr val="0000CC"/>
                </a:solidFill>
              </a:rPr>
              <a:t>Hãy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tính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và</a:t>
            </a:r>
            <a:r>
              <a:rPr lang="en-US" altLang="vi-VN" sz="1800" dirty="0">
                <a:solidFill>
                  <a:srgbClr val="0000CC"/>
                </a:solidFill>
              </a:rPr>
              <a:t> in </a:t>
            </a:r>
            <a:r>
              <a:rPr lang="en-US" altLang="vi-VN" sz="1800" dirty="0" err="1">
                <a:solidFill>
                  <a:srgbClr val="0000CC"/>
                </a:solidFill>
              </a:rPr>
              <a:t>ra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kết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quả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ra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màn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hình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có</a:t>
            </a:r>
            <a:r>
              <a:rPr lang="en-US" altLang="vi-VN" sz="1800" dirty="0">
                <a:solidFill>
                  <a:srgbClr val="0000CC"/>
                </a:solidFill>
              </a:rPr>
              <a:t> 2 </a:t>
            </a:r>
            <a:r>
              <a:rPr lang="en-US" altLang="vi-VN" sz="1800" dirty="0" err="1">
                <a:solidFill>
                  <a:srgbClr val="0000CC"/>
                </a:solidFill>
              </a:rPr>
              <a:t>số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lẻ</a:t>
            </a:r>
            <a:r>
              <a:rPr lang="en-US" altLang="vi-VN" sz="1800" dirty="0">
                <a:solidFill>
                  <a:srgbClr val="0000CC"/>
                </a:solidFill>
              </a:rPr>
              <a:t>:</a:t>
            </a:r>
            <a:endParaRPr lang="en-US" altLang="vi-VN" sz="1400" dirty="0">
              <a:solidFill>
                <a:srgbClr val="0000CC"/>
              </a:solidFill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vi-VN" sz="1800" dirty="0">
                <a:solidFill>
                  <a:srgbClr val="0000CC"/>
                </a:solidFill>
              </a:rPr>
              <a:t>	-  </a:t>
            </a:r>
            <a:r>
              <a:rPr lang="en-US" altLang="vi-VN" sz="1800" dirty="0" err="1">
                <a:solidFill>
                  <a:srgbClr val="0000CC"/>
                </a:solidFill>
              </a:rPr>
              <a:t>Giảm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giá</a:t>
            </a:r>
            <a:r>
              <a:rPr lang="en-US" altLang="vi-VN" sz="1800" dirty="0">
                <a:solidFill>
                  <a:srgbClr val="0000CC"/>
                </a:solidFill>
              </a:rPr>
              <a:t> = </a:t>
            </a:r>
            <a:r>
              <a:rPr lang="en-US" altLang="vi-VN" sz="1800" dirty="0" err="1">
                <a:solidFill>
                  <a:srgbClr val="0000CC"/>
                </a:solidFill>
              </a:rPr>
              <a:t>Số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lượng</a:t>
            </a:r>
            <a:r>
              <a:rPr lang="en-US" altLang="vi-VN" sz="1800" dirty="0">
                <a:solidFill>
                  <a:srgbClr val="0000CC"/>
                </a:solidFill>
              </a:rPr>
              <a:t> * </a:t>
            </a:r>
            <a:r>
              <a:rPr lang="en-US" altLang="vi-VN" sz="1800" dirty="0" err="1">
                <a:solidFill>
                  <a:srgbClr val="0000CC"/>
                </a:solidFill>
              </a:rPr>
              <a:t>đơn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giá</a:t>
            </a:r>
            <a:r>
              <a:rPr lang="en-US" altLang="vi-VN" sz="1800" dirty="0">
                <a:solidFill>
                  <a:srgbClr val="0000CC"/>
                </a:solidFill>
              </a:rPr>
              <a:t> * 12%</a:t>
            </a:r>
            <a:endParaRPr lang="en-US" altLang="vi-VN" sz="1400" dirty="0">
              <a:solidFill>
                <a:srgbClr val="0000CC"/>
              </a:solidFill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vi-VN" sz="1800" dirty="0">
                <a:solidFill>
                  <a:srgbClr val="0000CC"/>
                </a:solidFill>
              </a:rPr>
              <a:t>	-  </a:t>
            </a:r>
            <a:r>
              <a:rPr lang="en-US" altLang="vi-VN" sz="1800" dirty="0" err="1">
                <a:solidFill>
                  <a:srgbClr val="0000CC"/>
                </a:solidFill>
              </a:rPr>
              <a:t>Cước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vận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chuyển</a:t>
            </a:r>
            <a:r>
              <a:rPr lang="en-US" altLang="vi-VN" sz="1800" dirty="0">
                <a:solidFill>
                  <a:srgbClr val="0000CC"/>
                </a:solidFill>
              </a:rPr>
              <a:t> = </a:t>
            </a:r>
            <a:r>
              <a:rPr lang="en-US" altLang="vi-VN" sz="1800" dirty="0" err="1">
                <a:solidFill>
                  <a:srgbClr val="0000CC"/>
                </a:solidFill>
              </a:rPr>
              <a:t>Số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lượng</a:t>
            </a:r>
            <a:r>
              <a:rPr lang="en-US" altLang="vi-VN" sz="1800" dirty="0">
                <a:solidFill>
                  <a:srgbClr val="0000CC"/>
                </a:solidFill>
              </a:rPr>
              <a:t> * </a:t>
            </a:r>
            <a:r>
              <a:rPr lang="en-US" altLang="vi-VN" sz="1800" dirty="0" err="1">
                <a:solidFill>
                  <a:srgbClr val="0000CC"/>
                </a:solidFill>
              </a:rPr>
              <a:t>đơn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giá</a:t>
            </a:r>
            <a:r>
              <a:rPr lang="en-US" altLang="vi-VN" sz="1800" dirty="0">
                <a:solidFill>
                  <a:srgbClr val="0000CC"/>
                </a:solidFill>
              </a:rPr>
              <a:t> * 5%</a:t>
            </a:r>
            <a:endParaRPr lang="en-US" altLang="vi-VN" sz="1400" dirty="0">
              <a:solidFill>
                <a:srgbClr val="0000CC"/>
              </a:solidFill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vi-VN" sz="1800" dirty="0">
                <a:solidFill>
                  <a:srgbClr val="0000CC"/>
                </a:solidFill>
              </a:rPr>
              <a:t>	-  </a:t>
            </a:r>
            <a:r>
              <a:rPr lang="en-US" altLang="vi-VN" sz="1800" dirty="0" err="1">
                <a:solidFill>
                  <a:srgbClr val="0000CC"/>
                </a:solidFill>
              </a:rPr>
              <a:t>Số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tiền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phải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trả</a:t>
            </a:r>
            <a:r>
              <a:rPr lang="en-US" altLang="vi-VN" sz="1800" dirty="0">
                <a:solidFill>
                  <a:srgbClr val="0000CC"/>
                </a:solidFill>
              </a:rPr>
              <a:t> = </a:t>
            </a:r>
            <a:r>
              <a:rPr lang="en-US" altLang="vi-VN" sz="1800" dirty="0" err="1">
                <a:solidFill>
                  <a:srgbClr val="0000CC"/>
                </a:solidFill>
              </a:rPr>
              <a:t>Số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lượng</a:t>
            </a:r>
            <a:r>
              <a:rPr lang="en-US" altLang="vi-VN" sz="1800" dirty="0">
                <a:solidFill>
                  <a:srgbClr val="0000CC"/>
                </a:solidFill>
              </a:rPr>
              <a:t> * </a:t>
            </a:r>
            <a:r>
              <a:rPr lang="en-US" altLang="vi-VN" sz="1800" dirty="0" err="1">
                <a:solidFill>
                  <a:srgbClr val="0000CC"/>
                </a:solidFill>
              </a:rPr>
              <a:t>đơn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giá</a:t>
            </a:r>
            <a:r>
              <a:rPr lang="en-US" altLang="vi-VN" sz="1800" dirty="0">
                <a:solidFill>
                  <a:srgbClr val="0000CC"/>
                </a:solidFill>
              </a:rPr>
              <a:t> – </a:t>
            </a:r>
            <a:r>
              <a:rPr lang="en-US" altLang="vi-VN" sz="1800" dirty="0" err="1">
                <a:solidFill>
                  <a:srgbClr val="0000CC"/>
                </a:solidFill>
              </a:rPr>
              <a:t>giảm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giá</a:t>
            </a:r>
            <a:r>
              <a:rPr lang="en-US" altLang="vi-VN" sz="1800" dirty="0">
                <a:solidFill>
                  <a:srgbClr val="0000CC"/>
                </a:solidFill>
              </a:rPr>
              <a:t> + </a:t>
            </a:r>
            <a:r>
              <a:rPr lang="en-US" altLang="vi-VN" sz="1800" dirty="0" err="1">
                <a:solidFill>
                  <a:srgbClr val="0000CC"/>
                </a:solidFill>
              </a:rPr>
              <a:t>cước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vận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chuyển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endParaRPr lang="en-US" altLang="vi-VN" sz="1400" dirty="0">
              <a:solidFill>
                <a:srgbClr val="0000CC"/>
              </a:solidFill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vi-VN" sz="1800" dirty="0">
              <a:solidFill>
                <a:srgbClr val="0000CC"/>
              </a:solidFill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vi-VN" sz="1800" dirty="0">
                <a:solidFill>
                  <a:srgbClr val="0000CC"/>
                </a:solidFill>
              </a:rPr>
              <a:t>3/ </a:t>
            </a:r>
            <a:r>
              <a:rPr lang="en-US" altLang="vi-VN" sz="1800" dirty="0" err="1">
                <a:solidFill>
                  <a:srgbClr val="0000CC"/>
                </a:solidFill>
              </a:rPr>
              <a:t>Viết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chương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trình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nhập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bốn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số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nguyên</a:t>
            </a:r>
            <a:r>
              <a:rPr lang="en-US" altLang="vi-VN" sz="1800" dirty="0">
                <a:solidFill>
                  <a:srgbClr val="0000CC"/>
                </a:solidFill>
              </a:rPr>
              <a:t> a, b, c, d. </a:t>
            </a:r>
            <a:r>
              <a:rPr lang="en-US" altLang="vi-VN" sz="1800" dirty="0" err="1">
                <a:solidFill>
                  <a:srgbClr val="0000CC"/>
                </a:solidFill>
              </a:rPr>
              <a:t>Tìm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số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nhỏ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nhất</a:t>
            </a:r>
            <a:r>
              <a:rPr lang="en-US" altLang="vi-VN" sz="1800" dirty="0">
                <a:solidFill>
                  <a:srgbClr val="0000CC"/>
                </a:solidFill>
              </a:rPr>
              <a:t>.</a:t>
            </a:r>
            <a:endParaRPr lang="en-US" altLang="vi-VN" sz="1400" dirty="0">
              <a:solidFill>
                <a:srgbClr val="0000CC"/>
              </a:solidFill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vi-VN" sz="1800" dirty="0">
              <a:solidFill>
                <a:srgbClr val="0000CC"/>
              </a:solidFill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vi-VN" sz="1800" dirty="0">
                <a:solidFill>
                  <a:srgbClr val="0000CC"/>
                </a:solidFill>
              </a:rPr>
              <a:t>4/ </a:t>
            </a:r>
            <a:r>
              <a:rPr lang="en-US" altLang="vi-VN" sz="1800" dirty="0" err="1">
                <a:solidFill>
                  <a:srgbClr val="0000CC"/>
                </a:solidFill>
              </a:rPr>
              <a:t>Viết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chương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trình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nhập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một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số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nguyên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dương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có</a:t>
            </a:r>
            <a:r>
              <a:rPr lang="en-US" altLang="vi-VN" sz="1800" dirty="0">
                <a:solidFill>
                  <a:srgbClr val="0000CC"/>
                </a:solidFill>
              </a:rPr>
              <a:t> 2 </a:t>
            </a:r>
            <a:r>
              <a:rPr lang="en-US" altLang="vi-VN" sz="1800" dirty="0" err="1">
                <a:solidFill>
                  <a:srgbClr val="0000CC"/>
                </a:solidFill>
              </a:rPr>
              <a:t>chữ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số</a:t>
            </a:r>
            <a:r>
              <a:rPr lang="en-US" altLang="vi-VN" sz="1800" dirty="0">
                <a:solidFill>
                  <a:srgbClr val="0000CC"/>
                </a:solidFill>
              </a:rPr>
              <a:t>. </a:t>
            </a:r>
            <a:r>
              <a:rPr lang="en-US" altLang="vi-VN" sz="1800" dirty="0" err="1">
                <a:solidFill>
                  <a:srgbClr val="0000CC"/>
                </a:solidFill>
              </a:rPr>
              <a:t>Hãy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tính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tổng</a:t>
            </a:r>
            <a:r>
              <a:rPr lang="en-US" altLang="vi-VN" sz="1800" dirty="0">
                <a:solidFill>
                  <a:srgbClr val="0000CC"/>
                </a:solidFill>
              </a:rPr>
              <a:t> 2 </a:t>
            </a:r>
            <a:r>
              <a:rPr lang="en-US" altLang="vi-VN" sz="1800" dirty="0" err="1">
                <a:solidFill>
                  <a:srgbClr val="0000CC"/>
                </a:solidFill>
              </a:rPr>
              <a:t>chữ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số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của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số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vừa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nhập</a:t>
            </a:r>
            <a:r>
              <a:rPr lang="en-US" altLang="vi-VN" sz="1800" dirty="0">
                <a:solidFill>
                  <a:srgbClr val="0000CC"/>
                </a:solidFill>
              </a:rPr>
              <a:t>.  </a:t>
            </a:r>
            <a:r>
              <a:rPr lang="en-US" altLang="vi-VN" sz="1800" dirty="0" err="1">
                <a:solidFill>
                  <a:srgbClr val="0000CC"/>
                </a:solidFill>
              </a:rPr>
              <a:t>Ví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dụ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nhập</a:t>
            </a:r>
            <a:r>
              <a:rPr lang="en-US" altLang="vi-VN" sz="1800" dirty="0">
                <a:solidFill>
                  <a:srgbClr val="0000CC"/>
                </a:solidFill>
              </a:rPr>
              <a:t> 51, in </a:t>
            </a:r>
            <a:r>
              <a:rPr lang="en-US" altLang="vi-VN" sz="1800" dirty="0" err="1">
                <a:solidFill>
                  <a:srgbClr val="0000CC"/>
                </a:solidFill>
              </a:rPr>
              <a:t>ra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tổng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bằng</a:t>
            </a:r>
            <a:r>
              <a:rPr lang="en-US" altLang="vi-VN" sz="1800" dirty="0">
                <a:solidFill>
                  <a:srgbClr val="0000CC"/>
                </a:solidFill>
              </a:rPr>
              <a:t> 6.</a:t>
            </a:r>
            <a:endParaRPr lang="en-US" altLang="vi-VN" sz="1400" dirty="0">
              <a:solidFill>
                <a:srgbClr val="0000CC"/>
              </a:solidFill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vi-VN" sz="1800" dirty="0">
              <a:solidFill>
                <a:srgbClr val="0000CC"/>
              </a:solidFill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vi-VN" sz="1800" dirty="0">
                <a:solidFill>
                  <a:srgbClr val="0000CC"/>
                </a:solidFill>
              </a:rPr>
              <a:t>5/ </a:t>
            </a:r>
            <a:r>
              <a:rPr lang="en-US" altLang="vi-VN" sz="1800" dirty="0" err="1">
                <a:solidFill>
                  <a:srgbClr val="0000CC"/>
                </a:solidFill>
              </a:rPr>
              <a:t>Viết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chương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trình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nhập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số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nguyên</a:t>
            </a:r>
            <a:r>
              <a:rPr lang="en-US" altLang="vi-VN" sz="1800" dirty="0">
                <a:solidFill>
                  <a:srgbClr val="0000CC"/>
                </a:solidFill>
              </a:rPr>
              <a:t> n, </a:t>
            </a:r>
            <a:r>
              <a:rPr lang="en-US" altLang="vi-VN" sz="1800" dirty="0" err="1">
                <a:solidFill>
                  <a:srgbClr val="0000CC"/>
                </a:solidFill>
              </a:rPr>
              <a:t>số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thực</a:t>
            </a:r>
            <a:r>
              <a:rPr lang="en-US" altLang="vi-VN" sz="1800" dirty="0">
                <a:solidFill>
                  <a:srgbClr val="0000CC"/>
                </a:solidFill>
              </a:rPr>
              <a:t> x. </a:t>
            </a:r>
            <a:r>
              <a:rPr lang="en-US" altLang="vi-VN" sz="1800" dirty="0" err="1">
                <a:solidFill>
                  <a:srgbClr val="0000CC"/>
                </a:solidFill>
              </a:rPr>
              <a:t>Hãy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tính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căn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bậc</a:t>
            </a:r>
            <a:r>
              <a:rPr lang="en-US" altLang="vi-VN" sz="1800" dirty="0">
                <a:solidFill>
                  <a:srgbClr val="0000CC"/>
                </a:solidFill>
              </a:rPr>
              <a:t> n </a:t>
            </a:r>
            <a:r>
              <a:rPr lang="en-US" altLang="vi-VN" sz="1800" dirty="0" err="1">
                <a:solidFill>
                  <a:srgbClr val="0000CC"/>
                </a:solidFill>
              </a:rPr>
              <a:t>của</a:t>
            </a:r>
            <a:r>
              <a:rPr lang="en-US" altLang="vi-VN" sz="1800" dirty="0">
                <a:solidFill>
                  <a:srgbClr val="0000CC"/>
                </a:solidFill>
              </a:rPr>
              <a:t> x.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endParaRPr lang="en-US" altLang="vi-VN" sz="1800" dirty="0">
              <a:solidFill>
                <a:srgbClr val="0000CC"/>
              </a:solidFill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vi-VN" sz="1800" dirty="0">
                <a:solidFill>
                  <a:srgbClr val="0000CC"/>
                </a:solidFill>
              </a:rPr>
              <a:t>6/ </a:t>
            </a:r>
            <a:r>
              <a:rPr lang="en-US" altLang="vi-VN" sz="1800" dirty="0" err="1">
                <a:solidFill>
                  <a:srgbClr val="0000CC"/>
                </a:solidFill>
              </a:rPr>
              <a:t>Viết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chương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trình</a:t>
            </a:r>
            <a:r>
              <a:rPr lang="en-US" altLang="vi-VN" sz="1800" dirty="0">
                <a:solidFill>
                  <a:srgbClr val="0000CC"/>
                </a:solidFill>
              </a:rPr>
              <a:t> in </a:t>
            </a:r>
            <a:r>
              <a:rPr lang="en-US" altLang="vi-VN" sz="1800" dirty="0" err="1">
                <a:solidFill>
                  <a:srgbClr val="0000CC"/>
                </a:solidFill>
              </a:rPr>
              <a:t>bảng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cửu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chương</a:t>
            </a:r>
            <a:r>
              <a:rPr lang="en-US" altLang="vi-VN" sz="1800" dirty="0">
                <a:solidFill>
                  <a:srgbClr val="0000CC"/>
                </a:solidFill>
              </a:rPr>
              <a:t> N (N </a:t>
            </a:r>
            <a:r>
              <a:rPr lang="en-US" altLang="vi-VN" sz="1800" dirty="0" err="1">
                <a:solidFill>
                  <a:srgbClr val="0000CC"/>
                </a:solidFill>
              </a:rPr>
              <a:t>được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nhập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từ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bàn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phím</a:t>
            </a:r>
            <a:r>
              <a:rPr lang="en-US" altLang="vi-VN" sz="1800" dirty="0">
                <a:solidFill>
                  <a:srgbClr val="0000CC"/>
                </a:solidFill>
              </a:rPr>
              <a:t>) </a:t>
            </a:r>
            <a:r>
              <a:rPr lang="en-US" altLang="vi-VN" sz="1800" dirty="0" err="1">
                <a:solidFill>
                  <a:srgbClr val="0000CC"/>
                </a:solidFill>
              </a:rPr>
              <a:t>ra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màn</a:t>
            </a:r>
            <a:r>
              <a:rPr lang="en-US" altLang="vi-VN" sz="1800" dirty="0">
                <a:solidFill>
                  <a:srgbClr val="0000CC"/>
                </a:solidFill>
              </a:rPr>
              <a:t> </a:t>
            </a:r>
            <a:r>
              <a:rPr lang="en-US" altLang="vi-VN" sz="1800" dirty="0" err="1">
                <a:solidFill>
                  <a:srgbClr val="0000CC"/>
                </a:solidFill>
              </a:rPr>
              <a:t>hình</a:t>
            </a:r>
            <a:endParaRPr lang="en-US" altLang="vi-VN" sz="1800" dirty="0">
              <a:solidFill>
                <a:srgbClr val="0000CC"/>
              </a:solidFill>
            </a:endParaRPr>
          </a:p>
          <a:p>
            <a:pPr lvl="2" eaLnBrk="1" hangingPunct="1">
              <a:spcBef>
                <a:spcPct val="0"/>
              </a:spcBef>
              <a:buClrTx/>
              <a:buFontTx/>
              <a:buNone/>
            </a:pPr>
            <a:endParaRPr lang="vi-VN" altLang="vi-VN" sz="2000" dirty="0">
              <a:solidFill>
                <a:srgbClr val="0000CC"/>
              </a:solidFill>
              <a:latin typeface="Tahoma" panose="020B0604030504040204" pitchFamily="34" charset="0"/>
            </a:endParaRPr>
          </a:p>
        </p:txBody>
      </p:sp>
      <p:graphicFrame>
        <p:nvGraphicFramePr>
          <p:cNvPr id="8" name="Object 1"/>
          <p:cNvGraphicFramePr>
            <a:graphicFrameLocks noChangeAspect="1"/>
          </p:cNvGraphicFramePr>
          <p:nvPr/>
        </p:nvGraphicFramePr>
        <p:xfrm>
          <a:off x="5480050" y="1447800"/>
          <a:ext cx="29083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20900" imgH="431800" progId="Equation.3">
                  <p:embed/>
                </p:oleObj>
              </mc:Choice>
              <mc:Fallback>
                <p:oleObj name="Equation" r:id="rId2" imgW="2120900" imgH="431800" progId="Equation.3">
                  <p:embed/>
                  <p:pic>
                    <p:nvPicPr>
                      <p:cNvPr id="8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0050" y="1447800"/>
                        <a:ext cx="29083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"/>
          <p:cNvGraphicFramePr>
            <a:graphicFrameLocks noChangeAspect="1"/>
          </p:cNvGraphicFramePr>
          <p:nvPr/>
        </p:nvGraphicFramePr>
        <p:xfrm>
          <a:off x="3282950" y="1447800"/>
          <a:ext cx="1966913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58310" imgH="431613" progId="Equation.3">
                  <p:embed/>
                </p:oleObj>
              </mc:Choice>
              <mc:Fallback>
                <p:oleObj name="Equation" r:id="rId4" imgW="1358310" imgH="431613" progId="Equation.3">
                  <p:embed/>
                  <p:pic>
                    <p:nvPicPr>
                      <p:cNvPr id="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2950" y="1447800"/>
                        <a:ext cx="1966913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"/>
          <p:cNvGraphicFramePr>
            <a:graphicFrameLocks noChangeAspect="1"/>
          </p:cNvGraphicFramePr>
          <p:nvPr/>
        </p:nvGraphicFramePr>
        <p:xfrm>
          <a:off x="1470025" y="1447800"/>
          <a:ext cx="16002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66800" imgH="457200" progId="Equation.3">
                  <p:embed/>
                </p:oleObj>
              </mc:Choice>
              <mc:Fallback>
                <p:oleObj name="Equation" r:id="rId6" imgW="1066800" imgH="457200" progId="Equation.3">
                  <p:embed/>
                  <p:pic>
                    <p:nvPicPr>
                      <p:cNvPr id="1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0025" y="1447800"/>
                        <a:ext cx="16002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9649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302</TotalTime>
  <Words>1410</Words>
  <Application>Microsoft Office PowerPoint</Application>
  <PresentationFormat>On-screen Show (4:3)</PresentationFormat>
  <Paragraphs>176</Paragraphs>
  <Slides>17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Calibri</vt:lpstr>
      <vt:lpstr>Calibri Light</vt:lpstr>
      <vt:lpstr>Myriad Pro</vt:lpstr>
      <vt:lpstr>Tahoma</vt:lpstr>
      <vt:lpstr>Wingdings</vt:lpstr>
      <vt:lpstr>Office Theme</vt:lpstr>
      <vt:lpstr>1_Office Theme</vt:lpstr>
      <vt:lpstr>Equation</vt:lpstr>
      <vt:lpstr>BÀI GIẢNG TUẦN 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HỎI ĐÁP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Truong Thi Thanh Thanh</dc:creator>
  <cp:lastModifiedBy>User</cp:lastModifiedBy>
  <cp:revision>80</cp:revision>
  <dcterms:created xsi:type="dcterms:W3CDTF">2017-02-14T04:20:55Z</dcterms:created>
  <dcterms:modified xsi:type="dcterms:W3CDTF">2023-11-13T03:17:11Z</dcterms:modified>
</cp:coreProperties>
</file>