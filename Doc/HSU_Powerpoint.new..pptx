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6" r:id="rId1"/>
  </p:sldMasterIdLst>
  <p:notesMasterIdLst>
    <p:notesMasterId r:id="rId34"/>
  </p:notesMasterIdLst>
  <p:sldIdLst>
    <p:sldId id="258" r:id="rId2"/>
    <p:sldId id="300" r:id="rId3"/>
    <p:sldId id="282" r:id="rId4"/>
    <p:sldId id="301" r:id="rId5"/>
    <p:sldId id="259" r:id="rId6"/>
    <p:sldId id="260" r:id="rId7"/>
    <p:sldId id="261" r:id="rId8"/>
    <p:sldId id="263" r:id="rId9"/>
    <p:sldId id="265" r:id="rId10"/>
    <p:sldId id="305" r:id="rId11"/>
    <p:sldId id="283" r:id="rId12"/>
    <p:sldId id="284" r:id="rId13"/>
    <p:sldId id="312" r:id="rId14"/>
    <p:sldId id="285" r:id="rId15"/>
    <p:sldId id="286" r:id="rId16"/>
    <p:sldId id="304" r:id="rId17"/>
    <p:sldId id="287" r:id="rId18"/>
    <p:sldId id="288" r:id="rId19"/>
    <p:sldId id="281" r:id="rId20"/>
    <p:sldId id="289" r:id="rId21"/>
    <p:sldId id="294" r:id="rId22"/>
    <p:sldId id="291" r:id="rId23"/>
    <p:sldId id="302" r:id="rId24"/>
    <p:sldId id="293" r:id="rId25"/>
    <p:sldId id="303" r:id="rId26"/>
    <p:sldId id="306" r:id="rId27"/>
    <p:sldId id="308" r:id="rId28"/>
    <p:sldId id="307" r:id="rId29"/>
    <p:sldId id="309" r:id="rId30"/>
    <p:sldId id="310" r:id="rId31"/>
    <p:sldId id="311" r:id="rId32"/>
    <p:sldId id="313" r:id="rId33"/>
  </p:sldIdLst>
  <p:sldSz cx="12192000" cy="6858000"/>
  <p:notesSz cx="6858000" cy="9144000"/>
  <p:embeddedFontLs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helvetica" panose="020B0604020202020204" pitchFamily="34" charset="0"/>
      <p:regular r:id="rId39"/>
      <p:bold r:id="rId40"/>
      <p:italic r:id="rId41"/>
      <p:boldItalic r:id="rId42"/>
    </p:embeddedFont>
    <p:embeddedFont>
      <p:font typeface="Microsoft Sans Serif" panose="020B0604020202020204" pitchFamily="34" charset="0"/>
      <p:regular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Webdings" panose="05030102010509060703" pitchFamily="18" charset="2"/>
      <p:regular r:id="rId48"/>
    </p:embeddedFont>
    <p:embeddedFont>
      <p:font typeface="Wingdings 2" panose="05020102010507070707" pitchFamily="18" charset="2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2136" autoAdjust="0"/>
  </p:normalViewPr>
  <p:slideViewPr>
    <p:cSldViewPr snapToGrid="0" showGuides="1">
      <p:cViewPr varScale="1">
        <p:scale>
          <a:sx n="59" d="100"/>
          <a:sy n="59" d="100"/>
        </p:scale>
        <p:origin x="60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9B8AE-9696-44A8-A645-E5470E2FFE39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CDBB5-D4B6-4541-BA74-0CD6C6BC2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1371DE9C-07DC-00C7-5BD1-BF50C4B61C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42D7C2F7-F27B-4920-E67D-0E8F55BE10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AA79F98D-70BE-E757-3503-22E3FBF3C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703411F-4E2C-4684-855D-FD1B7D24CB7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292C907-9364-B4CF-DE5F-DCB279471B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2A58BFC-AC57-3303-89FE-9ED59A2622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A5DD14D-3234-0BFF-9870-CBBC1C595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10C1D9-9E6B-4F64-8B63-B2E88FA6AAB4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US" sz="1200" dirty="0">
                <a:solidFill>
                  <a:srgbClr val="000000"/>
                </a:solidFill>
                <a:latin typeface="ArialMT"/>
              </a:rPr>
              <a:t>Một thuật toán là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O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(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f(n)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)=g(n) </a:t>
            </a:r>
            <a:r>
              <a:rPr lang="vi-VN" altLang="en-US" sz="1200" dirty="0">
                <a:solidFill>
                  <a:srgbClr val="000000"/>
                </a:solidFill>
                <a:latin typeface="ArialMT"/>
              </a:rPr>
              <a:t>nếu</a:t>
            </a:r>
            <a:r>
              <a:rPr lang="en-US" altLang="en-US" sz="12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tồn tại một hằng số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C 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&gt; 0 và số nguyên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n</a:t>
            </a:r>
            <a:r>
              <a:rPr lang="vi-VN" altLang="en-US" sz="1000" i="1" dirty="0">
                <a:solidFill>
                  <a:srgbClr val="FF00FF"/>
                </a:solidFill>
                <a:latin typeface="Arial-ItalicMT"/>
              </a:rPr>
              <a:t>0 </a:t>
            </a:r>
            <a:endParaRPr lang="en-US" altLang="en-US" sz="1000" i="1" dirty="0">
              <a:solidFill>
                <a:srgbClr val="FF00FF"/>
              </a:solidFill>
              <a:latin typeface="Arial-Italic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sao cho thuật toán yêu</a:t>
            </a:r>
            <a:r>
              <a:rPr lang="en-US" altLang="en-US" sz="1200" dirty="0">
                <a:solidFill>
                  <a:srgbClr val="FF00FF"/>
                </a:solidFill>
                <a:latin typeface="ArialMT"/>
              </a:rPr>
              <a:t> 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cầu không vượt quá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C</a:t>
            </a:r>
            <a:r>
              <a:rPr lang="vi-VN" altLang="en-US" sz="1000" dirty="0">
                <a:solidFill>
                  <a:srgbClr val="FF00FF"/>
                </a:solidFill>
                <a:latin typeface="SymbolMT"/>
              </a:rPr>
              <a:t>•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g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(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n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) phép tính có tất cả các dữ liệu đầu</a:t>
            </a:r>
            <a:r>
              <a:rPr lang="en-US" altLang="en-US" sz="1200" dirty="0">
                <a:solidFill>
                  <a:srgbClr val="FF00FF"/>
                </a:solidFill>
                <a:latin typeface="ArialMT"/>
              </a:rPr>
              <a:t> 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vào có kích thước </a:t>
            </a:r>
            <a:r>
              <a:rPr lang="vi-VN" altLang="en-US" sz="1200" i="1" dirty="0">
                <a:solidFill>
                  <a:srgbClr val="FF00FF"/>
                </a:solidFill>
                <a:latin typeface="Arial-ItalicMT"/>
              </a:rPr>
              <a:t>n </a:t>
            </a:r>
            <a:r>
              <a:rPr lang="vi-VN" altLang="en-US" sz="1200" dirty="0">
                <a:solidFill>
                  <a:srgbClr val="FF00FF"/>
                </a:solidFill>
                <a:latin typeface="SymbolMT"/>
              </a:rPr>
              <a:t>≥ </a:t>
            </a:r>
            <a:r>
              <a:rPr lang="vi-VN" altLang="en-US" dirty="0">
                <a:solidFill>
                  <a:srgbClr val="FF00FF"/>
                </a:solidFill>
                <a:latin typeface="ArialMT"/>
              </a:rPr>
              <a:t>n</a:t>
            </a:r>
            <a:r>
              <a:rPr lang="vi-VN" altLang="en-US" sz="900" dirty="0">
                <a:solidFill>
                  <a:srgbClr val="FF00FF"/>
                </a:solidFill>
                <a:latin typeface="ArialMT"/>
              </a:rPr>
              <a:t>0</a:t>
            </a:r>
            <a:r>
              <a:rPr lang="vi-VN" altLang="en-US" sz="1200" dirty="0">
                <a:solidFill>
                  <a:srgbClr val="FF00FF"/>
                </a:solidFill>
                <a:latin typeface="ArialMT"/>
              </a:rPr>
              <a:t>.</a:t>
            </a:r>
            <a:endParaRPr lang="en-US" altLang="en-US" sz="1200" dirty="0">
              <a:solidFill>
                <a:srgbClr val="FF00FF"/>
              </a:solidFill>
              <a:latin typeface="Arial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CDBB5-D4B6-4541-BA74-0CD6C6BC281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57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O(1)😎</a:t>
            </a:r>
            <a:r>
              <a:rPr lang="en-US" dirty="0" err="1">
                <a:effectLst/>
              </a:rPr>
              <a:t>Tốc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độ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không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phụ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thuộc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vào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độ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lớn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O(log n)😁</a:t>
            </a:r>
            <a:r>
              <a:rPr lang="en-US" dirty="0" err="1">
                <a:effectLst/>
              </a:rPr>
              <a:t>Nếu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 </a:t>
            </a:r>
            <a:r>
              <a:rPr lang="en-US" dirty="0" err="1">
                <a:effectLst/>
              </a:rPr>
              <a:t>lần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thì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tốn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O(n)😕</a:t>
            </a:r>
            <a:r>
              <a:rPr lang="en-US" dirty="0" err="1">
                <a:effectLst/>
              </a:rPr>
              <a:t>Nếu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 </a:t>
            </a:r>
            <a:r>
              <a:rPr lang="en-US" dirty="0" err="1">
                <a:effectLst/>
              </a:rPr>
              <a:t>lần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thì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tốn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 </a:t>
            </a:r>
            <a:r>
              <a:rPr lang="en-US" dirty="0" err="1">
                <a:effectLst/>
              </a:rPr>
              <a:t>lần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O(n log n)😖</a:t>
            </a:r>
            <a:r>
              <a:rPr lang="en-US" dirty="0" err="1">
                <a:effectLst/>
              </a:rPr>
              <a:t>Nếu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 </a:t>
            </a:r>
            <a:r>
              <a:rPr lang="en-US" dirty="0" err="1">
                <a:effectLst/>
              </a:rPr>
              <a:t>lần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thì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tốn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20 </a:t>
            </a:r>
            <a:r>
              <a:rPr lang="en-US" dirty="0" err="1">
                <a:effectLst/>
              </a:rPr>
              <a:t>lần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O(n^2)😫</a:t>
            </a:r>
            <a:r>
              <a:rPr lang="en-US" dirty="0" err="1">
                <a:effectLst/>
              </a:rPr>
              <a:t>Nếu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 </a:t>
            </a:r>
            <a:r>
              <a:rPr lang="en-US" dirty="0" err="1">
                <a:effectLst/>
              </a:rPr>
              <a:t>lần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thì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100 </a:t>
            </a:r>
            <a:r>
              <a:rPr lang="en-US" dirty="0" err="1">
                <a:effectLst/>
              </a:rPr>
              <a:t>lần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O(2^n)😱</a:t>
            </a:r>
            <a:r>
              <a:rPr lang="en-US" dirty="0" err="1">
                <a:effectLst/>
              </a:rPr>
              <a:t>Dữ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liệu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tăng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gấp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đôi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là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đủ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chết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rồi</a:t>
            </a:r>
            <a:r>
              <a:rPr lang="en-US" dirty="0">
                <a:effectLst/>
              </a:rPr>
              <a:t>!!!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CDBB5-D4B6-4541-BA74-0CD6C6BC28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=&gt; O(n*max (n*m,x*z))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CDBB5-D4B6-4541-BA74-0CD6C6BC28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33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=&gt; O(n*m* max (x,y))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CDBB5-D4B6-4541-BA74-0CD6C6BC28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14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=&gt; O(max (m*n^2,x*z))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CDBB5-D4B6-4541-BA74-0CD6C6BC28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28F514-8588-2A64-D038-DF64DB580B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8E2C46-DBE2-4738-D56D-B08AE4135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F45CE2-276E-4275-9A4D-747A08751F4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7E7C91-9249-F820-ADAD-1A8846FF79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9" y="0"/>
            <a:ext cx="1218929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1B446-AF0E-A088-2FF4-95BA534C7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2600" y="824669"/>
            <a:ext cx="11163300" cy="2458775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ED6B3-CCBC-F370-853D-CE5230BF5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485320"/>
            <a:ext cx="11163300" cy="3066044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5F8E7C-5C65-3FBC-DDAB-12B64E8A6A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600" y="363985"/>
            <a:ext cx="3049184" cy="5459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435000-240D-A915-8D56-9910FE9FDB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496" y="427286"/>
            <a:ext cx="4363310" cy="49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75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5998-2F77-D9AB-90A2-A02EA7D9E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B48BF-34E9-2BAF-CE88-056FD1EA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2A790-4C3E-D25A-CE4C-A23851DB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2550" y="6496577"/>
            <a:ext cx="679449" cy="365125"/>
          </a:xfrm>
          <a:prstGeom prst="rect">
            <a:avLst/>
          </a:prstGeom>
        </p:spPr>
        <p:txBody>
          <a:bodyPr/>
          <a:lstStyle/>
          <a:p>
            <a:fld id="{ADB69929-34DB-4023-BDFC-55809E15531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39AA319-BFA0-37D3-2773-E09992484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8921DC5-AD31-49EF-8627-F53148D9BB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6299" y="305330"/>
            <a:ext cx="5902325" cy="564620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457200" indent="0" algn="r">
              <a:buNone/>
              <a:defRPr b="1">
                <a:solidFill>
                  <a:schemeClr val="accent1"/>
                </a:solidFill>
                <a:latin typeface="+mj-lt"/>
              </a:defRPr>
            </a:lvl2pPr>
            <a:lvl3pPr marL="914400" indent="0" algn="r">
              <a:buNone/>
              <a:defRPr b="1">
                <a:solidFill>
                  <a:schemeClr val="accent1"/>
                </a:solidFill>
                <a:latin typeface="+mj-lt"/>
              </a:defRPr>
            </a:lvl3pPr>
            <a:lvl4pPr marL="1371600" indent="0" algn="r">
              <a:buNone/>
              <a:defRPr b="1">
                <a:solidFill>
                  <a:schemeClr val="accent1"/>
                </a:solidFill>
                <a:latin typeface="+mj-lt"/>
              </a:defRPr>
            </a:lvl4pPr>
            <a:lvl5pPr marL="1828800" indent="0" algn="r">
              <a:buNone/>
              <a:defRPr b="1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788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6509" y="258943"/>
            <a:ext cx="6032591" cy="668519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2900" y="1110343"/>
            <a:ext cx="11515725" cy="5226957"/>
          </a:xfrm>
        </p:spPr>
        <p:txBody>
          <a:bodyPr>
            <a:normAutofit/>
          </a:bodyPr>
          <a:lstStyle>
            <a:lvl1pPr marL="228600" indent="-228600">
              <a:buClr>
                <a:schemeClr val="accent5">
                  <a:lumMod val="75000"/>
                </a:schemeClr>
              </a:buClr>
              <a:buSzPct val="150000"/>
              <a:buFont typeface="Wingdings 2" panose="05020102010507070707" pitchFamily="18" charset="2"/>
              <a:buChar char="a"/>
              <a:defRPr sz="3200"/>
            </a:lvl1pPr>
            <a:lvl2pPr marL="685800" indent="-228600">
              <a:buClr>
                <a:schemeClr val="accent5">
                  <a:lumMod val="50000"/>
                </a:schemeClr>
              </a:buClr>
              <a:buSzPct val="170000"/>
              <a:buFont typeface="Webdings" panose="05030102010509060703" pitchFamily="18" charset="2"/>
              <a:buChar char="ÿ"/>
              <a:defRPr sz="2800"/>
            </a:lvl2pPr>
            <a:lvl3pPr marL="1143000" indent="-228600">
              <a:buClr>
                <a:schemeClr val="accent5">
                  <a:lumMod val="75000"/>
                </a:schemeClr>
              </a:buClr>
              <a:buSzPct val="160000"/>
              <a:buFont typeface="Wingdings" panose="05000000000000000000" pitchFamily="2" charset="2"/>
              <a:buChar char=""/>
              <a:defRPr sz="2400"/>
            </a:lvl3pPr>
            <a:lvl4pPr marL="1600200" indent="-2286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ü"/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ACD3-4BCF-34E4-38BC-23AF1EBB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AE3A1-62DA-403A-9094-FE8763CCE5FA}" type="datetime1">
              <a:rPr lang="en-US" smtClean="0"/>
              <a:t>10/7/2024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36097-D38B-347B-A40D-76601863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9E4EB-D530-A56B-44AE-C69C20A3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F90347D5-6C77-4387-88D4-59FDF84BCD6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391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848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1"/>
            <a:ext cx="53848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3E19113-11A1-A20D-7A4D-361CBDE6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FA1A2-0B8F-4EDE-9D32-917FA778D989}" type="datetime1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11F0E0-7192-8F80-D2B4-ADB5FF85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94DD66-D415-BF74-F658-4E6BD273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AF9D1-E0B8-4FC9-96F4-5F8FDD893E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595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BA345-3062-79C0-5E17-A869B3B7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38212"/>
            <a:ext cx="11515725" cy="1143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F7B96-9E17-5FC2-9812-90560A5A7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238375"/>
            <a:ext cx="11515725" cy="4098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DA78B-9810-E11A-AD35-1450B323B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5232" y="6500282"/>
            <a:ext cx="4618567" cy="357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B35A59-89EB-FEAF-770D-3912072CF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500282"/>
            <a:ext cx="685800" cy="3577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EFF45CE2-276E-4275-9A4D-747A08751F4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6DA237-20F1-8D3F-117B-D3773A64C0C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900" y="198784"/>
            <a:ext cx="1571336" cy="3965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866D3A-D590-DB9F-526D-7E272569E4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568" y="274886"/>
            <a:ext cx="2617107" cy="29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8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94" r:id="rId3"/>
    <p:sldLayoutId id="214748369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3249-EAB3-991B-5497-B8AF7BA6D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1457715"/>
            <a:ext cx="11163300" cy="2458775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TỔNG QUAN VỀ CẤU TRÚC DỮ LIỆU VÀ THIẾT KẾ GIẢI THUẬT</a:t>
            </a:r>
            <a:endParaRPr lang="en-US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A3C09-4843-55DC-C84B-2556E0C3C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5584873"/>
            <a:ext cx="11163300" cy="1080395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NGUYỄN THỊ THU DỰ</a:t>
            </a:r>
          </a:p>
          <a:p>
            <a:r>
              <a:rPr lang="en-US" dirty="0">
                <a:solidFill>
                  <a:srgbClr val="FFC000"/>
                </a:solidFill>
              </a:rPr>
              <a:t>Email: Du.NguyenThiThu@hoasen.edu.vn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6CE7-313D-60DE-1525-A9B275D4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61914"/>
            <a:ext cx="7620000" cy="8524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B11FFC84-475A-3183-A8FE-708C5B797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D04185F5-1232-BB9B-ECEA-A77C98EAC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3ECD8-9CB8-8A67-B7CC-2D045DAD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852A-96DF-4714-A7D4-879099CC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372" y="877840"/>
            <a:ext cx="9596511" cy="1119772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vi-VN" sz="4400" dirty="0">
                <a:solidFill>
                  <a:schemeClr val="accent5">
                    <a:lumMod val="75000"/>
                  </a:schemeClr>
                </a:solidFill>
                <a:effectLst/>
                <a:latin typeface="ArialMT"/>
              </a:rPr>
              <a:t>Tại sao cần phân tích giải thuật?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B74DDA7-8729-751C-01B1-63684B7C9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54" y="2580031"/>
            <a:ext cx="10439400" cy="4277969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3400" dirty="0">
                <a:solidFill>
                  <a:srgbClr val="000000"/>
                </a:solidFill>
                <a:latin typeface="ArialMT"/>
              </a:rPr>
              <a:t>Viết một chương trình chạy thông là chưa đủ</a:t>
            </a: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3400" dirty="0">
                <a:solidFill>
                  <a:srgbClr val="000000"/>
                </a:solidFill>
                <a:latin typeface="ArialMT"/>
              </a:rPr>
              <a:t>Chương trình có thể thực hiện chưa hiệu quả!</a:t>
            </a:r>
            <a:endParaRPr lang="en-US" altLang="en-US" sz="3400" dirty="0">
              <a:solidFill>
                <a:srgbClr val="000000"/>
              </a:solidFill>
              <a:latin typeface="ArialMT"/>
            </a:endParaRPr>
          </a:p>
          <a:p>
            <a:pPr algn="just">
              <a:spcAft>
                <a:spcPts val="600"/>
              </a:spcAft>
            </a:pP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3400" dirty="0">
                <a:solidFill>
                  <a:srgbClr val="000000"/>
                </a:solidFill>
                <a:latin typeface="ArialMT"/>
              </a:rPr>
              <a:t>Nếu chương trình chạy trên </a:t>
            </a:r>
            <a:r>
              <a:rPr lang="vi-VN" altLang="en-US" sz="3400" dirty="0">
                <a:solidFill>
                  <a:srgbClr val="FF0000"/>
                </a:solidFill>
                <a:latin typeface="ArialMT"/>
              </a:rPr>
              <a:t>một tập dữ liệu lớn</a:t>
            </a:r>
            <a:r>
              <a:rPr lang="vi-VN" altLang="en-US" sz="3400" dirty="0">
                <a:solidFill>
                  <a:srgbClr val="000000"/>
                </a:solidFill>
                <a:latin typeface="ArialMT"/>
              </a:rPr>
              <a:t>,</a:t>
            </a: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3400" dirty="0">
                <a:solidFill>
                  <a:srgbClr val="000000"/>
                </a:solidFill>
                <a:latin typeface="ArialMT"/>
              </a:rPr>
              <a:t>thì thời gian chạy sẽ là một vấn đề cần lưu ý</a:t>
            </a:r>
            <a:r>
              <a:rPr lang="en-US" altLang="en-US" sz="3400" dirty="0">
                <a:solidFill>
                  <a:srgbClr val="000000"/>
                </a:solidFill>
                <a:latin typeface="ArialMT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68E81-BE32-B83E-F744-2C16CF24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387428C0-CC4C-58FC-F10E-4C9659845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5B579BF8-F60C-0722-46D5-54E5EB3E9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54486" cy="701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8A700-8064-6606-FD33-3B3C5265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436F0-1826-FD10-74BD-A85E393CC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547" y="82443"/>
            <a:ext cx="5534705" cy="87652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400" dirty="0" err="1"/>
              <a:t>Đặt</a:t>
            </a:r>
            <a:r>
              <a:rPr lang="en-US" sz="4400" dirty="0"/>
              <a:t> </a:t>
            </a:r>
            <a:r>
              <a:rPr lang="en-US" sz="4400" dirty="0" err="1"/>
              <a:t>vấn</a:t>
            </a:r>
            <a:r>
              <a:rPr lang="en-US" sz="4400" dirty="0"/>
              <a:t> </a:t>
            </a:r>
            <a:r>
              <a:rPr lang="en-US" sz="4400" dirty="0" err="1"/>
              <a:t>đê</a:t>
            </a:r>
            <a:r>
              <a:rPr lang="en-US" sz="4400" dirty="0"/>
              <a:t>̀̀?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B8987B18-C06C-48AC-C47A-F80255A4D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1322614"/>
            <a:ext cx="11099409" cy="4814017"/>
          </a:xfrm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"/>
            </a:pPr>
            <a:r>
              <a:rPr lang="en-US" altLang="en-US" sz="4000" dirty="0"/>
              <a:t> </a:t>
            </a:r>
            <a:r>
              <a:rPr lang="en-US" altLang="en-US" sz="4000" dirty="0" err="1"/>
              <a:t>Một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bài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toán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thường</a:t>
            </a:r>
            <a:r>
              <a:rPr lang="en-US" altLang="en-US" sz="4000" dirty="0"/>
              <a:t> </a:t>
            </a:r>
            <a:r>
              <a:rPr lang="en-US" altLang="en-US" sz="4000" dirty="0" err="1"/>
              <a:t>có</a:t>
            </a:r>
            <a:r>
              <a:rPr lang="en-US" altLang="en-US" sz="4000" dirty="0"/>
              <a:t> bao </a:t>
            </a:r>
            <a:r>
              <a:rPr lang="en-US" altLang="en-US" sz="4000" dirty="0" err="1"/>
              <a:t>nhiêu</a:t>
            </a:r>
            <a:r>
              <a:rPr lang="en-US" altLang="en-US" sz="4000" dirty="0"/>
              <a:t> </a:t>
            </a:r>
            <a:r>
              <a:rPr lang="en-US" altLang="en-US" sz="4000" b="1" dirty="0" err="1">
                <a:solidFill>
                  <a:srgbClr val="002060"/>
                </a:solidFill>
              </a:rPr>
              <a:t>giải</a:t>
            </a:r>
            <a:r>
              <a:rPr lang="en-US" altLang="en-US" sz="4000" b="1" dirty="0">
                <a:solidFill>
                  <a:srgbClr val="002060"/>
                </a:solidFill>
              </a:rPr>
              <a:t> </a:t>
            </a:r>
            <a:r>
              <a:rPr lang="en-US" altLang="en-US" sz="4000" b="1" dirty="0" err="1">
                <a:solidFill>
                  <a:srgbClr val="002060"/>
                </a:solidFill>
              </a:rPr>
              <a:t>thuật</a:t>
            </a:r>
            <a:r>
              <a:rPr lang="en-US" altLang="en-US" sz="4000" b="1" dirty="0">
                <a:solidFill>
                  <a:srgbClr val="002060"/>
                </a:solidFill>
              </a:rPr>
              <a:t> </a:t>
            </a:r>
            <a:r>
              <a:rPr lang="en-US" altLang="en-US" sz="4000" dirty="0" err="1"/>
              <a:t>khác</a:t>
            </a:r>
            <a:r>
              <a:rPr lang="en-US" altLang="en-US" sz="4000" dirty="0"/>
              <a:t> </a:t>
            </a:r>
            <a:r>
              <a:rPr lang="en-US" altLang="en-US" sz="4000" dirty="0" err="1"/>
              <a:t>nhau</a:t>
            </a:r>
            <a:r>
              <a:rPr lang="en-US" altLang="en-US" sz="4000" dirty="0"/>
              <a:t> </a:t>
            </a:r>
            <a:r>
              <a:rPr lang="en-US" altLang="en-US" sz="4000" dirty="0" err="1"/>
              <a:t>đê</a:t>
            </a:r>
            <a:r>
              <a:rPr lang="en-US" altLang="en-US" sz="4000" dirty="0"/>
              <a:t>̉ </a:t>
            </a:r>
            <a:r>
              <a:rPr lang="en-US" altLang="en-US" sz="4000" dirty="0" err="1"/>
              <a:t>giải</a:t>
            </a:r>
            <a:r>
              <a:rPr lang="en-US" altLang="en-US" sz="4000" dirty="0"/>
              <a:t> nó? 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"/>
            </a:pPr>
            <a:r>
              <a:rPr lang="en-US" altLang="en-US" sz="4000" dirty="0"/>
              <a:t> </a:t>
            </a:r>
            <a:r>
              <a:rPr lang="en-US" altLang="en-US" sz="4000" dirty="0" err="1"/>
              <a:t>Làm</a:t>
            </a:r>
            <a:r>
              <a:rPr lang="en-US" altLang="en-US" sz="4000" dirty="0"/>
              <a:t> </a:t>
            </a:r>
            <a:r>
              <a:rPr lang="en-US" altLang="en-US" sz="4000" dirty="0" err="1"/>
              <a:t>cách</a:t>
            </a:r>
            <a:r>
              <a:rPr lang="en-US" altLang="en-US" sz="4000" dirty="0"/>
              <a:t> </a:t>
            </a:r>
            <a:r>
              <a:rPr lang="en-US" altLang="en-US" sz="4000" dirty="0" err="1"/>
              <a:t>nào</a:t>
            </a:r>
            <a:r>
              <a:rPr lang="en-US" altLang="en-US" sz="4000" dirty="0"/>
              <a:t> </a:t>
            </a:r>
            <a:r>
              <a:rPr lang="en-US" altLang="en-US" sz="4000" dirty="0" err="1"/>
              <a:t>để</a:t>
            </a:r>
            <a:r>
              <a:rPr lang="en-US" altLang="en-US" sz="4000" dirty="0"/>
              <a:t> </a:t>
            </a:r>
            <a:r>
              <a:rPr lang="en-US" altLang="en-US" sz="4000" b="1" dirty="0" err="1"/>
              <a:t>chọn</a:t>
            </a:r>
            <a:r>
              <a:rPr lang="en-US" altLang="en-US" sz="4000" b="1" dirty="0"/>
              <a:t> </a:t>
            </a:r>
            <a:r>
              <a:rPr lang="en-US" altLang="en-US" sz="4000" b="1" dirty="0" err="1"/>
              <a:t>ra</a:t>
            </a:r>
            <a:r>
              <a:rPr lang="en-US" altLang="en-US" sz="4000" b="1" dirty="0"/>
              <a:t> </a:t>
            </a:r>
            <a:r>
              <a:rPr lang="en-US" altLang="en-US" sz="4000" dirty="0" err="1"/>
              <a:t>giải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thuật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tốt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nhất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để</a:t>
            </a:r>
            <a:r>
              <a:rPr lang="en-US" altLang="en-US" sz="4000" dirty="0"/>
              <a:t> </a:t>
            </a:r>
            <a:r>
              <a:rPr lang="en-US" altLang="en-US" sz="4000" dirty="0" err="1"/>
              <a:t>giải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một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bài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toán</a:t>
            </a:r>
            <a:r>
              <a:rPr lang="en-US" altLang="en-US" sz="4000" dirty="0"/>
              <a:t>? 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"/>
            </a:pPr>
            <a:r>
              <a:rPr lang="en-US" altLang="en-US" sz="4000" dirty="0"/>
              <a:t> </a:t>
            </a:r>
            <a:r>
              <a:rPr lang="en-US" altLang="en-US" sz="4000" dirty="0" err="1"/>
              <a:t>Làm</a:t>
            </a:r>
            <a:r>
              <a:rPr lang="en-US" altLang="en-US" sz="4000" dirty="0"/>
              <a:t> </a:t>
            </a:r>
            <a:r>
              <a:rPr lang="en-US" altLang="en-US" sz="4000" dirty="0" err="1"/>
              <a:t>cách</a:t>
            </a:r>
            <a:r>
              <a:rPr lang="en-US" altLang="en-US" sz="4000" dirty="0"/>
              <a:t> </a:t>
            </a:r>
            <a:r>
              <a:rPr lang="en-US" altLang="en-US" sz="4000" dirty="0" err="1"/>
              <a:t>nào</a:t>
            </a:r>
            <a:r>
              <a:rPr lang="en-US" altLang="en-US" sz="4000" dirty="0"/>
              <a:t> </a:t>
            </a:r>
            <a:r>
              <a:rPr lang="en-US" altLang="en-US" sz="4000" dirty="0" err="1"/>
              <a:t>để</a:t>
            </a:r>
            <a:r>
              <a:rPr lang="en-US" altLang="en-US" sz="4000" dirty="0"/>
              <a:t> so </a:t>
            </a:r>
            <a:r>
              <a:rPr lang="en-US" altLang="en-US" sz="4000" dirty="0" err="1"/>
              <a:t>sánh</a:t>
            </a:r>
            <a:r>
              <a:rPr lang="en-US" altLang="en-US" sz="4000" dirty="0"/>
              <a:t> </a:t>
            </a:r>
            <a:r>
              <a:rPr lang="en-US" altLang="en-US" sz="4000" dirty="0" err="1"/>
              <a:t>các</a:t>
            </a:r>
            <a:r>
              <a:rPr lang="en-US" altLang="en-US" sz="4000" dirty="0"/>
              <a:t> </a:t>
            </a:r>
            <a:r>
              <a:rPr lang="en-US" altLang="en-US" sz="4000" dirty="0" err="1"/>
              <a:t>giải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thuật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cùng</a:t>
            </a:r>
            <a:r>
              <a:rPr lang="en-US" altLang="en-US" sz="4000" dirty="0"/>
              <a:t> </a:t>
            </a:r>
            <a:r>
              <a:rPr lang="en-US" altLang="en-US" sz="4000" dirty="0" err="1"/>
              <a:t>giải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được</a:t>
            </a:r>
            <a:r>
              <a:rPr lang="en-US" altLang="en-US" sz="4000" dirty="0"/>
              <a:t> </a:t>
            </a:r>
            <a:r>
              <a:rPr lang="en-US" altLang="en-US" sz="4000" dirty="0" err="1"/>
              <a:t>một</a:t>
            </a:r>
            <a:r>
              <a:rPr lang="en-US" altLang="en-US" sz="4000" dirty="0"/>
              <a:t> </a:t>
            </a:r>
            <a:r>
              <a:rPr lang="en-US" altLang="en-US" sz="4000" dirty="0" err="1"/>
              <a:t>bài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toán</a:t>
            </a:r>
            <a:r>
              <a:rPr lang="en-US" altLang="en-US" sz="4000" dirty="0"/>
              <a:t>?</a:t>
            </a: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Phân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tích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độ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phức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tạp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của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một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giải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4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thuật</a:t>
            </a:r>
            <a:r>
              <a:rPr lang="en-US" altLang="en-US" sz="4000" b="1" dirty="0">
                <a:solidFill>
                  <a:srgbClr val="FF0000"/>
                </a:solidFill>
                <a:sym typeface="Wingdings" panose="05000000000000000000" pitchFamily="2" charset="2"/>
              </a:rPr>
              <a:t>: </a:t>
            </a:r>
          </a:p>
          <a:p>
            <a:pPr algn="just" eaLnBrk="1" hangingPunct="1">
              <a:buFont typeface="Wingdings" panose="05000000000000000000" pitchFamily="2" charset="2"/>
              <a:buChar char="v"/>
            </a:pPr>
            <a:endParaRPr lang="en-US" alt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F4E23-F791-1C10-2B3D-DE4039FC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FA9D738-924A-D77E-19A8-D980856B96A8}"/>
              </a:ext>
            </a:extLst>
          </p:cNvPr>
          <p:cNvSpPr/>
          <p:nvPr/>
        </p:nvSpPr>
        <p:spPr>
          <a:xfrm>
            <a:off x="6939645" y="998962"/>
            <a:ext cx="2351312" cy="143273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49DE9D8-E57C-C977-4CA8-9CD50E7208CE}"/>
              </a:ext>
            </a:extLst>
          </p:cNvPr>
          <p:cNvSpPr/>
          <p:nvPr/>
        </p:nvSpPr>
        <p:spPr>
          <a:xfrm>
            <a:off x="1508683" y="2252078"/>
            <a:ext cx="3259260" cy="1307549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 SO SÁNH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A882CD-FA3C-CE9B-532D-1882C443DC51}"/>
              </a:ext>
            </a:extLst>
          </p:cNvPr>
          <p:cNvSpPr/>
          <p:nvPr/>
        </p:nvSpPr>
        <p:spPr>
          <a:xfrm>
            <a:off x="1508683" y="5374115"/>
            <a:ext cx="10340417" cy="1307549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>
                <a:solidFill>
                  <a:srgbClr val="002060"/>
                </a:solidFill>
              </a:rPr>
              <a:t>Dự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đoán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các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tài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nguyên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mà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giải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thuật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đó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cần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8EDB-FDB5-33A7-147D-B18B849A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400" dirty="0" err="1"/>
              <a:t>Khái</a:t>
            </a:r>
            <a:r>
              <a:rPr lang="en-US" sz="4400" dirty="0"/>
              <a:t> </a:t>
            </a:r>
            <a:r>
              <a:rPr lang="en-US" sz="4400" dirty="0" err="1"/>
              <a:t>niệm</a:t>
            </a:r>
            <a:endParaRPr lang="en-US" sz="4400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9F971EE-E814-2010-1C5E-ADDCBDA04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3600" dirty="0"/>
              <a:t> </a:t>
            </a:r>
            <a:r>
              <a:rPr lang="en-US" altLang="en-US" sz="3600" dirty="0" err="1"/>
              <a:t>Tài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nguyên</a:t>
            </a:r>
            <a:r>
              <a:rPr lang="en-US" altLang="en-US" sz="3600" dirty="0"/>
              <a:t> </a:t>
            </a:r>
            <a:r>
              <a:rPr lang="en-US" altLang="en-US" sz="3600" dirty="0" err="1"/>
              <a:t>của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một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giải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thuật</a:t>
            </a:r>
            <a:r>
              <a:rPr lang="en-US" altLang="en-US" sz="3600" dirty="0"/>
              <a:t>: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3200" dirty="0" err="1">
                <a:solidFill>
                  <a:srgbClr val="FF0000"/>
                </a:solidFill>
              </a:rPr>
              <a:t>Bộ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nhớ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sử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dụng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3200" dirty="0" err="1">
                <a:solidFill>
                  <a:srgbClr val="FF0000"/>
                </a:solidFill>
              </a:rPr>
              <a:t>Thời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gian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tính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toán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en-US" sz="3200" dirty="0" err="1">
                <a:solidFill>
                  <a:srgbClr val="FF0000"/>
                </a:solidFill>
              </a:rPr>
              <a:t>Băng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thông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giao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tiếp</a:t>
            </a:r>
            <a:r>
              <a:rPr lang="en-US" altLang="en-US" sz="3200" dirty="0">
                <a:solidFill>
                  <a:srgbClr val="FF0000"/>
                </a:solidFill>
              </a:rPr>
              <a:t> (</a:t>
            </a:r>
            <a:r>
              <a:rPr lang="en-US" altLang="en-US" sz="3200" dirty="0" err="1">
                <a:solidFill>
                  <a:srgbClr val="FF0000"/>
                </a:solidFill>
              </a:rPr>
              <a:t>nếu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là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các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ứng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dụng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</a:rPr>
              <a:t>mạng</a:t>
            </a:r>
            <a:r>
              <a:rPr lang="en-US" altLang="en-US" sz="3200" dirty="0">
                <a:solidFill>
                  <a:srgbClr val="FF0000"/>
                </a:solidFill>
              </a:rPr>
              <a:t>)</a:t>
            </a:r>
          </a:p>
          <a:p>
            <a:pPr marL="457200" lvl="1" indent="0" eaLnBrk="1" hangingPunct="1">
              <a:buNone/>
            </a:pPr>
            <a:endParaRPr lang="en-US" altLang="en-US" sz="3200" dirty="0">
              <a:solidFill>
                <a:srgbClr val="FF0000"/>
              </a:solidFill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200" dirty="0">
                <a:sym typeface="Wingdings" panose="05000000000000000000" pitchFamily="2" charset="2"/>
              </a:rPr>
              <a:t> </a:t>
            </a:r>
            <a:r>
              <a:rPr lang="en-US" altLang="en-US" sz="3200" b="1" dirty="0" err="1">
                <a:sym typeface="Wingdings" panose="05000000000000000000" pitchFamily="2" charset="2"/>
              </a:rPr>
              <a:t>Thời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gian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tính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toán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là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tài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nguyên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quan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trọng</a:t>
            </a:r>
            <a:r>
              <a:rPr lang="en-US" altLang="en-US" sz="3200" b="1" dirty="0">
                <a:sym typeface="Wingdings" panose="05000000000000000000" pitchFamily="2" charset="2"/>
              </a:rPr>
              <a:t> </a:t>
            </a:r>
            <a:r>
              <a:rPr lang="en-US" altLang="en-US" sz="3200" b="1" dirty="0" err="1">
                <a:sym typeface="Wingdings" panose="05000000000000000000" pitchFamily="2" charset="2"/>
              </a:rPr>
              <a:t>nhất</a:t>
            </a:r>
            <a:endParaRPr lang="en-US" altLang="en-US" sz="32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CDECB-9CC3-1C1D-C0E7-D5A50A63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0E1C-59ED-3BA9-7EFF-F7B1A085E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9957" y="248895"/>
            <a:ext cx="6048668" cy="77804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800" dirty="0" err="1"/>
              <a:t>Ví</a:t>
            </a:r>
            <a:r>
              <a:rPr lang="en-US" sz="4800" dirty="0"/>
              <a:t> </a:t>
            </a:r>
            <a:r>
              <a:rPr lang="en-US" sz="4800" dirty="0" err="1"/>
              <a:t>dụ</a:t>
            </a:r>
            <a:endParaRPr lang="en-US" sz="4800" dirty="0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C665D9F-40F0-7FDE-5102-6610F0E4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372" y="1316134"/>
            <a:ext cx="8817428" cy="489495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Cho 4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a,b,c,d</a:t>
            </a:r>
            <a:r>
              <a:rPr lang="en-US" altLang="en-US" dirty="0"/>
              <a:t>. </a:t>
            </a:r>
            <a:r>
              <a:rPr lang="en-US" altLang="en-US" dirty="0" err="1"/>
              <a:t>Tìm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lớn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4 </a:t>
            </a:r>
            <a:r>
              <a:rPr lang="en-US" altLang="en-US" dirty="0" err="1"/>
              <a:t>số</a:t>
            </a:r>
            <a:r>
              <a:rPr lang="en-US" altLang="en-US" dirty="0"/>
              <a:t>.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altLang="en-US" b="1" dirty="0" err="1"/>
              <a:t>Giải</a:t>
            </a:r>
            <a:r>
              <a:rPr lang="en-US" altLang="en-US" b="1" dirty="0"/>
              <a:t> </a:t>
            </a:r>
            <a:r>
              <a:rPr lang="en-US" altLang="en-US" b="1" dirty="0" err="1"/>
              <a:t>thuật</a:t>
            </a:r>
            <a:r>
              <a:rPr lang="en-US" altLang="en-US" b="1" dirty="0"/>
              <a:t> 1: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dirty="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000" dirty="0"/>
              <a:t>max=a;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000" dirty="0"/>
              <a:t>if (b&gt;max) max=b;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000" dirty="0"/>
              <a:t>	    if (c&gt;max) max=c;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000" dirty="0"/>
              <a:t>		             if (d&gt;max) max=d;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3000" dirty="0"/>
              <a:t>return max;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80221-B9FC-26D8-3F4F-1D3E971F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02F4-032E-3510-CA0F-CAED5469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0" y="222739"/>
            <a:ext cx="6337495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800" dirty="0" err="1"/>
              <a:t>Ví</a:t>
            </a:r>
            <a:r>
              <a:rPr lang="en-US" sz="4800" dirty="0"/>
              <a:t> </a:t>
            </a:r>
            <a:r>
              <a:rPr lang="en-US" sz="4800" dirty="0" err="1"/>
              <a:t>dụ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873E-6757-F455-F7CE-C67DFDF10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432" y="1146517"/>
            <a:ext cx="9525000" cy="5711482"/>
          </a:xfrm>
        </p:spPr>
        <p:txBody>
          <a:bodyPr>
            <a:normAutofit/>
          </a:bodyPr>
          <a:lstStyle/>
          <a:p>
            <a:pPr marL="514350" indent="-514350">
              <a:buFont typeface="Arial" charset="0"/>
              <a:buAutoNum type="arabicPeriod" startAt="2"/>
              <a:defRPr/>
            </a:pPr>
            <a:r>
              <a:rPr lang="en-US" sz="3200" b="1" dirty="0" err="1"/>
              <a:t>Giải</a:t>
            </a:r>
            <a:r>
              <a:rPr lang="en-US" sz="3200" b="1" dirty="0"/>
              <a:t> </a:t>
            </a:r>
            <a:r>
              <a:rPr lang="en-US" sz="3200" b="1" dirty="0" err="1"/>
              <a:t>thuật</a:t>
            </a:r>
            <a:r>
              <a:rPr lang="en-US" sz="3200" b="1" dirty="0"/>
              <a:t> 2:</a:t>
            </a:r>
          </a:p>
          <a:p>
            <a:pPr marL="514350" indent="-514350">
              <a:buNone/>
              <a:defRPr/>
            </a:pPr>
            <a:endParaRPr lang="en-US" b="1" dirty="0"/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if (a &gt; b) 			     else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if (a &gt; c)			               if (b &gt; c) 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if (a &gt; d) 			            if (b &gt; d) 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	return a;			           return b;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else				            else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	return d;			           return d;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else				               else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if (c &gt; d)			            if (c &gt; d)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	return c;			           return c;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else				            else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r>
              <a:rPr lang="en-US" sz="2800" dirty="0"/>
              <a:t>				return d;			           return d;</a:t>
            </a:r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marL="731520" lvl="1">
              <a:lnSpc>
                <a:spcPct val="70000"/>
              </a:lnSpc>
              <a:spcBef>
                <a:spcPts val="0"/>
              </a:spcBef>
              <a:buNone/>
              <a:defRPr/>
            </a:pPr>
            <a:endParaRPr lang="en-US" dirty="0"/>
          </a:p>
          <a:p>
            <a:pPr lvl="1" eaLnBrk="1" hangingPunct="1">
              <a:buFont typeface="Arial" charset="0"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C3056-6680-0C7C-0CCE-ADE3ED5C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8</a:t>
            </a:fld>
            <a:endParaRPr lang="en-US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89246-07E3-741C-5C5E-9883B832CE9B}"/>
              </a:ext>
            </a:extLst>
          </p:cNvPr>
          <p:cNvCxnSpPr>
            <a:cxnSpLocks/>
          </p:cNvCxnSpPr>
          <p:nvPr/>
        </p:nvCxnSpPr>
        <p:spPr>
          <a:xfrm>
            <a:off x="6659292" y="2180492"/>
            <a:ext cx="0" cy="3530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xplosion: 8 Points 11">
            <a:extLst>
              <a:ext uri="{FF2B5EF4-FFF2-40B4-BE49-F238E27FC236}">
                <a16:creationId xmlns:a16="http://schemas.microsoft.com/office/drawing/2014/main" id="{1E7820D4-FE89-28F6-7EDC-7B10EBC69BA4}"/>
              </a:ext>
            </a:extLst>
          </p:cNvPr>
          <p:cNvSpPr/>
          <p:nvPr/>
        </p:nvSpPr>
        <p:spPr>
          <a:xfrm>
            <a:off x="1" y="1910444"/>
            <a:ext cx="3510638" cy="3801040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So </a:t>
            </a:r>
            <a:r>
              <a:rPr lang="en-US" sz="2800" b="1" dirty="0" err="1">
                <a:solidFill>
                  <a:srgbClr val="FF0000"/>
                </a:solidFill>
              </a:rPr>
              <a:t>sánh</a:t>
            </a:r>
            <a:r>
              <a:rPr lang="en-US" sz="2800" b="1" dirty="0">
                <a:solidFill>
                  <a:srgbClr val="FF0000"/>
                </a:solidFill>
              </a:rPr>
              <a:t> 2 </a:t>
            </a:r>
            <a:r>
              <a:rPr lang="en-US" sz="2800" b="1" dirty="0" err="1">
                <a:solidFill>
                  <a:srgbClr val="FF0000"/>
                </a:solidFill>
              </a:rPr>
              <a:t>giải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thuật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trên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9BC8-324E-A090-290E-4EFE02D6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400" dirty="0" err="1"/>
              <a:t>Ví</a:t>
            </a:r>
            <a:r>
              <a:rPr lang="en-US" sz="4400" dirty="0"/>
              <a:t> </a:t>
            </a:r>
            <a:r>
              <a:rPr lang="en-US" sz="4400" dirty="0" err="1"/>
              <a:t>dụ</a:t>
            </a:r>
            <a:endParaRPr lang="en-US" sz="4400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DCB97C24-9EB5-2B14-EB33-C83843D6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b="1" dirty="0"/>
          </a:p>
          <a:p>
            <a:pPr marL="0" indent="0">
              <a:buNone/>
              <a:defRPr/>
            </a:pPr>
            <a:br>
              <a:rPr lang="en-US" dirty="0">
                <a:solidFill>
                  <a:srgbClr val="000000"/>
                </a:solidFill>
                <a:latin typeface="SymbolMT"/>
              </a:rPr>
            </a:br>
            <a:endParaRPr lang="en-US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101D95-94FA-D4F4-0724-8E62F15B79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7235574"/>
              </p:ext>
            </p:extLst>
          </p:nvPr>
        </p:nvGraphicFramePr>
        <p:xfrm>
          <a:off x="792480" y="2312810"/>
          <a:ext cx="10607040" cy="27919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189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93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 err="1"/>
                        <a:t>Giải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thuật</a:t>
                      </a:r>
                      <a:r>
                        <a:rPr lang="en-US" sz="2800" baseline="0" dirty="0"/>
                        <a:t> 1</a:t>
                      </a:r>
                      <a:endParaRPr lang="en-US" sz="2800" dirty="0"/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 err="1"/>
                        <a:t>Giải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thuật</a:t>
                      </a:r>
                      <a:r>
                        <a:rPr lang="en-US" sz="2800" baseline="0" dirty="0"/>
                        <a:t> 2</a:t>
                      </a:r>
                      <a:endParaRPr lang="en-US" sz="2800" dirty="0"/>
                    </a:p>
                  </a:txBody>
                  <a:tcPr marT="45740" marB="45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96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2800" dirty="0"/>
                        <a:t>3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phép</a:t>
                      </a:r>
                      <a:r>
                        <a:rPr lang="en-US" sz="2800" baseline="0" dirty="0"/>
                        <a:t> so </a:t>
                      </a:r>
                      <a:r>
                        <a:rPr lang="en-US" sz="2800" baseline="0" dirty="0" err="1"/>
                        <a:t>sánh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để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tìm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ra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kết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quả</a:t>
                      </a:r>
                      <a:endParaRPr lang="en-US" sz="2800" baseline="0" dirty="0"/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Dễ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đọc</a:t>
                      </a:r>
                      <a:r>
                        <a:rPr lang="en-US" sz="2800" baseline="0" dirty="0"/>
                        <a:t>, </a:t>
                      </a:r>
                      <a:r>
                        <a:rPr lang="en-US" sz="2800" baseline="0" dirty="0" err="1"/>
                        <a:t>dễ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hiểu</a:t>
                      </a:r>
                      <a:endParaRPr lang="en-US" sz="2800" baseline="0" dirty="0"/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Chiếm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nhiều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bộ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nhớ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hơn</a:t>
                      </a:r>
                      <a:r>
                        <a:rPr lang="en-US" sz="2800" baseline="0" dirty="0"/>
                        <a:t> (</a:t>
                      </a:r>
                      <a:r>
                        <a:rPr lang="en-US" sz="2800" baseline="0" dirty="0" err="1"/>
                        <a:t>Biến</a:t>
                      </a:r>
                      <a:r>
                        <a:rPr lang="en-US" sz="2800" baseline="0" dirty="0"/>
                        <a:t> max)</a:t>
                      </a:r>
                      <a:endParaRPr lang="en-US" sz="2800" dirty="0"/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2800" dirty="0" err="1"/>
                        <a:t>Nhiều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phép</a:t>
                      </a:r>
                      <a:r>
                        <a:rPr lang="en-US" sz="2800" baseline="0" dirty="0"/>
                        <a:t> so </a:t>
                      </a:r>
                      <a:r>
                        <a:rPr lang="en-US" sz="2800" baseline="0" dirty="0" err="1"/>
                        <a:t>sánh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hơn</a:t>
                      </a:r>
                      <a:endParaRPr lang="en-US" sz="2800" baseline="0" dirty="0"/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2800" baseline="0" dirty="0" err="1"/>
                        <a:t>Bố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cục</a:t>
                      </a:r>
                      <a:r>
                        <a:rPr lang="en-US" sz="2800" baseline="0" dirty="0"/>
                        <a:t> code </a:t>
                      </a:r>
                      <a:r>
                        <a:rPr lang="en-US" sz="2800" baseline="0" dirty="0" err="1"/>
                        <a:t>rối</a:t>
                      </a:r>
                      <a:r>
                        <a:rPr lang="en-US" sz="2800" baseline="0" dirty="0"/>
                        <a:t> </a:t>
                      </a:r>
                      <a:r>
                        <a:rPr lang="en-US" sz="2800" baseline="0" dirty="0" err="1"/>
                        <a:t>hơn</a:t>
                      </a:r>
                      <a:endParaRPr lang="en-US" sz="2800" dirty="0"/>
                    </a:p>
                  </a:txBody>
                  <a:tcPr marT="45740" marB="457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4EEAD7-6374-0012-92DF-8455BB4C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83E8-1640-8D79-3C7E-119D498F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38213"/>
            <a:ext cx="11515725" cy="707708"/>
          </a:xfrm>
        </p:spPr>
        <p:txBody>
          <a:bodyPr/>
          <a:lstStyle/>
          <a:p>
            <a:pPr>
              <a:defRPr/>
            </a:pP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toán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9CE8C0D-2CB5-366F-9930-557610ADB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772529"/>
            <a:ext cx="9968718" cy="4564771"/>
          </a:xfrm>
        </p:spPr>
        <p:txBody>
          <a:bodyPr>
            <a:norm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/>
              <a:t> </a:t>
            </a:r>
            <a:r>
              <a:rPr lang="en-US" altLang="en-US" kern="500" dirty="0" err="1"/>
              <a:t>Nhập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vào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ngày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tháng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năm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va</a:t>
            </a:r>
            <a:r>
              <a:rPr lang="en-US" altLang="en-US" kern="500" dirty="0"/>
              <a:t>̀ </a:t>
            </a:r>
            <a:r>
              <a:rPr lang="en-US" altLang="en-US" kern="500" dirty="0" err="1"/>
              <a:t>kiểm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tra</a:t>
            </a:r>
            <a:r>
              <a:rPr lang="en-US" altLang="en-US" kern="500" dirty="0"/>
              <a:t> NGÀY </a:t>
            </a:r>
            <a:r>
              <a:rPr lang="en-US" altLang="en-US" kern="500" dirty="0" err="1"/>
              <a:t>vừa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nhập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vào</a:t>
            </a:r>
            <a:r>
              <a:rPr lang="en-US" altLang="en-US" kern="500" dirty="0"/>
              <a:t> HỢP LỆ?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/>
              <a:t> </a:t>
            </a:r>
            <a:r>
              <a:rPr lang="en-US" altLang="en-US" kern="500" dirty="0" err="1"/>
              <a:t>Các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giải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thuật</a:t>
            </a:r>
            <a:r>
              <a:rPr lang="en-US" altLang="en-US" kern="500" dirty="0"/>
              <a:t>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 err="1"/>
              <a:t>Cách</a:t>
            </a:r>
            <a:r>
              <a:rPr lang="en-US" altLang="en-US" kern="500" dirty="0"/>
              <a:t> 1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 err="1"/>
              <a:t>Cách</a:t>
            </a:r>
            <a:r>
              <a:rPr lang="en-US" altLang="en-US" kern="500" dirty="0"/>
              <a:t> 2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 err="1"/>
              <a:t>Cách</a:t>
            </a:r>
            <a:r>
              <a:rPr lang="en-US" altLang="en-US" kern="500" dirty="0"/>
              <a:t> 3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 err="1"/>
              <a:t>Cách</a:t>
            </a:r>
            <a:r>
              <a:rPr lang="en-US" altLang="en-US" kern="500" dirty="0"/>
              <a:t> 4: </a:t>
            </a:r>
            <a:r>
              <a:rPr lang="en-US" altLang="en-US" kern="500" dirty="0" err="1"/>
              <a:t>Sư</a:t>
            </a:r>
            <a:r>
              <a:rPr lang="en-US" altLang="en-US" kern="500" dirty="0"/>
              <a:t>̉ </a:t>
            </a:r>
            <a:r>
              <a:rPr lang="en-US" altLang="en-US" kern="500" dirty="0" err="1"/>
              <a:t>dụng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mảng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đê</a:t>
            </a:r>
            <a:r>
              <a:rPr lang="en-US" altLang="en-US" kern="500" dirty="0"/>
              <a:t>̉ </a:t>
            </a:r>
            <a:r>
              <a:rPr lang="en-US" altLang="en-US" kern="500" dirty="0" err="1"/>
              <a:t>lưu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ngày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cuối</a:t>
            </a:r>
            <a:r>
              <a:rPr lang="en-US" altLang="en-US" kern="500" dirty="0"/>
              <a:t> </a:t>
            </a:r>
            <a:r>
              <a:rPr lang="en-US" altLang="en-US" kern="500" dirty="0" err="1"/>
              <a:t>tháng</a:t>
            </a:r>
            <a:r>
              <a:rPr lang="en-US" altLang="en-US" kern="5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3A76D-FCC9-6464-F220-733785B0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6890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83E8-1640-8D79-3C7E-119D498F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38213"/>
            <a:ext cx="11515725" cy="707708"/>
          </a:xfrm>
        </p:spPr>
        <p:txBody>
          <a:bodyPr/>
          <a:lstStyle/>
          <a:p>
            <a:pPr>
              <a:defRPr/>
            </a:pP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toán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59CE8C0D-2CB5-366F-9930-557610ADB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772529"/>
            <a:ext cx="9968718" cy="4564771"/>
          </a:xfrm>
        </p:spPr>
        <p:txBody>
          <a:bodyPr>
            <a:normAutofit lnSpcReduction="10000"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Cho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một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dãy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gồm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N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số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hãy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tìm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phần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tử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FF0000"/>
                </a:solidFill>
                <a:latin typeface="ArialMT"/>
              </a:rPr>
              <a:t>lớn</a:t>
            </a:r>
            <a:r>
              <a:rPr lang="en-US" altLang="en-US" sz="3200" kern="500" dirty="0">
                <a:solidFill>
                  <a:srgbClr val="FF0000"/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rgbClr val="FF0000"/>
                </a:solidFill>
                <a:latin typeface="ArialMT"/>
              </a:rPr>
              <a:t>thứ</a:t>
            </a:r>
            <a:r>
              <a:rPr lang="en-US" altLang="en-US" sz="3200" kern="500" dirty="0">
                <a:solidFill>
                  <a:srgbClr val="FF0000"/>
                </a:solidFill>
                <a:latin typeface="ArialMT"/>
              </a:rPr>
              <a:t> k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, </a:t>
            </a:r>
            <a:r>
              <a:rPr lang="en-US" altLang="en-US" sz="3200" kern="500" dirty="0" err="1">
                <a:solidFill>
                  <a:srgbClr val="000000"/>
                </a:solidFill>
                <a:latin typeface="ArialMT"/>
              </a:rPr>
              <a:t>với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 k </a:t>
            </a:r>
            <a:r>
              <a:rPr lang="en-US" altLang="en-US" sz="3200" kern="500" dirty="0">
                <a:solidFill>
                  <a:srgbClr val="000000"/>
                </a:solidFill>
                <a:latin typeface="SymbolMT"/>
              </a:rPr>
              <a:t>≤ </a:t>
            </a:r>
            <a:r>
              <a:rPr lang="en-US" altLang="en-US" sz="3200" kern="500" dirty="0">
                <a:solidFill>
                  <a:srgbClr val="000000"/>
                </a:solidFill>
                <a:latin typeface="ArialMT"/>
              </a:rPr>
              <a:t>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altLang="en-US" kern="5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altLang="en-US" kern="5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/>
              <a:t> </a:t>
            </a:r>
            <a:r>
              <a:rPr lang="vi-VN" altLang="en-US" kern="500" dirty="0"/>
              <a:t>Thuật toán nào là tốt hơn khi</a:t>
            </a:r>
            <a:r>
              <a:rPr lang="en-US" altLang="en-US" kern="500" dirty="0"/>
              <a:t>: </a:t>
            </a:r>
            <a:endParaRPr lang="vi-VN" altLang="en-US" kern="500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vi-VN" altLang="en-US" kern="500" dirty="0"/>
              <a:t>N =100 và k = 100?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vi-VN" altLang="en-US" kern="500" dirty="0"/>
              <a:t>N =100 và k = 1?</a:t>
            </a:r>
            <a:endParaRPr lang="en-US" altLang="en-US" kern="500" dirty="0"/>
          </a:p>
          <a:p>
            <a:pPr lvl="1">
              <a:spcBef>
                <a:spcPts val="100"/>
              </a:spcBef>
              <a:spcAft>
                <a:spcPts val="100"/>
              </a:spcAft>
            </a:pPr>
            <a:endParaRPr lang="vi-VN" altLang="en-US" kern="5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/>
              <a:t> </a:t>
            </a:r>
            <a:r>
              <a:rPr lang="vi-VN" altLang="en-US" kern="500" dirty="0"/>
              <a:t>Điều gì sẽ xảy ra khi N = 1,000,000 và k =</a:t>
            </a:r>
            <a:r>
              <a:rPr lang="en-US" altLang="en-US" kern="500" dirty="0"/>
              <a:t> </a:t>
            </a:r>
            <a:r>
              <a:rPr lang="vi-VN" altLang="en-US" kern="500" dirty="0"/>
              <a:t>500,000?</a:t>
            </a:r>
            <a:endParaRPr lang="en-US" altLang="en-US" kern="5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vi-VN" altLang="en-US" kern="500" dirty="0"/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en-US" kern="500" dirty="0"/>
              <a:t> </a:t>
            </a:r>
            <a:r>
              <a:rPr lang="vi-VN" altLang="en-US" kern="500" dirty="0"/>
              <a:t>Còn có những thuật toán tốt hơn</a:t>
            </a:r>
            <a:r>
              <a:rPr lang="en-US" altLang="en-US" kern="500" dirty="0"/>
              <a:t> ???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3A76D-FCC9-6464-F220-733785B0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35CB65C-0F16-9B14-5949-963993EAB312}"/>
              </a:ext>
            </a:extLst>
          </p:cNvPr>
          <p:cNvSpPr/>
          <p:nvPr/>
        </p:nvSpPr>
        <p:spPr>
          <a:xfrm>
            <a:off x="342900" y="3134834"/>
            <a:ext cx="11515725" cy="3202465"/>
          </a:xfrm>
          <a:prstGeom prst="wedgeRoundRectCallout">
            <a:avLst>
              <a:gd name="adj1" fmla="val -142"/>
              <a:gd name="adj2" fmla="val -77045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Tuyển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sinh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năm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2024, Khoa CNTT có 10.000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thi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́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sinh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nộp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hô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̀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sơ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xét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tuyển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.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Nhưng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do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quy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định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của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bô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̣ GD&amp;ĐT, Khoa chỉ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tuyển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được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500 SV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theo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điểm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xét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tuyển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tư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̀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cao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xuống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 </a:t>
            </a:r>
            <a:r>
              <a:rPr lang="en-US" altLang="en-US" sz="3200" kern="500" dirty="0" err="1">
                <a:solidFill>
                  <a:schemeClr val="accent5">
                    <a:lumMod val="50000"/>
                  </a:schemeClr>
                </a:solidFill>
                <a:latin typeface="ArialMT"/>
              </a:rPr>
              <a:t>thấp</a:t>
            </a:r>
            <a:r>
              <a:rPr lang="en-US" altLang="en-US" sz="3200" kern="500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.</a:t>
            </a:r>
            <a:endParaRPr lang="en-US" altLang="en-US" sz="2400" kern="500" dirty="0">
              <a:solidFill>
                <a:schemeClr val="accent5">
                  <a:lumMod val="50000"/>
                </a:schemeClr>
              </a:solidFill>
              <a:latin typeface="Arial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DFD1-A7C3-CBB7-099C-585FC77F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812E1-5B3B-30CA-F6BC-5A68DDAE0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112838"/>
            <a:ext cx="10297886" cy="4830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Thuật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toán</a:t>
            </a:r>
            <a:r>
              <a:rPr lang="en-US" b="1" i="1" dirty="0">
                <a:solidFill>
                  <a:srgbClr val="FF0000"/>
                </a:solidFill>
              </a:rPr>
              <a:t> 1: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(1) </a:t>
            </a:r>
            <a:r>
              <a:rPr lang="en-US" dirty="0" err="1"/>
              <a:t>Đọc</a:t>
            </a:r>
            <a:r>
              <a:rPr lang="en-US" dirty="0"/>
              <a:t> N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(2)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(3)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ở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k</a:t>
            </a:r>
          </a:p>
          <a:p>
            <a:pPr>
              <a:defRPr/>
            </a:pP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vi-VN" b="1" i="1" dirty="0">
                <a:solidFill>
                  <a:srgbClr val="FF0000"/>
                </a:solidFill>
              </a:rPr>
              <a:t>Thuật toán 2: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(1) </a:t>
            </a:r>
            <a:r>
              <a:rPr lang="en-US" dirty="0" err="1"/>
              <a:t>Đọc</a:t>
            </a:r>
            <a:r>
              <a:rPr lang="en-US" dirty="0"/>
              <a:t> N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(2) </a:t>
            </a:r>
            <a:r>
              <a:rPr lang="en-US" dirty="0" err="1"/>
              <a:t>Sư</a:t>
            </a:r>
            <a:r>
              <a:rPr lang="en-US" dirty="0"/>
              <a:t>̉ </a:t>
            </a:r>
            <a:r>
              <a:rPr lang="en-US" dirty="0" err="1"/>
              <a:t>dụng</a:t>
            </a:r>
            <a:r>
              <a:rPr lang="en-US" dirty="0"/>
              <a:t> Bubble Sort </a:t>
            </a:r>
            <a:r>
              <a:rPr lang="en-US" dirty="0" err="1"/>
              <a:t>đê</a:t>
            </a:r>
            <a:r>
              <a:rPr lang="en-US" dirty="0"/>
              <a:t>̉ </a:t>
            </a:r>
            <a:r>
              <a:rPr lang="en-US" dirty="0" err="1"/>
              <a:t>sắp</a:t>
            </a:r>
            <a:r>
              <a:rPr lang="en-US" dirty="0"/>
              <a:t> </a:t>
            </a:r>
            <a:r>
              <a:rPr lang="en-US" dirty="0" err="1"/>
              <a:t>xếp</a:t>
            </a:r>
            <a:r>
              <a:rPr lang="en-US" dirty="0"/>
              <a:t> </a:t>
            </a:r>
            <a:r>
              <a:rPr lang="en-US" dirty="0" err="1"/>
              <a:t>mảng</a:t>
            </a:r>
            <a:r>
              <a:rPr lang="en-US" dirty="0"/>
              <a:t> </a:t>
            </a:r>
            <a:r>
              <a:rPr lang="en-US" dirty="0" err="1"/>
              <a:t>giảm</a:t>
            </a:r>
            <a:r>
              <a:rPr lang="en-US" dirty="0"/>
              <a:t> </a:t>
            </a:r>
            <a:r>
              <a:rPr lang="en-US" dirty="0" err="1"/>
              <a:t>dần</a:t>
            </a:r>
            <a:r>
              <a:rPr lang="en-US" dirty="0"/>
              <a:t> </a:t>
            </a:r>
            <a:r>
              <a:rPr lang="en-US" dirty="0" err="1"/>
              <a:t>đến</a:t>
            </a:r>
            <a:r>
              <a:rPr lang="en-US" dirty="0"/>
              <a:t> </a:t>
            </a:r>
            <a:r>
              <a:rPr lang="en-US" dirty="0" err="1"/>
              <a:t>phần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̉ </a:t>
            </a:r>
            <a:r>
              <a:rPr lang="en-US" dirty="0" err="1"/>
              <a:t>thư</a:t>
            </a:r>
            <a:r>
              <a:rPr lang="en-US" dirty="0"/>
              <a:t>́ k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(3)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ở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k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48413-F91E-E0F7-46C0-CD6585F7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0B19-73CB-F6F1-0F10-E15385F5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FEA7-ED59-8DA8-8811-4637015AD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vi-VN" b="1" i="1" dirty="0">
                <a:solidFill>
                  <a:srgbClr val="FF0000"/>
                </a:solidFill>
              </a:rPr>
              <a:t>Thuật toán </a:t>
            </a:r>
            <a:r>
              <a:rPr lang="en-US" b="1" i="1" dirty="0">
                <a:solidFill>
                  <a:srgbClr val="FF0000"/>
                </a:solidFill>
              </a:rPr>
              <a:t>3</a:t>
            </a:r>
            <a:r>
              <a:rPr lang="vi-VN" b="1" i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</a:t>
            </a:r>
            <a:r>
              <a:rPr lang="vi-VN" dirty="0"/>
              <a:t>(1) Đọc k phần tử đầu tiên vào mảng và sắp xếp</a:t>
            </a:r>
            <a:r>
              <a:rPr lang="en-US" dirty="0"/>
              <a:t> </a:t>
            </a:r>
            <a:r>
              <a:rPr lang="vi-VN" dirty="0"/>
              <a:t>chúng theo thứ tự giảm dần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</a:t>
            </a:r>
            <a:r>
              <a:rPr lang="vi-VN" dirty="0"/>
              <a:t>(2) Mỗi phần tử còn lại chỉ đọc một lần</a:t>
            </a:r>
          </a:p>
          <a:p>
            <a:pPr lvl="3">
              <a:spcBef>
                <a:spcPts val="0"/>
              </a:spcBef>
              <a:defRPr/>
            </a:pPr>
            <a:r>
              <a:rPr lang="vi-VN" sz="2800" dirty="0"/>
              <a:t>Nếu phần tử đó là nhỏ hơn phần tử thứ k, bỏ qua</a:t>
            </a:r>
            <a:endParaRPr lang="en-US" sz="2800" dirty="0"/>
          </a:p>
          <a:p>
            <a:pPr lvl="3">
              <a:spcBef>
                <a:spcPts val="0"/>
              </a:spcBef>
              <a:defRPr/>
            </a:pPr>
            <a:r>
              <a:rPr lang="vi-VN" sz="2800" dirty="0"/>
              <a:t>Ngược lại, đặt nó vào vị trí phù hợp của mảng, đẩy</a:t>
            </a:r>
            <a:r>
              <a:rPr lang="en-US" sz="2800" dirty="0"/>
              <a:t> </a:t>
            </a:r>
            <a:r>
              <a:rPr lang="vi-VN" sz="2800" dirty="0"/>
              <a:t>phần tử hiện tại ra khỏi mảng.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dirty="0"/>
              <a:t>	</a:t>
            </a:r>
            <a:r>
              <a:rPr lang="vi-VN" dirty="0"/>
              <a:t>(3) Phần tử tại vị trí thứ k là phần tử cần tìm.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A03BE-2534-4CAA-C8D3-508C9B92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43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7BD9-7FCB-DE75-0799-161B0AF0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6642" y="520700"/>
            <a:ext cx="6395357" cy="8524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vi-VN" dirty="0"/>
              <a:t>Các nhân tố ảnh hưởng đến thời gian tính</a:t>
            </a:r>
            <a:endParaRPr lang="en-US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B657372-0C4C-E458-B3ED-C935F93D3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 </a:t>
            </a:r>
            <a:r>
              <a:rPr lang="vi-VN" altLang="en-US" dirty="0"/>
              <a:t>Máy tính</a:t>
            </a:r>
          </a:p>
          <a:p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biên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endParaRPr lang="vi-VN" altLang="en-US" dirty="0"/>
          </a:p>
          <a:p>
            <a:r>
              <a:rPr lang="en-US" altLang="en-US" dirty="0"/>
              <a:t> </a:t>
            </a:r>
            <a:r>
              <a:rPr lang="vi-VN" altLang="en-US" dirty="0"/>
              <a:t>Thuật toán được sử dụng</a:t>
            </a:r>
          </a:p>
          <a:p>
            <a:r>
              <a:rPr lang="en-US" altLang="en-US" dirty="0"/>
              <a:t> </a:t>
            </a:r>
            <a:r>
              <a:rPr lang="vi-VN" altLang="en-US" dirty="0"/>
              <a:t>Dữ liệu đầu vào của thuật toán</a:t>
            </a:r>
          </a:p>
          <a:p>
            <a:pPr lvl="1"/>
            <a:r>
              <a:rPr lang="vi-VN" altLang="en-US" sz="3000" dirty="0"/>
              <a:t>Giá trị của dữ liệu ảnh hưởng đến thời gian tính</a:t>
            </a:r>
          </a:p>
          <a:p>
            <a:pPr lvl="1"/>
            <a:r>
              <a:rPr lang="vi-VN" altLang="en-US" sz="3000" dirty="0"/>
              <a:t>Thông thường, kích thước của dữ liệu đầu vào là</a:t>
            </a:r>
            <a:r>
              <a:rPr lang="en-US" altLang="en-US" sz="3000" dirty="0"/>
              <a:t> </a:t>
            </a:r>
            <a:r>
              <a:rPr lang="vi-VN" altLang="en-US" sz="3000" dirty="0"/>
              <a:t>nhân tố chính quyết định thời gian tính</a:t>
            </a:r>
          </a:p>
          <a:p>
            <a:pPr lvl="2"/>
            <a:r>
              <a:rPr lang="vi-VN" altLang="en-US" sz="2800" dirty="0"/>
              <a:t>VD với bài toán sắp xếp ⇒ số phần tử sắp xếp</a:t>
            </a:r>
          </a:p>
          <a:p>
            <a:pPr lvl="2"/>
            <a:r>
              <a:rPr lang="vi-VN" altLang="en-US" sz="2800" dirty="0"/>
              <a:t>VD bài toán nhân ma trận ⇒ tổng số phần tử của 2 ma</a:t>
            </a:r>
            <a:r>
              <a:rPr lang="en-US" altLang="en-US" sz="2800" dirty="0"/>
              <a:t> </a:t>
            </a:r>
            <a:r>
              <a:rPr lang="vi-VN" altLang="en-US" sz="2800" dirty="0"/>
              <a:t>trận</a:t>
            </a:r>
            <a:endParaRPr lang="en-US" alt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D4D47-D275-683A-F08A-475AF93D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9A5C-71BE-80A3-59BC-0D64FB40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>
                <a:effectLst/>
              </a:rPr>
              <a:t>Độ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phức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tạp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về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B2558-982B-E50E-56D0-7BFF37E4A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1" y="1143000"/>
            <a:ext cx="10074728" cy="57149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Thuật toán </a:t>
            </a:r>
            <a:r>
              <a:rPr lang="vi-VN" sz="3600" b="1" i="1" dirty="0">
                <a:solidFill>
                  <a:srgbClr val="FF0000"/>
                </a:solidFill>
                <a:latin typeface="Cambria" panose="02040503050406030204" pitchFamily="18" charset="0"/>
              </a:rPr>
              <a:t>A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mất </a:t>
            </a:r>
            <a:r>
              <a:rPr lang="vi-VN" sz="3600" i="1" u="sng" dirty="0">
                <a:solidFill>
                  <a:srgbClr val="000000"/>
                </a:solidFill>
                <a:latin typeface="Cambria" panose="02040503050406030204" pitchFamily="18" charset="0"/>
              </a:rPr>
              <a:t>2 phút</a:t>
            </a:r>
            <a:r>
              <a:rPr lang="vi-VN" sz="3600" b="1" i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để chạy với dữ liệu đầu vào </a:t>
            </a:r>
            <a:r>
              <a:rPr lang="vi-VN" sz="4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X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en-US" sz="36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36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Thuật toán </a:t>
            </a:r>
            <a:r>
              <a:rPr lang="vi-VN" sz="3600" b="1" i="1" dirty="0">
                <a:solidFill>
                  <a:srgbClr val="0000CC"/>
                </a:solidFill>
                <a:latin typeface="Cambria" panose="02040503050406030204" pitchFamily="18" charset="0"/>
              </a:rPr>
              <a:t>B</a:t>
            </a:r>
            <a:r>
              <a:rPr lang="vi-VN" sz="3600" i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mất </a:t>
            </a:r>
            <a:r>
              <a:rPr lang="vi-VN" sz="3600" i="1" u="sng" dirty="0">
                <a:solidFill>
                  <a:srgbClr val="000000"/>
                </a:solidFill>
                <a:latin typeface="Cambria" panose="02040503050406030204" pitchFamily="18" charset="0"/>
              </a:rPr>
              <a:t>1 phút 45 giây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để chạy với cùng dữ liệu </a:t>
            </a:r>
            <a:r>
              <a:rPr lang="vi-VN" sz="4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X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en-US" sz="36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36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Liệu </a:t>
            </a:r>
            <a:r>
              <a:rPr lang="vi-VN" sz="3600" b="1" i="1" dirty="0">
                <a:solidFill>
                  <a:srgbClr val="0000CC"/>
                </a:solidFill>
                <a:latin typeface="Cambria" panose="02040503050406030204" pitchFamily="18" charset="0"/>
              </a:rPr>
              <a:t>B</a:t>
            </a:r>
            <a:r>
              <a:rPr lang="vi-VN" sz="3600" i="1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có phải là thuật toán “tốt hơn” </a:t>
            </a:r>
            <a:r>
              <a:rPr lang="vi-VN" sz="3600" b="1" i="1" dirty="0">
                <a:solidFill>
                  <a:srgbClr val="FF0000"/>
                </a:solidFill>
                <a:latin typeface="Cambria" panose="02040503050406030204" pitchFamily="18" charset="0"/>
              </a:rPr>
              <a:t>A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? </a:t>
            </a:r>
            <a:endParaRPr lang="en-US" sz="36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0" indent="0">
              <a:buNone/>
              <a:defRPr/>
            </a:pPr>
            <a:endParaRPr lang="en-US" sz="36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r>
              <a:rPr lang="en-US" sz="4800" dirty="0">
                <a:solidFill>
                  <a:srgbClr val="0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 </a:t>
            </a:r>
            <a:r>
              <a:rPr lang="vi-VN" sz="4800" b="1" i="1" dirty="0">
                <a:solidFill>
                  <a:srgbClr val="0000CC"/>
                </a:solidFill>
              </a:rPr>
              <a:t>Không hẳn là như vậy</a:t>
            </a:r>
            <a:endParaRPr lang="en-US" sz="3600" b="1" i="1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A6C55-741D-1EC4-8A8B-8379AB84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9A5C-71BE-80A3-59BC-0D64FB40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>
                <a:effectLst/>
              </a:rPr>
              <a:t>Độ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phức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tạp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về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thời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B2558-982B-E50E-56D0-7BFF37E4A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11527971" cy="571499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FF00FF"/>
                </a:solidFill>
                <a:latin typeface="Cambria" panose="02040503050406030204" pitchFamily="18" charset="0"/>
              </a:rPr>
              <a:t> </a:t>
            </a:r>
            <a:r>
              <a:rPr lang="vi-VN" sz="3600" dirty="0">
                <a:solidFill>
                  <a:srgbClr val="000000"/>
                </a:solidFill>
                <a:latin typeface="Cambria" panose="02040503050406030204" pitchFamily="18" charset="0"/>
              </a:rPr>
              <a:t>Chỉ kiểm tra với một bộ dữ liệu X.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defRPr/>
            </a:pP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Có thể với dữ liệu X này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B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chạy nhanh hơn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A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nhưng với phần lớn các dữ liệu</a:t>
            </a:r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khác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B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chạy chậm hơn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A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en-US" sz="3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defRPr/>
            </a:pP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Thuật toán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bị ngắt bởi các tiến trình khác.</a:t>
            </a:r>
            <a:endParaRPr lang="en-US" sz="3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defRPr/>
            </a:pP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Thuật toán </a:t>
            </a:r>
            <a:r>
              <a:rPr lang="vi-VN" sz="3200" i="1" dirty="0">
                <a:solidFill>
                  <a:srgbClr val="000000"/>
                </a:solidFill>
                <a:latin typeface="Cambria" panose="02040503050406030204" pitchFamily="18" charset="0"/>
              </a:rPr>
              <a:t>B </a:t>
            </a: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được chạy trên máy tính có cấu hình cao hơn.</a:t>
            </a:r>
            <a:endParaRPr lang="en-US" sz="3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defRPr/>
            </a:pPr>
            <a:r>
              <a:rPr lang="vi-VN" sz="3200" dirty="0">
                <a:solidFill>
                  <a:srgbClr val="000000"/>
                </a:solidFill>
                <a:latin typeface="Cambria" panose="02040503050406030204" pitchFamily="18" charset="0"/>
              </a:rPr>
              <a:t>…</a:t>
            </a:r>
            <a:endParaRPr lang="en-US" sz="3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3600" b="1" i="1" dirty="0">
                <a:solidFill>
                  <a:srgbClr val="0000CC"/>
                </a:solidFill>
              </a:rPr>
              <a:t> </a:t>
            </a:r>
            <a:r>
              <a:rPr lang="en-US" sz="3600" dirty="0" err="1">
                <a:solidFill>
                  <a:srgbClr val="0000CC"/>
                </a:solidFill>
              </a:rPr>
              <a:t>Cần</a:t>
            </a:r>
            <a:r>
              <a:rPr lang="en-US" sz="3600" dirty="0">
                <a:solidFill>
                  <a:srgbClr val="0000CC"/>
                </a:solidFill>
              </a:rPr>
              <a:t> </a:t>
            </a:r>
            <a:r>
              <a:rPr lang="vi-VN" sz="3600" b="1" dirty="0">
                <a:solidFill>
                  <a:srgbClr val="0000CC"/>
                </a:solidFill>
              </a:rPr>
              <a:t>Phép đo</a:t>
            </a:r>
            <a:r>
              <a:rPr lang="vi-VN" sz="3600" dirty="0">
                <a:solidFill>
                  <a:srgbClr val="0000CC"/>
                </a:solidFill>
              </a:rPr>
              <a:t> không phụ thuộc vào máy.</a:t>
            </a:r>
            <a:endParaRPr lang="en-US" sz="3600" dirty="0">
              <a:solidFill>
                <a:srgbClr val="0000CC"/>
              </a:solidFill>
            </a:endParaRPr>
          </a:p>
          <a:p>
            <a:pPr marL="457200" lvl="1" indent="0">
              <a:buNone/>
              <a:defRPr/>
            </a:pPr>
            <a:r>
              <a:rPr lang="en-US" sz="3200" dirty="0">
                <a:solidFill>
                  <a:srgbClr val="000000"/>
                </a:solidFill>
                <a:sym typeface="Wingdings" panose="05000000000000000000" pitchFamily="2" charset="2"/>
              </a:rPr>
              <a:t> </a:t>
            </a:r>
            <a:r>
              <a:rPr lang="vi-VN" sz="3200" dirty="0">
                <a:solidFill>
                  <a:srgbClr val="000000"/>
                </a:solidFill>
              </a:rPr>
              <a:t>Đo bằng cách </a:t>
            </a:r>
            <a:r>
              <a:rPr lang="vi-VN" sz="3200" b="1" dirty="0">
                <a:solidFill>
                  <a:srgbClr val="FF0000"/>
                </a:solidFill>
              </a:rPr>
              <a:t>đếm số các phép tính cơ sở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vi-VN" sz="3200" dirty="0">
                <a:solidFill>
                  <a:srgbClr val="000000"/>
                </a:solidFill>
              </a:rPr>
              <a:t>(phép gán, so sánh, các phép tính số học, </a:t>
            </a:r>
            <a:r>
              <a:rPr lang="en-US" sz="3200" dirty="0">
                <a:solidFill>
                  <a:srgbClr val="000000"/>
                </a:solidFill>
              </a:rPr>
              <a:t>..</a:t>
            </a:r>
            <a:r>
              <a:rPr lang="vi-VN" sz="3200" dirty="0">
                <a:solidFill>
                  <a:srgbClr val="000000"/>
                </a:solidFill>
              </a:rPr>
              <a:t>.)</a:t>
            </a:r>
            <a:endParaRPr lang="en-US" sz="3200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br>
              <a:rPr lang="vi-VN" dirty="0">
                <a:solidFill>
                  <a:srgbClr val="000000"/>
                </a:solidFill>
                <a:latin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A6C55-741D-1EC4-8A8B-8379AB84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04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3E72-318B-3558-E437-9A1E6BA5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đếm</a:t>
            </a:r>
            <a:endParaRPr lang="en-US" dirty="0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D53FBB89-1E34-E37A-D481-3E1733C82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đếm</a:t>
            </a:r>
            <a:r>
              <a:rPr lang="en-US" altLang="en-US" dirty="0"/>
              <a:t>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phức</a:t>
            </a:r>
            <a:r>
              <a:rPr lang="en-US" altLang="en-US" dirty="0"/>
              <a:t> </a:t>
            </a:r>
            <a:r>
              <a:rPr lang="en-US" altLang="en-US" dirty="0" err="1"/>
              <a:t>tạp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:</a:t>
            </a:r>
          </a:p>
          <a:p>
            <a:pPr lvl="1" eaLnBrk="1" hangingPunct="1"/>
            <a:r>
              <a:rPr lang="en-US" altLang="en-US" dirty="0" err="1"/>
              <a:t>Liệt</a:t>
            </a:r>
            <a:r>
              <a:rPr lang="en-US" altLang="en-US" dirty="0"/>
              <a:t> </a:t>
            </a:r>
            <a:r>
              <a:rPr lang="en-US" altLang="en-US" dirty="0" err="1"/>
              <a:t>kê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sử</a:t>
            </a:r>
            <a:r>
              <a:rPr lang="en-US" altLang="en-US" dirty="0"/>
              <a:t> </a:t>
            </a:r>
            <a:r>
              <a:rPr lang="en-US" altLang="en-US" dirty="0" err="1"/>
              <a:t>dụng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endParaRPr lang="en-US" altLang="en-US" dirty="0"/>
          </a:p>
          <a:p>
            <a:pPr lvl="1" eaLnBrk="1" hangingPunct="1"/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phép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r>
              <a:rPr lang="en-US" altLang="en-US" dirty="0"/>
              <a:t>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toàn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endParaRPr lang="en-US" altLang="en-US" dirty="0"/>
          </a:p>
          <a:p>
            <a:pPr eaLnBrk="1" hangingPunct="1"/>
            <a:r>
              <a:rPr lang="en-US" altLang="en-US" dirty="0"/>
              <a:t> </a:t>
            </a:r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r>
              <a:rPr lang="en-US" altLang="en-US" dirty="0"/>
              <a:t>: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dirty="0" err="1"/>
              <a:t>xếp</a:t>
            </a:r>
            <a:r>
              <a:rPr lang="en-US" altLang="en-US" dirty="0"/>
              <a:t>, </a:t>
            </a:r>
            <a:r>
              <a:rPr lang="en-US" altLang="en-US" dirty="0" err="1"/>
              <a:t>tìm</a:t>
            </a:r>
            <a:r>
              <a:rPr lang="en-US" altLang="en-US" dirty="0"/>
              <a:t> </a:t>
            </a:r>
            <a:r>
              <a:rPr lang="en-US" altLang="en-US" dirty="0" err="1"/>
              <a:t>kiếm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ym typeface="Wingdings" panose="05000000000000000000" pitchFamily="2" charset="2"/>
              </a:rPr>
              <a:t>Phép</a:t>
            </a:r>
            <a:r>
              <a:rPr lang="en-US" altLang="en-US" dirty="0">
                <a:sym typeface="Wingdings" panose="05000000000000000000" pitchFamily="2" charset="2"/>
              </a:rPr>
              <a:t> so </a:t>
            </a:r>
            <a:r>
              <a:rPr lang="en-US" altLang="en-US" dirty="0" err="1">
                <a:sym typeface="Wingdings" panose="05000000000000000000" pitchFamily="2" charset="2"/>
              </a:rPr>
              <a:t>sánh</a:t>
            </a:r>
            <a:r>
              <a:rPr lang="en-US" altLang="en-US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1DF75-DC80-74FC-C223-21A0BDF0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7D76-08E5-4C15-3D31-D0E6A7DC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đếm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3F2F-7241-6CCE-7746-A53384C0A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828800"/>
            <a:ext cx="8229600" cy="4572000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A02B93">
                  <a:lumMod val="75000"/>
                </a:srgbClr>
              </a:buClr>
              <a:buSzPct val="150000"/>
              <a:buFont typeface="Wingdings 2" panose="05020102010507070707" pitchFamily="18" charset="2"/>
              <a:buChar char="a"/>
              <a:tabLst/>
              <a:defRPr/>
            </a:pP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2 </a:t>
            </a: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loại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phép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đếm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</a:p>
          <a:p>
            <a:pPr lvl="1">
              <a:buClr>
                <a:srgbClr val="A02B93">
                  <a:lumMod val="75000"/>
                </a:srgbClr>
              </a:buClr>
              <a:buSzPct val="15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 </a:t>
            </a:r>
            <a:r>
              <a:rPr kumimoji="0" lang="en-US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sánh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1A4A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buClr>
                <a:srgbClr val="A02B93">
                  <a:lumMod val="75000"/>
                </a:srgbClr>
              </a:buClr>
              <a:buSzPct val="15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1A4A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</a:t>
            </a:r>
            <a:r>
              <a:rPr lang="en-US" sz="3600" dirty="0" err="1"/>
              <a:t>hép</a:t>
            </a:r>
            <a:r>
              <a:rPr lang="en-US" sz="3600" dirty="0"/>
              <a:t> </a:t>
            </a:r>
            <a:r>
              <a:rPr lang="en-US" sz="3600" dirty="0" err="1"/>
              <a:t>toán</a:t>
            </a:r>
            <a:r>
              <a:rPr lang="en-US" sz="3600" dirty="0"/>
              <a:t> </a:t>
            </a:r>
            <a:r>
              <a:rPr lang="en-US" sz="3600" dirty="0" err="1"/>
              <a:t>số</a:t>
            </a:r>
            <a:r>
              <a:rPr lang="en-US" sz="3600" dirty="0"/>
              <a:t> </a:t>
            </a:r>
            <a:r>
              <a:rPr lang="en-US" sz="3600" dirty="0" err="1"/>
              <a:t>học</a:t>
            </a:r>
            <a:r>
              <a:rPr lang="en-US" sz="3600" dirty="0"/>
              <a:t>:</a:t>
            </a:r>
          </a:p>
          <a:p>
            <a:pPr lvl="2">
              <a:buClr>
                <a:srgbClr val="A02B93">
                  <a:lumMod val="75000"/>
                </a:srgbClr>
              </a:buClr>
              <a:buSzPct val="150000"/>
              <a:buFont typeface="Wingdings" panose="05000000000000000000" pitchFamily="2" charset="2"/>
              <a:buChar char="v"/>
              <a:defRPr/>
            </a:pPr>
            <a:r>
              <a:rPr lang="en-US" sz="3200" dirty="0"/>
              <a:t> </a:t>
            </a:r>
            <a:r>
              <a:rPr lang="en-US" sz="3200" dirty="0" err="1"/>
              <a:t>Cộng</a:t>
            </a:r>
            <a:r>
              <a:rPr lang="en-US" sz="3200" dirty="0"/>
              <a:t>: </a:t>
            </a:r>
            <a:r>
              <a:rPr lang="en-US" sz="3200" dirty="0" err="1"/>
              <a:t>Tăng</a:t>
            </a:r>
            <a:r>
              <a:rPr lang="en-US" sz="3200" dirty="0"/>
              <a:t>, </a:t>
            </a:r>
            <a:r>
              <a:rPr lang="en-US" sz="3200" dirty="0" err="1"/>
              <a:t>giảm</a:t>
            </a:r>
            <a:endParaRPr lang="en-US" sz="3200" dirty="0"/>
          </a:p>
          <a:p>
            <a:pPr lvl="2">
              <a:buClr>
                <a:srgbClr val="A02B93">
                  <a:lumMod val="75000"/>
                </a:srgbClr>
              </a:buClr>
              <a:buSzPct val="150000"/>
              <a:buFont typeface="Wingdings" panose="05000000000000000000" pitchFamily="2" charset="2"/>
              <a:buChar char="v"/>
              <a:defRPr/>
            </a:pPr>
            <a:r>
              <a:rPr lang="en-US" sz="3200" dirty="0"/>
              <a:t> </a:t>
            </a:r>
            <a:r>
              <a:rPr lang="en-US" sz="3200" dirty="0" err="1"/>
              <a:t>Nhân</a:t>
            </a:r>
            <a:r>
              <a:rPr lang="en-US" sz="3200" dirty="0"/>
              <a:t>: </a:t>
            </a:r>
            <a:r>
              <a:rPr lang="en-US" sz="3200" dirty="0" err="1"/>
              <a:t>Nhân</a:t>
            </a:r>
            <a:r>
              <a:rPr lang="en-US" sz="3200" dirty="0"/>
              <a:t>, chia, mod</a:t>
            </a:r>
          </a:p>
          <a:p>
            <a:pPr lvl="2">
              <a:buClr>
                <a:srgbClr val="A02B93">
                  <a:lumMod val="75000"/>
                </a:srgbClr>
              </a:buClr>
              <a:buSzPct val="150000"/>
              <a:buFont typeface="Wingdings" panose="05000000000000000000" pitchFamily="2" charset="2"/>
              <a:buChar char="v"/>
              <a:defRPr/>
            </a:pPr>
            <a:r>
              <a:rPr lang="en-US" sz="3200" dirty="0"/>
              <a:t> </a:t>
            </a:r>
            <a:r>
              <a:rPr lang="en-US" sz="3200" dirty="0" err="1"/>
              <a:t>Gán</a:t>
            </a:r>
            <a:endParaRPr lang="en-US" sz="3200" dirty="0"/>
          </a:p>
          <a:p>
            <a:pPr marL="514350" indent="-514350">
              <a:buNone/>
              <a:defRPr/>
            </a:pP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176BB-1FD4-D1B0-12EB-635BAC260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7BC3-8C77-4814-0E5E-E130937F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43" y="234828"/>
            <a:ext cx="6358157" cy="721776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/>
                <a:latin typeface="ArialMT"/>
              </a:rPr>
              <a:t>Ví dụ</a:t>
            </a:r>
            <a:endParaRPr lang="en-US" dirty="0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4A1A5C6E-8262-8F03-1AE1-0C92DBA9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842" y="1792032"/>
            <a:ext cx="8382000" cy="3872821"/>
          </a:xfrm>
        </p:spPr>
        <p:txBody>
          <a:bodyPr>
            <a:normAutofit fontScale="92500"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altLang="en-US" sz="3600" dirty="0">
                <a:solidFill>
                  <a:srgbClr val="000000"/>
                </a:solidFill>
                <a:latin typeface="ArialMT"/>
              </a:rPr>
              <a:t> </a:t>
            </a:r>
            <a:r>
              <a:rPr lang="vi-VN" altLang="en-US" sz="3600" dirty="0">
                <a:solidFill>
                  <a:srgbClr val="000000"/>
                </a:solidFill>
                <a:latin typeface="ArialMT"/>
              </a:rPr>
              <a:t>Thuật toán </a:t>
            </a:r>
            <a:r>
              <a:rPr lang="en-US" altLang="en-US" sz="3600" dirty="0" err="1">
                <a:solidFill>
                  <a:srgbClr val="000000"/>
                </a:solidFill>
                <a:latin typeface="ArialMT"/>
              </a:rPr>
              <a:t>sau</a:t>
            </a:r>
            <a:r>
              <a:rPr lang="vi-VN" altLang="en-US" sz="3600" dirty="0">
                <a:solidFill>
                  <a:srgbClr val="000000"/>
                </a:solidFill>
                <a:latin typeface="ArialMT"/>
              </a:rPr>
              <a:t> cần </a:t>
            </a:r>
            <a:r>
              <a:rPr lang="vi-VN" altLang="en-US" sz="3600" b="1" dirty="0">
                <a:solidFill>
                  <a:srgbClr val="FF0000"/>
                </a:solidFill>
                <a:latin typeface="ArialMT"/>
              </a:rPr>
              <a:t>4</a:t>
            </a:r>
            <a:r>
              <a:rPr lang="vi-VN" altLang="en-US" sz="3600" b="1" i="1" dirty="0">
                <a:solidFill>
                  <a:srgbClr val="FF0000"/>
                </a:solidFill>
                <a:latin typeface="Arial-ItalicMT"/>
              </a:rPr>
              <a:t>n </a:t>
            </a:r>
            <a:r>
              <a:rPr lang="vi-VN" altLang="en-US" sz="3600" b="1" dirty="0">
                <a:solidFill>
                  <a:srgbClr val="FF0000"/>
                </a:solidFill>
                <a:latin typeface="ArialMT"/>
              </a:rPr>
              <a:t>+ </a:t>
            </a:r>
            <a:r>
              <a:rPr lang="en-US" altLang="en-US" sz="3600" b="1" dirty="0">
                <a:solidFill>
                  <a:srgbClr val="FF0000"/>
                </a:solidFill>
                <a:latin typeface="ArialMT"/>
              </a:rPr>
              <a:t>2</a:t>
            </a:r>
            <a:r>
              <a:rPr lang="vi-VN" altLang="en-US" sz="3600" b="1" dirty="0">
                <a:solidFill>
                  <a:srgbClr val="FF0000"/>
                </a:solidFill>
                <a:latin typeface="ArialMT"/>
              </a:rPr>
              <a:t> </a:t>
            </a:r>
            <a:r>
              <a:rPr lang="vi-VN" altLang="en-US" sz="3600" dirty="0">
                <a:solidFill>
                  <a:srgbClr val="000000"/>
                </a:solidFill>
                <a:latin typeface="ArialMT"/>
              </a:rPr>
              <a:t>phép tính.</a:t>
            </a:r>
            <a:br>
              <a:rPr lang="vi-VN" altLang="en-US" sz="3200" dirty="0">
                <a:solidFill>
                  <a:srgbClr val="000000"/>
                </a:solidFill>
                <a:latin typeface="ArialMT"/>
              </a:rPr>
            </a:br>
            <a:r>
              <a:rPr lang="en-US" altLang="en-US" sz="3200" dirty="0">
                <a:solidFill>
                  <a:srgbClr val="00B050"/>
                </a:solidFill>
                <a:latin typeface="ArialMT"/>
              </a:rPr>
              <a:t>	</a:t>
            </a:r>
            <a:r>
              <a:rPr lang="vi-VN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int sum = 0;</a:t>
            </a:r>
            <a:br>
              <a:rPr lang="vi-VN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</a:b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	</a:t>
            </a:r>
            <a:r>
              <a:rPr lang="vi-VN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for (int i = 1; i &lt;= n; i++)</a:t>
            </a:r>
            <a:br>
              <a:rPr lang="vi-VN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</a:b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		</a:t>
            </a:r>
            <a:r>
              <a:rPr lang="vi-VN" altLang="en-US" dirty="0">
                <a:solidFill>
                  <a:schemeClr val="accent5">
                    <a:lumMod val="50000"/>
                  </a:schemeClr>
                </a:solidFill>
                <a:latin typeface="ArialMT"/>
              </a:rPr>
              <a:t>sum = sum + i;</a:t>
            </a:r>
            <a:br>
              <a:rPr lang="vi-VN" altLang="en-US" sz="3200" dirty="0">
                <a:solidFill>
                  <a:srgbClr val="00B050"/>
                </a:solidFill>
                <a:latin typeface="SymbolMT"/>
              </a:rPr>
            </a:br>
            <a:endParaRPr lang="en-US" altLang="en-US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67BC66-C1A9-F768-58B8-B8E8167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4581-AA13-D7D1-645C-3CFF7083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365" y="258943"/>
            <a:ext cx="6591300" cy="668519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vi-VN" dirty="0"/>
              <a:t>Các trường hợp của phép đếm</a:t>
            </a:r>
            <a:endParaRPr lang="en-US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4B6FC7B-9675-A663-EECA-582FA3FB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415" y="1394881"/>
            <a:ext cx="11204114" cy="520417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b="1" dirty="0" err="1"/>
              <a:t>Trường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tốt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“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”.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  <a:defRPr/>
            </a:pPr>
            <a:r>
              <a:rPr lang="en-US" b="1" dirty="0" err="1"/>
              <a:t>Trường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trung</a:t>
            </a:r>
            <a:r>
              <a:rPr lang="en-US" b="1" dirty="0"/>
              <a:t> </a:t>
            </a:r>
            <a:r>
              <a:rPr lang="en-US" b="1" dirty="0" err="1"/>
              <a:t>bình</a:t>
            </a:r>
            <a:r>
              <a:rPr lang="en-US" b="1" dirty="0"/>
              <a:t>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“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”.</a:t>
            </a:r>
            <a:endParaRPr lang="en-US" b="1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en-US" b="1" dirty="0" err="1"/>
              <a:t>Trường</a:t>
            </a:r>
            <a:r>
              <a:rPr lang="en-US" altLang="en-US" b="1" dirty="0"/>
              <a:t> </a:t>
            </a:r>
            <a:r>
              <a:rPr lang="en-US" altLang="en-US" b="1" dirty="0" err="1"/>
              <a:t>hợp</a:t>
            </a:r>
            <a:r>
              <a:rPr lang="en-US" altLang="en-US" b="1" dirty="0"/>
              <a:t> </a:t>
            </a:r>
            <a:r>
              <a:rPr lang="en-US" altLang="en-US" b="1" dirty="0" err="1"/>
              <a:t>xấu</a:t>
            </a:r>
            <a:r>
              <a:rPr lang="en-US" altLang="en-US" b="1" dirty="0"/>
              <a:t> </a:t>
            </a:r>
            <a:r>
              <a:rPr lang="en-US" altLang="en-US" b="1" dirty="0" err="1"/>
              <a:t>nhất</a:t>
            </a:r>
            <a:r>
              <a:rPr lang="en-US" altLang="en-US" b="1" dirty="0"/>
              <a:t>: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mà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giải</a:t>
            </a:r>
            <a:r>
              <a:rPr lang="en-US" altLang="en-US" dirty="0"/>
              <a:t> </a:t>
            </a:r>
            <a:r>
              <a:rPr lang="en-US" altLang="en-US" dirty="0" err="1"/>
              <a:t>thuật</a:t>
            </a:r>
            <a:r>
              <a:rPr lang="en-US" altLang="en-US" dirty="0"/>
              <a:t>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“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xấu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”.</a:t>
            </a:r>
            <a:endParaRPr lang="en-US" altLang="en-US" b="1" dirty="0"/>
          </a:p>
          <a:p>
            <a:pPr marL="914400" lvl="1" indent="-514350">
              <a:lnSpc>
                <a:spcPct val="110000"/>
              </a:lnSpc>
              <a:buNone/>
            </a:pPr>
            <a:r>
              <a:rPr lang="en-US" altLang="en-US" b="1" dirty="0" err="1"/>
              <a:t>Ví</a:t>
            </a:r>
            <a:r>
              <a:rPr lang="en-US" altLang="en-US" b="1" dirty="0"/>
              <a:t> </a:t>
            </a:r>
            <a:r>
              <a:rPr lang="en-US" altLang="en-US" b="1" dirty="0" err="1"/>
              <a:t>dụ</a:t>
            </a:r>
            <a:r>
              <a:rPr lang="en-US" altLang="en-US" b="1" dirty="0"/>
              <a:t>: </a:t>
            </a:r>
            <a:r>
              <a:rPr lang="en-US" altLang="en-US" dirty="0"/>
              <a:t>Cho 1 </a:t>
            </a:r>
            <a:r>
              <a:rPr lang="en-US" altLang="en-US" dirty="0" err="1"/>
              <a:t>dãy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N </a:t>
            </a:r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r>
              <a:rPr lang="en-US" altLang="en-US" dirty="0"/>
              <a:t>, </a:t>
            </a:r>
            <a:r>
              <a:rPr lang="en-US" altLang="en-US" dirty="0" err="1"/>
              <a:t>tìm</a:t>
            </a:r>
            <a:r>
              <a:rPr lang="en-US" altLang="en-US" dirty="0"/>
              <a:t> </a:t>
            </a:r>
            <a:r>
              <a:rPr lang="en-US" altLang="en-US" dirty="0" err="1"/>
              <a:t>kiếm</a:t>
            </a:r>
            <a:r>
              <a:rPr lang="en-US" altLang="en-US" dirty="0"/>
              <a:t> </a:t>
            </a:r>
            <a:r>
              <a:rPr lang="en-US" altLang="en-US" dirty="0" err="1"/>
              <a:t>phần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r>
              <a:rPr lang="en-US" altLang="en-US" dirty="0"/>
              <a:t> x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dãy</a:t>
            </a:r>
            <a:r>
              <a:rPr lang="en-US" altLang="en-US" dirty="0"/>
              <a:t>. </a:t>
            </a:r>
            <a:r>
              <a:rPr lang="en-US" altLang="en-US" dirty="0" err="1"/>
              <a:t>Chỉ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trường</a:t>
            </a:r>
            <a:r>
              <a:rPr lang="en-US" altLang="en-US" dirty="0"/>
              <a:t> </a:t>
            </a:r>
            <a:r>
              <a:rPr lang="en-US" altLang="en-US" dirty="0" err="1"/>
              <a:t>hợp</a:t>
            </a:r>
            <a:r>
              <a:rPr lang="en-US" altLang="en-US" dirty="0"/>
              <a:t> </a:t>
            </a:r>
            <a:r>
              <a:rPr lang="en-US" altLang="en-US" dirty="0" err="1"/>
              <a:t>tốt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, </a:t>
            </a:r>
            <a:r>
              <a:rPr lang="en-US" altLang="en-US" dirty="0" err="1"/>
              <a:t>xấu</a:t>
            </a:r>
            <a:r>
              <a:rPr lang="en-US" altLang="en-US" dirty="0"/>
              <a:t> </a:t>
            </a:r>
            <a:r>
              <a:rPr lang="en-US" altLang="en-US" dirty="0" err="1"/>
              <a:t>nhất</a:t>
            </a:r>
            <a:r>
              <a:rPr lang="en-US" altLang="en-US" dirty="0"/>
              <a:t>, </a:t>
            </a:r>
            <a:r>
              <a:rPr lang="en-US" altLang="en-US" dirty="0" err="1"/>
              <a:t>trung</a:t>
            </a:r>
            <a:r>
              <a:rPr lang="en-US" altLang="en-US" dirty="0"/>
              <a:t> </a:t>
            </a:r>
            <a:r>
              <a:rPr lang="en-US" altLang="en-US" dirty="0" err="1"/>
              <a:t>bình</a:t>
            </a:r>
            <a:r>
              <a:rPr lang="en-US" altLang="en-US" dirty="0"/>
              <a:t>?</a:t>
            </a:r>
            <a:endParaRPr lang="en-US" altLang="en-US" b="1" dirty="0"/>
          </a:p>
          <a:p>
            <a:pPr marL="514350" indent="-514350">
              <a:lnSpc>
                <a:spcPct val="110000"/>
              </a:lnSpc>
              <a:buNone/>
            </a:pP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3EF71D-93E6-4F9A-DD05-FEA879AD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892625-6557-E021-B182-CA147E2B2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8881" y="104676"/>
            <a:ext cx="7488237" cy="756410"/>
          </a:xfrm>
        </p:spPr>
        <p:txBody>
          <a:bodyPr vert="horz" lIns="0" tIns="200455" rIns="0" bIns="0" rtlCol="0" anchor="b">
            <a:spAutoFit/>
          </a:bodyPr>
          <a:lstStyle/>
          <a:p>
            <a:pPr marL="163652">
              <a:defRPr/>
            </a:pPr>
            <a:r>
              <a:rPr spc="-5" dirty="0"/>
              <a:t>Khái </a:t>
            </a:r>
            <a:r>
              <a:rPr dirty="0" err="1"/>
              <a:t>niệm</a:t>
            </a:r>
            <a:r>
              <a:rPr spc="-65" dirty="0"/>
              <a:t> </a:t>
            </a:r>
            <a:r>
              <a:rPr spc="-5" dirty="0"/>
              <a:t>O-</a:t>
            </a:r>
            <a:r>
              <a:rPr spc="-5" dirty="0" err="1"/>
              <a:t>lớn</a:t>
            </a:r>
            <a:endParaRPr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BA2C83-2B23-4674-44DC-B974A2769E7F}"/>
              </a:ext>
            </a:extLst>
          </p:cNvPr>
          <p:cNvSpPr txBox="1"/>
          <p:nvPr/>
        </p:nvSpPr>
        <p:spPr>
          <a:xfrm>
            <a:off x="649518" y="3428999"/>
            <a:ext cx="10856682" cy="1977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CCCCFF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•</a:t>
            </a: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f(n) = </a:t>
            </a:r>
            <a:r>
              <a:rPr lang="en-US" altLang="en-US" sz="3200" dirty="0">
                <a:solidFill>
                  <a:srgbClr val="FF3300"/>
                </a:solidFill>
                <a:latin typeface="SymbolMT"/>
                <a:cs typeface="Arial" panose="020B0604020202020204" pitchFamily="34" charset="0"/>
              </a:rPr>
              <a:t>O</a:t>
            </a: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(g(n))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725"/>
              </a:spcBef>
              <a:buNone/>
            </a:pPr>
            <a:r>
              <a:rPr lang="en-US" altLang="en-US" sz="2800" dirty="0">
                <a:solidFill>
                  <a:srgbClr val="CCCCFF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•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en-US" sz="2800" baseline="-2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800"/>
              </a:spcBef>
              <a:buNone/>
            </a:pP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f(n) </a:t>
            </a:r>
            <a:r>
              <a:rPr lang="en-US" altLang="en-US" sz="2800" dirty="0">
                <a:solidFill>
                  <a:srgbClr val="FF3300"/>
                </a:solidFill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</a:t>
            </a:r>
            <a:r>
              <a:rPr lang="en-US" altLang="en-US" sz="2800" dirty="0">
                <a:solidFill>
                  <a:srgbClr val="FF33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g(n) </a:t>
            </a:r>
            <a:r>
              <a:rPr lang="en-US" altLang="en-US" sz="2800" dirty="0" err="1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altLang="en-US" sz="2800" dirty="0">
                <a:solidFill>
                  <a:srgbClr val="FF3300"/>
                </a:solidFill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</a:t>
            </a:r>
            <a:r>
              <a:rPr lang="en-US" altLang="en-US" sz="2800" dirty="0">
                <a:solidFill>
                  <a:srgbClr val="FF33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800" baseline="-210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altLang="en-US" sz="2800" baseline="-2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52D5-7AE0-DC7A-B312-24DC437D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31748" name="Picture 3">
            <a:extLst>
              <a:ext uri="{FF2B5EF4-FFF2-40B4-BE49-F238E27FC236}">
                <a16:creationId xmlns:a16="http://schemas.microsoft.com/office/drawing/2014/main" id="{454FDDAD-8D55-068A-40DA-1F6FF5635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29" y="1137434"/>
            <a:ext cx="6395222" cy="270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45A04729-4193-EB0E-808B-547CC108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845129"/>
            <a:ext cx="11163300" cy="4833257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CCCCFF"/>
                </a:solidFill>
                <a:cs typeface="Microsoft Sans Serif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Tỉ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suất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f(n)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thì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lớn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hơn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hoặc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bằng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tỉ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suất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tăng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cs typeface="Arial" panose="020B0604020202020204" pitchFamily="34" charset="0"/>
              </a:rPr>
              <a:t>của</a:t>
            </a:r>
            <a:r>
              <a:rPr lang="en-US" altLang="en-US" sz="3200" dirty="0">
                <a:solidFill>
                  <a:schemeClr val="tx1"/>
                </a:solidFill>
                <a:cs typeface="Arial" panose="020B0604020202020204" pitchFamily="34" charset="0"/>
              </a:rPr>
              <a:t> g(n).</a:t>
            </a:r>
            <a:endParaRPr lang="en-US" altLang="en-US" sz="3200" dirty="0"/>
          </a:p>
          <a:p>
            <a:r>
              <a:rPr lang="en-US" altLang="en-US" sz="3200" dirty="0"/>
              <a:t> </a:t>
            </a:r>
            <a:r>
              <a:rPr lang="vi-VN" altLang="en-US" sz="3200" dirty="0"/>
              <a:t>O-lớn quan tâm đến tỉ suất tăng trưởng của thời gian tính khi </a:t>
            </a:r>
            <a:r>
              <a:rPr lang="vi-VN" altLang="en-US" sz="3200" b="1" i="1" dirty="0">
                <a:solidFill>
                  <a:srgbClr val="0000CC"/>
                </a:solidFill>
              </a:rPr>
              <a:t>n </a:t>
            </a:r>
            <a:r>
              <a:rPr lang="vi-VN" altLang="en-US" sz="3200" b="1" dirty="0">
                <a:solidFill>
                  <a:srgbClr val="0000CC"/>
                </a:solidFill>
              </a:rPr>
              <a:t>→ ∞</a:t>
            </a:r>
            <a:r>
              <a:rPr lang="vi-VN" altLang="en-US" sz="3200" dirty="0"/>
              <a:t>.</a:t>
            </a:r>
            <a:endParaRPr lang="en-US" altLang="en-US" sz="3200" dirty="0"/>
          </a:p>
          <a:p>
            <a:pPr lvl="1"/>
            <a:r>
              <a:rPr lang="vi-VN" altLang="en-US" sz="2800" dirty="0"/>
              <a:t>Nó không quan tâm khi dữ liệu đầu vào có kích thước nhỏ</a:t>
            </a:r>
            <a:r>
              <a:rPr lang="en-US" altLang="en-US" sz="2800" dirty="0"/>
              <a:t>.</a:t>
            </a:r>
          </a:p>
          <a:p>
            <a:r>
              <a:rPr lang="en-US" altLang="en-US" sz="3200" dirty="0"/>
              <a:t> </a:t>
            </a:r>
            <a:r>
              <a:rPr lang="en-US" altLang="en-US" sz="3200" dirty="0" err="1"/>
              <a:t>Hàm</a:t>
            </a:r>
            <a:r>
              <a:rPr lang="en-US" altLang="en-US" sz="3200" dirty="0"/>
              <a:t> </a:t>
            </a:r>
            <a:r>
              <a:rPr lang="en-US" altLang="en-US" sz="3200" i="1" dirty="0"/>
              <a:t>g</a:t>
            </a:r>
            <a:r>
              <a:rPr lang="en-US" altLang="en-US" sz="3200" dirty="0"/>
              <a:t>(</a:t>
            </a:r>
            <a:r>
              <a:rPr lang="en-US" altLang="en-US" sz="3200" i="1" dirty="0"/>
              <a:t>n</a:t>
            </a:r>
            <a:r>
              <a:rPr lang="en-US" altLang="en-US" sz="3200" dirty="0"/>
              <a:t>) </a:t>
            </a:r>
            <a:r>
              <a:rPr lang="en-US" altLang="en-US" sz="3200" dirty="0" err="1"/>
              <a:t>trong</a:t>
            </a:r>
            <a:r>
              <a:rPr lang="en-US" altLang="en-US" sz="3200" dirty="0"/>
              <a:t> </a:t>
            </a:r>
            <a:r>
              <a:rPr lang="en-US" altLang="en-US" sz="3200" i="1" dirty="0"/>
              <a:t>O</a:t>
            </a:r>
            <a:r>
              <a:rPr lang="en-US" altLang="en-US" sz="3200" dirty="0"/>
              <a:t>(</a:t>
            </a:r>
            <a:r>
              <a:rPr lang="en-US" altLang="en-US" sz="3200" i="1" dirty="0"/>
              <a:t>g</a:t>
            </a:r>
            <a:r>
              <a:rPr lang="en-US" altLang="en-US" sz="3200" dirty="0"/>
              <a:t>(</a:t>
            </a:r>
            <a:r>
              <a:rPr lang="en-US" altLang="en-US" sz="3200" i="1" dirty="0"/>
              <a:t>n</a:t>
            </a:r>
            <a:r>
              <a:rPr lang="en-US" altLang="en-US" sz="3200" dirty="0"/>
              <a:t>)) </a:t>
            </a:r>
            <a:r>
              <a:rPr lang="en-US" altLang="en-US" sz="3200" dirty="0" err="1"/>
              <a:t>là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hàm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để</a:t>
            </a:r>
            <a:r>
              <a:rPr lang="en-US" altLang="en-US" sz="3200" dirty="0"/>
              <a:t> so </a:t>
            </a:r>
            <a:r>
              <a:rPr lang="en-US" altLang="en-US" sz="3200" dirty="0" err="1"/>
              <a:t>sánh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với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các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thuật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toán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khác</a:t>
            </a:r>
            <a:r>
              <a:rPr lang="en-US" altLang="en-US" sz="32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53433-F150-E974-878C-7950CA8B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790AF2F-9E5F-AB6F-A60D-5E6FB0293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8881" y="104676"/>
            <a:ext cx="7488237" cy="756410"/>
          </a:xfrm>
        </p:spPr>
        <p:txBody>
          <a:bodyPr vert="horz" lIns="0" tIns="200455" rIns="0" bIns="0" rtlCol="0" anchor="b">
            <a:spAutoFit/>
          </a:bodyPr>
          <a:lstStyle/>
          <a:p>
            <a:pPr marL="163652">
              <a:defRPr/>
            </a:pPr>
            <a:r>
              <a:rPr spc="-5" dirty="0"/>
              <a:t>Khái </a:t>
            </a:r>
            <a:r>
              <a:rPr dirty="0" err="1"/>
              <a:t>niệm</a:t>
            </a:r>
            <a:r>
              <a:rPr spc="-65" dirty="0"/>
              <a:t> </a:t>
            </a:r>
            <a:r>
              <a:rPr spc="-5" dirty="0"/>
              <a:t>O-</a:t>
            </a:r>
            <a:r>
              <a:rPr spc="-5" dirty="0" err="1"/>
              <a:t>lớn</a:t>
            </a:r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Order of growth of algorithms specified in Big-O notation. Source: Big-O Cheat Sheet, 2016.">
            <a:extLst>
              <a:ext uri="{FF2B5EF4-FFF2-40B4-BE49-F238E27FC236}">
                <a16:creationId xmlns:a16="http://schemas.microsoft.com/office/drawing/2014/main" id="{1E5524CC-9F00-8C80-E17F-1D5BD20C7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358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20D11B-7458-2426-920F-7B75BF366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1" y="308779"/>
            <a:ext cx="5903742" cy="576785"/>
          </a:xfrm>
        </p:spPr>
        <p:txBody>
          <a:bodyPr vert="horz" wrap="square" lIns="0" tIns="77431" rIns="0" bIns="0" rtlCol="0" anchor="b">
            <a:spAutoFit/>
          </a:bodyPr>
          <a:lstStyle/>
          <a:p>
            <a:pPr marL="392892">
              <a:defRPr/>
            </a:pPr>
            <a:r>
              <a:rPr spc="-5" dirty="0">
                <a:solidFill>
                  <a:schemeClr val="accent5">
                    <a:lumMod val="50000"/>
                  </a:schemeClr>
                </a:solidFill>
              </a:rPr>
              <a:t>Thứ hạng của</a:t>
            </a:r>
            <a:r>
              <a:rPr spc="-55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spc="-5" dirty="0">
                <a:solidFill>
                  <a:schemeClr val="accent5">
                    <a:lumMod val="50000"/>
                  </a:schemeClr>
                </a:solidFill>
              </a:rPr>
              <a:t>O-lớn</a:t>
            </a:r>
          </a:p>
        </p:txBody>
      </p:sp>
      <p:sp>
        <p:nvSpPr>
          <p:cNvPr id="33795" name="object 4">
            <a:extLst>
              <a:ext uri="{FF2B5EF4-FFF2-40B4-BE49-F238E27FC236}">
                <a16:creationId xmlns:a16="http://schemas.microsoft.com/office/drawing/2014/main" id="{9C4F9777-D2FC-8695-622B-8E4CECDE1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5036" y="1631950"/>
            <a:ext cx="1570038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algn="just">
              <a:spcBef>
                <a:spcPct val="20000"/>
              </a:spcBef>
              <a:buFont typeface="Arial" panose="020B0604020202020204" pitchFamily="34" charset="0"/>
              <a:buChar char="•"/>
              <a:defRPr sz="30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206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pPr algn="l" eaLnBrk="1" hangingPunct="1">
              <a:lnSpc>
                <a:spcPct val="146000"/>
              </a:lnSpc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(log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lnSpc>
                <a:spcPts val="4213"/>
              </a:lnSpc>
              <a:spcBef>
                <a:spcPts val="50"/>
              </a:spcBef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baseline="2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lnSpc>
                <a:spcPts val="4213"/>
              </a:lnSpc>
              <a:spcBef>
                <a:spcPct val="0"/>
              </a:spcBef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baseline="2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baseline="2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spcBef>
                <a:spcPts val="963"/>
              </a:spcBef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i="1" baseline="2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spcBef>
                <a:spcPts val="1325"/>
              </a:spcBef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</a:p>
        </p:txBody>
      </p:sp>
      <p:sp>
        <p:nvSpPr>
          <p:cNvPr id="33796" name="object 5">
            <a:extLst>
              <a:ext uri="{FF2B5EF4-FFF2-40B4-BE49-F238E27FC236}">
                <a16:creationId xmlns:a16="http://schemas.microsoft.com/office/drawing/2014/main" id="{6D075C9D-B689-F78D-AE83-F469F94B1C07}"/>
              </a:ext>
            </a:extLst>
          </p:cNvPr>
          <p:cNvSpPr>
            <a:spLocks/>
          </p:cNvSpPr>
          <p:nvPr/>
        </p:nvSpPr>
        <p:spPr bwMode="auto">
          <a:xfrm>
            <a:off x="4240674" y="1824038"/>
            <a:ext cx="228600" cy="4432300"/>
          </a:xfrm>
          <a:custGeom>
            <a:avLst/>
            <a:gdLst>
              <a:gd name="T0" fmla="*/ 228600 w 228600"/>
              <a:gd name="T1" fmla="*/ 3324225 h 4419600"/>
              <a:gd name="T2" fmla="*/ 171450 w 228600"/>
              <a:gd name="T3" fmla="*/ 3324225 h 4419600"/>
              <a:gd name="T4" fmla="*/ 171450 w 228600"/>
              <a:gd name="T5" fmla="*/ 0 h 4419600"/>
              <a:gd name="T6" fmla="*/ 57150 w 228600"/>
              <a:gd name="T7" fmla="*/ 0 h 4419600"/>
              <a:gd name="T8" fmla="*/ 57150 w 228600"/>
              <a:gd name="T9" fmla="*/ 3324225 h 4419600"/>
              <a:gd name="T10" fmla="*/ 0 w 228600"/>
              <a:gd name="T11" fmla="*/ 3324225 h 4419600"/>
              <a:gd name="T12" fmla="*/ 114300 w 228600"/>
              <a:gd name="T13" fmla="*/ 4432300 h 4419600"/>
              <a:gd name="T14" fmla="*/ 228600 w 228600"/>
              <a:gd name="T15" fmla="*/ 3324225 h 4419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8600" h="4419600">
                <a:moveTo>
                  <a:pt x="228600" y="3314700"/>
                </a:moveTo>
                <a:lnTo>
                  <a:pt x="171450" y="3314700"/>
                </a:lnTo>
                <a:lnTo>
                  <a:pt x="171450" y="0"/>
                </a:lnTo>
                <a:lnTo>
                  <a:pt x="57150" y="0"/>
                </a:lnTo>
                <a:lnTo>
                  <a:pt x="57150" y="3314700"/>
                </a:lnTo>
                <a:lnTo>
                  <a:pt x="0" y="3314700"/>
                </a:lnTo>
                <a:lnTo>
                  <a:pt x="114300" y="4419600"/>
                </a:lnTo>
                <a:lnTo>
                  <a:pt x="228600" y="3314700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7" name="object 6">
            <a:extLst>
              <a:ext uri="{FF2B5EF4-FFF2-40B4-BE49-F238E27FC236}">
                <a16:creationId xmlns:a16="http://schemas.microsoft.com/office/drawing/2014/main" id="{80C59540-4F0C-360B-45A6-D1E2657FE6A1}"/>
              </a:ext>
            </a:extLst>
          </p:cNvPr>
          <p:cNvSpPr>
            <a:spLocks/>
          </p:cNvSpPr>
          <p:nvPr/>
        </p:nvSpPr>
        <p:spPr bwMode="auto">
          <a:xfrm>
            <a:off x="4240674" y="1824038"/>
            <a:ext cx="228600" cy="4432300"/>
          </a:xfrm>
          <a:custGeom>
            <a:avLst/>
            <a:gdLst>
              <a:gd name="T0" fmla="*/ 0 w 228600"/>
              <a:gd name="T1" fmla="*/ 3324225 h 4419600"/>
              <a:gd name="T2" fmla="*/ 57150 w 228600"/>
              <a:gd name="T3" fmla="*/ 3324225 h 4419600"/>
              <a:gd name="T4" fmla="*/ 57150 w 228600"/>
              <a:gd name="T5" fmla="*/ 0 h 4419600"/>
              <a:gd name="T6" fmla="*/ 171450 w 228600"/>
              <a:gd name="T7" fmla="*/ 0 h 4419600"/>
              <a:gd name="T8" fmla="*/ 171450 w 228600"/>
              <a:gd name="T9" fmla="*/ 3324225 h 4419600"/>
              <a:gd name="T10" fmla="*/ 228600 w 228600"/>
              <a:gd name="T11" fmla="*/ 3324225 h 4419600"/>
              <a:gd name="T12" fmla="*/ 114300 w 228600"/>
              <a:gd name="T13" fmla="*/ 4432300 h 4419600"/>
              <a:gd name="T14" fmla="*/ 0 w 228600"/>
              <a:gd name="T15" fmla="*/ 3324225 h 4419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8600" h="4419600">
                <a:moveTo>
                  <a:pt x="0" y="3314700"/>
                </a:moveTo>
                <a:lnTo>
                  <a:pt x="57150" y="3314700"/>
                </a:lnTo>
                <a:lnTo>
                  <a:pt x="57150" y="0"/>
                </a:lnTo>
                <a:lnTo>
                  <a:pt x="171450" y="0"/>
                </a:lnTo>
                <a:lnTo>
                  <a:pt x="171450" y="3314700"/>
                </a:lnTo>
                <a:lnTo>
                  <a:pt x="228600" y="3314700"/>
                </a:lnTo>
                <a:lnTo>
                  <a:pt x="114300" y="4419600"/>
                </a:lnTo>
                <a:lnTo>
                  <a:pt x="0" y="3314700"/>
                </a:lnTo>
                <a:close/>
              </a:path>
            </a:pathLst>
          </a:cu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798" name="object 7">
            <a:extLst>
              <a:ext uri="{FF2B5EF4-FFF2-40B4-BE49-F238E27FC236}">
                <a16:creationId xmlns:a16="http://schemas.microsoft.com/office/drawing/2014/main" id="{A02BA58D-23FE-D9CE-4832-648C25677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587" y="1539875"/>
            <a:ext cx="2640013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algn="just">
              <a:spcBef>
                <a:spcPct val="20000"/>
              </a:spcBef>
              <a:buFont typeface="Arial" panose="020B0604020202020204" pitchFamily="34" charset="0"/>
              <a:buChar char="•"/>
              <a:defRPr sz="30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00206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logarit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325"/>
              </a:spcBef>
              <a:buNone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3776A8-6574-2DD3-D1A5-8DAEC4B1DFC0}"/>
              </a:ext>
            </a:extLst>
          </p:cNvPr>
          <p:cNvSpPr txBox="1"/>
          <p:nvPr/>
        </p:nvSpPr>
        <p:spPr>
          <a:xfrm>
            <a:off x="7239462" y="3654426"/>
            <a:ext cx="1793875" cy="3778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36">
              <a:defRPr/>
            </a:pPr>
            <a:r>
              <a:rPr sz="2407" dirty="0">
                <a:latin typeface="Arial"/>
                <a:cs typeface="Arial"/>
              </a:rPr>
              <a:t>bình</a:t>
            </a:r>
            <a:r>
              <a:rPr sz="2407" spc="-70" dirty="0">
                <a:latin typeface="Arial"/>
                <a:cs typeface="Arial"/>
              </a:rPr>
              <a:t> </a:t>
            </a:r>
            <a:r>
              <a:rPr sz="2407" spc="-5" dirty="0">
                <a:latin typeface="Arial"/>
                <a:cs typeface="Arial"/>
              </a:rPr>
              <a:t>phương</a:t>
            </a:r>
            <a:endParaRPr sz="2407" dirty="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4F17C54-32DF-4E1F-D29C-BCFCA2F71F67}"/>
              </a:ext>
            </a:extLst>
          </p:cNvPr>
          <p:cNvSpPr txBox="1"/>
          <p:nvPr/>
        </p:nvSpPr>
        <p:spPr>
          <a:xfrm>
            <a:off x="7299786" y="4764088"/>
            <a:ext cx="1809750" cy="14843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36">
              <a:defRPr/>
            </a:pPr>
            <a:r>
              <a:rPr sz="2407" spc="-5" dirty="0">
                <a:latin typeface="Arial"/>
                <a:cs typeface="Arial"/>
              </a:rPr>
              <a:t>mũ</a:t>
            </a:r>
            <a:r>
              <a:rPr sz="2407" spc="-95" dirty="0">
                <a:latin typeface="Arial"/>
                <a:cs typeface="Arial"/>
              </a:rPr>
              <a:t> </a:t>
            </a:r>
            <a:r>
              <a:rPr sz="2407" dirty="0">
                <a:latin typeface="Arial"/>
                <a:cs typeface="Arial"/>
              </a:rPr>
              <a:t>3</a:t>
            </a:r>
            <a:endParaRPr sz="2407">
              <a:latin typeface="Arial"/>
              <a:cs typeface="Arial"/>
            </a:endParaRPr>
          </a:p>
          <a:p>
            <a:pPr marL="28655">
              <a:spcBef>
                <a:spcPts val="1008"/>
              </a:spcBef>
              <a:defRPr/>
            </a:pPr>
            <a:r>
              <a:rPr sz="2407" spc="-5" dirty="0">
                <a:latin typeface="Arial"/>
                <a:cs typeface="Arial"/>
              </a:rPr>
              <a:t>hàm số mũ</a:t>
            </a:r>
            <a:r>
              <a:rPr sz="2407" spc="-75" dirty="0">
                <a:latin typeface="Arial"/>
                <a:cs typeface="Arial"/>
              </a:rPr>
              <a:t> </a:t>
            </a:r>
            <a:r>
              <a:rPr sz="2407" dirty="0">
                <a:latin typeface="Arial"/>
                <a:cs typeface="Arial"/>
              </a:rPr>
              <a:t>n</a:t>
            </a:r>
            <a:endParaRPr sz="2407">
              <a:latin typeface="Arial"/>
              <a:cs typeface="Arial"/>
            </a:endParaRPr>
          </a:p>
          <a:p>
            <a:pPr marL="28655">
              <a:spcBef>
                <a:spcPts val="1925"/>
              </a:spcBef>
              <a:defRPr/>
            </a:pPr>
            <a:r>
              <a:rPr sz="2407" dirty="0">
                <a:latin typeface="Arial"/>
                <a:cs typeface="Arial"/>
              </a:rPr>
              <a:t>giai</a:t>
            </a:r>
            <a:r>
              <a:rPr sz="2407" spc="-95" dirty="0">
                <a:latin typeface="Arial"/>
                <a:cs typeface="Arial"/>
              </a:rPr>
              <a:t> </a:t>
            </a:r>
            <a:r>
              <a:rPr sz="2407" dirty="0">
                <a:latin typeface="Arial"/>
                <a:cs typeface="Arial"/>
              </a:rPr>
              <a:t>thừa</a:t>
            </a:r>
            <a:endParaRPr sz="2407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EA3C632-80A4-A979-12A2-B5D8B4728D74}"/>
              </a:ext>
            </a:extLst>
          </p:cNvPr>
          <p:cNvSpPr txBox="1"/>
          <p:nvPr/>
        </p:nvSpPr>
        <p:spPr>
          <a:xfrm>
            <a:off x="2715086" y="1555750"/>
            <a:ext cx="1557338" cy="37623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36">
              <a:defRPr/>
            </a:pPr>
            <a:r>
              <a:rPr sz="2407" dirty="0">
                <a:solidFill>
                  <a:srgbClr val="0000CC"/>
                </a:solidFill>
                <a:latin typeface="Arial"/>
                <a:cs typeface="Arial"/>
              </a:rPr>
              <a:t>nhanh</a:t>
            </a:r>
            <a:r>
              <a:rPr sz="2407" spc="-100" dirty="0">
                <a:solidFill>
                  <a:srgbClr val="D9D8EC"/>
                </a:solidFill>
                <a:latin typeface="Arial"/>
                <a:cs typeface="Arial"/>
              </a:rPr>
              <a:t> </a:t>
            </a:r>
            <a:r>
              <a:rPr sz="2407" dirty="0">
                <a:solidFill>
                  <a:srgbClr val="0000CC"/>
                </a:solidFill>
                <a:latin typeface="Arial"/>
                <a:cs typeface="Arial"/>
              </a:rPr>
              <a:t>nhất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25F6C15-308A-533C-4B74-72ABC9EC08AA}"/>
              </a:ext>
            </a:extLst>
          </p:cNvPr>
          <p:cNvSpPr txBox="1"/>
          <p:nvPr/>
        </p:nvSpPr>
        <p:spPr>
          <a:xfrm>
            <a:off x="2867486" y="5834064"/>
            <a:ext cx="1454150" cy="3778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36">
              <a:defRPr/>
            </a:pPr>
            <a:r>
              <a:rPr sz="2407" spc="-5" dirty="0">
                <a:solidFill>
                  <a:srgbClr val="FF0000"/>
                </a:solidFill>
                <a:latin typeface="Arial"/>
                <a:cs typeface="Arial"/>
              </a:rPr>
              <a:t>chậm</a:t>
            </a:r>
            <a:r>
              <a:rPr sz="2407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7" spc="-5" dirty="0">
                <a:solidFill>
                  <a:srgbClr val="FF0000"/>
                </a:solidFill>
                <a:latin typeface="Arial"/>
                <a:cs typeface="Arial"/>
              </a:rPr>
              <a:t>nhất</a:t>
            </a:r>
            <a:endParaRPr sz="2407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3CE147-4086-43B9-DC9D-237FFCC3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F9D1-E0B8-4FC9-96F4-5F8FDD893E62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27B12-A81A-EAA4-67A9-1F8A3935F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44775" y="2270919"/>
            <a:ext cx="7143043" cy="2577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12484-7CDE-D5FB-3C83-14F5D4D8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tắc</a:t>
            </a:r>
            <a:r>
              <a:rPr lang="en-US" dirty="0"/>
              <a:t> </a:t>
            </a:r>
            <a:r>
              <a:rPr lang="en-US" dirty="0" err="1"/>
              <a:t>xác</a:t>
            </a:r>
            <a:r>
              <a:rPr lang="en-US" dirty="0"/>
              <a:t> </a:t>
            </a:r>
            <a:r>
              <a:rPr lang="en-US" dirty="0" err="1"/>
              <a:t>định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58F5-16A7-79E7-1286-0429E08B0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algn="l"/>
            <a:r>
              <a:rPr lang="vi-VN" b="0" i="0" dirty="0">
                <a:solidFill>
                  <a:srgbClr val="333333"/>
                </a:solidFill>
                <a:effectLst/>
              </a:rPr>
              <a:t> Độ phức tạp tính toán của giải thuật: O(f(n))</a:t>
            </a:r>
          </a:p>
          <a:p>
            <a:pPr marL="914400" algn="l"/>
            <a:r>
              <a:rPr lang="en-US" b="1" i="0" dirty="0">
                <a:solidFill>
                  <a:srgbClr val="333333"/>
                </a:solidFill>
                <a:effectLst/>
              </a:rPr>
              <a:t> </a:t>
            </a:r>
            <a:r>
              <a:rPr lang="vi-VN" b="1" i="0" dirty="0">
                <a:solidFill>
                  <a:srgbClr val="333333"/>
                </a:solidFill>
                <a:effectLst/>
              </a:rPr>
              <a:t>Quy tắc bỏ hằng số</a:t>
            </a:r>
            <a:r>
              <a:rPr lang="vi-VN" b="0" i="0" dirty="0">
                <a:solidFill>
                  <a:srgbClr val="333333"/>
                </a:solidFill>
                <a:effectLst/>
              </a:rPr>
              <a:t>: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685800" indent="0" algn="l">
              <a:buNone/>
            </a:pPr>
            <a:r>
              <a:rPr lang="en-US" dirty="0">
                <a:solidFill>
                  <a:srgbClr val="333333"/>
                </a:solidFill>
              </a:rPr>
              <a:t>		</a:t>
            </a:r>
            <a:r>
              <a:rPr lang="vi-VN" b="0" i="0" dirty="0">
                <a:solidFill>
                  <a:srgbClr val="333333"/>
                </a:solidFill>
                <a:effectLst/>
              </a:rPr>
              <a:t>T(n) = O(c.f(n)) = O(f(n)) với c là một hằng số dương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914400" algn="l"/>
            <a:r>
              <a:rPr lang="vi-VN" b="0" i="0" dirty="0">
                <a:solidFill>
                  <a:srgbClr val="333333"/>
                </a:solidFill>
                <a:effectLst/>
              </a:rPr>
              <a:t> </a:t>
            </a:r>
            <a:r>
              <a:rPr lang="vi-VN" b="1" i="0" dirty="0">
                <a:solidFill>
                  <a:srgbClr val="333333"/>
                </a:solidFill>
                <a:effectLst/>
              </a:rPr>
              <a:t>Quy tắc cộng</a:t>
            </a:r>
            <a:r>
              <a:rPr lang="vi-VN" b="0" i="0" dirty="0">
                <a:solidFill>
                  <a:srgbClr val="333333"/>
                </a:solidFill>
                <a:effectLst/>
              </a:rPr>
              <a:t>: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68580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	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Với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 </a:t>
            </a:r>
            <a:r>
              <a:rPr lang="vi-VN" b="0" i="0" dirty="0">
                <a:solidFill>
                  <a:srgbClr val="333333"/>
                </a:solidFill>
                <a:effectLst/>
              </a:rPr>
              <a:t>T1(n) = O(f(n)) 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va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̀</a:t>
            </a:r>
            <a:r>
              <a:rPr lang="vi-VN" b="0" i="0" dirty="0">
                <a:solidFill>
                  <a:srgbClr val="333333"/>
                </a:solidFill>
                <a:effectLst/>
              </a:rPr>
              <a:t>  T2(n) = O(g(n))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68580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	Thì: </a:t>
            </a:r>
            <a:r>
              <a:rPr lang="vi-VN" b="0" i="0" dirty="0">
                <a:solidFill>
                  <a:srgbClr val="333333"/>
                </a:solidFill>
                <a:effectLst/>
              </a:rPr>
              <a:t>T(n) </a:t>
            </a:r>
            <a:r>
              <a:rPr lang="en-US" b="0" i="0" dirty="0">
                <a:solidFill>
                  <a:srgbClr val="333333"/>
                </a:solidFill>
                <a:effectLst/>
              </a:rPr>
              <a:t>= </a:t>
            </a:r>
            <a:r>
              <a:rPr lang="vi-VN" b="0" i="0" dirty="0">
                <a:solidFill>
                  <a:srgbClr val="333333"/>
                </a:solidFill>
                <a:effectLst/>
              </a:rPr>
              <a:t>T1(n) + T2(n) = O(f(n) + g(n))</a:t>
            </a:r>
          </a:p>
          <a:p>
            <a:pPr marL="914400" algn="l"/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vi-VN" b="1" i="0" dirty="0">
                <a:solidFill>
                  <a:srgbClr val="333333"/>
                </a:solidFill>
                <a:effectLst/>
              </a:rPr>
              <a:t>Quy tắc lấy max</a:t>
            </a:r>
            <a:r>
              <a:rPr lang="vi-VN" b="0" i="0" dirty="0">
                <a:solidFill>
                  <a:srgbClr val="333333"/>
                </a:solidFill>
                <a:effectLst/>
              </a:rPr>
              <a:t>: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33333"/>
                </a:solidFill>
              </a:rPr>
              <a:t>		</a:t>
            </a:r>
            <a:r>
              <a:rPr lang="vi-VN" b="0" i="0" dirty="0">
                <a:solidFill>
                  <a:srgbClr val="333333"/>
                </a:solidFill>
                <a:effectLst/>
              </a:rPr>
              <a:t>T(n) = O(f(n)+ g(n)) = O(max(f(n), g(n)))</a:t>
            </a:r>
          </a:p>
          <a:p>
            <a:pPr marL="914400" algn="l"/>
            <a:r>
              <a:rPr lang="vi-VN" b="0" i="0" dirty="0">
                <a:solidFill>
                  <a:srgbClr val="333333"/>
                </a:solidFill>
                <a:effectLst/>
              </a:rPr>
              <a:t> </a:t>
            </a:r>
            <a:r>
              <a:rPr lang="vi-VN" b="1" i="0" dirty="0">
                <a:solidFill>
                  <a:srgbClr val="333333"/>
                </a:solidFill>
                <a:effectLst/>
              </a:rPr>
              <a:t>Quy tắc nhân</a:t>
            </a:r>
            <a:r>
              <a:rPr lang="vi-VN" b="0" i="0" dirty="0">
                <a:solidFill>
                  <a:srgbClr val="333333"/>
                </a:solidFill>
                <a:effectLst/>
              </a:rPr>
              <a:t>: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1371600" lvl="1"/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vi-VN" b="0" i="0" dirty="0">
                <a:solidFill>
                  <a:srgbClr val="333333"/>
                </a:solidFill>
                <a:effectLst/>
              </a:rPr>
              <a:t>Đoạn chương trình có thời gian thực hiện T(n)=O(f(n))</a:t>
            </a:r>
            <a:endParaRPr lang="en-US" b="0" i="0" dirty="0">
              <a:solidFill>
                <a:srgbClr val="333333"/>
              </a:solidFill>
              <a:effectLst/>
            </a:endParaRPr>
          </a:p>
          <a:p>
            <a:pPr marL="1371600" lvl="1"/>
            <a:r>
              <a:rPr lang="vi-VN" b="0" i="0" dirty="0">
                <a:solidFill>
                  <a:srgbClr val="333333"/>
                </a:solidFill>
                <a:effectLst/>
              </a:rPr>
              <a:t>Nếu thực hiện k(n) lần đoạn chương trình với k(n) = O(g(n)) thì độ phức tạp sẽ là O(g(n).f(n))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2EA7C-7F2A-8960-B87C-B6BC16D7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426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Ví dụ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Thuật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toán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tính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tổng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các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số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từ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1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đến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n    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</a:t>
            </a:r>
          </a:p>
          <a:p>
            <a:pPr marL="0" indent="0" algn="l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Đô</a:t>
            </a:r>
            <a:r>
              <a:rPr lang="en-US" dirty="0"/>
              <a:t>̣ </a:t>
            </a:r>
            <a:r>
              <a:rPr lang="en-US" dirty="0" err="1"/>
              <a:t>phức</a:t>
            </a:r>
            <a:r>
              <a:rPr lang="en-US" dirty="0"/>
              <a:t> </a:t>
            </a:r>
            <a:r>
              <a:rPr lang="en-US" dirty="0" err="1"/>
              <a:t>tạp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26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56577-BD87-43A8-8D3C-3E2E0F956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916" y="2041692"/>
            <a:ext cx="5244145" cy="155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73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Ví dụ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Áp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dụng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quy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tắc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1" i="0" dirty="0">
                <a:solidFill>
                  <a:srgbClr val="333333"/>
                </a:solidFill>
                <a:effectLst/>
              </a:rPr>
              <a:t>CỘNG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đê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̉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tính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đô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̣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phức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tạp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của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đoạn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lệnh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   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</a:t>
            </a:r>
          </a:p>
          <a:p>
            <a:pPr marL="0" indent="0" algn="l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Đô</a:t>
            </a:r>
            <a:r>
              <a:rPr lang="en-US" dirty="0"/>
              <a:t>̣ </a:t>
            </a:r>
            <a:r>
              <a:rPr lang="en-US" dirty="0" err="1"/>
              <a:t>phức</a:t>
            </a:r>
            <a:r>
              <a:rPr lang="en-US" dirty="0"/>
              <a:t> </a:t>
            </a:r>
            <a:r>
              <a:rPr lang="en-US" dirty="0" err="1"/>
              <a:t>tạp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94ABC-124E-7BBC-2460-A2581A1F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627" y="2266787"/>
            <a:ext cx="4728519" cy="206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42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Ví dụ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Áp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dụng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quy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tắc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1" i="0" dirty="0">
                <a:solidFill>
                  <a:srgbClr val="333333"/>
                </a:solidFill>
                <a:effectLst/>
              </a:rPr>
              <a:t>NHÂN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đê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̉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tính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đô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̣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phức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tạp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của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đoạn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lệnh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      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Đô</a:t>
            </a:r>
            <a:r>
              <a:rPr lang="en-US" dirty="0"/>
              <a:t>̣ </a:t>
            </a:r>
            <a:r>
              <a:rPr lang="en-US" dirty="0" err="1"/>
              <a:t>phức</a:t>
            </a:r>
            <a:r>
              <a:rPr lang="en-US" dirty="0"/>
              <a:t> </a:t>
            </a:r>
            <a:r>
              <a:rPr lang="en-US" dirty="0" err="1"/>
              <a:t>tạp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1AB19-4B5D-D37C-AE47-7A553181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2172321"/>
            <a:ext cx="5294971" cy="145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Bài</a:t>
            </a:r>
            <a:r>
              <a:rPr lang="en-US" dirty="0"/>
              <a:t> </a:t>
            </a:r>
            <a:r>
              <a:rPr lang="en-US" dirty="0" err="1"/>
              <a:t>tập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Tính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đô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̣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phức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tạp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của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đoạn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lệnh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     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29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5B883-8964-0209-C6FC-98DB4B8C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281" y="1891214"/>
            <a:ext cx="7006235" cy="411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37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Bài</a:t>
            </a:r>
            <a:r>
              <a:rPr lang="en-US" dirty="0"/>
              <a:t> </a:t>
            </a:r>
            <a:r>
              <a:rPr lang="en-US" dirty="0" err="1"/>
              <a:t>tập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Tính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đô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̣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phức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tạp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của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đoạn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lệnh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     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6B2C0-DD7D-6B41-1FC9-0C29B03A0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116" y="2074253"/>
            <a:ext cx="6535768" cy="394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21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B17C-598C-5D65-7787-50326FB3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Bài</a:t>
            </a:r>
            <a:r>
              <a:rPr lang="en-US" dirty="0"/>
              <a:t> </a:t>
            </a:r>
            <a:r>
              <a:rPr lang="en-US" dirty="0" err="1"/>
              <a:t>tập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80852-1606-2941-B4CB-8D2FB5078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Tính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đô</a:t>
            </a:r>
            <a:r>
              <a:rPr lang="en-US" b="0" i="0" dirty="0">
                <a:solidFill>
                  <a:srgbClr val="333333"/>
                </a:solidFill>
                <a:effectLst/>
              </a:rPr>
              <a:t>̣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phức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tạp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của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đoạn</a:t>
            </a:r>
            <a:r>
              <a:rPr lang="en-US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333333"/>
                </a:solidFill>
                <a:effectLst/>
              </a:rPr>
              <a:t>lệnh</a:t>
            </a:r>
            <a:r>
              <a:rPr lang="en-US" b="0" i="0" dirty="0">
                <a:solidFill>
                  <a:srgbClr val="333333"/>
                </a:solidFill>
                <a:effectLst/>
              </a:rPr>
              <a:t>:      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</a:rPr>
              <a:t>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60AE-7858-0BF4-361C-F2D3EF4C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31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7EACDF-84ED-7AB2-AA85-64343C24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15" y="2075415"/>
            <a:ext cx="5991737" cy="319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32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A209-E07D-FBFC-438A-B5E97DCB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Tóm</a:t>
            </a:r>
            <a:r>
              <a:rPr lang="en-US" dirty="0"/>
              <a:t> </a:t>
            </a:r>
            <a:r>
              <a:rPr lang="en-US"/>
              <a:t>tắt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11267-3DC0-A5C0-6C1A-AAAEE720D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883A0-D91C-4126-9461-192D8ED3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47D5-6C77-4387-88D4-59FDF84BCD69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242130"/>
      </p:ext>
    </p:extLst>
  </p:cSld>
  <p:clrMapOvr>
    <a:masterClrMapping/>
  </p:clrMapOvr>
</p:sld>
</file>

<file path=ppt/theme/theme1.xml><?xml version="1.0" encoding="utf-8"?>
<a:theme xmlns:a="http://schemas.openxmlformats.org/drawingml/2006/main" name="CongNgheThongTin">
  <a:themeElements>
    <a:clrScheme name="HSU">
      <a:dk1>
        <a:srgbClr val="001A4A"/>
      </a:dk1>
      <a:lt1>
        <a:sysClr val="window" lastClr="FFFFFF"/>
      </a:lt1>
      <a:dk2>
        <a:srgbClr val="003595"/>
      </a:dk2>
      <a:lt2>
        <a:srgbClr val="FFFFFF"/>
      </a:lt2>
      <a:accent1>
        <a:srgbClr val="003595"/>
      </a:accent1>
      <a:accent2>
        <a:srgbClr val="ECA825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3595"/>
      </a:hlink>
      <a:folHlink>
        <a:srgbClr val="ECA825"/>
      </a:folHlink>
    </a:clrScheme>
    <a:fontScheme name="HSU">
      <a:majorFont>
        <a:latin typeface="SVn-optim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</TotalTime>
  <Words>2082</Words>
  <Application>Microsoft Office PowerPoint</Application>
  <PresentationFormat>Widescreen</PresentationFormat>
  <Paragraphs>257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SymbolMT</vt:lpstr>
      <vt:lpstr>helvetica</vt:lpstr>
      <vt:lpstr>Arial</vt:lpstr>
      <vt:lpstr>Cambria</vt:lpstr>
      <vt:lpstr>ArialMT</vt:lpstr>
      <vt:lpstr>SVn-optima</vt:lpstr>
      <vt:lpstr>Symbol</vt:lpstr>
      <vt:lpstr>Aptos</vt:lpstr>
      <vt:lpstr>Roboto</vt:lpstr>
      <vt:lpstr>Wingdings</vt:lpstr>
      <vt:lpstr>Webdings</vt:lpstr>
      <vt:lpstr>Arial-ItalicMT</vt:lpstr>
      <vt:lpstr>Wingdings 2</vt:lpstr>
      <vt:lpstr>Microsoft Sans Serif</vt:lpstr>
      <vt:lpstr>Times New Roman</vt:lpstr>
      <vt:lpstr>CongNgheThongTin</vt:lpstr>
      <vt:lpstr>TỔNG QUAN VỀ CẤU TRÚC DỮ LIỆU VÀ THIẾT KẾ GIẢI THUẬT</vt:lpstr>
      <vt:lpstr>Mô hình từ bài toán đến chương trình</vt:lpstr>
      <vt:lpstr>Tại sao cần phân tích giải thuật?</vt:lpstr>
      <vt:lpstr>PowerPoint Presentation</vt:lpstr>
      <vt:lpstr>Đặt vấn đề̀?</vt:lpstr>
      <vt:lpstr>Khái niệm</vt:lpstr>
      <vt:lpstr>Ví dụ</vt:lpstr>
      <vt:lpstr>Ví dụ</vt:lpstr>
      <vt:lpstr>Ví dụ</vt:lpstr>
      <vt:lpstr>Bài toán 1</vt:lpstr>
      <vt:lpstr>Bài toán 2</vt:lpstr>
      <vt:lpstr>PowerPoint Presentation</vt:lpstr>
      <vt:lpstr>PowerPoint Presentation</vt:lpstr>
      <vt:lpstr>Các nhân tố ảnh hưởng đến thời gian tính</vt:lpstr>
      <vt:lpstr>Độ phức tạp về thời gian</vt:lpstr>
      <vt:lpstr>Độ phức tạp về thời gian</vt:lpstr>
      <vt:lpstr>Phép đếm</vt:lpstr>
      <vt:lpstr>Phép đếm</vt:lpstr>
      <vt:lpstr>Ví dụ</vt:lpstr>
      <vt:lpstr>Các trường hợp của phép đếm</vt:lpstr>
      <vt:lpstr>Khái niệm O-lớn</vt:lpstr>
      <vt:lpstr>Khái niệm O-lớn</vt:lpstr>
      <vt:lpstr>PowerPoint Presentation</vt:lpstr>
      <vt:lpstr>Thứ hạng của O-lớn</vt:lpstr>
      <vt:lpstr>Quy tắc xác định</vt:lpstr>
      <vt:lpstr>Ví dụ 1</vt:lpstr>
      <vt:lpstr>Ví dụ 2</vt:lpstr>
      <vt:lpstr>Ví dụ 3</vt:lpstr>
      <vt:lpstr>Bài tập 1</vt:lpstr>
      <vt:lpstr>Bài tập 2</vt:lpstr>
      <vt:lpstr>Bài tập 1</vt:lpstr>
      <vt:lpstr>Tóm tắt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DongHiep</dc:creator>
  <cp:lastModifiedBy>DU Nguyen Thi Thu</cp:lastModifiedBy>
  <cp:revision>31</cp:revision>
  <dcterms:created xsi:type="dcterms:W3CDTF">2024-08-23T07:09:07Z</dcterms:created>
  <dcterms:modified xsi:type="dcterms:W3CDTF">2024-10-07T01:57:06Z</dcterms:modified>
</cp:coreProperties>
</file>