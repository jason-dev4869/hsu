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2"/>
  </p:notesMasterIdLst>
  <p:sldIdLst>
    <p:sldId id="256" r:id="rId3"/>
    <p:sldId id="261" r:id="rId4"/>
    <p:sldId id="397" r:id="rId5"/>
    <p:sldId id="414"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49"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27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116" d="100"/>
          <a:sy n="116" d="100"/>
        </p:scale>
        <p:origin x="15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4C450-71A6-4247-A59B-E04E8B0516FC}" type="datetimeFigureOut">
              <a:rPr lang="vi-VN" smtClean="0"/>
              <a:t>19/02/2021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C684F-6D70-43DC-AAAB-B6C950FDED51}" type="slidenum">
              <a:rPr lang="vi-VN" smtClean="0"/>
              <a:t>‹#›</a:t>
            </a:fld>
            <a:endParaRPr lang="vi-VN"/>
          </a:p>
        </p:txBody>
      </p:sp>
    </p:spTree>
    <p:extLst>
      <p:ext uri="{BB962C8B-B14F-4D97-AF65-F5344CB8AC3E}">
        <p14:creationId xmlns:p14="http://schemas.microsoft.com/office/powerpoint/2010/main" val="416530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9F5FA4-0121-47C1-A008-7E8E51A9E9A6}" type="slidenum">
              <a:rPr lang="en-US" altLang="vi-VN"/>
              <a:pPr eaLnBrk="1" hangingPunct="1"/>
              <a:t>3</a:t>
            </a:fld>
            <a:endParaRPr lang="en-US" altLang="vi-VN"/>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31936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342510-2805-4222-838B-D24CF5CD0761}" type="slidenum">
              <a:rPr lang="en-US" altLang="vi-VN"/>
              <a:pPr eaLnBrk="1" hangingPunct="1"/>
              <a:t>4</a:t>
            </a:fld>
            <a:endParaRPr lang="en-US" altLang="vi-VN"/>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436447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95D161-10FC-400A-BCC0-4E95DC1A9E69}" type="slidenum">
              <a:rPr lang="en-US" altLang="vi-VN"/>
              <a:pPr eaLnBrk="1" hangingPunct="1"/>
              <a:t>5</a:t>
            </a:fld>
            <a:endParaRPr lang="en-US" altLang="vi-VN"/>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420648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225BA3-228A-4315-B3A8-E0F97389D1E0}" type="slidenum">
              <a:rPr lang="en-US" altLang="vi-VN"/>
              <a:pPr eaLnBrk="1" hangingPunct="1"/>
              <a:t>6</a:t>
            </a:fld>
            <a:endParaRPr lang="en-US" altLang="vi-VN"/>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623227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FE320B-400B-494E-A0C8-053C7744E170}" type="slidenum">
              <a:rPr lang="en-US" altLang="vi-VN"/>
              <a:pPr eaLnBrk="1" hangingPunct="1"/>
              <a:t>7</a:t>
            </a:fld>
            <a:endParaRPr lang="en-US" altLang="vi-V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545166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9ABAF5C-13B5-4439-ABC7-041F2429EDC5}" type="slidenum">
              <a:rPr lang="en-US" altLang="vi-VN"/>
              <a:pPr eaLnBrk="1" hangingPunct="1"/>
              <a:t>8</a:t>
            </a:fld>
            <a:endParaRPr lang="en-US" altLang="vi-VN"/>
          </a:p>
        </p:txBody>
      </p:sp>
      <p:sp>
        <p:nvSpPr>
          <p:cNvPr id="51203" name="Rectangle 2"/>
          <p:cNvSpPr>
            <a:spLocks noGrp="1" noRot="1" noChangeAspect="1" noChangeArrowheads="1" noTextEdit="1"/>
          </p:cNvSpPr>
          <p:nvPr>
            <p:ph type="sldImg"/>
          </p:nvPr>
        </p:nvSpPr>
        <p:spPr>
          <a:xfrm>
            <a:off x="1258888" y="720725"/>
            <a:ext cx="4799012" cy="3598863"/>
          </a:xfrm>
          <a:ln/>
        </p:spPr>
      </p:sp>
      <p:sp>
        <p:nvSpPr>
          <p:cNvPr id="51204"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721662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23C3F0-F5A2-4FFB-9F8F-26CE03BF3ADF}" type="slidenum">
              <a:rPr lang="en-US" altLang="vi-VN"/>
              <a:pPr eaLnBrk="1" hangingPunct="1"/>
              <a:t>9</a:t>
            </a:fld>
            <a:endParaRPr lang="en-US" altLang="vi-VN"/>
          </a:p>
        </p:txBody>
      </p:sp>
      <p:sp>
        <p:nvSpPr>
          <p:cNvPr id="52227" name="Rectangle 2"/>
          <p:cNvSpPr>
            <a:spLocks noGrp="1" noRot="1" noChangeAspect="1" noChangeArrowheads="1" noTextEdit="1"/>
          </p:cNvSpPr>
          <p:nvPr>
            <p:ph type="sldImg"/>
          </p:nvPr>
        </p:nvSpPr>
        <p:spPr>
          <a:xfrm>
            <a:off x="1258888" y="720725"/>
            <a:ext cx="4799012" cy="3598863"/>
          </a:xfrm>
          <a:ln/>
        </p:spPr>
      </p:sp>
      <p:sp>
        <p:nvSpPr>
          <p:cNvPr id="52228"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336480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57915C-0243-44C9-8B48-6B36DD1CC891}" type="slidenum">
              <a:rPr lang="en-US" altLang="vi-VN"/>
              <a:pPr eaLnBrk="1" hangingPunct="1"/>
              <a:t>10</a:t>
            </a:fld>
            <a:endParaRPr lang="en-US" altLang="vi-VN"/>
          </a:p>
        </p:txBody>
      </p:sp>
      <p:sp>
        <p:nvSpPr>
          <p:cNvPr id="53251" name="Rectangle 2"/>
          <p:cNvSpPr>
            <a:spLocks noGrp="1" noRot="1" noChangeAspect="1" noChangeArrowheads="1" noTextEdit="1"/>
          </p:cNvSpPr>
          <p:nvPr>
            <p:ph type="sldImg"/>
          </p:nvPr>
        </p:nvSpPr>
        <p:spPr>
          <a:xfrm>
            <a:off x="1258888" y="720725"/>
            <a:ext cx="4799012" cy="3598863"/>
          </a:xfrm>
          <a:ln/>
        </p:spPr>
      </p:sp>
      <p:sp>
        <p:nvSpPr>
          <p:cNvPr id="5325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711140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BC5544-3F1B-4F62-9C74-0D096463A238}" type="slidenum">
              <a:rPr lang="en-US" altLang="vi-VN"/>
              <a:pPr eaLnBrk="1" hangingPunct="1"/>
              <a:t>11</a:t>
            </a:fld>
            <a:endParaRPr lang="en-US" altLang="vi-VN"/>
          </a:p>
        </p:txBody>
      </p:sp>
      <p:sp>
        <p:nvSpPr>
          <p:cNvPr id="54275" name="Rectangle 2"/>
          <p:cNvSpPr>
            <a:spLocks noGrp="1" noRot="1" noChangeAspect="1" noChangeArrowheads="1" noTextEdit="1"/>
          </p:cNvSpPr>
          <p:nvPr>
            <p:ph type="sldImg"/>
          </p:nvPr>
        </p:nvSpPr>
        <p:spPr>
          <a:xfrm>
            <a:off x="1258888" y="720725"/>
            <a:ext cx="4797425" cy="3598863"/>
          </a:xfrm>
          <a:ln/>
        </p:spPr>
      </p:sp>
      <p:sp>
        <p:nvSpPr>
          <p:cNvPr id="54276"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743817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9B222B-6321-49B8-A190-FE8E15BB4769}" type="slidenum">
              <a:rPr lang="en-US" altLang="vi-VN"/>
              <a:pPr eaLnBrk="1" hangingPunct="1"/>
              <a:t>12</a:t>
            </a:fld>
            <a:endParaRPr lang="en-US" altLang="vi-VN"/>
          </a:p>
        </p:txBody>
      </p:sp>
      <p:sp>
        <p:nvSpPr>
          <p:cNvPr id="55299" name="Rectangle 2"/>
          <p:cNvSpPr>
            <a:spLocks noGrp="1" noRot="1" noChangeAspect="1" noChangeArrowheads="1" noTextEdit="1"/>
          </p:cNvSpPr>
          <p:nvPr>
            <p:ph type="sldImg"/>
          </p:nvPr>
        </p:nvSpPr>
        <p:spPr>
          <a:xfrm>
            <a:off x="1258888" y="720725"/>
            <a:ext cx="4799012" cy="3598863"/>
          </a:xfrm>
          <a:ln/>
        </p:spPr>
      </p:sp>
      <p:sp>
        <p:nvSpPr>
          <p:cNvPr id="55300"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904030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6A9ED6-3E37-48B4-8E9B-65C508237149}" type="slidenum">
              <a:rPr lang="en-US" altLang="vi-VN"/>
              <a:pPr eaLnBrk="1" hangingPunct="1"/>
              <a:t>13</a:t>
            </a:fld>
            <a:endParaRPr lang="en-US" altLang="vi-VN"/>
          </a:p>
        </p:txBody>
      </p:sp>
      <p:sp>
        <p:nvSpPr>
          <p:cNvPr id="56323" name="Rectangle 2"/>
          <p:cNvSpPr>
            <a:spLocks noGrp="1" noRot="1" noChangeAspect="1" noChangeArrowheads="1" noTextEdit="1"/>
          </p:cNvSpPr>
          <p:nvPr>
            <p:ph type="sldImg"/>
          </p:nvPr>
        </p:nvSpPr>
        <p:spPr>
          <a:xfrm>
            <a:off x="1258888" y="720725"/>
            <a:ext cx="4799012" cy="3598863"/>
          </a:xfrm>
          <a:ln/>
        </p:spPr>
      </p:sp>
      <p:sp>
        <p:nvSpPr>
          <p:cNvPr id="56324"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369472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F270FB-4939-4BC1-AB33-FE120C4848AC}" type="slidenum">
              <a:rPr lang="en-US" altLang="vi-VN"/>
              <a:pPr eaLnBrk="1" hangingPunct="1"/>
              <a:t>14</a:t>
            </a:fld>
            <a:endParaRPr lang="en-US" altLang="vi-VN"/>
          </a:p>
        </p:txBody>
      </p:sp>
      <p:sp>
        <p:nvSpPr>
          <p:cNvPr id="57347" name="Rectangle 2"/>
          <p:cNvSpPr>
            <a:spLocks noGrp="1" noRot="1" noChangeAspect="1" noChangeArrowheads="1" noTextEdit="1"/>
          </p:cNvSpPr>
          <p:nvPr>
            <p:ph type="sldImg"/>
          </p:nvPr>
        </p:nvSpPr>
        <p:spPr>
          <a:xfrm>
            <a:off x="1258888" y="720725"/>
            <a:ext cx="4799012" cy="3598863"/>
          </a:xfrm>
          <a:ln/>
        </p:spPr>
      </p:sp>
      <p:sp>
        <p:nvSpPr>
          <p:cNvPr id="57348"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502299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687EFC-13C6-43BA-B4DF-1FE569DABD23}" type="slidenum">
              <a:rPr lang="en-US" altLang="vi-VN"/>
              <a:pPr eaLnBrk="1" hangingPunct="1"/>
              <a:t>15</a:t>
            </a:fld>
            <a:endParaRPr lang="en-US" altLang="vi-VN"/>
          </a:p>
        </p:txBody>
      </p:sp>
      <p:sp>
        <p:nvSpPr>
          <p:cNvPr id="58371" name="Rectangle 2"/>
          <p:cNvSpPr>
            <a:spLocks noGrp="1" noRot="1" noChangeAspect="1" noChangeArrowheads="1" noTextEdit="1"/>
          </p:cNvSpPr>
          <p:nvPr>
            <p:ph type="sldImg"/>
          </p:nvPr>
        </p:nvSpPr>
        <p:spPr>
          <a:xfrm>
            <a:off x="1258888" y="720725"/>
            <a:ext cx="4797425" cy="3598863"/>
          </a:xfrm>
          <a:ln/>
        </p:spPr>
      </p:sp>
      <p:sp>
        <p:nvSpPr>
          <p:cNvPr id="5837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48179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B0A08E1-F826-448C-8186-EAA044F5E7A4}" type="slidenum">
              <a:rPr lang="en-US" altLang="vi-VN"/>
              <a:pPr eaLnBrk="1" hangingPunct="1"/>
              <a:t>16</a:t>
            </a:fld>
            <a:endParaRPr lang="en-US" altLang="vi-VN"/>
          </a:p>
        </p:txBody>
      </p:sp>
      <p:sp>
        <p:nvSpPr>
          <p:cNvPr id="59395" name="Rectangle 2"/>
          <p:cNvSpPr>
            <a:spLocks noGrp="1" noRot="1" noChangeAspect="1" noChangeArrowheads="1" noTextEdit="1"/>
          </p:cNvSpPr>
          <p:nvPr>
            <p:ph type="sldImg"/>
          </p:nvPr>
        </p:nvSpPr>
        <p:spPr>
          <a:xfrm>
            <a:off x="1258888" y="720725"/>
            <a:ext cx="4797425" cy="3598863"/>
          </a:xfrm>
          <a:ln/>
        </p:spPr>
      </p:sp>
      <p:sp>
        <p:nvSpPr>
          <p:cNvPr id="59396"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677565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056783-B69D-40F4-AA5F-7F5EAB09E790}" type="slidenum">
              <a:rPr lang="en-US" altLang="vi-VN"/>
              <a:pPr eaLnBrk="1" hangingPunct="1"/>
              <a:t>17</a:t>
            </a:fld>
            <a:endParaRPr lang="en-US" altLang="vi-VN"/>
          </a:p>
        </p:txBody>
      </p:sp>
      <p:sp>
        <p:nvSpPr>
          <p:cNvPr id="60419" name="Rectangle 2"/>
          <p:cNvSpPr>
            <a:spLocks noGrp="1" noRot="1" noChangeAspect="1" noChangeArrowheads="1" noTextEdit="1"/>
          </p:cNvSpPr>
          <p:nvPr>
            <p:ph type="sldImg"/>
          </p:nvPr>
        </p:nvSpPr>
        <p:spPr>
          <a:xfrm>
            <a:off x="1258888" y="720725"/>
            <a:ext cx="4797425" cy="3598863"/>
          </a:xfrm>
          <a:ln/>
        </p:spPr>
      </p:sp>
      <p:sp>
        <p:nvSpPr>
          <p:cNvPr id="60420"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37814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9F0510-7915-462E-8095-264558C8877C}" type="slidenum">
              <a:rPr lang="en-US" altLang="vi-VN"/>
              <a:pPr eaLnBrk="1" hangingPunct="1"/>
              <a:t>18</a:t>
            </a:fld>
            <a:endParaRPr lang="en-US" altLang="vi-VN"/>
          </a:p>
        </p:txBody>
      </p:sp>
      <p:sp>
        <p:nvSpPr>
          <p:cNvPr id="61443" name="Rectangle 2"/>
          <p:cNvSpPr>
            <a:spLocks noGrp="1" noRot="1" noChangeAspect="1" noChangeArrowheads="1" noTextEdit="1"/>
          </p:cNvSpPr>
          <p:nvPr>
            <p:ph type="sldImg"/>
          </p:nvPr>
        </p:nvSpPr>
        <p:spPr>
          <a:xfrm>
            <a:off x="1258888" y="720725"/>
            <a:ext cx="4799012" cy="3598863"/>
          </a:xfrm>
          <a:ln/>
        </p:spPr>
      </p:sp>
      <p:sp>
        <p:nvSpPr>
          <p:cNvPr id="61444"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56837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85776F-A860-4310-BDCA-48ED708E3BB4}" type="slidenum">
              <a:rPr lang="en-US" altLang="vi-VN"/>
              <a:pPr eaLnBrk="1" hangingPunct="1"/>
              <a:t>19</a:t>
            </a:fld>
            <a:endParaRPr lang="en-US" altLang="vi-VN"/>
          </a:p>
        </p:txBody>
      </p:sp>
      <p:sp>
        <p:nvSpPr>
          <p:cNvPr id="62467" name="Rectangle 2"/>
          <p:cNvSpPr>
            <a:spLocks noGrp="1" noRot="1" noChangeAspect="1" noChangeArrowheads="1" noTextEdit="1"/>
          </p:cNvSpPr>
          <p:nvPr>
            <p:ph type="sldImg"/>
          </p:nvPr>
        </p:nvSpPr>
        <p:spPr>
          <a:xfrm>
            <a:off x="1258888" y="720725"/>
            <a:ext cx="4799012" cy="3598863"/>
          </a:xfrm>
          <a:ln/>
        </p:spPr>
      </p:sp>
      <p:sp>
        <p:nvSpPr>
          <p:cNvPr id="62468" name="Rectangle 3"/>
          <p:cNvSpPr>
            <a:spLocks noGrp="1" noChangeArrowheads="1"/>
          </p:cNvSpPr>
          <p:nvPr>
            <p:ph type="body" idx="1"/>
          </p:nvPr>
        </p:nvSpPr>
        <p:spPr>
          <a:xfrm>
            <a:off x="730250" y="4559300"/>
            <a:ext cx="5854700" cy="4321175"/>
          </a:xfrm>
          <a:noFill/>
        </p:spPr>
        <p:txBody>
          <a:bodyPr/>
          <a:lstStyle/>
          <a:p>
            <a:pPr eaLnBrk="1" hangingPunct="1"/>
            <a:r>
              <a:rPr lang="en-US" altLang="vi-VN">
                <a:latin typeface="Arial" panose="020B0604020202020204" pitchFamily="34" charset="0"/>
              </a:rPr>
              <a:t>Hàm getchar() : lấy ký tự bất kỳ từ bàn phím</a:t>
            </a:r>
            <a:endParaRPr lang="vi-VN" altLang="vi-VN">
              <a:latin typeface="Arial" panose="020B0604020202020204" pitchFamily="34" charset="0"/>
            </a:endParaRPr>
          </a:p>
        </p:txBody>
      </p:sp>
    </p:spTree>
    <p:extLst>
      <p:ext uri="{BB962C8B-B14F-4D97-AF65-F5344CB8AC3E}">
        <p14:creationId xmlns:p14="http://schemas.microsoft.com/office/powerpoint/2010/main" val="47508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8FD3FB8-B9A7-4AA7-B983-E8BABE90CFC1}" type="slidenum">
              <a:rPr lang="en-US" altLang="vi-VN"/>
              <a:pPr eaLnBrk="1" hangingPunct="1"/>
              <a:t>20</a:t>
            </a:fld>
            <a:endParaRPr lang="en-US" altLang="vi-VN"/>
          </a:p>
        </p:txBody>
      </p:sp>
      <p:sp>
        <p:nvSpPr>
          <p:cNvPr id="63491" name="Rectangle 2"/>
          <p:cNvSpPr>
            <a:spLocks noGrp="1" noRot="1" noChangeAspect="1" noChangeArrowheads="1" noTextEdit="1"/>
          </p:cNvSpPr>
          <p:nvPr>
            <p:ph type="sldImg"/>
          </p:nvPr>
        </p:nvSpPr>
        <p:spPr>
          <a:xfrm>
            <a:off x="1258888" y="720725"/>
            <a:ext cx="4799012" cy="3598863"/>
          </a:xfrm>
          <a:ln/>
        </p:spPr>
      </p:sp>
      <p:sp>
        <p:nvSpPr>
          <p:cNvPr id="6349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156648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6FF06C4-9EDB-4592-BDBF-3A7E6A585470}" type="slidenum">
              <a:rPr lang="en-US" altLang="vi-VN"/>
              <a:pPr eaLnBrk="1" hangingPunct="1"/>
              <a:t>21</a:t>
            </a:fld>
            <a:endParaRPr lang="en-US" altLang="vi-VN"/>
          </a:p>
        </p:txBody>
      </p:sp>
      <p:sp>
        <p:nvSpPr>
          <p:cNvPr id="64515" name="Rectangle 2"/>
          <p:cNvSpPr>
            <a:spLocks noGrp="1" noRot="1" noChangeAspect="1" noChangeArrowheads="1" noTextEdit="1"/>
          </p:cNvSpPr>
          <p:nvPr>
            <p:ph type="sldImg"/>
          </p:nvPr>
        </p:nvSpPr>
        <p:spPr>
          <a:xfrm>
            <a:off x="1258888" y="720725"/>
            <a:ext cx="4799012" cy="3598863"/>
          </a:xfrm>
          <a:ln/>
        </p:spPr>
      </p:sp>
      <p:sp>
        <p:nvSpPr>
          <p:cNvPr id="64516"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840378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FE4017-D1C3-4A00-ACC7-B6B0CF4AF36E}" type="slidenum">
              <a:rPr lang="en-US" altLang="vi-VN"/>
              <a:pPr eaLnBrk="1" hangingPunct="1"/>
              <a:t>22</a:t>
            </a:fld>
            <a:endParaRPr lang="en-US" altLang="vi-VN"/>
          </a:p>
        </p:txBody>
      </p:sp>
      <p:sp>
        <p:nvSpPr>
          <p:cNvPr id="65539" name="Rectangle 2"/>
          <p:cNvSpPr>
            <a:spLocks noGrp="1" noRot="1" noChangeAspect="1" noChangeArrowheads="1" noTextEdit="1"/>
          </p:cNvSpPr>
          <p:nvPr>
            <p:ph type="sldImg"/>
          </p:nvPr>
        </p:nvSpPr>
        <p:spPr>
          <a:xfrm>
            <a:off x="1258888" y="720725"/>
            <a:ext cx="4797425" cy="3598863"/>
          </a:xfrm>
          <a:ln/>
        </p:spPr>
      </p:sp>
      <p:sp>
        <p:nvSpPr>
          <p:cNvPr id="65540"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743059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290561-2DBF-4F8F-8198-E5085F35E83F}" type="slidenum">
              <a:rPr lang="en-US" altLang="vi-VN"/>
              <a:pPr eaLnBrk="1" hangingPunct="1"/>
              <a:t>23</a:t>
            </a:fld>
            <a:endParaRPr lang="en-US" altLang="vi-VN"/>
          </a:p>
        </p:txBody>
      </p:sp>
      <p:sp>
        <p:nvSpPr>
          <p:cNvPr id="66563" name="Rectangle 2"/>
          <p:cNvSpPr>
            <a:spLocks noGrp="1" noRot="1" noChangeAspect="1" noChangeArrowheads="1" noTextEdit="1"/>
          </p:cNvSpPr>
          <p:nvPr>
            <p:ph type="sldImg"/>
          </p:nvPr>
        </p:nvSpPr>
        <p:spPr>
          <a:xfrm>
            <a:off x="1258888" y="720725"/>
            <a:ext cx="4797425" cy="3598863"/>
          </a:xfrm>
          <a:ln/>
        </p:spPr>
      </p:sp>
      <p:sp>
        <p:nvSpPr>
          <p:cNvPr id="66564"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128596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F7DBE8A-63F6-42F0-B096-D774516F5DB8}" type="slidenum">
              <a:rPr lang="en-US" altLang="vi-VN"/>
              <a:pPr eaLnBrk="1" hangingPunct="1"/>
              <a:t>24</a:t>
            </a:fld>
            <a:endParaRPr lang="en-US" altLang="vi-VN"/>
          </a:p>
        </p:txBody>
      </p:sp>
      <p:sp>
        <p:nvSpPr>
          <p:cNvPr id="67587" name="Rectangle 2"/>
          <p:cNvSpPr>
            <a:spLocks noGrp="1" noRot="1" noChangeAspect="1" noChangeArrowheads="1" noTextEdit="1"/>
          </p:cNvSpPr>
          <p:nvPr>
            <p:ph type="sldImg"/>
          </p:nvPr>
        </p:nvSpPr>
        <p:spPr>
          <a:xfrm>
            <a:off x="1258888" y="720725"/>
            <a:ext cx="4799012" cy="3598863"/>
          </a:xfrm>
          <a:ln/>
        </p:spPr>
      </p:sp>
      <p:sp>
        <p:nvSpPr>
          <p:cNvPr id="67588"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9516126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DC00B9-E107-41A6-9B25-58BD8658FD62}" type="slidenum">
              <a:rPr lang="en-US" altLang="vi-VN"/>
              <a:pPr eaLnBrk="1" hangingPunct="1"/>
              <a:t>25</a:t>
            </a:fld>
            <a:endParaRPr lang="en-US" altLang="vi-VN"/>
          </a:p>
        </p:txBody>
      </p:sp>
      <p:sp>
        <p:nvSpPr>
          <p:cNvPr id="68611" name="Rectangle 2"/>
          <p:cNvSpPr>
            <a:spLocks noGrp="1" noRot="1" noChangeAspect="1" noChangeArrowheads="1" noTextEdit="1"/>
          </p:cNvSpPr>
          <p:nvPr>
            <p:ph type="sldImg"/>
          </p:nvPr>
        </p:nvSpPr>
        <p:spPr>
          <a:xfrm>
            <a:off x="1258888" y="720725"/>
            <a:ext cx="4799012" cy="3598863"/>
          </a:xfrm>
          <a:ln/>
        </p:spPr>
      </p:sp>
      <p:sp>
        <p:nvSpPr>
          <p:cNvPr id="6861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404999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DC00B9-E107-41A6-9B25-58BD8658FD62}" type="slidenum">
              <a:rPr lang="en-US" altLang="vi-VN"/>
              <a:pPr eaLnBrk="1" hangingPunct="1"/>
              <a:t>26</a:t>
            </a:fld>
            <a:endParaRPr lang="en-US" altLang="vi-VN"/>
          </a:p>
        </p:txBody>
      </p:sp>
      <p:sp>
        <p:nvSpPr>
          <p:cNvPr id="68611" name="Rectangle 2"/>
          <p:cNvSpPr>
            <a:spLocks noGrp="1" noRot="1" noChangeAspect="1" noChangeArrowheads="1" noTextEdit="1"/>
          </p:cNvSpPr>
          <p:nvPr>
            <p:ph type="sldImg"/>
          </p:nvPr>
        </p:nvSpPr>
        <p:spPr>
          <a:xfrm>
            <a:off x="1258888" y="720725"/>
            <a:ext cx="4799012" cy="3598863"/>
          </a:xfrm>
          <a:ln/>
        </p:spPr>
      </p:sp>
      <p:sp>
        <p:nvSpPr>
          <p:cNvPr id="6861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940873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AAC97C-FF5D-4F44-8E72-A9116AF9486F}" type="slidenum">
              <a:rPr lang="en-US" altLang="vi-VN"/>
              <a:pPr eaLnBrk="1" hangingPunct="1"/>
              <a:t>27</a:t>
            </a:fld>
            <a:endParaRPr lang="en-US" altLang="vi-VN"/>
          </a:p>
        </p:txBody>
      </p:sp>
      <p:sp>
        <p:nvSpPr>
          <p:cNvPr id="69635" name="Rectangle 2"/>
          <p:cNvSpPr>
            <a:spLocks noGrp="1" noRot="1" noChangeAspect="1" noChangeArrowheads="1" noTextEdit="1"/>
          </p:cNvSpPr>
          <p:nvPr>
            <p:ph type="sldImg"/>
          </p:nvPr>
        </p:nvSpPr>
        <p:spPr>
          <a:xfrm>
            <a:off x="1258888" y="720725"/>
            <a:ext cx="4799012" cy="3598863"/>
          </a:xfrm>
          <a:ln/>
        </p:spPr>
      </p:sp>
      <p:sp>
        <p:nvSpPr>
          <p:cNvPr id="69636"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268685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569FA9-BD8D-4245-9A95-863EF0EBFAC1}" type="slidenum">
              <a:rPr lang="en-US" altLang="vi-VN"/>
              <a:pPr eaLnBrk="1" hangingPunct="1"/>
              <a:t>28</a:t>
            </a:fld>
            <a:endParaRPr lang="en-US" altLang="vi-VN"/>
          </a:p>
        </p:txBody>
      </p:sp>
      <p:sp>
        <p:nvSpPr>
          <p:cNvPr id="70659" name="Rectangle 2"/>
          <p:cNvSpPr>
            <a:spLocks noGrp="1" noRot="1" noChangeAspect="1" noChangeArrowheads="1" noTextEdit="1"/>
          </p:cNvSpPr>
          <p:nvPr>
            <p:ph type="sldImg"/>
          </p:nvPr>
        </p:nvSpPr>
        <p:spPr>
          <a:xfrm>
            <a:off x="1258888" y="720725"/>
            <a:ext cx="4799012" cy="3598863"/>
          </a:xfrm>
          <a:ln/>
        </p:spPr>
      </p:sp>
      <p:sp>
        <p:nvSpPr>
          <p:cNvPr id="70660"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9135556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A3F36-E3E7-4137-B2E6-31C7681F8588}" type="slidenum">
              <a:rPr lang="en-US" altLang="vi-VN"/>
              <a:pPr eaLnBrk="1" hangingPunct="1"/>
              <a:t>29</a:t>
            </a:fld>
            <a:endParaRPr lang="en-US" altLang="vi-VN"/>
          </a:p>
        </p:txBody>
      </p:sp>
      <p:sp>
        <p:nvSpPr>
          <p:cNvPr id="71683" name="Rectangle 2"/>
          <p:cNvSpPr>
            <a:spLocks noGrp="1" noRot="1" noChangeAspect="1" noChangeArrowheads="1" noTextEdit="1"/>
          </p:cNvSpPr>
          <p:nvPr>
            <p:ph type="sldImg"/>
          </p:nvPr>
        </p:nvSpPr>
        <p:spPr>
          <a:xfrm>
            <a:off x="1258888" y="720725"/>
            <a:ext cx="4799012" cy="3598863"/>
          </a:xfrm>
          <a:ln/>
        </p:spPr>
      </p:sp>
      <p:sp>
        <p:nvSpPr>
          <p:cNvPr id="71684"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10284126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038224-7E56-4EC4-8681-57F2B97A7821}" type="slidenum">
              <a:rPr lang="en-US" altLang="vi-VN"/>
              <a:pPr eaLnBrk="1" hangingPunct="1"/>
              <a:t>30</a:t>
            </a:fld>
            <a:endParaRPr lang="en-US" altLang="vi-VN"/>
          </a:p>
        </p:txBody>
      </p:sp>
      <p:sp>
        <p:nvSpPr>
          <p:cNvPr id="72707" name="Rectangle 2"/>
          <p:cNvSpPr>
            <a:spLocks noGrp="1" noRot="1" noChangeAspect="1" noChangeArrowheads="1" noTextEdit="1"/>
          </p:cNvSpPr>
          <p:nvPr>
            <p:ph type="sldImg"/>
          </p:nvPr>
        </p:nvSpPr>
        <p:spPr>
          <a:xfrm>
            <a:off x="1258888" y="720725"/>
            <a:ext cx="4799012" cy="3598863"/>
          </a:xfrm>
          <a:ln/>
        </p:spPr>
      </p:sp>
      <p:sp>
        <p:nvSpPr>
          <p:cNvPr id="72708"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720832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8C165D-28B3-4272-BCEA-3AA5E5B333D8}" type="slidenum">
              <a:rPr lang="en-US" altLang="vi-VN"/>
              <a:pPr eaLnBrk="1" hangingPunct="1"/>
              <a:t>31</a:t>
            </a:fld>
            <a:endParaRPr lang="en-US" altLang="vi-VN"/>
          </a:p>
        </p:txBody>
      </p:sp>
      <p:sp>
        <p:nvSpPr>
          <p:cNvPr id="73731" name="Rectangle 2"/>
          <p:cNvSpPr>
            <a:spLocks noGrp="1" noRot="1" noChangeAspect="1" noChangeArrowheads="1" noTextEdit="1"/>
          </p:cNvSpPr>
          <p:nvPr>
            <p:ph type="sldImg"/>
          </p:nvPr>
        </p:nvSpPr>
        <p:spPr>
          <a:xfrm>
            <a:off x="1258888" y="720725"/>
            <a:ext cx="4799012" cy="3598863"/>
          </a:xfrm>
          <a:ln/>
        </p:spPr>
      </p:sp>
      <p:sp>
        <p:nvSpPr>
          <p:cNvPr id="7373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7542590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1197E74-1DDA-4E86-9BD5-3939B2B74557}" type="slidenum">
              <a:rPr lang="en-US" altLang="vi-VN"/>
              <a:pPr eaLnBrk="1" hangingPunct="1"/>
              <a:t>32</a:t>
            </a:fld>
            <a:endParaRPr lang="en-US" altLang="vi-VN"/>
          </a:p>
        </p:txBody>
      </p:sp>
      <p:sp>
        <p:nvSpPr>
          <p:cNvPr id="74755" name="Rectangle 2"/>
          <p:cNvSpPr>
            <a:spLocks noGrp="1" noRot="1" noChangeAspect="1" noChangeArrowheads="1" noTextEdit="1"/>
          </p:cNvSpPr>
          <p:nvPr>
            <p:ph type="sldImg"/>
          </p:nvPr>
        </p:nvSpPr>
        <p:spPr>
          <a:xfrm>
            <a:off x="1258888" y="720725"/>
            <a:ext cx="4797425" cy="3598863"/>
          </a:xfrm>
          <a:ln/>
        </p:spPr>
      </p:sp>
      <p:sp>
        <p:nvSpPr>
          <p:cNvPr id="74756"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4146219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B1B4D98-12EC-4684-AD96-E3A0C7FBDFE2}" type="slidenum">
              <a:rPr lang="en-US" altLang="vi-VN"/>
              <a:pPr eaLnBrk="1" hangingPunct="1"/>
              <a:t>33</a:t>
            </a:fld>
            <a:endParaRPr lang="en-US" altLang="vi-VN"/>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228583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547FCA-D90E-4983-8B13-1632A1F4B11F}" type="slidenum">
              <a:rPr lang="en-US" altLang="vi-VN"/>
              <a:pPr eaLnBrk="1" hangingPunct="1"/>
              <a:t>34</a:t>
            </a:fld>
            <a:endParaRPr lang="en-US" altLang="vi-VN"/>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Bài tập này chỉ dành cho SV tham khảo để làm bài tập, GV không dạy trên lớp lý thuyết</a:t>
            </a:r>
          </a:p>
          <a:p>
            <a:pPr eaLnBrk="1" hangingPunct="1"/>
            <a:endParaRPr lang="en-US" altLang="vi-VN">
              <a:latin typeface="Arial" panose="020B0604020202020204" pitchFamily="34" charset="0"/>
            </a:endParaRPr>
          </a:p>
        </p:txBody>
      </p:sp>
    </p:spTree>
    <p:extLst>
      <p:ext uri="{BB962C8B-B14F-4D97-AF65-F5344CB8AC3E}">
        <p14:creationId xmlns:p14="http://schemas.microsoft.com/office/powerpoint/2010/main" val="3403793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7248A18-4954-414D-9312-EA1396794FCA}" type="slidenum">
              <a:rPr lang="en-US" altLang="vi-VN"/>
              <a:pPr eaLnBrk="1" hangingPunct="1"/>
              <a:t>35</a:t>
            </a:fld>
            <a:endParaRPr lang="en-US" altLang="vi-VN"/>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Bài tập này chỉ dành cho SV tham khảo để làm bài tập, GV không dạy trên lớp lý thuyết</a:t>
            </a:r>
          </a:p>
        </p:txBody>
      </p:sp>
    </p:spTree>
    <p:extLst>
      <p:ext uri="{BB962C8B-B14F-4D97-AF65-F5344CB8AC3E}">
        <p14:creationId xmlns:p14="http://schemas.microsoft.com/office/powerpoint/2010/main" val="19727184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3F1515-DC99-4D07-9DD9-33C801A341EF}" type="slidenum">
              <a:rPr lang="en-US" altLang="vi-VN"/>
              <a:pPr eaLnBrk="1" hangingPunct="1"/>
              <a:t>36</a:t>
            </a:fld>
            <a:endParaRPr lang="en-US" altLang="vi-VN"/>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Bài tập này chỉ dành cho SV tham khảo để làm bài tập, GV không dạy trên lớp lý thuyết</a:t>
            </a:r>
          </a:p>
          <a:p>
            <a:pPr eaLnBrk="1" hangingPunct="1"/>
            <a:endParaRPr lang="en-US" altLang="vi-VN">
              <a:latin typeface="Arial" panose="020B0604020202020204" pitchFamily="34" charset="0"/>
            </a:endParaRPr>
          </a:p>
        </p:txBody>
      </p:sp>
    </p:spTree>
    <p:extLst>
      <p:ext uri="{BB962C8B-B14F-4D97-AF65-F5344CB8AC3E}">
        <p14:creationId xmlns:p14="http://schemas.microsoft.com/office/powerpoint/2010/main" val="844566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471623-7B24-405F-87DF-9F9B693C1F8C}" type="slidenum">
              <a:rPr lang="en-US" altLang="vi-VN"/>
              <a:pPr eaLnBrk="1" hangingPunct="1"/>
              <a:t>37</a:t>
            </a:fld>
            <a:endParaRPr lang="en-US" altLang="vi-V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Bài tập này chỉ dành cho SV tham khảo để làm bài tập, GV không dạy trên lớp lý thuyết</a:t>
            </a:r>
          </a:p>
        </p:txBody>
      </p:sp>
    </p:spTree>
    <p:extLst>
      <p:ext uri="{BB962C8B-B14F-4D97-AF65-F5344CB8AC3E}">
        <p14:creationId xmlns:p14="http://schemas.microsoft.com/office/powerpoint/2010/main" val="6693656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52185-F2D0-4032-A2F7-3813BBE10DEB}" type="slidenum">
              <a:rPr lang="en-US" altLang="vi-VN"/>
              <a:pPr eaLnBrk="1" hangingPunct="1"/>
              <a:t>38</a:t>
            </a:fld>
            <a:endParaRPr lang="en-US" altLang="vi-VN"/>
          </a:p>
        </p:txBody>
      </p:sp>
      <p:sp>
        <p:nvSpPr>
          <p:cNvPr id="80899" name="Rectangle 2"/>
          <p:cNvSpPr>
            <a:spLocks noGrp="1" noRot="1" noChangeAspect="1" noChangeArrowheads="1" noTextEdit="1"/>
          </p:cNvSpPr>
          <p:nvPr>
            <p:ph type="sldImg"/>
          </p:nvPr>
        </p:nvSpPr>
        <p:spPr>
          <a:xfrm>
            <a:off x="1258888" y="720725"/>
            <a:ext cx="4797425" cy="3598863"/>
          </a:xfrm>
          <a:ln/>
        </p:spPr>
      </p:sp>
      <p:sp>
        <p:nvSpPr>
          <p:cNvPr id="80900"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2298140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96670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321037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4034B-4B31-483C-B33E-16E724396FEE}" type="datetimeFigureOut">
              <a:rPr lang="en-US" smtClean="0"/>
              <a:t>2/19/21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444747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A4034B-4B31-483C-B33E-16E724396FEE}" type="datetimeFigureOut">
              <a:rPr lang="en-US" smtClean="0"/>
              <a:t>2/19/21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201340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A4034B-4B31-483C-B33E-16E724396FEE}" type="datetimeFigureOut">
              <a:rPr lang="en-US" smtClean="0"/>
              <a:t>2/19/21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73112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A4034B-4B31-483C-B33E-16E724396FEE}" type="datetimeFigureOut">
              <a:rPr lang="en-US" smtClean="0"/>
              <a:t>2/19/21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18843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4034B-4B31-483C-B33E-16E724396FEE}" type="datetimeFigureOut">
              <a:rPr lang="en-US" smtClean="0"/>
              <a:t>2/19/21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030797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2/19/21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9694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2/19/21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635196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16260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2/19/21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8983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150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144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612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45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158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6518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3382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3092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45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9828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168275"/>
            <a:ext cx="8323263" cy="609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a:spLocks noGrp="1" noChangeArrowheads="1"/>
          </p:cNvSpPr>
          <p:nvPr>
            <p:ph type="dt" sz="half" idx="10"/>
          </p:nvPr>
        </p:nvSpPr>
        <p:spPr/>
        <p:txBody>
          <a:bodyPr/>
          <a:lstStyle>
            <a:lvl1pPr>
              <a:defRPr/>
            </a:lvl1pPr>
          </a:lstStyle>
          <a:p>
            <a:pPr>
              <a:defRPr/>
            </a:pPr>
            <a:endParaRPr lang="en-GB"/>
          </a:p>
        </p:txBody>
      </p:sp>
      <p:sp>
        <p:nvSpPr>
          <p:cNvPr id="4" name="Rectangle 3"/>
          <p:cNvSpPr>
            <a:spLocks noGrp="1" noChangeArrowheads="1"/>
          </p:cNvSpPr>
          <p:nvPr>
            <p:ph type="ftr" sz="quarter" idx="11"/>
          </p:nvPr>
        </p:nvSpPr>
        <p:spPr/>
        <p:txBody>
          <a:bodyPr/>
          <a:lstStyle>
            <a:lvl1pPr>
              <a:defRPr/>
            </a:lvl1pPr>
          </a:lstStyle>
          <a:p>
            <a:pPr>
              <a:defRPr/>
            </a:pPr>
            <a:r>
              <a:rPr lang="en-US"/>
              <a:t>www.hoasen.edu.vn</a:t>
            </a:r>
            <a:endParaRPr lang="en-GB"/>
          </a:p>
        </p:txBody>
      </p:sp>
      <p:sp>
        <p:nvSpPr>
          <p:cNvPr id="5" name="Rectangle 4"/>
          <p:cNvSpPr>
            <a:spLocks noGrp="1" noChangeArrowheads="1"/>
          </p:cNvSpPr>
          <p:nvPr>
            <p:ph type="sldNum" sz="quarter" idx="12"/>
          </p:nvPr>
        </p:nvSpPr>
        <p:spPr/>
        <p:txBody>
          <a:bodyPr/>
          <a:lstStyle>
            <a:lvl1pPr>
              <a:defRPr/>
            </a:lvl1pPr>
          </a:lstStyle>
          <a:p>
            <a:fld id="{DA0436A4-A3CA-4BEA-9B48-0B14768C7EE1}" type="slidenum">
              <a:rPr lang="en-US" altLang="vi-VN"/>
              <a:pPr/>
              <a:t>‹#›</a:t>
            </a:fld>
            <a:endParaRPr lang="en-GB" altLang="vi-VN"/>
          </a:p>
        </p:txBody>
      </p:sp>
    </p:spTree>
    <p:extLst>
      <p:ext uri="{BB962C8B-B14F-4D97-AF65-F5344CB8AC3E}">
        <p14:creationId xmlns:p14="http://schemas.microsoft.com/office/powerpoint/2010/main" val="3316329414"/>
      </p:ext>
    </p:extLst>
  </p:cSld>
  <p:clrMapOvr>
    <a:masterClrMapping/>
  </p:clrMapOvr>
  <p:transition>
    <p:push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4034B-4B31-483C-B33E-16E724396FEE}" type="datetimeFigureOut">
              <a:rPr lang="en-US" smtClean="0"/>
              <a:t>2/19/21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6D39CD-9FF8-49B8-B0DF-CC3B27D0E337}" type="slidenum">
              <a:rPr lang="en-US" smtClean="0"/>
              <a:t>‹#›</a:t>
            </a:fld>
            <a:endParaRPr lang="en-US"/>
          </a:p>
        </p:txBody>
      </p:sp>
    </p:spTree>
    <p:extLst>
      <p:ext uri="{BB962C8B-B14F-4D97-AF65-F5344CB8AC3E}">
        <p14:creationId xmlns:p14="http://schemas.microsoft.com/office/powerpoint/2010/main" val="240416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2/19/21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24665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01333" y="4726547"/>
            <a:ext cx="7772400" cy="689490"/>
          </a:xfrm>
        </p:spPr>
        <p:txBody>
          <a:bodyPr>
            <a:noAutofit/>
          </a:bodyPr>
          <a:lstStyle/>
          <a:p>
            <a:r>
              <a:rPr lang="en-US" sz="3200" dirty="0">
                <a:solidFill>
                  <a:schemeClr val="bg1"/>
                </a:solidFill>
                <a:latin typeface="Myriad Pro" panose="020B0503030403020204" pitchFamily="34" charset="0"/>
              </a:rPr>
              <a:t>BÀI GIẢNG TUẦN 12</a:t>
            </a:r>
          </a:p>
        </p:txBody>
      </p:sp>
    </p:spTree>
    <p:extLst>
      <p:ext uri="{BB962C8B-B14F-4D97-AF65-F5344CB8AC3E}">
        <p14:creationId xmlns:p14="http://schemas.microsoft.com/office/powerpoint/2010/main" val="793442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Callout 6"/>
          <p:cNvSpPr/>
          <p:nvPr/>
        </p:nvSpPr>
        <p:spPr>
          <a:xfrm>
            <a:off x="1230086" y="729343"/>
            <a:ext cx="6955971" cy="3287486"/>
          </a:xfrm>
          <a:prstGeom prst="cloudCallout">
            <a:avLst>
              <a:gd name="adj1" fmla="val -36327"/>
              <a:gd name="adj2" fmla="val 78726"/>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lang="en-US" sz="3600" b="1" dirty="0"/>
              <a:t>LÀM VIỆC VỚI TẬP TIN</a:t>
            </a:r>
          </a:p>
          <a:p>
            <a:pPr lvl="0" algn="ctr">
              <a:defRPr/>
            </a:pPr>
            <a:r>
              <a:rPr lang="en-US" sz="3600" b="1" dirty="0"/>
              <a:t>FILE</a:t>
            </a:r>
          </a:p>
        </p:txBody>
      </p:sp>
      <p:sp>
        <p:nvSpPr>
          <p:cNvPr id="2" name="TextBox 1"/>
          <p:cNvSpPr txBox="1"/>
          <p:nvPr/>
        </p:nvSpPr>
        <p:spPr>
          <a:xfrm>
            <a:off x="664028" y="5301345"/>
            <a:ext cx="207917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BÀI 12</a:t>
            </a:r>
            <a:endParaRPr kumimoji="0" lang="vi-VN" sz="3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38751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807942-0E43-4518-A0B2-9A4B3DE516D2}" type="slidenum">
              <a:rPr lang="en-US" altLang="vi-VN">
                <a:solidFill>
                  <a:srgbClr val="FFFF00"/>
                </a:solidFill>
              </a:rPr>
              <a:pPr eaLnBrk="1" hangingPunct="1"/>
              <a:t>3</a:t>
            </a:fld>
            <a:endParaRPr lang="en-GB" altLang="vi-VN">
              <a:solidFill>
                <a:srgbClr val="FFFF00"/>
              </a:solidFill>
            </a:endParaRPr>
          </a:p>
        </p:txBody>
      </p:sp>
      <p:sp>
        <p:nvSpPr>
          <p:cNvPr id="5124" name="Text Box 255"/>
          <p:cNvSpPr txBox="1">
            <a:spLocks noChangeArrowheads="1"/>
          </p:cNvSpPr>
          <p:nvPr/>
        </p:nvSpPr>
        <p:spPr bwMode="auto">
          <a:xfrm>
            <a:off x="1828800" y="500743"/>
            <a:ext cx="685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a:solidFill>
                  <a:srgbClr val="0000CC"/>
                </a:solidFill>
                <a:latin typeface="Tahoma" panose="020B0604030504040204" pitchFamily="34" charset="0"/>
              </a:rPr>
              <a:t>NỘI DUNG</a:t>
            </a:r>
          </a:p>
        </p:txBody>
      </p:sp>
      <p:sp>
        <p:nvSpPr>
          <p:cNvPr id="5125" name="Rectangle 256"/>
          <p:cNvSpPr>
            <a:spLocks noChangeArrowheads="1"/>
          </p:cNvSpPr>
          <p:nvPr/>
        </p:nvSpPr>
        <p:spPr bwMode="auto">
          <a:xfrm>
            <a:off x="304800" y="12192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Nhập</a:t>
            </a:r>
            <a:r>
              <a:rPr lang="en-US" altLang="vi-VN" sz="2800" dirty="0">
                <a:solidFill>
                  <a:srgbClr val="0000CC"/>
                </a:solidFill>
              </a:rPr>
              <a:t> / </a:t>
            </a:r>
            <a:r>
              <a:rPr lang="en-US" altLang="vi-VN" sz="2800" dirty="0" err="1">
                <a:solidFill>
                  <a:srgbClr val="0000CC"/>
                </a:solidFill>
              </a:rPr>
              <a:t>Xuất</a:t>
            </a:r>
            <a:r>
              <a:rPr lang="en-US" altLang="vi-VN" sz="2800" dirty="0">
                <a:solidFill>
                  <a:srgbClr val="0000CC"/>
                </a:solidFill>
              </a:rPr>
              <a:t>  - (Input/Output)</a:t>
            </a: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Khái</a:t>
            </a:r>
            <a:r>
              <a:rPr lang="en-US" altLang="vi-VN" sz="2800" dirty="0">
                <a:solidFill>
                  <a:srgbClr val="0000CC"/>
                </a:solidFill>
              </a:rPr>
              <a:t> </a:t>
            </a:r>
            <a:r>
              <a:rPr lang="en-US" altLang="vi-VN" sz="2800" dirty="0" err="1">
                <a:solidFill>
                  <a:srgbClr val="0000CC"/>
                </a:solidFill>
              </a:rPr>
              <a:t>niệm</a:t>
            </a:r>
            <a:r>
              <a:rPr lang="en-US" altLang="vi-VN" sz="2800" dirty="0">
                <a:solidFill>
                  <a:srgbClr val="0000CC"/>
                </a:solidFill>
              </a:rPr>
              <a:t> </a:t>
            </a:r>
            <a:r>
              <a:rPr lang="en-US" altLang="vi-VN" sz="2800" dirty="0" err="1">
                <a:solidFill>
                  <a:srgbClr val="0000CC"/>
                </a:solidFill>
              </a:rPr>
              <a:t>về</a:t>
            </a:r>
            <a:r>
              <a:rPr lang="en-US" altLang="vi-VN" sz="2800" dirty="0">
                <a:solidFill>
                  <a:srgbClr val="0000CC"/>
                </a:solidFill>
              </a:rPr>
              <a:t> file</a:t>
            </a: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Khai</a:t>
            </a:r>
            <a:r>
              <a:rPr lang="en-US" altLang="vi-VN" sz="2800" dirty="0">
                <a:solidFill>
                  <a:srgbClr val="0000CC"/>
                </a:solidFill>
              </a:rPr>
              <a:t> </a:t>
            </a:r>
            <a:r>
              <a:rPr lang="en-US" altLang="vi-VN" sz="2800" dirty="0" err="1">
                <a:solidFill>
                  <a:srgbClr val="0000CC"/>
                </a:solidFill>
              </a:rPr>
              <a:t>báo</a:t>
            </a:r>
            <a:r>
              <a:rPr lang="en-US" altLang="vi-VN" sz="2800" dirty="0">
                <a:solidFill>
                  <a:srgbClr val="0000CC"/>
                </a:solidFill>
              </a:rPr>
              <a:t> file</a:t>
            </a: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Xử</a:t>
            </a:r>
            <a:r>
              <a:rPr lang="en-US" altLang="vi-VN" sz="2800" dirty="0">
                <a:solidFill>
                  <a:srgbClr val="0000CC"/>
                </a:solidFill>
              </a:rPr>
              <a:t> </a:t>
            </a:r>
            <a:r>
              <a:rPr lang="en-US" altLang="vi-VN" sz="2800" dirty="0" err="1">
                <a:solidFill>
                  <a:srgbClr val="0000CC"/>
                </a:solidFill>
              </a:rPr>
              <a:t>lý</a:t>
            </a:r>
            <a:r>
              <a:rPr lang="en-US" altLang="vi-VN" sz="2800" dirty="0">
                <a:solidFill>
                  <a:srgbClr val="0000CC"/>
                </a:solidFill>
              </a:rPr>
              <a:t> file text</a:t>
            </a: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Xử</a:t>
            </a:r>
            <a:r>
              <a:rPr lang="en-US" altLang="vi-VN" sz="2800" dirty="0">
                <a:solidFill>
                  <a:srgbClr val="0000CC"/>
                </a:solidFill>
              </a:rPr>
              <a:t> </a:t>
            </a:r>
            <a:r>
              <a:rPr lang="en-US" altLang="vi-VN" sz="2800" dirty="0" err="1">
                <a:solidFill>
                  <a:srgbClr val="0000CC"/>
                </a:solidFill>
              </a:rPr>
              <a:t>lý</a:t>
            </a:r>
            <a:r>
              <a:rPr lang="en-US" altLang="vi-VN" sz="2800" dirty="0">
                <a:solidFill>
                  <a:srgbClr val="0000CC"/>
                </a:solidFill>
              </a:rPr>
              <a:t> file </a:t>
            </a:r>
            <a:r>
              <a:rPr lang="en-US" altLang="vi-VN" sz="2800" dirty="0" err="1">
                <a:solidFill>
                  <a:srgbClr val="0000CC"/>
                </a:solidFill>
              </a:rPr>
              <a:t>nhị</a:t>
            </a:r>
            <a:r>
              <a:rPr lang="en-US" altLang="vi-VN" sz="2800" dirty="0">
                <a:solidFill>
                  <a:srgbClr val="0000CC"/>
                </a:solidFill>
              </a:rPr>
              <a:t> </a:t>
            </a:r>
            <a:r>
              <a:rPr lang="en-US" altLang="vi-VN" sz="2800" dirty="0" err="1">
                <a:solidFill>
                  <a:srgbClr val="0000CC"/>
                </a:solidFill>
              </a:rPr>
              <a:t>phân</a:t>
            </a:r>
            <a:endParaRPr lang="en-US" altLang="vi-VN" sz="2800" dirty="0">
              <a:solidFill>
                <a:srgbClr val="0000CC"/>
              </a:solidFill>
            </a:endParaRP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Các</a:t>
            </a:r>
            <a:r>
              <a:rPr lang="en-US" altLang="vi-VN" sz="2800" dirty="0">
                <a:solidFill>
                  <a:srgbClr val="0000CC"/>
                </a:solidFill>
              </a:rPr>
              <a:t> demo</a:t>
            </a:r>
          </a:p>
          <a:p>
            <a:pPr algn="l">
              <a:lnSpc>
                <a:spcPct val="95000"/>
              </a:lnSpc>
              <a:spcBef>
                <a:spcPct val="5000"/>
              </a:spcBef>
              <a:buClr>
                <a:schemeClr val="tx2"/>
              </a:buClr>
              <a:buFont typeface="Wingdings" panose="05000000000000000000" pitchFamily="2" charset="2"/>
              <a:buChar char="§"/>
            </a:pPr>
            <a:endParaRPr lang="en-US" altLang="vi-VN" sz="2800" dirty="0">
              <a:solidFill>
                <a:srgbClr val="0000CC"/>
              </a:solidFill>
            </a:endParaRPr>
          </a:p>
        </p:txBody>
      </p:sp>
    </p:spTree>
    <p:extLst>
      <p:ext uri="{BB962C8B-B14F-4D97-AF65-F5344CB8AC3E}">
        <p14:creationId xmlns:p14="http://schemas.microsoft.com/office/powerpoint/2010/main" val="1287702562"/>
      </p:ext>
    </p:extLst>
  </p:cSld>
  <p:clrMapOvr>
    <a:masterClrMapping/>
  </p:clrMapOvr>
  <p:transition>
    <p:push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20"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A77F31-74BF-4482-9D52-5E0477A4033D}" type="slidenum">
              <a:rPr lang="en-US" altLang="vi-VN">
                <a:solidFill>
                  <a:srgbClr val="FFFF00"/>
                </a:solidFill>
              </a:rPr>
              <a:pPr eaLnBrk="1" hangingPunct="1"/>
              <a:t>4</a:t>
            </a:fld>
            <a:endParaRPr lang="en-GB" altLang="vi-VN">
              <a:solidFill>
                <a:srgbClr val="FFFF00"/>
              </a:solidFill>
            </a:endParaRPr>
          </a:p>
        </p:txBody>
      </p:sp>
      <p:sp>
        <p:nvSpPr>
          <p:cNvPr id="7172" name="Text Box 2"/>
          <p:cNvSpPr txBox="1">
            <a:spLocks noChangeArrowheads="1"/>
          </p:cNvSpPr>
          <p:nvPr/>
        </p:nvSpPr>
        <p:spPr bwMode="auto">
          <a:xfrm>
            <a:off x="1970314" y="381000"/>
            <a:ext cx="58782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dirty="0">
                <a:solidFill>
                  <a:srgbClr val="0000CC"/>
                </a:solidFill>
                <a:latin typeface="Tahoma" panose="020B0604030504040204" pitchFamily="34" charset="0"/>
              </a:rPr>
              <a:t>NHẬP(INPUT)/XUẤT (OUTPUT)</a:t>
            </a:r>
          </a:p>
        </p:txBody>
      </p:sp>
      <p:sp>
        <p:nvSpPr>
          <p:cNvPr id="759812" name="AutoShape 4"/>
          <p:cNvSpPr>
            <a:spLocks noChangeArrowheads="1"/>
          </p:cNvSpPr>
          <p:nvPr/>
        </p:nvSpPr>
        <p:spPr bwMode="auto">
          <a:xfrm>
            <a:off x="990600" y="213360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Input</a:t>
            </a:r>
          </a:p>
        </p:txBody>
      </p:sp>
      <p:sp>
        <p:nvSpPr>
          <p:cNvPr id="759813" name="AutoShape 5"/>
          <p:cNvSpPr>
            <a:spLocks noChangeArrowheads="1"/>
          </p:cNvSpPr>
          <p:nvPr/>
        </p:nvSpPr>
        <p:spPr bwMode="auto">
          <a:xfrm>
            <a:off x="6019800" y="211455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Output</a:t>
            </a:r>
          </a:p>
        </p:txBody>
      </p:sp>
      <p:sp>
        <p:nvSpPr>
          <p:cNvPr id="759814" name="AutoShape 6"/>
          <p:cNvSpPr>
            <a:spLocks noChangeArrowheads="1"/>
          </p:cNvSpPr>
          <p:nvPr/>
        </p:nvSpPr>
        <p:spPr bwMode="auto">
          <a:xfrm>
            <a:off x="3505200" y="1752600"/>
            <a:ext cx="1905000" cy="1676400"/>
          </a:xfrm>
          <a:prstGeom prst="flowChartAlternateProcess">
            <a:avLst/>
          </a:prstGeom>
          <a:gradFill rotWithShape="1">
            <a:gsLst>
              <a:gs pos="0">
                <a:srgbClr val="990000"/>
              </a:gs>
              <a:gs pos="50000">
                <a:schemeClr val="bg1"/>
              </a:gs>
              <a:gs pos="100000">
                <a:srgbClr val="9900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Processing</a:t>
            </a:r>
          </a:p>
        </p:txBody>
      </p:sp>
      <p:sp>
        <p:nvSpPr>
          <p:cNvPr id="7176" name="Text Box 7"/>
          <p:cNvSpPr txBox="1">
            <a:spLocks noChangeArrowheads="1"/>
          </p:cNvSpPr>
          <p:nvPr/>
        </p:nvSpPr>
        <p:spPr bwMode="auto">
          <a:xfrm>
            <a:off x="457200" y="3810000"/>
            <a:ext cx="2362200" cy="2705100"/>
          </a:xfrm>
          <a:prstGeom prst="rect">
            <a:avLst/>
          </a:prstGeom>
          <a:solidFill>
            <a:srgbClr val="0000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a:solidFill>
                  <a:schemeClr val="bg1"/>
                </a:solidFill>
              </a:rPr>
              <a:t>Nguyên liệu đầu vào của bánh tét:</a:t>
            </a:r>
          </a:p>
          <a:p>
            <a:pPr algn="l" eaLnBrk="1" hangingPunct="1">
              <a:spcBef>
                <a:spcPct val="50000"/>
              </a:spcBef>
              <a:buFontTx/>
              <a:buChar char="-"/>
            </a:pPr>
            <a:r>
              <a:rPr lang="en-US" altLang="vi-VN">
                <a:solidFill>
                  <a:schemeClr val="bg1"/>
                </a:solidFill>
              </a:rPr>
              <a:t> Gạo nếp</a:t>
            </a:r>
          </a:p>
          <a:p>
            <a:pPr algn="l" eaLnBrk="1" hangingPunct="1">
              <a:spcBef>
                <a:spcPct val="50000"/>
              </a:spcBef>
              <a:buFontTx/>
              <a:buChar char="-"/>
            </a:pPr>
            <a:r>
              <a:rPr lang="en-US" altLang="vi-VN">
                <a:solidFill>
                  <a:schemeClr val="bg1"/>
                </a:solidFill>
              </a:rPr>
              <a:t> Đậu xanh</a:t>
            </a:r>
          </a:p>
          <a:p>
            <a:pPr algn="l" eaLnBrk="1" hangingPunct="1">
              <a:spcBef>
                <a:spcPct val="50000"/>
              </a:spcBef>
              <a:buFontTx/>
              <a:buChar char="-"/>
            </a:pPr>
            <a:r>
              <a:rPr lang="en-US" altLang="vi-VN">
                <a:solidFill>
                  <a:schemeClr val="bg1"/>
                </a:solidFill>
              </a:rPr>
              <a:t> Thịt heo</a:t>
            </a:r>
          </a:p>
          <a:p>
            <a:pPr algn="l" eaLnBrk="1" hangingPunct="1">
              <a:spcBef>
                <a:spcPct val="50000"/>
              </a:spcBef>
              <a:buFontTx/>
              <a:buChar char="-"/>
            </a:pPr>
            <a:r>
              <a:rPr lang="en-US" altLang="vi-VN">
                <a:solidFill>
                  <a:schemeClr val="bg1"/>
                </a:solidFill>
              </a:rPr>
              <a:t> Gia vị</a:t>
            </a:r>
          </a:p>
          <a:p>
            <a:pPr algn="l" eaLnBrk="1" hangingPunct="1">
              <a:spcBef>
                <a:spcPct val="50000"/>
              </a:spcBef>
              <a:buFontTx/>
              <a:buChar char="-"/>
            </a:pPr>
            <a:r>
              <a:rPr lang="en-US" altLang="vi-VN">
                <a:solidFill>
                  <a:schemeClr val="bg1"/>
                </a:solidFill>
              </a:rPr>
              <a:t> …</a:t>
            </a:r>
          </a:p>
        </p:txBody>
      </p:sp>
      <p:sp>
        <p:nvSpPr>
          <p:cNvPr id="7177" name="Text Box 8"/>
          <p:cNvSpPr txBox="1">
            <a:spLocks noChangeArrowheads="1"/>
          </p:cNvSpPr>
          <p:nvPr/>
        </p:nvSpPr>
        <p:spPr bwMode="auto">
          <a:xfrm>
            <a:off x="6096000" y="3810000"/>
            <a:ext cx="2819400" cy="2566988"/>
          </a:xfrm>
          <a:prstGeom prst="rect">
            <a:avLst/>
          </a:prstGeom>
          <a:solidFill>
            <a:srgbClr val="1D538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a:solidFill>
                  <a:schemeClr val="bg1"/>
                </a:solidFill>
              </a:rPr>
              <a:t>Bánh Tét</a:t>
            </a:r>
          </a:p>
          <a:p>
            <a:pPr algn="l" eaLnBrk="1" hangingPunct="1">
              <a:spcBef>
                <a:spcPct val="50000"/>
              </a:spcBef>
              <a:buFontTx/>
              <a:buChar char="-"/>
            </a:pPr>
            <a:r>
              <a:rPr lang="en-US" altLang="vi-VN">
                <a:solidFill>
                  <a:schemeClr val="bg1"/>
                </a:solidFill>
              </a:rPr>
              <a:t> Để bán</a:t>
            </a:r>
          </a:p>
          <a:p>
            <a:pPr algn="l" eaLnBrk="1" hangingPunct="1">
              <a:spcBef>
                <a:spcPct val="50000"/>
              </a:spcBef>
              <a:buFontTx/>
              <a:buChar char="-"/>
            </a:pPr>
            <a:r>
              <a:rPr lang="en-US" altLang="vi-VN">
                <a:solidFill>
                  <a:schemeClr val="bg1"/>
                </a:solidFill>
              </a:rPr>
              <a:t> Để biếu tặng</a:t>
            </a:r>
          </a:p>
          <a:p>
            <a:pPr algn="l" eaLnBrk="1" hangingPunct="1">
              <a:spcBef>
                <a:spcPct val="50000"/>
              </a:spcBef>
              <a:buFontTx/>
              <a:buChar char="-"/>
            </a:pPr>
            <a:r>
              <a:rPr lang="en-US" altLang="vi-VN">
                <a:solidFill>
                  <a:schemeClr val="bg1"/>
                </a:solidFill>
              </a:rPr>
              <a:t> Để ăn</a:t>
            </a:r>
          </a:p>
          <a:p>
            <a:pPr algn="l" eaLnBrk="1" hangingPunct="1">
              <a:spcBef>
                <a:spcPct val="50000"/>
              </a:spcBef>
            </a:pPr>
            <a:r>
              <a:rPr lang="en-US" altLang="vi-VN">
                <a:solidFill>
                  <a:schemeClr val="bg1"/>
                </a:solidFill>
              </a:rPr>
              <a:t>- Có thể là input của một loại bánh khác (Bánh tét chiên bơ,…)</a:t>
            </a:r>
          </a:p>
        </p:txBody>
      </p:sp>
      <p:sp>
        <p:nvSpPr>
          <p:cNvPr id="7178" name="Line 9"/>
          <p:cNvSpPr>
            <a:spLocks noChangeShapeType="1"/>
          </p:cNvSpPr>
          <p:nvPr/>
        </p:nvSpPr>
        <p:spPr bwMode="auto">
          <a:xfrm>
            <a:off x="28956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79" name="Line 10"/>
          <p:cNvSpPr>
            <a:spLocks noChangeShapeType="1"/>
          </p:cNvSpPr>
          <p:nvPr/>
        </p:nvSpPr>
        <p:spPr bwMode="auto">
          <a:xfrm>
            <a:off x="54102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0" name="Line 11"/>
          <p:cNvSpPr>
            <a:spLocks noChangeShapeType="1"/>
          </p:cNvSpPr>
          <p:nvPr/>
        </p:nvSpPr>
        <p:spPr bwMode="auto">
          <a:xfrm>
            <a:off x="28956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1" name="Line 12"/>
          <p:cNvSpPr>
            <a:spLocks noChangeShapeType="1"/>
          </p:cNvSpPr>
          <p:nvPr/>
        </p:nvSpPr>
        <p:spPr bwMode="auto">
          <a:xfrm>
            <a:off x="5410200" y="2590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2" name="Line 13"/>
          <p:cNvSpPr>
            <a:spLocks noChangeShapeType="1"/>
          </p:cNvSpPr>
          <p:nvPr/>
        </p:nvSpPr>
        <p:spPr bwMode="auto">
          <a:xfrm>
            <a:off x="2895600" y="2590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3" name="Line 18"/>
          <p:cNvSpPr>
            <a:spLocks noChangeShapeType="1"/>
          </p:cNvSpPr>
          <p:nvPr/>
        </p:nvSpPr>
        <p:spPr bwMode="auto">
          <a:xfrm flipH="1">
            <a:off x="1752600" y="30480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4" name="Line 19"/>
          <p:cNvSpPr>
            <a:spLocks noChangeShapeType="1"/>
          </p:cNvSpPr>
          <p:nvPr/>
        </p:nvSpPr>
        <p:spPr bwMode="auto">
          <a:xfrm>
            <a:off x="7315200" y="30480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5" name="Text Box 21"/>
          <p:cNvSpPr txBox="1">
            <a:spLocks noChangeArrowheads="1"/>
          </p:cNvSpPr>
          <p:nvPr/>
        </p:nvSpPr>
        <p:spPr bwMode="auto">
          <a:xfrm>
            <a:off x="304800" y="1143000"/>
            <a:ext cx="853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000" b="1" i="1">
                <a:solidFill>
                  <a:srgbClr val="0000CC"/>
                </a:solidFill>
              </a:rPr>
              <a:t>Mô tả quy trình làm bánh Tét</a:t>
            </a:r>
          </a:p>
        </p:txBody>
      </p:sp>
      <p:sp>
        <p:nvSpPr>
          <p:cNvPr id="7186" name="Oval 22"/>
          <p:cNvSpPr>
            <a:spLocks noChangeArrowheads="1"/>
          </p:cNvSpPr>
          <p:nvPr/>
        </p:nvSpPr>
        <p:spPr bwMode="auto">
          <a:xfrm>
            <a:off x="3810000" y="3962400"/>
            <a:ext cx="1371600" cy="1676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solidFill>
                  <a:srgbClr val="0000CC"/>
                </a:solidFill>
              </a:rPr>
              <a:t>Nấu bánh</a:t>
            </a:r>
          </a:p>
        </p:txBody>
      </p:sp>
      <p:sp>
        <p:nvSpPr>
          <p:cNvPr id="7187" name="Line 23"/>
          <p:cNvSpPr>
            <a:spLocks noChangeShapeType="1"/>
          </p:cNvSpPr>
          <p:nvPr/>
        </p:nvSpPr>
        <p:spPr bwMode="auto">
          <a:xfrm>
            <a:off x="4495800" y="34290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7188" name="AutoShape 24"/>
          <p:cNvSpPr>
            <a:spLocks noChangeArrowheads="1"/>
          </p:cNvSpPr>
          <p:nvPr/>
        </p:nvSpPr>
        <p:spPr bwMode="auto">
          <a:xfrm>
            <a:off x="381000" y="1600200"/>
            <a:ext cx="8458200" cy="1981200"/>
          </a:xfrm>
          <a:prstGeom prst="flowChartAlternateProcess">
            <a:avLst/>
          </a:prstGeom>
          <a:noFill/>
          <a:ln w="571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Tree>
    <p:extLst>
      <p:ext uri="{BB962C8B-B14F-4D97-AF65-F5344CB8AC3E}">
        <p14:creationId xmlns:p14="http://schemas.microsoft.com/office/powerpoint/2010/main" val="1374463987"/>
      </p:ext>
    </p:extLst>
  </p:cSld>
  <p:clrMapOvr>
    <a:masterClrMapping/>
  </p:clrMapOvr>
  <p:transition>
    <p:push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21"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7554801-0DA4-4889-8033-3A29CD5ADD49}" type="slidenum">
              <a:rPr lang="en-US" altLang="vi-VN">
                <a:solidFill>
                  <a:srgbClr val="FFFF00"/>
                </a:solidFill>
              </a:rPr>
              <a:pPr eaLnBrk="1" hangingPunct="1"/>
              <a:t>5</a:t>
            </a:fld>
            <a:endParaRPr lang="en-GB" altLang="vi-VN">
              <a:solidFill>
                <a:srgbClr val="FFFF00"/>
              </a:solidFill>
            </a:endParaRPr>
          </a:p>
        </p:txBody>
      </p:sp>
      <p:sp>
        <p:nvSpPr>
          <p:cNvPr id="8197" name="Text Box 6"/>
          <p:cNvSpPr txBox="1">
            <a:spLocks noChangeArrowheads="1"/>
          </p:cNvSpPr>
          <p:nvPr/>
        </p:nvSpPr>
        <p:spPr bwMode="auto">
          <a:xfrm>
            <a:off x="228600" y="3886200"/>
            <a:ext cx="3048000" cy="1879600"/>
          </a:xfrm>
          <a:prstGeom prst="rect">
            <a:avLst/>
          </a:prstGeom>
          <a:solidFill>
            <a:srgbClr val="0000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a:solidFill>
                  <a:schemeClr val="bg1"/>
                </a:solidFill>
              </a:rPr>
              <a:t>Dữ liệu đầu vào của chương trình:</a:t>
            </a:r>
          </a:p>
          <a:p>
            <a:pPr algn="l" eaLnBrk="1" hangingPunct="1">
              <a:spcBef>
                <a:spcPct val="50000"/>
              </a:spcBef>
              <a:buFontTx/>
              <a:buChar char="-"/>
            </a:pPr>
            <a:r>
              <a:rPr lang="en-US" altLang="vi-VN">
                <a:solidFill>
                  <a:schemeClr val="bg1"/>
                </a:solidFill>
              </a:rPr>
              <a:t> Nhập từ bàn phím</a:t>
            </a:r>
          </a:p>
          <a:p>
            <a:pPr algn="l" eaLnBrk="1" hangingPunct="1">
              <a:spcBef>
                <a:spcPct val="50000"/>
              </a:spcBef>
              <a:buFontTx/>
              <a:buChar char="-"/>
            </a:pPr>
            <a:r>
              <a:rPr lang="en-US" altLang="vi-VN">
                <a:solidFill>
                  <a:schemeClr val="bg1"/>
                </a:solidFill>
              </a:rPr>
              <a:t> Từ file</a:t>
            </a:r>
          </a:p>
          <a:p>
            <a:pPr algn="l" eaLnBrk="1" hangingPunct="1">
              <a:spcBef>
                <a:spcPct val="50000"/>
              </a:spcBef>
              <a:buFontTx/>
              <a:buChar char="-"/>
            </a:pPr>
            <a:r>
              <a:rPr lang="en-US" altLang="vi-VN">
                <a:solidFill>
                  <a:schemeClr val="bg1"/>
                </a:solidFill>
              </a:rPr>
              <a:t> Từ âm thanh, camera,… </a:t>
            </a:r>
          </a:p>
        </p:txBody>
      </p:sp>
      <p:sp>
        <p:nvSpPr>
          <p:cNvPr id="8198" name="Text Box 7"/>
          <p:cNvSpPr txBox="1">
            <a:spLocks noChangeArrowheads="1"/>
          </p:cNvSpPr>
          <p:nvPr/>
        </p:nvSpPr>
        <p:spPr bwMode="auto">
          <a:xfrm>
            <a:off x="6400800" y="3733800"/>
            <a:ext cx="2362200" cy="2292350"/>
          </a:xfrm>
          <a:prstGeom prst="rect">
            <a:avLst/>
          </a:prstGeom>
          <a:solidFill>
            <a:srgbClr val="1D538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a:solidFill>
                  <a:schemeClr val="bg1"/>
                </a:solidFill>
              </a:rPr>
              <a:t>Thông tin đầu ra của chương trình:</a:t>
            </a:r>
          </a:p>
          <a:p>
            <a:pPr algn="l" eaLnBrk="1" hangingPunct="1">
              <a:spcBef>
                <a:spcPct val="50000"/>
              </a:spcBef>
              <a:buFontTx/>
              <a:buChar char="-"/>
            </a:pPr>
            <a:r>
              <a:rPr lang="en-US" altLang="vi-VN">
                <a:solidFill>
                  <a:schemeClr val="bg1"/>
                </a:solidFill>
              </a:rPr>
              <a:t> In ra màn hình</a:t>
            </a:r>
          </a:p>
          <a:p>
            <a:pPr algn="l" eaLnBrk="1" hangingPunct="1">
              <a:spcBef>
                <a:spcPct val="50000"/>
              </a:spcBef>
              <a:buFontTx/>
              <a:buChar char="-"/>
            </a:pPr>
            <a:r>
              <a:rPr lang="en-US" altLang="vi-VN">
                <a:solidFill>
                  <a:schemeClr val="bg1"/>
                </a:solidFill>
              </a:rPr>
              <a:t> In ra máy in</a:t>
            </a:r>
          </a:p>
          <a:p>
            <a:pPr algn="l" eaLnBrk="1" hangingPunct="1">
              <a:spcBef>
                <a:spcPct val="50000"/>
              </a:spcBef>
              <a:buFontTx/>
              <a:buChar char="-"/>
            </a:pPr>
            <a:r>
              <a:rPr lang="en-US" altLang="vi-VN">
                <a:solidFill>
                  <a:schemeClr val="bg1"/>
                </a:solidFill>
              </a:rPr>
              <a:t> In ra file</a:t>
            </a:r>
          </a:p>
          <a:p>
            <a:pPr algn="l" eaLnBrk="1" hangingPunct="1">
              <a:spcBef>
                <a:spcPct val="50000"/>
              </a:spcBef>
              <a:buFontTx/>
              <a:buChar char="-"/>
            </a:pPr>
            <a:r>
              <a:rPr lang="en-US" altLang="vi-VN">
                <a:solidFill>
                  <a:schemeClr val="bg1"/>
                </a:solidFill>
              </a:rPr>
              <a:t> Phát ra loa, video…</a:t>
            </a:r>
          </a:p>
        </p:txBody>
      </p:sp>
      <p:sp>
        <p:nvSpPr>
          <p:cNvPr id="8199" name="Line 13"/>
          <p:cNvSpPr>
            <a:spLocks noChangeShapeType="1"/>
          </p:cNvSpPr>
          <p:nvPr/>
        </p:nvSpPr>
        <p:spPr bwMode="auto">
          <a:xfrm flipH="1">
            <a:off x="1752600" y="30480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00" name="Text Box 15"/>
          <p:cNvSpPr txBox="1">
            <a:spLocks noChangeArrowheads="1"/>
          </p:cNvSpPr>
          <p:nvPr/>
        </p:nvSpPr>
        <p:spPr bwMode="auto">
          <a:xfrm>
            <a:off x="304800" y="6019800"/>
            <a:ext cx="853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b="1" i="1">
                <a:solidFill>
                  <a:srgbClr val="0000CC"/>
                </a:solidFill>
              </a:rPr>
              <a:t>Output của chương trình này cũng có thể là input của chương trình kia</a:t>
            </a:r>
          </a:p>
        </p:txBody>
      </p:sp>
      <p:sp>
        <p:nvSpPr>
          <p:cNvPr id="8201" name="Text Box 16"/>
          <p:cNvSpPr txBox="1">
            <a:spLocks noChangeArrowheads="1"/>
          </p:cNvSpPr>
          <p:nvPr/>
        </p:nvSpPr>
        <p:spPr bwMode="auto">
          <a:xfrm>
            <a:off x="304800" y="1143000"/>
            <a:ext cx="853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000" b="1" i="1">
                <a:solidFill>
                  <a:srgbClr val="0000CC"/>
                </a:solidFill>
              </a:rPr>
              <a:t>Mô tả quy trình thực hiện một chương trình</a:t>
            </a:r>
          </a:p>
        </p:txBody>
      </p:sp>
      <p:sp>
        <p:nvSpPr>
          <p:cNvPr id="8202" name="Oval 17"/>
          <p:cNvSpPr>
            <a:spLocks noChangeArrowheads="1"/>
          </p:cNvSpPr>
          <p:nvPr/>
        </p:nvSpPr>
        <p:spPr bwMode="auto">
          <a:xfrm>
            <a:off x="3810000" y="3962400"/>
            <a:ext cx="1371600" cy="1676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solidFill>
                  <a:srgbClr val="0000CC"/>
                </a:solidFill>
              </a:rPr>
              <a:t>Xử lý</a:t>
            </a:r>
          </a:p>
        </p:txBody>
      </p:sp>
      <p:sp>
        <p:nvSpPr>
          <p:cNvPr id="761874" name="AutoShape 18"/>
          <p:cNvSpPr>
            <a:spLocks noChangeArrowheads="1"/>
          </p:cNvSpPr>
          <p:nvPr/>
        </p:nvSpPr>
        <p:spPr bwMode="auto">
          <a:xfrm>
            <a:off x="990600" y="213360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Input</a:t>
            </a:r>
          </a:p>
        </p:txBody>
      </p:sp>
      <p:sp>
        <p:nvSpPr>
          <p:cNvPr id="761875" name="AutoShape 19"/>
          <p:cNvSpPr>
            <a:spLocks noChangeArrowheads="1"/>
          </p:cNvSpPr>
          <p:nvPr/>
        </p:nvSpPr>
        <p:spPr bwMode="auto">
          <a:xfrm>
            <a:off x="6019800" y="211455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Output</a:t>
            </a:r>
          </a:p>
        </p:txBody>
      </p:sp>
      <p:sp>
        <p:nvSpPr>
          <p:cNvPr id="761876" name="AutoShape 20"/>
          <p:cNvSpPr>
            <a:spLocks noChangeArrowheads="1"/>
          </p:cNvSpPr>
          <p:nvPr/>
        </p:nvSpPr>
        <p:spPr bwMode="auto">
          <a:xfrm>
            <a:off x="3505200" y="1752600"/>
            <a:ext cx="1905000" cy="1676400"/>
          </a:xfrm>
          <a:prstGeom prst="flowChartAlternateProcess">
            <a:avLst/>
          </a:prstGeom>
          <a:gradFill rotWithShape="1">
            <a:gsLst>
              <a:gs pos="0">
                <a:srgbClr val="990000"/>
              </a:gs>
              <a:gs pos="50000">
                <a:schemeClr val="bg1"/>
              </a:gs>
              <a:gs pos="100000">
                <a:srgbClr val="9900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Processing</a:t>
            </a:r>
          </a:p>
        </p:txBody>
      </p:sp>
      <p:sp>
        <p:nvSpPr>
          <p:cNvPr id="8206" name="Line 21"/>
          <p:cNvSpPr>
            <a:spLocks noChangeShapeType="1"/>
          </p:cNvSpPr>
          <p:nvPr/>
        </p:nvSpPr>
        <p:spPr bwMode="auto">
          <a:xfrm>
            <a:off x="28956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07" name="Line 22"/>
          <p:cNvSpPr>
            <a:spLocks noChangeShapeType="1"/>
          </p:cNvSpPr>
          <p:nvPr/>
        </p:nvSpPr>
        <p:spPr bwMode="auto">
          <a:xfrm>
            <a:off x="54102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08" name="Line 23"/>
          <p:cNvSpPr>
            <a:spLocks noChangeShapeType="1"/>
          </p:cNvSpPr>
          <p:nvPr/>
        </p:nvSpPr>
        <p:spPr bwMode="auto">
          <a:xfrm>
            <a:off x="2895600" y="2590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09" name="Line 24"/>
          <p:cNvSpPr>
            <a:spLocks noChangeShapeType="1"/>
          </p:cNvSpPr>
          <p:nvPr/>
        </p:nvSpPr>
        <p:spPr bwMode="auto">
          <a:xfrm>
            <a:off x="5410200" y="2590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10" name="Line 25"/>
          <p:cNvSpPr>
            <a:spLocks noChangeShapeType="1"/>
          </p:cNvSpPr>
          <p:nvPr/>
        </p:nvSpPr>
        <p:spPr bwMode="auto">
          <a:xfrm>
            <a:off x="2895600" y="2590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11" name="AutoShape 26"/>
          <p:cNvSpPr>
            <a:spLocks noChangeArrowheads="1"/>
          </p:cNvSpPr>
          <p:nvPr/>
        </p:nvSpPr>
        <p:spPr bwMode="auto">
          <a:xfrm>
            <a:off x="381000" y="1600200"/>
            <a:ext cx="8458200" cy="1981200"/>
          </a:xfrm>
          <a:prstGeom prst="flowChartAlternateProcess">
            <a:avLst/>
          </a:prstGeom>
          <a:noFill/>
          <a:ln w="571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8212" name="Line 27"/>
          <p:cNvSpPr>
            <a:spLocks noChangeShapeType="1"/>
          </p:cNvSpPr>
          <p:nvPr/>
        </p:nvSpPr>
        <p:spPr bwMode="auto">
          <a:xfrm>
            <a:off x="7315200" y="30480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213" name="Line 28"/>
          <p:cNvSpPr>
            <a:spLocks noChangeShapeType="1"/>
          </p:cNvSpPr>
          <p:nvPr/>
        </p:nvSpPr>
        <p:spPr bwMode="auto">
          <a:xfrm>
            <a:off x="4495800" y="34290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 name="Text Box 2"/>
          <p:cNvSpPr txBox="1">
            <a:spLocks noChangeArrowheads="1"/>
          </p:cNvSpPr>
          <p:nvPr/>
        </p:nvSpPr>
        <p:spPr bwMode="auto">
          <a:xfrm>
            <a:off x="1970314" y="381000"/>
            <a:ext cx="58782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dirty="0">
                <a:solidFill>
                  <a:srgbClr val="0000CC"/>
                </a:solidFill>
                <a:latin typeface="Tahoma" panose="020B0604030504040204" pitchFamily="34" charset="0"/>
              </a:rPr>
              <a:t>NHẬP(INPUT)/XUẤT (OUTPUT)</a:t>
            </a:r>
          </a:p>
        </p:txBody>
      </p:sp>
    </p:spTree>
    <p:extLst>
      <p:ext uri="{BB962C8B-B14F-4D97-AF65-F5344CB8AC3E}">
        <p14:creationId xmlns:p14="http://schemas.microsoft.com/office/powerpoint/2010/main" val="1207128240"/>
      </p:ext>
    </p:extLst>
  </p:cSld>
  <p:clrMapOvr>
    <a:masterClrMapping/>
  </p:clrMapOvr>
  <p:transition>
    <p:push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9E4358E-2D21-42FD-B973-E29217BCEC23}" type="slidenum">
              <a:rPr lang="en-US" altLang="vi-VN">
                <a:solidFill>
                  <a:srgbClr val="FFFF00"/>
                </a:solidFill>
              </a:rPr>
              <a:pPr eaLnBrk="1" hangingPunct="1"/>
              <a:t>6</a:t>
            </a:fld>
            <a:endParaRPr lang="en-GB" altLang="vi-VN">
              <a:solidFill>
                <a:srgbClr val="FFFF00"/>
              </a:solidFill>
            </a:endParaRPr>
          </a:p>
        </p:txBody>
      </p:sp>
      <p:sp>
        <p:nvSpPr>
          <p:cNvPr id="9221" name="Text Box 7"/>
          <p:cNvSpPr txBox="1">
            <a:spLocks noChangeArrowheads="1"/>
          </p:cNvSpPr>
          <p:nvPr/>
        </p:nvSpPr>
        <p:spPr bwMode="auto">
          <a:xfrm>
            <a:off x="304800" y="1143000"/>
            <a:ext cx="8534400"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600" dirty="0" err="1">
                <a:solidFill>
                  <a:srgbClr val="0000CC"/>
                </a:solidFill>
              </a:rPr>
              <a:t>Trong</a:t>
            </a:r>
            <a:r>
              <a:rPr lang="en-US" altLang="vi-VN" sz="2600" dirty="0">
                <a:solidFill>
                  <a:srgbClr val="0000CC"/>
                </a:solidFill>
              </a:rPr>
              <a:t> </a:t>
            </a:r>
            <a:r>
              <a:rPr lang="en-US" altLang="vi-VN" sz="2600" dirty="0" err="1">
                <a:solidFill>
                  <a:srgbClr val="0000CC"/>
                </a:solidFill>
              </a:rPr>
              <a:t>ngôn</a:t>
            </a:r>
            <a:r>
              <a:rPr lang="en-US" altLang="vi-VN" sz="2600" dirty="0">
                <a:solidFill>
                  <a:srgbClr val="0000CC"/>
                </a:solidFill>
              </a:rPr>
              <a:t> </a:t>
            </a:r>
            <a:r>
              <a:rPr lang="en-US" altLang="vi-VN" sz="2600" dirty="0" err="1">
                <a:solidFill>
                  <a:srgbClr val="0000CC"/>
                </a:solidFill>
              </a:rPr>
              <a:t>ngữ</a:t>
            </a:r>
            <a:r>
              <a:rPr lang="en-US" altLang="vi-VN" sz="2600" dirty="0">
                <a:solidFill>
                  <a:srgbClr val="0000CC"/>
                </a:solidFill>
              </a:rPr>
              <a:t> C, </a:t>
            </a:r>
            <a:r>
              <a:rPr lang="en-US" altLang="vi-VN" sz="2600" dirty="0" err="1">
                <a:solidFill>
                  <a:srgbClr val="0000CC"/>
                </a:solidFill>
              </a:rPr>
              <a:t>chúng</a:t>
            </a:r>
            <a:r>
              <a:rPr lang="en-US" altLang="vi-VN" sz="2600" dirty="0">
                <a:solidFill>
                  <a:srgbClr val="0000CC"/>
                </a:solidFill>
              </a:rPr>
              <a:t> ta </a:t>
            </a:r>
            <a:r>
              <a:rPr lang="en-US" altLang="vi-VN" sz="2600" dirty="0" err="1">
                <a:solidFill>
                  <a:srgbClr val="0000CC"/>
                </a:solidFill>
              </a:rPr>
              <a:t>quan</a:t>
            </a:r>
            <a:r>
              <a:rPr lang="en-US" altLang="vi-VN" sz="2600" dirty="0">
                <a:solidFill>
                  <a:srgbClr val="0000CC"/>
                </a:solidFill>
              </a:rPr>
              <a:t> </a:t>
            </a:r>
            <a:r>
              <a:rPr lang="en-US" altLang="vi-VN" sz="2600" dirty="0" err="1">
                <a:solidFill>
                  <a:srgbClr val="0000CC"/>
                </a:solidFill>
              </a:rPr>
              <a:t>tâm</a:t>
            </a:r>
            <a:r>
              <a:rPr lang="en-US" altLang="vi-VN" sz="2600" dirty="0">
                <a:solidFill>
                  <a:srgbClr val="0000CC"/>
                </a:solidFill>
              </a:rPr>
              <a:t> </a:t>
            </a:r>
            <a:r>
              <a:rPr lang="en-US" altLang="vi-VN" sz="2600" dirty="0" err="1">
                <a:solidFill>
                  <a:srgbClr val="0000CC"/>
                </a:solidFill>
              </a:rPr>
              <a:t>đến</a:t>
            </a:r>
            <a:r>
              <a:rPr lang="en-US" altLang="vi-VN" sz="2600" dirty="0">
                <a:solidFill>
                  <a:srgbClr val="0000CC"/>
                </a:solidFill>
              </a:rPr>
              <a:t> input/output </a:t>
            </a:r>
            <a:r>
              <a:rPr lang="en-US" altLang="vi-VN" sz="2600" dirty="0" err="1">
                <a:solidFill>
                  <a:srgbClr val="0000CC"/>
                </a:solidFill>
              </a:rPr>
              <a:t>như</a:t>
            </a:r>
            <a:r>
              <a:rPr lang="en-US" altLang="vi-VN" sz="2600" dirty="0">
                <a:solidFill>
                  <a:srgbClr val="0000CC"/>
                </a:solidFill>
              </a:rPr>
              <a:t> </a:t>
            </a:r>
            <a:r>
              <a:rPr lang="en-US" altLang="vi-VN" sz="2600" dirty="0" err="1">
                <a:solidFill>
                  <a:srgbClr val="0000CC"/>
                </a:solidFill>
              </a:rPr>
              <a:t>sau</a:t>
            </a:r>
            <a:r>
              <a:rPr lang="en-US" altLang="vi-VN" sz="2600" dirty="0">
                <a:solidFill>
                  <a:srgbClr val="0000CC"/>
                </a:solidFill>
              </a:rPr>
              <a:t>:</a:t>
            </a:r>
          </a:p>
          <a:p>
            <a:pPr algn="l" eaLnBrk="1" hangingPunct="1">
              <a:spcBef>
                <a:spcPct val="50000"/>
              </a:spcBef>
            </a:pPr>
            <a:r>
              <a:rPr lang="en-US" altLang="vi-VN" sz="2600" b="1" dirty="0">
                <a:solidFill>
                  <a:srgbClr val="0000CC"/>
                </a:solidFill>
              </a:rPr>
              <a:t>- Input:</a:t>
            </a:r>
          </a:p>
          <a:p>
            <a:pPr lvl="1" algn="l" eaLnBrk="1" hangingPunct="1">
              <a:spcBef>
                <a:spcPct val="50000"/>
              </a:spcBef>
            </a:pPr>
            <a:r>
              <a:rPr lang="en-US" altLang="vi-VN" sz="2600" dirty="0">
                <a:solidFill>
                  <a:srgbClr val="0000CC"/>
                </a:solidFill>
              </a:rPr>
              <a:t>+ </a:t>
            </a:r>
            <a:r>
              <a:rPr lang="en-US" altLang="vi-VN" sz="2600" dirty="0" err="1">
                <a:solidFill>
                  <a:srgbClr val="0000CC"/>
                </a:solidFill>
              </a:rPr>
              <a:t>Nhập</a:t>
            </a:r>
            <a:r>
              <a:rPr lang="en-US" altLang="vi-VN" sz="2600" dirty="0">
                <a:solidFill>
                  <a:srgbClr val="0000CC"/>
                </a:solidFill>
              </a:rPr>
              <a:t> </a:t>
            </a:r>
            <a:r>
              <a:rPr lang="en-US" altLang="vi-VN" sz="2600" dirty="0" err="1">
                <a:solidFill>
                  <a:srgbClr val="0000CC"/>
                </a:solidFill>
              </a:rPr>
              <a:t>từ</a:t>
            </a:r>
            <a:r>
              <a:rPr lang="en-US" altLang="vi-VN" sz="2600" dirty="0">
                <a:solidFill>
                  <a:srgbClr val="0000CC"/>
                </a:solidFill>
              </a:rPr>
              <a:t> </a:t>
            </a:r>
            <a:r>
              <a:rPr lang="en-US" altLang="vi-VN" sz="2600" dirty="0" err="1">
                <a:solidFill>
                  <a:srgbClr val="0000CC"/>
                </a:solidFill>
              </a:rPr>
              <a:t>bàn</a:t>
            </a:r>
            <a:r>
              <a:rPr lang="en-US" altLang="vi-VN" sz="2600" dirty="0">
                <a:solidFill>
                  <a:srgbClr val="0000CC"/>
                </a:solidFill>
              </a:rPr>
              <a:t> </a:t>
            </a:r>
            <a:r>
              <a:rPr lang="en-US" altLang="vi-VN" sz="2600" dirty="0" err="1">
                <a:solidFill>
                  <a:srgbClr val="0000CC"/>
                </a:solidFill>
              </a:rPr>
              <a:t>phím</a:t>
            </a:r>
            <a:r>
              <a:rPr lang="en-US" altLang="vi-VN" sz="2600" dirty="0">
                <a:solidFill>
                  <a:srgbClr val="0000CC"/>
                </a:solidFill>
              </a:rPr>
              <a:t> (</a:t>
            </a:r>
            <a:r>
              <a:rPr lang="en-US" altLang="vi-VN" sz="2600" dirty="0" err="1">
                <a:solidFill>
                  <a:srgbClr val="0000CC"/>
                </a:solidFill>
              </a:rPr>
              <a:t>đã</a:t>
            </a:r>
            <a:r>
              <a:rPr lang="en-US" altLang="vi-VN" sz="2600" dirty="0">
                <a:solidFill>
                  <a:srgbClr val="0000CC"/>
                </a:solidFill>
              </a:rPr>
              <a:t> </a:t>
            </a:r>
            <a:r>
              <a:rPr lang="en-US" altLang="vi-VN" sz="2600" dirty="0" err="1">
                <a:solidFill>
                  <a:srgbClr val="0000CC"/>
                </a:solidFill>
              </a:rPr>
              <a:t>được</a:t>
            </a:r>
            <a:r>
              <a:rPr lang="en-US" altLang="vi-VN" sz="2600" dirty="0">
                <a:solidFill>
                  <a:srgbClr val="0000CC"/>
                </a:solidFill>
              </a:rPr>
              <a:t> </a:t>
            </a:r>
            <a:r>
              <a:rPr lang="en-US" altLang="vi-VN" sz="2600" dirty="0" err="1">
                <a:solidFill>
                  <a:srgbClr val="0000CC"/>
                </a:solidFill>
              </a:rPr>
              <a:t>học</a:t>
            </a:r>
            <a:r>
              <a:rPr lang="en-US" altLang="vi-VN" sz="2600" dirty="0">
                <a:solidFill>
                  <a:srgbClr val="0000CC"/>
                </a:solidFill>
              </a:rPr>
              <a:t>)</a:t>
            </a:r>
          </a:p>
          <a:p>
            <a:pPr lvl="1" algn="l" eaLnBrk="1" hangingPunct="1">
              <a:spcBef>
                <a:spcPct val="50000"/>
              </a:spcBef>
            </a:pPr>
            <a:r>
              <a:rPr lang="en-US" altLang="vi-VN" sz="2600" dirty="0">
                <a:solidFill>
                  <a:srgbClr val="0000CC"/>
                </a:solidFill>
              </a:rPr>
              <a:t>+ </a:t>
            </a:r>
            <a:r>
              <a:rPr lang="en-US" altLang="vi-VN" sz="2600" dirty="0" err="1">
                <a:solidFill>
                  <a:srgbClr val="0000CC"/>
                </a:solidFill>
              </a:rPr>
              <a:t>Đọc</a:t>
            </a:r>
            <a:r>
              <a:rPr lang="en-US" altLang="vi-VN" sz="2600" dirty="0">
                <a:solidFill>
                  <a:srgbClr val="0000CC"/>
                </a:solidFill>
              </a:rPr>
              <a:t> </a:t>
            </a:r>
            <a:r>
              <a:rPr lang="en-US" altLang="vi-VN" sz="2600" dirty="0" err="1">
                <a:solidFill>
                  <a:srgbClr val="0000CC"/>
                </a:solidFill>
              </a:rPr>
              <a:t>từ</a:t>
            </a:r>
            <a:r>
              <a:rPr lang="en-US" altLang="vi-VN" sz="2600" dirty="0">
                <a:solidFill>
                  <a:srgbClr val="0000CC"/>
                </a:solidFill>
              </a:rPr>
              <a:t> file</a:t>
            </a:r>
          </a:p>
          <a:p>
            <a:pPr algn="l" eaLnBrk="1" hangingPunct="1">
              <a:spcBef>
                <a:spcPct val="50000"/>
              </a:spcBef>
            </a:pPr>
            <a:r>
              <a:rPr lang="en-US" altLang="vi-VN" sz="2600" b="1" dirty="0">
                <a:solidFill>
                  <a:srgbClr val="0000CC"/>
                </a:solidFill>
              </a:rPr>
              <a:t>- Output:</a:t>
            </a:r>
          </a:p>
          <a:p>
            <a:pPr lvl="1" algn="l" eaLnBrk="1" hangingPunct="1">
              <a:spcBef>
                <a:spcPct val="50000"/>
              </a:spcBef>
            </a:pPr>
            <a:r>
              <a:rPr lang="en-US" altLang="vi-VN" sz="2600" dirty="0">
                <a:solidFill>
                  <a:srgbClr val="0000CC"/>
                </a:solidFill>
              </a:rPr>
              <a:t>+ In </a:t>
            </a:r>
            <a:r>
              <a:rPr lang="en-US" altLang="vi-VN" sz="2600" dirty="0" err="1">
                <a:solidFill>
                  <a:srgbClr val="0000CC"/>
                </a:solidFill>
              </a:rPr>
              <a:t>ra</a:t>
            </a:r>
            <a:r>
              <a:rPr lang="en-US" altLang="vi-VN" sz="2600" dirty="0">
                <a:solidFill>
                  <a:srgbClr val="0000CC"/>
                </a:solidFill>
              </a:rPr>
              <a:t> </a:t>
            </a:r>
            <a:r>
              <a:rPr lang="en-US" altLang="vi-VN" sz="2600" dirty="0" err="1">
                <a:solidFill>
                  <a:srgbClr val="0000CC"/>
                </a:solidFill>
              </a:rPr>
              <a:t>màn</a:t>
            </a:r>
            <a:r>
              <a:rPr lang="en-US" altLang="vi-VN" sz="2600" dirty="0">
                <a:solidFill>
                  <a:srgbClr val="0000CC"/>
                </a:solidFill>
              </a:rPr>
              <a:t> </a:t>
            </a:r>
            <a:r>
              <a:rPr lang="en-US" altLang="vi-VN" sz="2600" dirty="0" err="1">
                <a:solidFill>
                  <a:srgbClr val="0000CC"/>
                </a:solidFill>
              </a:rPr>
              <a:t>hình</a:t>
            </a:r>
            <a:r>
              <a:rPr lang="en-US" altLang="vi-VN" sz="2600" dirty="0">
                <a:solidFill>
                  <a:srgbClr val="0000CC"/>
                </a:solidFill>
              </a:rPr>
              <a:t> (</a:t>
            </a:r>
            <a:r>
              <a:rPr lang="en-US" altLang="vi-VN" sz="2600" dirty="0" err="1">
                <a:solidFill>
                  <a:srgbClr val="0000CC"/>
                </a:solidFill>
              </a:rPr>
              <a:t>đã</a:t>
            </a:r>
            <a:r>
              <a:rPr lang="en-US" altLang="vi-VN" sz="2600" dirty="0">
                <a:solidFill>
                  <a:srgbClr val="0000CC"/>
                </a:solidFill>
              </a:rPr>
              <a:t> </a:t>
            </a:r>
            <a:r>
              <a:rPr lang="en-US" altLang="vi-VN" sz="2600" dirty="0" err="1">
                <a:solidFill>
                  <a:srgbClr val="0000CC"/>
                </a:solidFill>
              </a:rPr>
              <a:t>được</a:t>
            </a:r>
            <a:r>
              <a:rPr lang="en-US" altLang="vi-VN" sz="2600" dirty="0">
                <a:solidFill>
                  <a:srgbClr val="0000CC"/>
                </a:solidFill>
              </a:rPr>
              <a:t> </a:t>
            </a:r>
            <a:r>
              <a:rPr lang="en-US" altLang="vi-VN" sz="2600" dirty="0" err="1">
                <a:solidFill>
                  <a:srgbClr val="0000CC"/>
                </a:solidFill>
              </a:rPr>
              <a:t>học</a:t>
            </a:r>
            <a:r>
              <a:rPr lang="en-US" altLang="vi-VN" sz="2600" dirty="0">
                <a:solidFill>
                  <a:srgbClr val="0000CC"/>
                </a:solidFill>
              </a:rPr>
              <a:t>)</a:t>
            </a:r>
          </a:p>
          <a:p>
            <a:pPr lvl="1" algn="l" eaLnBrk="1" hangingPunct="1">
              <a:spcBef>
                <a:spcPct val="50000"/>
              </a:spcBef>
            </a:pPr>
            <a:r>
              <a:rPr lang="en-US" altLang="vi-VN" sz="2600" dirty="0">
                <a:solidFill>
                  <a:srgbClr val="0000CC"/>
                </a:solidFill>
              </a:rPr>
              <a:t>+ In </a:t>
            </a:r>
            <a:r>
              <a:rPr lang="en-US" altLang="vi-VN" sz="2600" dirty="0" err="1">
                <a:solidFill>
                  <a:srgbClr val="0000CC"/>
                </a:solidFill>
              </a:rPr>
              <a:t>ra</a:t>
            </a:r>
            <a:r>
              <a:rPr lang="en-US" altLang="vi-VN" sz="2600" dirty="0">
                <a:solidFill>
                  <a:srgbClr val="0000CC"/>
                </a:solidFill>
              </a:rPr>
              <a:t> file </a:t>
            </a:r>
          </a:p>
        </p:txBody>
      </p:sp>
      <p:sp>
        <p:nvSpPr>
          <p:cNvPr id="6" name="Text Box 2"/>
          <p:cNvSpPr txBox="1">
            <a:spLocks noChangeArrowheads="1"/>
          </p:cNvSpPr>
          <p:nvPr/>
        </p:nvSpPr>
        <p:spPr bwMode="auto">
          <a:xfrm>
            <a:off x="1970314" y="381000"/>
            <a:ext cx="58782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dirty="0">
                <a:solidFill>
                  <a:srgbClr val="0000CC"/>
                </a:solidFill>
                <a:latin typeface="Tahoma" panose="020B0604030504040204" pitchFamily="34" charset="0"/>
              </a:rPr>
              <a:t>NHẬP(INPUT)/XUẤT (OUTPUT)</a:t>
            </a:r>
          </a:p>
        </p:txBody>
      </p:sp>
    </p:spTree>
    <p:extLst>
      <p:ext uri="{BB962C8B-B14F-4D97-AF65-F5344CB8AC3E}">
        <p14:creationId xmlns:p14="http://schemas.microsoft.com/office/powerpoint/2010/main" val="2104080370"/>
      </p:ext>
    </p:extLst>
  </p:cSld>
  <p:clrMapOvr>
    <a:masterClrMapping/>
  </p:clrMapOvr>
  <p:transition>
    <p:push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4"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789CBF-4EC8-4B3E-B7AC-089031C9B06B}" type="slidenum">
              <a:rPr lang="en-US" altLang="vi-VN">
                <a:solidFill>
                  <a:srgbClr val="FFFF00"/>
                </a:solidFill>
              </a:rPr>
              <a:pPr eaLnBrk="1" hangingPunct="1"/>
              <a:t>7</a:t>
            </a:fld>
            <a:endParaRPr lang="en-GB" altLang="vi-VN">
              <a:solidFill>
                <a:srgbClr val="FFFF00"/>
              </a:solidFill>
            </a:endParaRPr>
          </a:p>
        </p:txBody>
      </p:sp>
      <p:sp>
        <p:nvSpPr>
          <p:cNvPr id="2" name="Double Wave 1"/>
          <p:cNvSpPr/>
          <p:nvPr/>
        </p:nvSpPr>
        <p:spPr>
          <a:xfrm>
            <a:off x="1491342" y="2133600"/>
            <a:ext cx="5834743" cy="2394857"/>
          </a:xfrm>
          <a:prstGeom prst="doubleWav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5400" b="1" dirty="0"/>
              <a:t>FILE LÀ GÌ?</a:t>
            </a:r>
            <a:endParaRPr lang="vi-VN" sz="5400" b="1" dirty="0"/>
          </a:p>
        </p:txBody>
      </p:sp>
    </p:spTree>
    <p:extLst>
      <p:ext uri="{BB962C8B-B14F-4D97-AF65-F5344CB8AC3E}">
        <p14:creationId xmlns:p14="http://schemas.microsoft.com/office/powerpoint/2010/main" val="161001652"/>
      </p:ext>
    </p:extLst>
  </p:cSld>
  <p:clrMapOvr>
    <a:masterClrMapping/>
  </p:clrMapOvr>
  <p:transition>
    <p:push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9E2523-B8F0-4B95-B994-4C791BD8B0F9}" type="slidenum">
              <a:rPr lang="en-US" altLang="vi-VN">
                <a:solidFill>
                  <a:srgbClr val="FFFF00"/>
                </a:solidFill>
              </a:rPr>
              <a:pPr eaLnBrk="1" hangingPunct="1"/>
              <a:t>8</a:t>
            </a:fld>
            <a:endParaRPr lang="en-GB" altLang="vi-VN">
              <a:solidFill>
                <a:srgbClr val="FFFF00"/>
              </a:solidFill>
            </a:endParaRPr>
          </a:p>
        </p:txBody>
      </p:sp>
      <p:sp>
        <p:nvSpPr>
          <p:cNvPr id="11268" name="Text Box 4"/>
          <p:cNvSpPr txBox="1">
            <a:spLocks noChangeArrowheads="1"/>
          </p:cNvSpPr>
          <p:nvPr/>
        </p:nvSpPr>
        <p:spPr bwMode="auto">
          <a:xfrm>
            <a:off x="1817913" y="511629"/>
            <a:ext cx="606334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KHÁI NIỆM</a:t>
            </a:r>
          </a:p>
        </p:txBody>
      </p:sp>
      <p:sp>
        <p:nvSpPr>
          <p:cNvPr id="11269" name="Rectangle 5"/>
          <p:cNvSpPr>
            <a:spLocks noChangeArrowheads="1"/>
          </p:cNvSpPr>
          <p:nvPr/>
        </p:nvSpPr>
        <p:spPr bwMode="auto">
          <a:xfrm>
            <a:off x="457200" y="1447800"/>
            <a:ext cx="830580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a:solidFill>
                  <a:srgbClr val="0000CC"/>
                </a:solidFill>
                <a:latin typeface="Tahoma" panose="020B0604030504040204" pitchFamily="34" charset="0"/>
              </a:rPr>
              <a:t>	Các chương trình ta đã làm trước đây, ta thấy rằng khi nhập thông tin vào, máy tính xử lý và xuất ra màn hình. Sau khi thực hiện xong thì các thông tin sẽ mất luôn, không tồn tại để chúng ta truy xuất ở những lần sau.</a:t>
            </a:r>
          </a:p>
          <a:p>
            <a:pPr algn="just" eaLnBrk="1" hangingPunct="1"/>
            <a:r>
              <a:rPr lang="en-US" altLang="vi-VN" sz="2600">
                <a:solidFill>
                  <a:srgbClr val="0000CC"/>
                </a:solidFill>
                <a:latin typeface="Tahoma" panose="020B0604030504040204" pitchFamily="34" charset="0"/>
              </a:rPr>
              <a:t>	</a:t>
            </a:r>
          </a:p>
          <a:p>
            <a:pPr algn="just" eaLnBrk="1" hangingPunct="1"/>
            <a:r>
              <a:rPr lang="en-US" altLang="vi-VN" sz="2600">
                <a:solidFill>
                  <a:srgbClr val="0000CC"/>
                </a:solidFill>
                <a:latin typeface="Tahoma" panose="020B0604030504040204" pitchFamily="34" charset="0"/>
              </a:rPr>
              <a:t>	Khi sử dụng file (tập tin) sẽ lưu lại những thông tin mà ta cần, để những lần sau có thể sử dụng lại.</a:t>
            </a:r>
          </a:p>
        </p:txBody>
      </p:sp>
    </p:spTree>
    <p:extLst>
      <p:ext uri="{BB962C8B-B14F-4D97-AF65-F5344CB8AC3E}">
        <p14:creationId xmlns:p14="http://schemas.microsoft.com/office/powerpoint/2010/main" val="279620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5"/>
          <p:cNvSpPr>
            <a:spLocks noChangeArrowheads="1"/>
          </p:cNvSpPr>
          <p:nvPr/>
        </p:nvSpPr>
        <p:spPr bwMode="auto">
          <a:xfrm>
            <a:off x="239486" y="1447800"/>
            <a:ext cx="852351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dirty="0" err="1">
                <a:solidFill>
                  <a:srgbClr val="0000CC"/>
                </a:solidFill>
                <a:latin typeface="Tahoma" panose="020B0604030504040204" pitchFamily="34" charset="0"/>
              </a:rPr>
              <a:t>Có</a:t>
            </a:r>
            <a:r>
              <a:rPr lang="en-US" altLang="vi-VN" sz="2600" dirty="0">
                <a:solidFill>
                  <a:srgbClr val="0000CC"/>
                </a:solidFill>
                <a:latin typeface="Tahoma" panose="020B0604030504040204" pitchFamily="34" charset="0"/>
              </a:rPr>
              <a:t> 2 </a:t>
            </a:r>
            <a:r>
              <a:rPr lang="en-US" altLang="vi-VN" sz="2600" dirty="0" err="1">
                <a:solidFill>
                  <a:srgbClr val="0000CC"/>
                </a:solidFill>
                <a:latin typeface="Tahoma" panose="020B0604030504040204" pitchFamily="34" charset="0"/>
              </a:rPr>
              <a:t>loại</a:t>
            </a:r>
            <a:r>
              <a:rPr lang="en-US" altLang="vi-VN" sz="2600" dirty="0">
                <a:solidFill>
                  <a:srgbClr val="0000CC"/>
                </a:solidFill>
                <a:latin typeface="Tahoma" panose="020B0604030504040204" pitchFamily="34" charset="0"/>
              </a:rPr>
              <a:t> file </a:t>
            </a:r>
            <a:r>
              <a:rPr lang="en-US" altLang="vi-VN" sz="2600" dirty="0" err="1">
                <a:solidFill>
                  <a:srgbClr val="0000CC"/>
                </a:solidFill>
                <a:latin typeface="Tahoma" panose="020B0604030504040204" pitchFamily="34" charset="0"/>
              </a:rPr>
              <a:t>mà</a:t>
            </a:r>
            <a:r>
              <a:rPr lang="en-US" altLang="vi-VN" sz="2600" dirty="0">
                <a:solidFill>
                  <a:srgbClr val="0000CC"/>
                </a:solidFill>
                <a:latin typeface="Tahoma" panose="020B0604030504040204" pitchFamily="34" charset="0"/>
              </a:rPr>
              <a:t> ta </a:t>
            </a:r>
            <a:r>
              <a:rPr lang="en-US" altLang="vi-VN" sz="2600" dirty="0" err="1">
                <a:solidFill>
                  <a:srgbClr val="0000CC"/>
                </a:solidFill>
                <a:latin typeface="Tahoma" panose="020B0604030504040204" pitchFamily="34" charset="0"/>
              </a:rPr>
              <a:t>sẽ</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sử</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dụng</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đó</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là</a:t>
            </a:r>
            <a:r>
              <a:rPr lang="en-US" altLang="vi-VN" sz="2600" dirty="0">
                <a:solidFill>
                  <a:srgbClr val="0000CC"/>
                </a:solidFill>
                <a:latin typeface="Tahoma" panose="020B0604030504040204" pitchFamily="34" charset="0"/>
              </a:rPr>
              <a:t>:</a:t>
            </a:r>
          </a:p>
          <a:p>
            <a:pPr algn="just" eaLnBrk="1" hangingPunct="1"/>
            <a:endParaRPr lang="en-US" altLang="vi-VN" sz="2600" dirty="0">
              <a:solidFill>
                <a:srgbClr val="0000CC"/>
              </a:solidFill>
              <a:latin typeface="Tahoma" panose="020B0604030504040204" pitchFamily="34" charset="0"/>
            </a:endParaRPr>
          </a:p>
          <a:p>
            <a:pPr algn="just" eaLnBrk="1" hangingPunct="1">
              <a:buFontTx/>
              <a:buChar char="-"/>
            </a:pPr>
            <a:r>
              <a:rPr lang="en-US" altLang="vi-VN" sz="2600" dirty="0">
                <a:solidFill>
                  <a:srgbClr val="0000CC"/>
                </a:solidFill>
                <a:latin typeface="Tahoma" panose="020B0604030504040204" pitchFamily="34" charset="0"/>
              </a:rPr>
              <a:t> File </a:t>
            </a:r>
            <a:r>
              <a:rPr lang="en-US" altLang="vi-VN" sz="2600" dirty="0" err="1">
                <a:solidFill>
                  <a:srgbClr val="0000CC"/>
                </a:solidFill>
                <a:latin typeface="Tahoma" panose="020B0604030504040204" pitchFamily="34" charset="0"/>
              </a:rPr>
              <a:t>văn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bản</a:t>
            </a:r>
            <a:r>
              <a:rPr lang="en-US" altLang="vi-VN" sz="2600" dirty="0">
                <a:solidFill>
                  <a:srgbClr val="0000CC"/>
                </a:solidFill>
                <a:latin typeface="Tahoma" panose="020B0604030504040204" pitchFamily="34" charset="0"/>
              </a:rPr>
              <a:t> (text file): </a:t>
            </a:r>
            <a:r>
              <a:rPr lang="en-US" altLang="vi-VN" sz="2600" dirty="0" err="1">
                <a:solidFill>
                  <a:srgbClr val="0000CC"/>
                </a:solidFill>
                <a:latin typeface="Tahoma" panose="020B0604030504040204" pitchFamily="34" charset="0"/>
              </a:rPr>
              <a:t>là</a:t>
            </a:r>
            <a:r>
              <a:rPr lang="en-US" altLang="vi-VN" sz="2600" dirty="0">
                <a:solidFill>
                  <a:srgbClr val="0000CC"/>
                </a:solidFill>
                <a:latin typeface="Tahoma" panose="020B0604030504040204" pitchFamily="34" charset="0"/>
              </a:rPr>
              <a:t> file </a:t>
            </a:r>
            <a:r>
              <a:rPr lang="en-US" altLang="vi-VN" sz="2600" dirty="0" err="1">
                <a:solidFill>
                  <a:srgbClr val="0000CC"/>
                </a:solidFill>
                <a:latin typeface="Tahoma" panose="020B0604030504040204" pitchFamily="34" charset="0"/>
              </a:rPr>
              <a:t>có</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cấu</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trúc</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như</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các</a:t>
            </a:r>
            <a:r>
              <a:rPr lang="en-US" altLang="vi-VN" sz="2600" dirty="0">
                <a:solidFill>
                  <a:srgbClr val="0000CC"/>
                </a:solidFill>
                <a:latin typeface="Tahoma" panose="020B0604030504040204" pitchFamily="34" charset="0"/>
              </a:rPr>
              <a:t> file </a:t>
            </a:r>
            <a:r>
              <a:rPr lang="en-US" altLang="vi-VN" sz="2600" dirty="0" err="1">
                <a:solidFill>
                  <a:srgbClr val="0000CC"/>
                </a:solidFill>
                <a:latin typeface="Tahoma" panose="020B0604030504040204" pitchFamily="34" charset="0"/>
              </a:rPr>
              <a:t>văn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bản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chuẩn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của</a:t>
            </a:r>
            <a:r>
              <a:rPr lang="en-US" altLang="vi-VN" sz="2600" dirty="0">
                <a:solidFill>
                  <a:srgbClr val="0000CC"/>
                </a:solidFill>
                <a:latin typeface="Tahoma" panose="020B0604030504040204" pitchFamily="34" charset="0"/>
              </a:rPr>
              <a:t> Dos, hay file </a:t>
            </a:r>
            <a:r>
              <a:rPr lang="en-US" altLang="vi-VN" sz="2600" dirty="0" err="1">
                <a:solidFill>
                  <a:srgbClr val="0000CC"/>
                </a:solidFill>
                <a:latin typeface="Tahoma" panose="020B0604030504040204" pitchFamily="34" charset="0"/>
              </a:rPr>
              <a:t>văn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bản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trong</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chương</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trình</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soạn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thảo</a:t>
            </a:r>
            <a:r>
              <a:rPr lang="en-US" altLang="vi-VN" sz="2600" dirty="0">
                <a:solidFill>
                  <a:srgbClr val="0000CC"/>
                </a:solidFill>
                <a:latin typeface="Tahoma" panose="020B0604030504040204" pitchFamily="34" charset="0"/>
              </a:rPr>
              <a:t> notepad </a:t>
            </a:r>
            <a:r>
              <a:rPr lang="en-US" altLang="vi-VN" sz="2600" dirty="0" err="1">
                <a:solidFill>
                  <a:srgbClr val="0000CC"/>
                </a:solidFill>
                <a:latin typeface="Tahoma" panose="020B0604030504040204" pitchFamily="34" charset="0"/>
              </a:rPr>
              <a:t>của</a:t>
            </a:r>
            <a:r>
              <a:rPr lang="en-US" altLang="vi-VN" sz="2600" dirty="0">
                <a:solidFill>
                  <a:srgbClr val="0000CC"/>
                </a:solidFill>
                <a:latin typeface="Tahoma" panose="020B0604030504040204" pitchFamily="34" charset="0"/>
              </a:rPr>
              <a:t> Windows.</a:t>
            </a:r>
          </a:p>
          <a:p>
            <a:pPr algn="just" eaLnBrk="1" hangingPunct="1">
              <a:buFontTx/>
              <a:buChar char="-"/>
            </a:pPr>
            <a:endParaRPr lang="en-US" altLang="vi-VN" sz="2600" dirty="0">
              <a:solidFill>
                <a:srgbClr val="0000CC"/>
              </a:solidFill>
              <a:latin typeface="Tahoma" panose="020B0604030504040204" pitchFamily="34" charset="0"/>
            </a:endParaRPr>
          </a:p>
          <a:p>
            <a:pPr algn="just" eaLnBrk="1" hangingPunct="1">
              <a:buFontTx/>
              <a:buChar char="-"/>
            </a:pPr>
            <a:r>
              <a:rPr lang="en-US" altLang="vi-VN" sz="2600" dirty="0">
                <a:solidFill>
                  <a:srgbClr val="0000CC"/>
                </a:solidFill>
                <a:latin typeface="Tahoma" panose="020B0604030504040204" pitchFamily="34" charset="0"/>
              </a:rPr>
              <a:t> File </a:t>
            </a:r>
            <a:r>
              <a:rPr lang="en-US" altLang="vi-VN" sz="2600" dirty="0" err="1">
                <a:solidFill>
                  <a:srgbClr val="0000CC"/>
                </a:solidFill>
                <a:latin typeface="Tahoma" panose="020B0604030504040204" pitchFamily="34" charset="0"/>
              </a:rPr>
              <a:t>nhị</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phân</a:t>
            </a:r>
            <a:r>
              <a:rPr lang="en-US" altLang="vi-VN" sz="2600" dirty="0">
                <a:solidFill>
                  <a:srgbClr val="0000CC"/>
                </a:solidFill>
                <a:latin typeface="Tahoma" panose="020B0604030504040204" pitchFamily="34" charset="0"/>
              </a:rPr>
              <a:t> (binary file): </a:t>
            </a:r>
            <a:r>
              <a:rPr lang="en-US" altLang="vi-VN" sz="2600" dirty="0" err="1">
                <a:solidFill>
                  <a:srgbClr val="0000CC"/>
                </a:solidFill>
                <a:latin typeface="Tahoma" panose="020B0604030504040204" pitchFamily="34" charset="0"/>
              </a:rPr>
              <a:t>dữ</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liệu</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ghi</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trên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tập</a:t>
            </a:r>
            <a:r>
              <a:rPr lang="en-US" altLang="vi-VN" sz="2600" dirty="0">
                <a:solidFill>
                  <a:srgbClr val="0000CC"/>
                </a:solidFill>
                <a:latin typeface="Tahoma" panose="020B0604030504040204" pitchFamily="34" charset="0"/>
              </a:rPr>
              <a:t> tin </a:t>
            </a:r>
            <a:r>
              <a:rPr lang="en-US" altLang="vi-VN" sz="2600" dirty="0" err="1">
                <a:solidFill>
                  <a:srgbClr val="0000CC"/>
                </a:solidFill>
                <a:latin typeface="Tahoma" panose="020B0604030504040204" pitchFamily="34" charset="0"/>
              </a:rPr>
              <a:t>theo</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các</a:t>
            </a:r>
            <a:r>
              <a:rPr lang="en-US" altLang="vi-VN" sz="2600" dirty="0">
                <a:solidFill>
                  <a:srgbClr val="0000CC"/>
                </a:solidFill>
                <a:latin typeface="Tahoma" panose="020B0604030504040204" pitchFamily="34" charset="0"/>
              </a:rPr>
              <a:t> byte </a:t>
            </a:r>
            <a:r>
              <a:rPr lang="en-US" altLang="vi-VN" sz="2600" dirty="0" err="1">
                <a:solidFill>
                  <a:srgbClr val="0000CC"/>
                </a:solidFill>
                <a:latin typeface="Tahoma" panose="020B0604030504040204" pitchFamily="34" charset="0"/>
              </a:rPr>
              <a:t>nhị</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phân</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như</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trong</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bộ</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nhớ</a:t>
            </a:r>
            <a:r>
              <a:rPr lang="en-US" altLang="vi-VN" sz="2600" dirty="0">
                <a:solidFill>
                  <a:srgbClr val="0000CC"/>
                </a:solidFill>
                <a:latin typeface="Tahoma" panose="020B0604030504040204" pitchFamily="34" charset="0"/>
              </a:rPr>
              <a:t>. </a:t>
            </a:r>
          </a:p>
          <a:p>
            <a:pPr algn="just" eaLnBrk="1" hangingPunct="1">
              <a:buFontTx/>
              <a:buChar char="-"/>
            </a:pPr>
            <a:endParaRPr lang="en-US" altLang="vi-VN" sz="2600" dirty="0">
              <a:solidFill>
                <a:srgbClr val="0000CC"/>
              </a:solidFill>
              <a:latin typeface="Tahoma" panose="020B0604030504040204" pitchFamily="34" charset="0"/>
            </a:endParaRPr>
          </a:p>
          <a:p>
            <a:pPr algn="just" eaLnBrk="1" hangingPunct="1"/>
            <a:r>
              <a:rPr lang="vi-VN" altLang="vi-VN" sz="2400" b="1" i="1" dirty="0">
                <a:solidFill>
                  <a:srgbClr val="0000CC"/>
                </a:solidFill>
                <a:latin typeface="Tahoma" panose="020B0604030504040204" pitchFamily="34" charset="0"/>
                <a:sym typeface="Wingdings" panose="05000000000000000000" pitchFamily="2" charset="2"/>
              </a:rPr>
              <a:t> </a:t>
            </a:r>
            <a:r>
              <a:rPr lang="vi-VN" altLang="vi-VN" sz="2400" b="1" i="1" dirty="0">
                <a:solidFill>
                  <a:srgbClr val="0000CC"/>
                </a:solidFill>
                <a:latin typeface="Tahoma" panose="020B0604030504040204" pitchFamily="34" charset="0"/>
              </a:rPr>
              <a:t>Lưu ý: file nhị phân SV tự đọc thêm trong slide này</a:t>
            </a:r>
            <a:endParaRPr lang="en-US" altLang="vi-VN" sz="2400" b="1" i="1" dirty="0">
              <a:solidFill>
                <a:srgbClr val="0000CC"/>
              </a:solidFill>
              <a:latin typeface="Tahoma" panose="020B0604030504040204" pitchFamily="34" charset="0"/>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A431CCD-6DE0-42B5-A7B0-8D458FC68636}" type="slidenum">
              <a:rPr lang="en-US" altLang="vi-VN">
                <a:solidFill>
                  <a:srgbClr val="FFFF00"/>
                </a:solidFill>
              </a:rPr>
              <a:pPr eaLnBrk="1" hangingPunct="1"/>
              <a:t>9</a:t>
            </a:fld>
            <a:endParaRPr lang="en-GB" altLang="vi-VN">
              <a:solidFill>
                <a:srgbClr val="FFFF00"/>
              </a:solidFill>
            </a:endParaRPr>
          </a:p>
        </p:txBody>
      </p:sp>
      <p:sp>
        <p:nvSpPr>
          <p:cNvPr id="12292" name="Text Box 4"/>
          <p:cNvSpPr txBox="1">
            <a:spLocks noChangeArrowheads="1"/>
          </p:cNvSpPr>
          <p:nvPr/>
        </p:nvSpPr>
        <p:spPr bwMode="auto">
          <a:xfrm>
            <a:off x="2002970" y="381000"/>
            <a:ext cx="5845629"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KHÁI NIỆM</a:t>
            </a:r>
          </a:p>
        </p:txBody>
      </p:sp>
    </p:spTree>
    <p:extLst>
      <p:ext uri="{BB962C8B-B14F-4D97-AF65-F5344CB8AC3E}">
        <p14:creationId xmlns:p14="http://schemas.microsoft.com/office/powerpoint/2010/main" val="1327444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317DBC2-4391-433F-B8B5-36675EE281E9}" type="slidenum">
              <a:rPr lang="en-US" altLang="vi-VN">
                <a:solidFill>
                  <a:srgbClr val="FFFF00"/>
                </a:solidFill>
              </a:rPr>
              <a:pPr eaLnBrk="1" hangingPunct="1"/>
              <a:t>10</a:t>
            </a:fld>
            <a:endParaRPr lang="en-GB" altLang="vi-VN">
              <a:solidFill>
                <a:srgbClr val="FFFF00"/>
              </a:solidFill>
            </a:endParaRPr>
          </a:p>
        </p:txBody>
      </p:sp>
      <p:sp>
        <p:nvSpPr>
          <p:cNvPr id="13316" name="Text Box 4"/>
          <p:cNvSpPr txBox="1">
            <a:spLocks noChangeArrowheads="1"/>
          </p:cNvSpPr>
          <p:nvPr/>
        </p:nvSpPr>
        <p:spPr bwMode="auto">
          <a:xfrm>
            <a:off x="1752600" y="448468"/>
            <a:ext cx="662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KHAI BÁO BIẾN CON TRỎ FILE</a:t>
            </a:r>
          </a:p>
        </p:txBody>
      </p:sp>
      <p:sp>
        <p:nvSpPr>
          <p:cNvPr id="13317" name="Rectangle 5"/>
          <p:cNvSpPr>
            <a:spLocks noChangeArrowheads="1"/>
          </p:cNvSpPr>
          <p:nvPr/>
        </p:nvSpPr>
        <p:spPr bwMode="auto">
          <a:xfrm>
            <a:off x="1752600" y="1524000"/>
            <a:ext cx="5181600" cy="6191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3400" dirty="0">
                <a:solidFill>
                  <a:srgbClr val="0000CC"/>
                </a:solidFill>
                <a:latin typeface="Tahoma" panose="020B0604030504040204" pitchFamily="34" charset="0"/>
              </a:rPr>
              <a:t>FILE* </a:t>
            </a:r>
            <a:r>
              <a:rPr lang="en-US" altLang="vi-VN" sz="3400" dirty="0" err="1">
                <a:solidFill>
                  <a:srgbClr val="0000CC"/>
                </a:solidFill>
                <a:latin typeface="Tahoma" panose="020B0604030504040204" pitchFamily="34" charset="0"/>
              </a:rPr>
              <a:t>tênbiếncontrỏ</a:t>
            </a:r>
            <a:r>
              <a:rPr lang="en-US" altLang="vi-VN" sz="3400" dirty="0">
                <a:solidFill>
                  <a:srgbClr val="0000CC"/>
                </a:solidFill>
                <a:latin typeface="Tahoma" panose="020B0604030504040204" pitchFamily="34" charset="0"/>
              </a:rPr>
              <a:t>;</a:t>
            </a:r>
          </a:p>
        </p:txBody>
      </p:sp>
      <p:sp>
        <p:nvSpPr>
          <p:cNvPr id="13318" name="Rectangle 6"/>
          <p:cNvSpPr>
            <a:spLocks noChangeArrowheads="1"/>
          </p:cNvSpPr>
          <p:nvPr/>
        </p:nvSpPr>
        <p:spPr bwMode="auto">
          <a:xfrm>
            <a:off x="1295400" y="2362200"/>
            <a:ext cx="579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000" i="1">
                <a:solidFill>
                  <a:srgbClr val="0000CC"/>
                </a:solidFill>
                <a:latin typeface="Tahoma" panose="020B0604030504040204" pitchFamily="34" charset="0"/>
              </a:rPr>
              <a:t>(Lưu ý: chữ FILE phải viết hoa)</a:t>
            </a:r>
          </a:p>
        </p:txBody>
      </p:sp>
      <p:sp>
        <p:nvSpPr>
          <p:cNvPr id="13319" name="Rectangle 7"/>
          <p:cNvSpPr>
            <a:spLocks noChangeArrowheads="1"/>
          </p:cNvSpPr>
          <p:nvPr/>
        </p:nvSpPr>
        <p:spPr bwMode="auto">
          <a:xfrm>
            <a:off x="1143000" y="3352800"/>
            <a:ext cx="57912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800100" indent="-34290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dirty="0" err="1">
                <a:solidFill>
                  <a:srgbClr val="0000CC"/>
                </a:solidFill>
                <a:latin typeface="Tahoma" panose="020B0604030504040204" pitchFamily="34" charset="0"/>
              </a:rPr>
              <a:t>Ví</a:t>
            </a:r>
            <a:r>
              <a:rPr lang="en-US" altLang="vi-VN" sz="2600" dirty="0">
                <a:solidFill>
                  <a:srgbClr val="0000CC"/>
                </a:solidFill>
                <a:latin typeface="Tahoma" panose="020B0604030504040204" pitchFamily="34" charset="0"/>
              </a:rPr>
              <a:t> </a:t>
            </a:r>
            <a:r>
              <a:rPr lang="en-US" altLang="vi-VN" sz="2600" dirty="0" err="1">
                <a:solidFill>
                  <a:srgbClr val="0000CC"/>
                </a:solidFill>
                <a:latin typeface="Tahoma" panose="020B0604030504040204" pitchFamily="34" charset="0"/>
              </a:rPr>
              <a:t>dụ</a:t>
            </a:r>
            <a:r>
              <a:rPr lang="en-US" altLang="vi-VN" sz="2600" dirty="0">
                <a:solidFill>
                  <a:srgbClr val="0000CC"/>
                </a:solidFill>
                <a:latin typeface="Tahoma" panose="020B0604030504040204" pitchFamily="34" charset="0"/>
              </a:rPr>
              <a:t>: </a:t>
            </a:r>
          </a:p>
          <a:p>
            <a:pPr lvl="1" algn="just" eaLnBrk="1" hangingPunct="1"/>
            <a:r>
              <a:rPr lang="en-US" altLang="vi-VN" sz="2600" dirty="0">
                <a:solidFill>
                  <a:srgbClr val="0000CC"/>
                </a:solidFill>
                <a:latin typeface="Tahoma" panose="020B0604030504040204" pitchFamily="34" charset="0"/>
              </a:rPr>
              <a:t>FILE* F1;</a:t>
            </a:r>
          </a:p>
          <a:p>
            <a:pPr lvl="1" algn="just" eaLnBrk="1" hangingPunct="1"/>
            <a:r>
              <a:rPr lang="en-US" altLang="vi-VN" sz="2600" dirty="0">
                <a:solidFill>
                  <a:srgbClr val="0000CC"/>
                </a:solidFill>
                <a:latin typeface="Tahoma" panose="020B0604030504040204" pitchFamily="34" charset="0"/>
              </a:rPr>
              <a:t>FILE* taptin1;</a:t>
            </a:r>
          </a:p>
        </p:txBody>
      </p:sp>
    </p:spTree>
    <p:extLst>
      <p:ext uri="{BB962C8B-B14F-4D97-AF65-F5344CB8AC3E}">
        <p14:creationId xmlns:p14="http://schemas.microsoft.com/office/powerpoint/2010/main" val="21125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A31E09-1651-4534-98E0-A303F870077F}" type="slidenum">
              <a:rPr lang="en-US" altLang="vi-VN">
                <a:solidFill>
                  <a:srgbClr val="FFFF00"/>
                </a:solidFill>
              </a:rPr>
              <a:pPr eaLnBrk="1" hangingPunct="1"/>
              <a:t>11</a:t>
            </a:fld>
            <a:endParaRPr lang="en-GB" altLang="vi-VN">
              <a:solidFill>
                <a:srgbClr val="FFFF00"/>
              </a:solidFill>
            </a:endParaRPr>
          </a:p>
        </p:txBody>
      </p:sp>
      <p:sp>
        <p:nvSpPr>
          <p:cNvPr id="14340" name="Text Box 4"/>
          <p:cNvSpPr txBox="1">
            <a:spLocks noChangeArrowheads="1"/>
          </p:cNvSpPr>
          <p:nvPr/>
        </p:nvSpPr>
        <p:spPr bwMode="auto">
          <a:xfrm>
            <a:off x="1714500" y="471487"/>
            <a:ext cx="662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a:solidFill>
                  <a:srgbClr val="0000CC"/>
                </a:solidFill>
                <a:latin typeface="Tahoma" panose="020B0604030504040204" pitchFamily="34" charset="0"/>
              </a:rPr>
              <a:t>MỘT SỐ HÀM VỀ FILE</a:t>
            </a:r>
          </a:p>
        </p:txBody>
      </p:sp>
      <p:sp>
        <p:nvSpPr>
          <p:cNvPr id="14341" name="Rectangle 6"/>
          <p:cNvSpPr>
            <a:spLocks noChangeArrowheads="1"/>
          </p:cNvSpPr>
          <p:nvPr/>
        </p:nvSpPr>
        <p:spPr bwMode="auto">
          <a:xfrm>
            <a:off x="381000" y="1295400"/>
            <a:ext cx="830580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fopen: mở tập tin</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3000">
                <a:solidFill>
                  <a:srgbClr val="FF0000"/>
                </a:solidFill>
                <a:latin typeface="Tahoma" panose="020B0604030504040204" pitchFamily="34" charset="0"/>
              </a:rPr>
              <a:t>FILE *fopen(char *filename, char *type);</a:t>
            </a:r>
          </a:p>
          <a:p>
            <a:pPr algn="just" eaLnBrk="1" hangingPunct="1"/>
            <a:r>
              <a:rPr lang="en-US" altLang="vi-VN" sz="2600">
                <a:solidFill>
                  <a:srgbClr val="0000CC"/>
                </a:solidFill>
                <a:latin typeface="Tahoma" panose="020B0604030504040204" pitchFamily="34" charset="0"/>
              </a:rPr>
              <a:t>	</a:t>
            </a:r>
          </a:p>
        </p:txBody>
      </p:sp>
      <p:sp>
        <p:nvSpPr>
          <p:cNvPr id="14342" name="AutoShape 7"/>
          <p:cNvSpPr>
            <a:spLocks noChangeArrowheads="1"/>
          </p:cNvSpPr>
          <p:nvPr/>
        </p:nvSpPr>
        <p:spPr bwMode="auto">
          <a:xfrm>
            <a:off x="2895600" y="2743200"/>
            <a:ext cx="2133600" cy="533400"/>
          </a:xfrm>
          <a:prstGeom prst="wedgeRoundRectCallout">
            <a:avLst>
              <a:gd name="adj1" fmla="val 31324"/>
              <a:gd name="adj2" fmla="val -119347"/>
              <a:gd name="adj3" fmla="val 16667"/>
            </a:avLst>
          </a:prstGeom>
          <a:solidFill>
            <a:schemeClr val="bg1"/>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Tên tập tin</a:t>
            </a:r>
            <a:endParaRPr lang="vi-VN" altLang="vi-VN" sz="2200">
              <a:solidFill>
                <a:srgbClr val="0000CC"/>
              </a:solidFill>
              <a:latin typeface="Tahoma" panose="020B0604030504040204" pitchFamily="34" charset="0"/>
            </a:endParaRPr>
          </a:p>
        </p:txBody>
      </p:sp>
      <p:sp>
        <p:nvSpPr>
          <p:cNvPr id="14343" name="AutoShape 8"/>
          <p:cNvSpPr>
            <a:spLocks noChangeArrowheads="1"/>
          </p:cNvSpPr>
          <p:nvPr/>
        </p:nvSpPr>
        <p:spPr bwMode="auto">
          <a:xfrm>
            <a:off x="5257800" y="2743200"/>
            <a:ext cx="2362200" cy="533400"/>
          </a:xfrm>
          <a:prstGeom prst="wedgeRoundRectCallout">
            <a:avLst>
              <a:gd name="adj1" fmla="val 18750"/>
              <a:gd name="adj2" fmla="val -100000"/>
              <a:gd name="adj3" fmla="val 16667"/>
            </a:avLst>
          </a:prstGeom>
          <a:solidFill>
            <a:schemeClr val="bg1"/>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Kiểu truy nhập</a:t>
            </a:r>
            <a:endParaRPr lang="vi-VN" altLang="vi-VN" sz="2200">
              <a:solidFill>
                <a:srgbClr val="0000CC"/>
              </a:solidFill>
              <a:latin typeface="Tahoma" panose="020B0604030504040204" pitchFamily="34" charset="0"/>
            </a:endParaRPr>
          </a:p>
        </p:txBody>
      </p:sp>
      <p:graphicFrame>
        <p:nvGraphicFramePr>
          <p:cNvPr id="714795" name="Group 43"/>
          <p:cNvGraphicFramePr>
            <a:graphicFrameLocks noGrp="1"/>
          </p:cNvGraphicFramePr>
          <p:nvPr>
            <p:ph/>
          </p:nvPr>
        </p:nvGraphicFramePr>
        <p:xfrm>
          <a:off x="304800" y="3505200"/>
          <a:ext cx="8610600" cy="2695674"/>
        </p:xfrm>
        <a:graphic>
          <a:graphicData uri="http://schemas.openxmlformats.org/drawingml/2006/table">
            <a:tbl>
              <a:tblPr/>
              <a:tblGrid>
                <a:gridCol w="1600200">
                  <a:extLst>
                    <a:ext uri="{9D8B030D-6E8A-4147-A177-3AD203B41FA5}">
                      <a16:colId xmlns:a16="http://schemas.microsoft.com/office/drawing/2014/main" val="20000"/>
                    </a:ext>
                  </a:extLst>
                </a:gridCol>
                <a:gridCol w="7010400">
                  <a:extLst>
                    <a:ext uri="{9D8B030D-6E8A-4147-A177-3AD203B41FA5}">
                      <a16:colId xmlns:a16="http://schemas.microsoft.com/office/drawing/2014/main" val="20001"/>
                    </a:ext>
                  </a:extLst>
                </a:gridCol>
              </a:tblGrid>
              <a:tr h="455559">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1" i="0" u="none" strike="noStrike" cap="none" normalizeH="0" baseline="0">
                          <a:ln>
                            <a:noFill/>
                          </a:ln>
                          <a:solidFill>
                            <a:srgbClr val="0000CC"/>
                          </a:solidFill>
                          <a:effectLst/>
                          <a:latin typeface="Arial" charset="0"/>
                        </a:rPr>
                        <a:t>Kiểu</a:t>
                      </a:r>
                      <a:endParaRPr kumimoji="0" lang="vi-VN" sz="1800" b="1" i="0" u="none" strike="noStrike" cap="none" normalizeH="0" baseline="0">
                        <a:ln>
                          <a:noFill/>
                        </a:ln>
                        <a:solidFill>
                          <a:srgbClr val="0000CC"/>
                        </a:solidFill>
                        <a:effectLst/>
                        <a:latin typeface="Arial"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1" i="0" u="none" strike="noStrike" cap="none" normalizeH="0" baseline="0">
                          <a:ln>
                            <a:noFill/>
                          </a:ln>
                          <a:solidFill>
                            <a:srgbClr val="0000CC"/>
                          </a:solidFill>
                          <a:effectLst/>
                          <a:latin typeface="Arial" charset="0"/>
                        </a:rPr>
                        <a:t>Ý nghĩa</a:t>
                      </a:r>
                      <a:endParaRPr kumimoji="0" lang="vi-VN" sz="1800" b="1" i="0" u="none" strike="noStrike" cap="none" normalizeH="0" baseline="0">
                        <a:ln>
                          <a:noFill/>
                        </a:ln>
                        <a:solidFill>
                          <a:srgbClr val="0000CC"/>
                        </a:solidFill>
                        <a:effectLst/>
                        <a:latin typeface="Arial"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0955">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0" i="0" u="none" strike="noStrike" cap="none" normalizeH="0" baseline="0">
                          <a:ln>
                            <a:noFill/>
                          </a:ln>
                          <a:solidFill>
                            <a:srgbClr val="0000CC"/>
                          </a:solidFill>
                          <a:effectLst/>
                          <a:latin typeface="Arial" charset="0"/>
                        </a:rPr>
                        <a:t>“r” hoặc  “rt”</a:t>
                      </a:r>
                      <a:endParaRPr kumimoji="0" lang="vi-VN" sz="1800" b="0" i="0" u="none" strike="noStrike" cap="none" normalizeH="0" baseline="0">
                        <a:ln>
                          <a:noFill/>
                        </a:ln>
                        <a:solidFill>
                          <a:srgbClr val="0000CC"/>
                        </a:solidFill>
                        <a:effectLst/>
                        <a:latin typeface="Arial"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text để đọc, nếu file không có sẽ báo lỗi</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0955">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“w” </a:t>
                      </a:r>
                      <a:r>
                        <a:rPr kumimoji="0" lang="en-US" sz="1800" b="0" i="0" u="none" strike="noStrike" cap="none" normalizeH="0" baseline="0">
                          <a:ln>
                            <a:noFill/>
                          </a:ln>
                          <a:solidFill>
                            <a:srgbClr val="0000CC"/>
                          </a:solidFill>
                          <a:effectLst/>
                          <a:latin typeface="Arial" charset="0"/>
                        </a:rPr>
                        <a:t>hoặc </a:t>
                      </a:r>
                      <a:r>
                        <a:rPr kumimoji="0" lang="vi-VN" sz="1800" b="0" i="0" u="none" strike="noStrike" cap="none" normalizeH="0" baseline="0">
                          <a:ln>
                            <a:noFill/>
                          </a:ln>
                          <a:solidFill>
                            <a:srgbClr val="0000CC"/>
                          </a:solidFill>
                          <a:effectLst/>
                          <a:latin typeface="Arial" charset="0"/>
                        </a:rPr>
                        <a:t> “wt”</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text để ghi, nếu file đã có nó </a:t>
                      </a:r>
                      <a:r>
                        <a:rPr kumimoji="0" lang="en-US" sz="1800" b="0" i="0" u="none" strike="noStrike" cap="none" normalizeH="0" baseline="0">
                          <a:ln>
                            <a:noFill/>
                          </a:ln>
                          <a:solidFill>
                            <a:srgbClr val="0000CC"/>
                          </a:solidFill>
                          <a:effectLst/>
                          <a:latin typeface="Arial" charset="0"/>
                        </a:rPr>
                        <a:t>ghi chồng lên file cũ</a:t>
                      </a:r>
                      <a:endParaRPr kumimoji="0" lang="vi-VN" sz="1800" b="0" i="0" u="none" strike="noStrike" cap="none" normalizeH="0" baseline="0">
                        <a:ln>
                          <a:noFill/>
                        </a:ln>
                        <a:solidFill>
                          <a:srgbClr val="0000CC"/>
                        </a:solidFill>
                        <a:effectLst/>
                        <a:latin typeface="Arial"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0955">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0" i="0" u="none" strike="noStrike" cap="none" normalizeH="0" baseline="0">
                          <a:ln>
                            <a:noFill/>
                          </a:ln>
                          <a:solidFill>
                            <a:srgbClr val="0000CC"/>
                          </a:solidFill>
                          <a:effectLst/>
                          <a:latin typeface="Arial" charset="0"/>
                        </a:rPr>
                        <a:t>“a” hoặc “at”</a:t>
                      </a:r>
                      <a:endParaRPr kumimoji="0" lang="vi-VN" sz="1800" b="0" i="0" u="none" strike="noStrike" cap="none" normalizeH="0" baseline="0">
                        <a:ln>
                          <a:noFill/>
                        </a:ln>
                        <a:solidFill>
                          <a:srgbClr val="0000CC"/>
                        </a:solidFill>
                        <a:effectLst/>
                        <a:latin typeface="Arial"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text để ghi bổ sung, nếu file không có sẽ</a:t>
                      </a:r>
                      <a:r>
                        <a:rPr kumimoji="0" lang="en-US" sz="1800" b="0" i="0" u="none" strike="noStrike" cap="none" normalizeH="0" baseline="0">
                          <a:ln>
                            <a:noFill/>
                          </a:ln>
                          <a:solidFill>
                            <a:srgbClr val="0000CC"/>
                          </a:solidFill>
                          <a:effectLst/>
                          <a:latin typeface="Arial" charset="0"/>
                        </a:rPr>
                        <a:t> tạo</a:t>
                      </a:r>
                      <a:r>
                        <a:rPr kumimoji="0" lang="vi-VN" sz="1800" b="0" i="0" u="none" strike="noStrike" cap="none" normalizeH="0" baseline="0">
                          <a:ln>
                            <a:noFill/>
                          </a:ln>
                          <a:solidFill>
                            <a:srgbClr val="0000CC"/>
                          </a:solidFill>
                          <a:effectLst/>
                          <a:latin typeface="Arial" charset="0"/>
                        </a:rPr>
                        <a:t> lại file mới</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17">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0" i="0" u="none" strike="noStrike" cap="none" normalizeH="0" baseline="0">
                          <a:ln>
                            <a:noFill/>
                          </a:ln>
                          <a:solidFill>
                            <a:srgbClr val="0000CC"/>
                          </a:solidFill>
                          <a:effectLst/>
                          <a:latin typeface="Arial" charset="0"/>
                        </a:rPr>
                        <a:t>“rb”</a:t>
                      </a:r>
                      <a:endParaRPr kumimoji="0" lang="vi-VN" sz="1800" b="0" i="0" u="none" strike="noStrike" cap="none" normalizeH="0" baseline="0">
                        <a:ln>
                          <a:noFill/>
                        </a:ln>
                        <a:solidFill>
                          <a:srgbClr val="0000CC"/>
                        </a:solidFill>
                        <a:effectLst/>
                        <a:latin typeface="Arial"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nhị phân để đọc, nếu file không có sẽ báo lỗi</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17">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“wb”</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nhị phân để ghi, nếu file đã có nó sẽ bị xoá</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17">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1800" b="0" i="0" u="none" strike="noStrike" cap="none" normalizeH="0" baseline="0">
                          <a:ln>
                            <a:noFill/>
                          </a:ln>
                          <a:solidFill>
                            <a:srgbClr val="0000CC"/>
                          </a:solidFill>
                          <a:effectLst/>
                          <a:latin typeface="Arial" charset="0"/>
                        </a:rPr>
                        <a:t>“ab”</a:t>
                      </a:r>
                      <a:endParaRPr kumimoji="0" lang="vi-VN" sz="1800" b="0" i="0" u="none" strike="noStrike" cap="none" normalizeH="0" baseline="0">
                        <a:ln>
                          <a:noFill/>
                        </a:ln>
                        <a:solidFill>
                          <a:srgbClr val="0000CC"/>
                        </a:solidFill>
                        <a:effectLst/>
                        <a:latin typeface="Arial"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vi-VN" sz="1800" b="0" i="0" u="none" strike="noStrike" cap="none" normalizeH="0" baseline="0">
                          <a:ln>
                            <a:noFill/>
                          </a:ln>
                          <a:solidFill>
                            <a:srgbClr val="0000CC"/>
                          </a:solidFill>
                          <a:effectLst/>
                          <a:latin typeface="Arial" charset="0"/>
                        </a:rPr>
                        <a:t>Mở file nhị phân để ghi bổ sung, nếu file không có sẽ lại file mới</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93967484"/>
      </p:ext>
    </p:extLst>
  </p:cSld>
  <p:clrMapOvr>
    <a:masterClrMapping/>
  </p:clrMapOvr>
  <p:transition>
    <p:push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B8F3A2C-0040-46A7-803B-2EB52C32F249}" type="slidenum">
              <a:rPr lang="en-US" altLang="vi-VN">
                <a:solidFill>
                  <a:srgbClr val="FFFF00"/>
                </a:solidFill>
              </a:rPr>
              <a:pPr eaLnBrk="1" hangingPunct="1"/>
              <a:t>12</a:t>
            </a:fld>
            <a:endParaRPr lang="en-GB" altLang="vi-VN">
              <a:solidFill>
                <a:srgbClr val="FFFF00"/>
              </a:solidFill>
            </a:endParaRPr>
          </a:p>
        </p:txBody>
      </p:sp>
      <p:sp>
        <p:nvSpPr>
          <p:cNvPr id="15364" name="Rectangle 4"/>
          <p:cNvSpPr>
            <a:spLocks noChangeArrowheads="1"/>
          </p:cNvSpPr>
          <p:nvPr/>
        </p:nvSpPr>
        <p:spPr bwMode="auto">
          <a:xfrm>
            <a:off x="457200" y="1219200"/>
            <a:ext cx="83058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b="1" i="1">
                <a:solidFill>
                  <a:srgbClr val="0000CC"/>
                </a:solidFill>
                <a:latin typeface="Tahoma" panose="020B0604030504040204" pitchFamily="34" charset="0"/>
              </a:rPr>
              <a:t>Lưu ý</a:t>
            </a:r>
            <a:r>
              <a:rPr lang="en-US" altLang="vi-VN" sz="2600" i="1">
                <a:solidFill>
                  <a:srgbClr val="0000CC"/>
                </a:solidFill>
                <a:latin typeface="Tahoma" panose="020B0604030504040204" pitchFamily="34" charset="0"/>
              </a:rPr>
              <a:t>: Nếu hàm fopen thành công thì hàm cho con trỏ kiểu FILE ứng với tên file vừa mở. Nếu không thành công thì sẽ nhận giá trị là NULL.</a:t>
            </a:r>
          </a:p>
        </p:txBody>
      </p:sp>
      <p:sp>
        <p:nvSpPr>
          <p:cNvPr id="15365"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1159021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0322D3-32A4-421E-8D8B-060B952E8410}" type="slidenum">
              <a:rPr lang="en-US" altLang="vi-VN">
                <a:solidFill>
                  <a:srgbClr val="FFFF00"/>
                </a:solidFill>
              </a:rPr>
              <a:pPr eaLnBrk="1" hangingPunct="1"/>
              <a:t>13</a:t>
            </a:fld>
            <a:endParaRPr lang="en-GB" altLang="vi-VN">
              <a:solidFill>
                <a:srgbClr val="FFFF00"/>
              </a:solidFill>
            </a:endParaRPr>
          </a:p>
        </p:txBody>
      </p:sp>
      <p:sp>
        <p:nvSpPr>
          <p:cNvPr id="16389" name="Rectangle 5"/>
          <p:cNvSpPr>
            <a:spLocks noChangeArrowheads="1"/>
          </p:cNvSpPr>
          <p:nvPr/>
        </p:nvSpPr>
        <p:spPr bwMode="auto">
          <a:xfrm>
            <a:off x="381000" y="1524000"/>
            <a:ext cx="83058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fclose: đóng tập tin</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fclose(FILE *fp); //</a:t>
            </a:r>
            <a:r>
              <a:rPr lang="en-US" altLang="vi-VN" sz="2000" i="1">
                <a:solidFill>
                  <a:srgbClr val="FF0000"/>
                </a:solidFill>
                <a:latin typeface="Tahoma" panose="020B0604030504040204" pitchFamily="34" charset="0"/>
              </a:rPr>
              <a:t>fp là tên con trỏ tương ứng với file cần đóng</a:t>
            </a:r>
            <a:endParaRPr lang="en-US" altLang="vi-VN" sz="2000">
              <a:solidFill>
                <a:srgbClr val="FF0000"/>
              </a:solidFill>
              <a:latin typeface="Tahoma" panose="020B0604030504040204" pitchFamily="34" charset="0"/>
            </a:endParaRPr>
          </a:p>
        </p:txBody>
      </p:sp>
      <p:sp>
        <p:nvSpPr>
          <p:cNvPr id="16390" name="Rectangle 6"/>
          <p:cNvSpPr>
            <a:spLocks noChangeArrowheads="1"/>
          </p:cNvSpPr>
          <p:nvPr/>
        </p:nvSpPr>
        <p:spPr bwMode="auto">
          <a:xfrm>
            <a:off x="381000" y="3124200"/>
            <a:ext cx="83058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fcloseall: đóng tất cả các tập tin đang mở</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fcloseall(void); </a:t>
            </a:r>
            <a:endParaRPr lang="en-US" altLang="vi-VN" sz="2000">
              <a:solidFill>
                <a:srgbClr val="FF0000"/>
              </a:solidFill>
              <a:latin typeface="Tahoma" panose="020B0604030504040204" pitchFamily="34" charset="0"/>
            </a:endParaRPr>
          </a:p>
        </p:txBody>
      </p:sp>
      <p:sp>
        <p:nvSpPr>
          <p:cNvPr id="7"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3647309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B8403C5-12F9-4B9A-8A8E-B08D9ACE300F}" type="slidenum">
              <a:rPr lang="en-US" altLang="vi-VN">
                <a:solidFill>
                  <a:srgbClr val="FFFF00"/>
                </a:solidFill>
              </a:rPr>
              <a:pPr eaLnBrk="1" hangingPunct="1"/>
              <a:t>14</a:t>
            </a:fld>
            <a:endParaRPr lang="en-GB" altLang="vi-VN">
              <a:solidFill>
                <a:srgbClr val="FFFF00"/>
              </a:solidFill>
            </a:endParaRPr>
          </a:p>
        </p:txBody>
      </p:sp>
      <p:sp>
        <p:nvSpPr>
          <p:cNvPr id="17413" name="Rectangle 5"/>
          <p:cNvSpPr>
            <a:spLocks noChangeArrowheads="1"/>
          </p:cNvSpPr>
          <p:nvPr/>
        </p:nvSpPr>
        <p:spPr bwMode="auto">
          <a:xfrm>
            <a:off x="457200" y="1219200"/>
            <a:ext cx="83058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fflush: làm sạch vùng đệm của 1 file</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fflush(FILE *fp); //</a:t>
            </a:r>
            <a:r>
              <a:rPr lang="en-US" altLang="vi-VN" sz="2000" i="1">
                <a:solidFill>
                  <a:srgbClr val="FF0000"/>
                </a:solidFill>
                <a:latin typeface="Tahoma" panose="020B0604030504040204" pitchFamily="34" charset="0"/>
              </a:rPr>
              <a:t>fp là tên con trỏ file</a:t>
            </a:r>
            <a:endParaRPr lang="en-US" altLang="vi-VN" sz="2000">
              <a:solidFill>
                <a:srgbClr val="FF0000"/>
              </a:solidFill>
              <a:latin typeface="Tahoma" panose="020B0604030504040204" pitchFamily="34" charset="0"/>
            </a:endParaRPr>
          </a:p>
        </p:txBody>
      </p:sp>
      <p:sp>
        <p:nvSpPr>
          <p:cNvPr id="17414" name="Rectangle 6"/>
          <p:cNvSpPr>
            <a:spLocks noChangeArrowheads="1"/>
          </p:cNvSpPr>
          <p:nvPr/>
        </p:nvSpPr>
        <p:spPr bwMode="auto">
          <a:xfrm>
            <a:off x="457200" y="2819400"/>
            <a:ext cx="8305800"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fflushall: làm sạch vùng đệm của tất cả các file đang mở</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fflushall(void);</a:t>
            </a:r>
            <a:endParaRPr lang="en-US" altLang="vi-VN" sz="2000">
              <a:solidFill>
                <a:srgbClr val="FF0000"/>
              </a:solidFill>
              <a:latin typeface="Tahoma" panose="020B0604030504040204" pitchFamily="34" charset="0"/>
            </a:endParaRPr>
          </a:p>
        </p:txBody>
      </p:sp>
      <p:sp>
        <p:nvSpPr>
          <p:cNvPr id="7"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3137994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E1744E-E817-41C7-A3F3-6750B7874B22}" type="slidenum">
              <a:rPr lang="en-US" altLang="vi-VN">
                <a:solidFill>
                  <a:srgbClr val="FFFF00"/>
                </a:solidFill>
              </a:rPr>
              <a:pPr eaLnBrk="1" hangingPunct="1"/>
              <a:t>15</a:t>
            </a:fld>
            <a:endParaRPr lang="en-GB" altLang="vi-VN">
              <a:solidFill>
                <a:srgbClr val="FFFF00"/>
              </a:solidFill>
            </a:endParaRPr>
          </a:p>
        </p:txBody>
      </p:sp>
      <p:sp>
        <p:nvSpPr>
          <p:cNvPr id="18437" name="Rectangle 5"/>
          <p:cNvSpPr>
            <a:spLocks noChangeArrowheads="1"/>
          </p:cNvSpPr>
          <p:nvPr/>
        </p:nvSpPr>
        <p:spPr bwMode="auto">
          <a:xfrm>
            <a:off x="457200" y="1219200"/>
            <a:ext cx="830580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ferror: kiểm tra lỗi thao tác trên file</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ferror(FILE *fp); //</a:t>
            </a:r>
            <a:r>
              <a:rPr lang="en-US" altLang="vi-VN" sz="2000" i="1">
                <a:solidFill>
                  <a:srgbClr val="FF0000"/>
                </a:solidFill>
                <a:latin typeface="Tahoma" panose="020B0604030504040204" pitchFamily="34" charset="0"/>
              </a:rPr>
              <a:t>fp là tên con trỏ file</a:t>
            </a:r>
          </a:p>
          <a:p>
            <a:pPr algn="just" eaLnBrk="1" hangingPunct="1"/>
            <a:r>
              <a:rPr lang="en-US" altLang="vi-VN" sz="2000" i="1">
                <a:solidFill>
                  <a:srgbClr val="FF0000"/>
                </a:solidFill>
                <a:latin typeface="Tahoma" panose="020B0604030504040204" pitchFamily="34" charset="0"/>
              </a:rPr>
              <a:t>	</a:t>
            </a:r>
          </a:p>
          <a:p>
            <a:pPr algn="just" eaLnBrk="1" hangingPunct="1"/>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 Nếu kết quả cho bằng 0 </a:t>
            </a:r>
            <a:r>
              <a:rPr lang="en-US" altLang="vi-VN" sz="2000" i="1">
                <a:solidFill>
                  <a:srgbClr val="0000CC"/>
                </a:solidFill>
                <a:latin typeface="Tahoma" panose="020B0604030504040204" pitchFamily="34" charset="0"/>
                <a:sym typeface="Wingdings" panose="05000000000000000000" pitchFamily="2" charset="2"/>
              </a:rPr>
              <a:t> </a:t>
            </a:r>
            <a:r>
              <a:rPr lang="en-US" altLang="vi-VN" sz="2000" i="1">
                <a:solidFill>
                  <a:srgbClr val="0000CC"/>
                </a:solidFill>
                <a:latin typeface="Tahoma" panose="020B0604030504040204" pitchFamily="34" charset="0"/>
              </a:rPr>
              <a:t>không có lỗi</a:t>
            </a:r>
          </a:p>
          <a:p>
            <a:pPr algn="just" eaLnBrk="1" hangingPunct="1"/>
            <a:r>
              <a:rPr lang="en-US" altLang="vi-VN" sz="2000" i="1">
                <a:solidFill>
                  <a:srgbClr val="0000CC"/>
                </a:solidFill>
                <a:latin typeface="Tahoma" panose="020B0604030504040204" pitchFamily="34" charset="0"/>
              </a:rPr>
              <a:t>	+ Kết quả ngược lại là có lỗi</a:t>
            </a:r>
            <a:endParaRPr lang="en-US" altLang="vi-VN" sz="2000">
              <a:solidFill>
                <a:srgbClr val="0000CC"/>
              </a:solidFill>
              <a:latin typeface="Tahoma" panose="020B0604030504040204" pitchFamily="34" charset="0"/>
            </a:endParaRPr>
          </a:p>
        </p:txBody>
      </p:sp>
      <p:sp>
        <p:nvSpPr>
          <p:cNvPr id="18438" name="Rectangle 6"/>
          <p:cNvSpPr>
            <a:spLocks noChangeArrowheads="1"/>
          </p:cNvSpPr>
          <p:nvPr/>
        </p:nvSpPr>
        <p:spPr bwMode="auto">
          <a:xfrm>
            <a:off x="457200" y="3581400"/>
            <a:ext cx="83058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perror: thông báo lỗi hệ thống</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void perror(char *s); </a:t>
            </a:r>
            <a:endParaRPr lang="en-US" altLang="vi-VN" sz="2000" i="1">
              <a:solidFill>
                <a:srgbClr val="FF0000"/>
              </a:solidFill>
              <a:latin typeface="Tahoma" panose="020B0604030504040204" pitchFamily="34" charset="0"/>
            </a:endParaRPr>
          </a:p>
          <a:p>
            <a:pPr algn="just" eaLnBrk="1" hangingPunct="1"/>
            <a:r>
              <a:rPr lang="en-US" altLang="vi-VN" sz="2000" i="1">
                <a:solidFill>
                  <a:srgbClr val="FF0000"/>
                </a:solidFill>
                <a:latin typeface="Tahoma" panose="020B0604030504040204" pitchFamily="34" charset="0"/>
              </a:rPr>
              <a:t>	</a:t>
            </a:r>
          </a:p>
          <a:p>
            <a:pPr algn="just" eaLnBrk="1" hangingPunct="1"/>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Hàm sẽ in ra chuỗi s và thông báo lỗi</a:t>
            </a:r>
            <a:endParaRPr lang="en-US" altLang="vi-VN" sz="2000">
              <a:solidFill>
                <a:srgbClr val="0000CC"/>
              </a:solidFill>
              <a:latin typeface="Tahoma" panose="020B0604030504040204" pitchFamily="34" charset="0"/>
            </a:endParaRPr>
          </a:p>
        </p:txBody>
      </p:sp>
      <p:sp>
        <p:nvSpPr>
          <p:cNvPr id="7"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3469784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061B24-332E-4683-97EA-89A89EFEF75C}" type="slidenum">
              <a:rPr lang="en-US" altLang="vi-VN">
                <a:solidFill>
                  <a:srgbClr val="FFFF00"/>
                </a:solidFill>
              </a:rPr>
              <a:pPr eaLnBrk="1" hangingPunct="1"/>
              <a:t>16</a:t>
            </a:fld>
            <a:endParaRPr lang="en-GB" altLang="vi-VN">
              <a:solidFill>
                <a:srgbClr val="FFFF00"/>
              </a:solidFill>
            </a:endParaRPr>
          </a:p>
        </p:txBody>
      </p:sp>
      <p:sp>
        <p:nvSpPr>
          <p:cNvPr id="19461" name="Rectangle 5"/>
          <p:cNvSpPr>
            <a:spLocks noChangeArrowheads="1"/>
          </p:cNvSpPr>
          <p:nvPr/>
        </p:nvSpPr>
        <p:spPr bwMode="auto">
          <a:xfrm>
            <a:off x="457200" y="1219200"/>
            <a:ext cx="83058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feof: kiểm tra cuối file</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feof(FILE *fp); //</a:t>
            </a:r>
            <a:r>
              <a:rPr lang="en-US" altLang="vi-VN" sz="2000" i="1">
                <a:solidFill>
                  <a:srgbClr val="FF0000"/>
                </a:solidFill>
                <a:latin typeface="Tahoma" panose="020B0604030504040204" pitchFamily="34" charset="0"/>
              </a:rPr>
              <a:t>fp là tên con trỏ file</a:t>
            </a:r>
          </a:p>
          <a:p>
            <a:pPr algn="just" eaLnBrk="1" hangingPunct="1"/>
            <a:r>
              <a:rPr lang="en-US" altLang="vi-VN" sz="2000" i="1">
                <a:solidFill>
                  <a:srgbClr val="FF0000"/>
                </a:solidFill>
                <a:latin typeface="Tahoma" panose="020B0604030504040204" pitchFamily="34" charset="0"/>
              </a:rPr>
              <a:t>	</a:t>
            </a:r>
          </a:p>
          <a:p>
            <a:pPr algn="just" eaLnBrk="1" hangingPunct="1"/>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 Nếu kết quả cho giá trị khác 0 </a:t>
            </a:r>
            <a:r>
              <a:rPr lang="en-US" altLang="vi-VN" sz="2000" i="1">
                <a:solidFill>
                  <a:srgbClr val="0000CC"/>
                </a:solidFill>
                <a:latin typeface="Tahoma" panose="020B0604030504040204" pitchFamily="34" charset="0"/>
                <a:sym typeface="Wingdings" panose="05000000000000000000" pitchFamily="2" charset="2"/>
              </a:rPr>
              <a:t> ở cuối file</a:t>
            </a:r>
            <a:endParaRPr lang="en-US" altLang="vi-VN" sz="2000">
              <a:solidFill>
                <a:srgbClr val="0000CC"/>
              </a:solidFill>
              <a:latin typeface="Tahoma" panose="020B0604030504040204" pitchFamily="34" charset="0"/>
            </a:endParaRPr>
          </a:p>
        </p:txBody>
      </p:sp>
      <p:sp>
        <p:nvSpPr>
          <p:cNvPr id="19462" name="Rectangle 6"/>
          <p:cNvSpPr>
            <a:spLocks noChangeArrowheads="1"/>
          </p:cNvSpPr>
          <p:nvPr/>
        </p:nvSpPr>
        <p:spPr bwMode="auto">
          <a:xfrm>
            <a:off x="457200" y="3581400"/>
            <a:ext cx="830580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unlink: xoá file</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unlink(char *filename); </a:t>
            </a:r>
            <a:endParaRPr lang="en-US" altLang="vi-VN" sz="2000" i="1">
              <a:solidFill>
                <a:srgbClr val="FF0000"/>
              </a:solidFill>
              <a:latin typeface="Tahoma" panose="020B0604030504040204" pitchFamily="34" charset="0"/>
            </a:endParaRPr>
          </a:p>
          <a:p>
            <a:pPr algn="just" eaLnBrk="1" hangingPunct="1"/>
            <a:r>
              <a:rPr lang="en-US" altLang="vi-VN" sz="2000" i="1">
                <a:solidFill>
                  <a:srgbClr val="FF0000"/>
                </a:solidFill>
                <a:latin typeface="Tahoma" panose="020B0604030504040204" pitchFamily="34" charset="0"/>
              </a:rPr>
              <a:t>	</a:t>
            </a:r>
          </a:p>
          <a:p>
            <a:pPr algn="just" eaLnBrk="1" hangingPunct="1"/>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a:t>
            </a:r>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filename là tên file cần xoá</a:t>
            </a:r>
          </a:p>
          <a:p>
            <a:pPr algn="just" eaLnBrk="1" hangingPunct="1"/>
            <a:r>
              <a:rPr lang="en-US" altLang="vi-VN" sz="2000" i="1">
                <a:solidFill>
                  <a:srgbClr val="0000CC"/>
                </a:solidFill>
                <a:latin typeface="Tahoma" panose="020B0604030504040204" pitchFamily="34" charset="0"/>
              </a:rPr>
              <a:t>	+ Nếu thực hiện thành công sẽ cho giá trị 0.</a:t>
            </a:r>
            <a:endParaRPr lang="en-US" altLang="vi-VN" sz="2000">
              <a:solidFill>
                <a:srgbClr val="0000CC"/>
              </a:solidFill>
              <a:latin typeface="Tahoma" panose="020B0604030504040204" pitchFamily="34" charset="0"/>
            </a:endParaRPr>
          </a:p>
        </p:txBody>
      </p:sp>
      <p:sp>
        <p:nvSpPr>
          <p:cNvPr id="7"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1080173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9FF1328-F6A5-4851-802E-0106A6E07251}" type="slidenum">
              <a:rPr lang="en-US" altLang="vi-VN">
                <a:solidFill>
                  <a:srgbClr val="FFFF00"/>
                </a:solidFill>
              </a:rPr>
              <a:pPr eaLnBrk="1" hangingPunct="1"/>
              <a:t>17</a:t>
            </a:fld>
            <a:endParaRPr lang="en-GB" altLang="vi-VN">
              <a:solidFill>
                <a:srgbClr val="FFFF00"/>
              </a:solidFill>
            </a:endParaRPr>
          </a:p>
        </p:txBody>
      </p:sp>
      <p:sp>
        <p:nvSpPr>
          <p:cNvPr id="20485" name="Rectangle 5"/>
          <p:cNvSpPr>
            <a:spLocks noChangeArrowheads="1"/>
          </p:cNvSpPr>
          <p:nvPr/>
        </p:nvSpPr>
        <p:spPr bwMode="auto">
          <a:xfrm>
            <a:off x="457200" y="1219200"/>
            <a:ext cx="83058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a:solidFill>
                  <a:srgbClr val="0000CC"/>
                </a:solidFill>
                <a:latin typeface="Tahoma" panose="020B0604030504040204" pitchFamily="34" charset="0"/>
              </a:rPr>
              <a:t> Hàm remove: xoá file</a:t>
            </a:r>
          </a:p>
          <a:p>
            <a:pPr algn="just" eaLnBrk="1" hangingPunct="1"/>
            <a:endParaRPr lang="en-US" altLang="vi-VN" sz="1000">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remove(char *filename); </a:t>
            </a:r>
            <a:endParaRPr lang="en-US" altLang="vi-VN" sz="2000" i="1">
              <a:solidFill>
                <a:srgbClr val="FF0000"/>
              </a:solidFill>
              <a:latin typeface="Tahoma" panose="020B0604030504040204" pitchFamily="34" charset="0"/>
            </a:endParaRPr>
          </a:p>
          <a:p>
            <a:pPr algn="just" eaLnBrk="1" hangingPunct="1"/>
            <a:r>
              <a:rPr lang="en-US" altLang="vi-VN" sz="2000" i="1">
                <a:solidFill>
                  <a:srgbClr val="FF0000"/>
                </a:solidFill>
                <a:latin typeface="Tahoma" panose="020B0604030504040204" pitchFamily="34" charset="0"/>
              </a:rPr>
              <a:t>	</a:t>
            </a:r>
          </a:p>
          <a:p>
            <a:pPr algn="just" eaLnBrk="1" hangingPunct="1"/>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a:t>
            </a:r>
            <a:r>
              <a:rPr lang="en-US" altLang="vi-VN" sz="2000" i="1">
                <a:solidFill>
                  <a:srgbClr val="FF0000"/>
                </a:solidFill>
                <a:latin typeface="Tahoma" panose="020B0604030504040204" pitchFamily="34" charset="0"/>
              </a:rPr>
              <a:t> </a:t>
            </a:r>
            <a:r>
              <a:rPr lang="en-US" altLang="vi-VN" sz="2000" i="1">
                <a:solidFill>
                  <a:srgbClr val="0000CC"/>
                </a:solidFill>
                <a:latin typeface="Tahoma" panose="020B0604030504040204" pitchFamily="34" charset="0"/>
              </a:rPr>
              <a:t>filename là tên file cần xoá</a:t>
            </a:r>
          </a:p>
        </p:txBody>
      </p:sp>
      <p:sp>
        <p:nvSpPr>
          <p:cNvPr id="6" name="Text Box 5"/>
          <p:cNvSpPr txBox="1">
            <a:spLocks noChangeArrowheads="1"/>
          </p:cNvSpPr>
          <p:nvPr/>
        </p:nvSpPr>
        <p:spPr bwMode="auto">
          <a:xfrm>
            <a:off x="1883228" y="381000"/>
            <a:ext cx="596537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MỘT SỐ HÀM VỀ FILE</a:t>
            </a:r>
          </a:p>
        </p:txBody>
      </p:sp>
    </p:spTree>
    <p:extLst>
      <p:ext uri="{BB962C8B-B14F-4D97-AF65-F5344CB8AC3E}">
        <p14:creationId xmlns:p14="http://schemas.microsoft.com/office/powerpoint/2010/main" val="3546870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42522B-5224-4C58-9809-6684F74DEE98}" type="slidenum">
              <a:rPr lang="en-US" altLang="vi-VN">
                <a:solidFill>
                  <a:srgbClr val="FFFF00"/>
                </a:solidFill>
              </a:rPr>
              <a:pPr eaLnBrk="1" hangingPunct="1"/>
              <a:t>18</a:t>
            </a:fld>
            <a:endParaRPr lang="en-GB" altLang="vi-VN">
              <a:solidFill>
                <a:srgbClr val="FFFF00"/>
              </a:solidFill>
            </a:endParaRPr>
          </a:p>
        </p:txBody>
      </p:sp>
      <p:sp>
        <p:nvSpPr>
          <p:cNvPr id="21507" name="Rectangle 3"/>
          <p:cNvSpPr>
            <a:spLocks noChangeArrowheads="1"/>
          </p:cNvSpPr>
          <p:nvPr/>
        </p:nvSpPr>
        <p:spPr bwMode="auto">
          <a:xfrm>
            <a:off x="1785256" y="381000"/>
            <a:ext cx="652054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b="1">
                <a:solidFill>
                  <a:srgbClr val="0000CC"/>
                </a:solidFill>
                <a:latin typeface="Tahoma" panose="020B0604030504040204" pitchFamily="34" charset="0"/>
              </a:rPr>
              <a:t>CÁC HÀM NHẬP XUẤT KÝ TỰ</a:t>
            </a:r>
          </a:p>
        </p:txBody>
      </p:sp>
      <p:sp>
        <p:nvSpPr>
          <p:cNvPr id="21508" name="Rectangle 4"/>
          <p:cNvSpPr>
            <a:spLocks noChangeArrowheads="1"/>
          </p:cNvSpPr>
          <p:nvPr/>
        </p:nvSpPr>
        <p:spPr bwMode="auto">
          <a:xfrm>
            <a:off x="152400" y="1219200"/>
            <a:ext cx="8915400" cy="216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putc, fputc:</a:t>
            </a:r>
          </a:p>
          <a:p>
            <a:pPr algn="just" eaLnBrk="1" hangingPunct="1"/>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putc (int ch, FILE *fp);</a:t>
            </a:r>
          </a:p>
          <a:p>
            <a:pPr algn="just" eaLnBrk="1" hangingPunct="1"/>
            <a:r>
              <a:rPr lang="en-US" altLang="vi-VN" sz="2600">
                <a:solidFill>
                  <a:srgbClr val="0000CC"/>
                </a:solidFill>
                <a:latin typeface="Tahoma" panose="020B0604030504040204" pitchFamily="34" charset="0"/>
              </a:rPr>
              <a:t>   fputc (int ch, FILE *fp); </a:t>
            </a:r>
          </a:p>
          <a:p>
            <a:pPr algn="just" eaLnBrk="1" hangingPunct="1"/>
            <a:endParaRPr lang="en-US" altLang="vi-VN" sz="2600">
              <a:solidFill>
                <a:srgbClr val="0000CC"/>
              </a:solidFill>
              <a:latin typeface="Tahoma" panose="020B0604030504040204" pitchFamily="34" charset="0"/>
            </a:endParaRPr>
          </a:p>
          <a:p>
            <a:pPr algn="just" eaLnBrk="1" hangingPunct="1"/>
            <a:r>
              <a:rPr lang="en-US" altLang="vi-VN" sz="2200" i="1">
                <a:solidFill>
                  <a:srgbClr val="0000CC"/>
                </a:solidFill>
                <a:latin typeface="Tahoma" panose="020B0604030504040204" pitchFamily="34" charset="0"/>
              </a:rPr>
              <a:t>Hai hàm này là như nhau, đều có tác dụng là ghi ký tự ch vào file fp.</a:t>
            </a:r>
            <a:endParaRPr lang="en-US" altLang="vi-VN" i="1">
              <a:solidFill>
                <a:srgbClr val="0000CC"/>
              </a:solidFill>
              <a:latin typeface="Tahoma" panose="020B0604030504040204" pitchFamily="34" charset="0"/>
            </a:endParaRPr>
          </a:p>
        </p:txBody>
      </p:sp>
      <p:sp>
        <p:nvSpPr>
          <p:cNvPr id="21509" name="Rectangle 5"/>
          <p:cNvSpPr>
            <a:spLocks noChangeArrowheads="1"/>
          </p:cNvSpPr>
          <p:nvPr/>
        </p:nvSpPr>
        <p:spPr bwMode="auto">
          <a:xfrm>
            <a:off x="152400" y="3581400"/>
            <a:ext cx="8458200" cy="216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getc, fgetc:</a:t>
            </a:r>
          </a:p>
          <a:p>
            <a:pPr algn="just" eaLnBrk="1" hangingPunct="1"/>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getc (FILE *fp);</a:t>
            </a:r>
          </a:p>
          <a:p>
            <a:pPr algn="just" eaLnBrk="1" hangingPunct="1"/>
            <a:r>
              <a:rPr lang="en-US" altLang="vi-VN" sz="2600">
                <a:solidFill>
                  <a:srgbClr val="0000CC"/>
                </a:solidFill>
                <a:latin typeface="Tahoma" panose="020B0604030504040204" pitchFamily="34" charset="0"/>
              </a:rPr>
              <a:t>   fgetc (FILE *fp); </a:t>
            </a:r>
          </a:p>
          <a:p>
            <a:pPr algn="just" eaLnBrk="1" hangingPunct="1"/>
            <a:endParaRPr lang="en-US" altLang="vi-VN" sz="2600">
              <a:solidFill>
                <a:srgbClr val="0000CC"/>
              </a:solidFill>
              <a:latin typeface="Tahoma" panose="020B0604030504040204" pitchFamily="34" charset="0"/>
            </a:endParaRPr>
          </a:p>
          <a:p>
            <a:pPr algn="just" eaLnBrk="1" hangingPunct="1"/>
            <a:r>
              <a:rPr lang="en-US" altLang="vi-VN" sz="2200" i="1">
                <a:solidFill>
                  <a:srgbClr val="0000CC"/>
                </a:solidFill>
                <a:latin typeface="Tahoma" panose="020B0604030504040204" pitchFamily="34" charset="0"/>
              </a:rPr>
              <a:t>Hai hàm này là như nhau, đều có tác dụng đọc ký tự từ file fp.</a:t>
            </a:r>
            <a:endParaRPr lang="en-US" altLang="vi-VN" i="1">
              <a:solidFill>
                <a:srgbClr val="0000CC"/>
              </a:solidFill>
              <a:latin typeface="Tahoma" panose="020B0604030504040204" pitchFamily="34" charset="0"/>
            </a:endParaRPr>
          </a:p>
        </p:txBody>
      </p:sp>
    </p:spTree>
    <p:extLst>
      <p:ext uri="{BB962C8B-B14F-4D97-AF65-F5344CB8AC3E}">
        <p14:creationId xmlns:p14="http://schemas.microsoft.com/office/powerpoint/2010/main" val="288472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E02998-7114-4191-8169-9471F34662D8}" type="slidenum">
              <a:rPr lang="en-US" altLang="vi-VN">
                <a:solidFill>
                  <a:srgbClr val="FFFF00"/>
                </a:solidFill>
              </a:rPr>
              <a:pPr eaLnBrk="1" hangingPunct="1"/>
              <a:t>19</a:t>
            </a:fld>
            <a:endParaRPr lang="en-GB" altLang="vi-VN">
              <a:solidFill>
                <a:srgbClr val="FFFF00"/>
              </a:solidFill>
            </a:endParaRPr>
          </a:p>
        </p:txBody>
      </p:sp>
      <p:sp>
        <p:nvSpPr>
          <p:cNvPr id="22531" name="Text Box 3"/>
          <p:cNvSpPr txBox="1">
            <a:spLocks noChangeArrowheads="1"/>
          </p:cNvSpPr>
          <p:nvPr/>
        </p:nvSpPr>
        <p:spPr bwMode="auto">
          <a:xfrm>
            <a:off x="1752600" y="381000"/>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a:t>
            </a:r>
          </a:p>
        </p:txBody>
      </p:sp>
      <p:sp>
        <p:nvSpPr>
          <p:cNvPr id="729092" name="Oval 4"/>
          <p:cNvSpPr>
            <a:spLocks noChangeArrowheads="1"/>
          </p:cNvSpPr>
          <p:nvPr/>
        </p:nvSpPr>
        <p:spPr bwMode="auto">
          <a:xfrm>
            <a:off x="228600" y="1143000"/>
            <a:ext cx="2895600" cy="4953000"/>
          </a:xfrm>
          <a:prstGeom prst="ellipse">
            <a:avLst/>
          </a:prstGeom>
          <a:noFill/>
          <a:ln w="952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Viết </a:t>
            </a:r>
          </a:p>
          <a:p>
            <a:pPr eaLnBrk="1" hangingPunct="1"/>
            <a:r>
              <a:rPr lang="en-US" altLang="vi-VN" sz="2200">
                <a:solidFill>
                  <a:srgbClr val="0000CC"/>
                </a:solidFill>
                <a:latin typeface="Tahoma" panose="020B0604030504040204" pitchFamily="34" charset="0"/>
              </a:rPr>
              <a:t>chương trình </a:t>
            </a:r>
          </a:p>
          <a:p>
            <a:pPr eaLnBrk="1" hangingPunct="1"/>
            <a:r>
              <a:rPr lang="en-US" altLang="vi-VN" sz="2200">
                <a:solidFill>
                  <a:srgbClr val="0000CC"/>
                </a:solidFill>
                <a:latin typeface="Tahoma" panose="020B0604030504040204" pitchFamily="34" charset="0"/>
              </a:rPr>
              <a:t>tạo một file có </a:t>
            </a:r>
          </a:p>
          <a:p>
            <a:pPr eaLnBrk="1" hangingPunct="1"/>
            <a:r>
              <a:rPr lang="en-US" altLang="vi-VN" sz="2200">
                <a:solidFill>
                  <a:srgbClr val="0000CC"/>
                </a:solidFill>
                <a:latin typeface="Tahoma" panose="020B0604030504040204" pitchFamily="34" charset="0"/>
              </a:rPr>
              <a:t>tên vanban.txt </a:t>
            </a:r>
          </a:p>
          <a:p>
            <a:pPr eaLnBrk="1" hangingPunct="1"/>
            <a:r>
              <a:rPr lang="en-US" altLang="vi-VN" sz="2200">
                <a:solidFill>
                  <a:srgbClr val="0000CC"/>
                </a:solidFill>
                <a:latin typeface="Tahoma" panose="020B0604030504040204" pitchFamily="34" charset="0"/>
              </a:rPr>
              <a:t>trong đĩa c, </a:t>
            </a:r>
          </a:p>
          <a:p>
            <a:pPr eaLnBrk="1" hangingPunct="1"/>
            <a:r>
              <a:rPr lang="en-US" altLang="vi-VN" sz="2200">
                <a:solidFill>
                  <a:srgbClr val="0000CC"/>
                </a:solidFill>
                <a:latin typeface="Tahoma" panose="020B0604030504040204" pitchFamily="34" charset="0"/>
              </a:rPr>
              <a:t>cho phép nhập </a:t>
            </a:r>
          </a:p>
          <a:p>
            <a:pPr eaLnBrk="1" hangingPunct="1"/>
            <a:r>
              <a:rPr lang="en-US" altLang="vi-VN" sz="2200">
                <a:solidFill>
                  <a:srgbClr val="0000CC"/>
                </a:solidFill>
                <a:latin typeface="Tahoma" panose="020B0604030504040204" pitchFamily="34" charset="0"/>
              </a:rPr>
              <a:t>nội dung vào file, </a:t>
            </a:r>
          </a:p>
          <a:p>
            <a:pPr eaLnBrk="1" hangingPunct="1"/>
            <a:r>
              <a:rPr lang="en-US" altLang="vi-VN" sz="2200">
                <a:solidFill>
                  <a:srgbClr val="0000CC"/>
                </a:solidFill>
                <a:latin typeface="Tahoma" panose="020B0604030504040204" pitchFamily="34" charset="0"/>
              </a:rPr>
              <a:t>khi nào muốn </a:t>
            </a:r>
          </a:p>
          <a:p>
            <a:pPr eaLnBrk="1" hangingPunct="1"/>
            <a:r>
              <a:rPr lang="en-US" altLang="vi-VN" sz="2200">
                <a:solidFill>
                  <a:srgbClr val="0000CC"/>
                </a:solidFill>
                <a:latin typeface="Tahoma" panose="020B0604030504040204" pitchFamily="34" charset="0"/>
              </a:rPr>
              <a:t>kết thúc nhập </a:t>
            </a:r>
          </a:p>
          <a:p>
            <a:pPr eaLnBrk="1" hangingPunct="1"/>
            <a:r>
              <a:rPr lang="en-US" altLang="vi-VN" sz="2200">
                <a:solidFill>
                  <a:srgbClr val="0000CC"/>
                </a:solidFill>
                <a:latin typeface="Tahoma" panose="020B0604030504040204" pitchFamily="34" charset="0"/>
              </a:rPr>
              <a:t>ký tự *.</a:t>
            </a:r>
            <a:endParaRPr lang="vi-VN" altLang="vi-VN" sz="2200">
              <a:solidFill>
                <a:srgbClr val="0000CC"/>
              </a:solidFill>
              <a:latin typeface="Tahoma" panose="020B0604030504040204" pitchFamily="34" charset="0"/>
            </a:endParaRPr>
          </a:p>
        </p:txBody>
      </p:sp>
      <p:pic>
        <p:nvPicPr>
          <p:cNvPr id="7290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904875"/>
            <a:ext cx="57912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9094" name="AutoShape 6"/>
          <p:cNvSpPr>
            <a:spLocks noChangeArrowheads="1"/>
          </p:cNvSpPr>
          <p:nvPr/>
        </p:nvSpPr>
        <p:spPr bwMode="auto">
          <a:xfrm>
            <a:off x="3352800" y="2895600"/>
            <a:ext cx="55626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729095" name="AutoShape 7"/>
          <p:cNvSpPr>
            <a:spLocks noChangeArrowheads="1"/>
          </p:cNvSpPr>
          <p:nvPr/>
        </p:nvSpPr>
        <p:spPr bwMode="auto">
          <a:xfrm>
            <a:off x="3352800" y="4452938"/>
            <a:ext cx="55626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729096" name="AutoShape 8"/>
          <p:cNvSpPr>
            <a:spLocks noChangeArrowheads="1"/>
          </p:cNvSpPr>
          <p:nvPr/>
        </p:nvSpPr>
        <p:spPr bwMode="auto">
          <a:xfrm>
            <a:off x="3352800" y="4953000"/>
            <a:ext cx="5562600" cy="3048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sz="2800">
              <a:latin typeface="Tahoma" panose="020B0604030504040204" pitchFamily="34" charset="0"/>
            </a:endParaRPr>
          </a:p>
        </p:txBody>
      </p:sp>
    </p:spTree>
    <p:extLst>
      <p:ext uri="{BB962C8B-B14F-4D97-AF65-F5344CB8AC3E}">
        <p14:creationId xmlns:p14="http://schemas.microsoft.com/office/powerpoint/2010/main" val="797407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729092"/>
                                        </p:tgtEl>
                                        <p:attrNameLst>
                                          <p:attrName>style.visibility</p:attrName>
                                        </p:attrNameLst>
                                      </p:cBhvr>
                                      <p:to>
                                        <p:strVal val="visible"/>
                                      </p:to>
                                    </p:set>
                                    <p:animEffect transition="in" filter="wheel(4)">
                                      <p:cBhvr>
                                        <p:cTn id="7" dur="2000"/>
                                        <p:tgtEl>
                                          <p:spTgt spid="729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729093"/>
                                        </p:tgtEl>
                                        <p:attrNameLst>
                                          <p:attrName>style.visibility</p:attrName>
                                        </p:attrNameLst>
                                      </p:cBhvr>
                                      <p:to>
                                        <p:strVal val="visible"/>
                                      </p:to>
                                    </p:set>
                                    <p:anim calcmode="lin" valueType="num">
                                      <p:cBhvr additive="base">
                                        <p:cTn id="12" dur="2000" fill="hold"/>
                                        <p:tgtEl>
                                          <p:spTgt spid="729093"/>
                                        </p:tgtEl>
                                        <p:attrNameLst>
                                          <p:attrName>ppt_x</p:attrName>
                                        </p:attrNameLst>
                                      </p:cBhvr>
                                      <p:tavLst>
                                        <p:tav tm="0">
                                          <p:val>
                                            <p:strVal val="0-#ppt_w/2"/>
                                          </p:val>
                                        </p:tav>
                                        <p:tav tm="100000">
                                          <p:val>
                                            <p:strVal val="#ppt_x"/>
                                          </p:val>
                                        </p:tav>
                                      </p:tavLst>
                                    </p:anim>
                                    <p:anim calcmode="lin" valueType="num">
                                      <p:cBhvr additive="base">
                                        <p:cTn id="13" dur="2000" fill="hold"/>
                                        <p:tgtEl>
                                          <p:spTgt spid="72909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729094"/>
                                        </p:tgtEl>
                                        <p:attrNameLst>
                                          <p:attrName>style.visibility</p:attrName>
                                        </p:attrNameLst>
                                      </p:cBhvr>
                                      <p:to>
                                        <p:strVal val="visible"/>
                                      </p:to>
                                    </p:set>
                                    <p:animEffect transition="in" filter="checkerboard(across)">
                                      <p:cBhvr>
                                        <p:cTn id="18" dur="2000"/>
                                        <p:tgtEl>
                                          <p:spTgt spid="72909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29095"/>
                                        </p:tgtEl>
                                        <p:attrNameLst>
                                          <p:attrName>style.visibility</p:attrName>
                                        </p:attrNameLst>
                                      </p:cBhvr>
                                      <p:to>
                                        <p:strVal val="visible"/>
                                      </p:to>
                                    </p:set>
                                    <p:animEffect transition="in" filter="checkerboard(across)">
                                      <p:cBhvr>
                                        <p:cTn id="23" dur="500"/>
                                        <p:tgtEl>
                                          <p:spTgt spid="72909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729096"/>
                                        </p:tgtEl>
                                        <p:attrNameLst>
                                          <p:attrName>style.visibility</p:attrName>
                                        </p:attrNameLst>
                                      </p:cBhvr>
                                      <p:to>
                                        <p:strVal val="visible"/>
                                      </p:to>
                                    </p:set>
                                    <p:animEffect transition="in" filter="checkerboard(across)">
                                      <p:cBhvr>
                                        <p:cTn id="28" dur="500"/>
                                        <p:tgtEl>
                                          <p:spTgt spid="729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2" grpId="0" animBg="1"/>
      <p:bldP spid="729094" grpId="0" animBg="1"/>
      <p:bldP spid="729095" grpId="0" animBg="1"/>
      <p:bldP spid="7290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4D09D46-D941-4564-9D45-90E0FB0DE1EF}" type="slidenum">
              <a:rPr lang="en-US" altLang="vi-VN">
                <a:solidFill>
                  <a:srgbClr val="FFFF00"/>
                </a:solidFill>
              </a:rPr>
              <a:pPr eaLnBrk="1" hangingPunct="1"/>
              <a:t>20</a:t>
            </a:fld>
            <a:endParaRPr lang="en-GB" altLang="vi-VN">
              <a:solidFill>
                <a:srgbClr val="FFFF00"/>
              </a:solidFill>
            </a:endParaRPr>
          </a:p>
        </p:txBody>
      </p:sp>
      <p:sp>
        <p:nvSpPr>
          <p:cNvPr id="23555" name="Text Box 3"/>
          <p:cNvSpPr txBox="1">
            <a:spLocks noChangeArrowheads="1"/>
          </p:cNvSpPr>
          <p:nvPr/>
        </p:nvSpPr>
        <p:spPr bwMode="auto">
          <a:xfrm>
            <a:off x="1719942" y="381000"/>
            <a:ext cx="612865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a:t>
            </a:r>
          </a:p>
        </p:txBody>
      </p:sp>
      <p:sp>
        <p:nvSpPr>
          <p:cNvPr id="731140" name="Oval 4"/>
          <p:cNvSpPr>
            <a:spLocks noChangeArrowheads="1"/>
          </p:cNvSpPr>
          <p:nvPr/>
        </p:nvSpPr>
        <p:spPr bwMode="auto">
          <a:xfrm>
            <a:off x="152400" y="1905000"/>
            <a:ext cx="2590800" cy="3429000"/>
          </a:xfrm>
          <a:prstGeom prst="ellipse">
            <a:avLst/>
          </a:prstGeom>
          <a:noFill/>
          <a:ln w="952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Viết </a:t>
            </a:r>
          </a:p>
          <a:p>
            <a:pPr eaLnBrk="1" hangingPunct="1"/>
            <a:r>
              <a:rPr lang="en-US" altLang="vi-VN" sz="2200">
                <a:solidFill>
                  <a:srgbClr val="0000CC"/>
                </a:solidFill>
                <a:latin typeface="Tahoma" panose="020B0604030504040204" pitchFamily="34" charset="0"/>
              </a:rPr>
              <a:t>chương trình </a:t>
            </a:r>
          </a:p>
          <a:p>
            <a:pPr eaLnBrk="1" hangingPunct="1"/>
            <a:r>
              <a:rPr lang="en-US" altLang="vi-VN" sz="2200">
                <a:solidFill>
                  <a:srgbClr val="0000CC"/>
                </a:solidFill>
                <a:latin typeface="Tahoma" panose="020B0604030504040204" pitchFamily="34" charset="0"/>
              </a:rPr>
              <a:t>mở một file có </a:t>
            </a:r>
          </a:p>
          <a:p>
            <a:pPr eaLnBrk="1" hangingPunct="1"/>
            <a:r>
              <a:rPr lang="en-US" altLang="vi-VN" sz="2200">
                <a:solidFill>
                  <a:srgbClr val="0000CC"/>
                </a:solidFill>
                <a:latin typeface="Tahoma" panose="020B0604030504040204" pitchFamily="34" charset="0"/>
              </a:rPr>
              <a:t>tên vanban.txt </a:t>
            </a:r>
          </a:p>
          <a:p>
            <a:pPr eaLnBrk="1" hangingPunct="1"/>
            <a:r>
              <a:rPr lang="en-US" altLang="vi-VN" sz="2200">
                <a:solidFill>
                  <a:srgbClr val="0000CC"/>
                </a:solidFill>
                <a:latin typeface="Tahoma" panose="020B0604030504040204" pitchFamily="34" charset="0"/>
              </a:rPr>
              <a:t>trong đĩa c</a:t>
            </a:r>
          </a:p>
          <a:p>
            <a:pPr eaLnBrk="1" hangingPunct="1"/>
            <a:endParaRPr lang="vi-VN" altLang="vi-VN" sz="2200">
              <a:solidFill>
                <a:srgbClr val="0000CC"/>
              </a:solidFill>
              <a:latin typeface="Tahoma" panose="020B0604030504040204" pitchFamily="34" charset="0"/>
            </a:endParaRPr>
          </a:p>
        </p:txBody>
      </p:sp>
      <p:pic>
        <p:nvPicPr>
          <p:cNvPr id="7311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914400"/>
            <a:ext cx="6248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1142" name="AutoShape 6"/>
          <p:cNvSpPr>
            <a:spLocks noChangeArrowheads="1"/>
          </p:cNvSpPr>
          <p:nvPr/>
        </p:nvSpPr>
        <p:spPr bwMode="auto">
          <a:xfrm>
            <a:off x="2971800" y="3124200"/>
            <a:ext cx="6019800" cy="2286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731143" name="AutoShape 7"/>
          <p:cNvSpPr>
            <a:spLocks noChangeArrowheads="1"/>
          </p:cNvSpPr>
          <p:nvPr/>
        </p:nvSpPr>
        <p:spPr bwMode="auto">
          <a:xfrm>
            <a:off x="2971800" y="4448175"/>
            <a:ext cx="6019800" cy="2286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731144" name="AutoShape 8"/>
          <p:cNvSpPr>
            <a:spLocks noChangeArrowheads="1"/>
          </p:cNvSpPr>
          <p:nvPr/>
        </p:nvSpPr>
        <p:spPr bwMode="auto">
          <a:xfrm>
            <a:off x="2971800" y="4905375"/>
            <a:ext cx="6019800" cy="2286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731145" name="AutoShape 9"/>
          <p:cNvSpPr>
            <a:spLocks noChangeArrowheads="1"/>
          </p:cNvSpPr>
          <p:nvPr/>
        </p:nvSpPr>
        <p:spPr bwMode="auto">
          <a:xfrm>
            <a:off x="2971800" y="5581650"/>
            <a:ext cx="6019800" cy="228600"/>
          </a:xfrm>
          <a:prstGeom prst="roundRect">
            <a:avLst>
              <a:gd name="adj" fmla="val 16667"/>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Tree>
    <p:extLst>
      <p:ext uri="{BB962C8B-B14F-4D97-AF65-F5344CB8AC3E}">
        <p14:creationId xmlns:p14="http://schemas.microsoft.com/office/powerpoint/2010/main" val="1344624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731140"/>
                                        </p:tgtEl>
                                        <p:attrNameLst>
                                          <p:attrName>style.visibility</p:attrName>
                                        </p:attrNameLst>
                                      </p:cBhvr>
                                      <p:to>
                                        <p:strVal val="visible"/>
                                      </p:to>
                                    </p:set>
                                    <p:animEffect transition="in" filter="wheel(4)">
                                      <p:cBhvr>
                                        <p:cTn id="7" dur="2000"/>
                                        <p:tgtEl>
                                          <p:spTgt spid="7311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731141"/>
                                        </p:tgtEl>
                                        <p:attrNameLst>
                                          <p:attrName>style.visibility</p:attrName>
                                        </p:attrNameLst>
                                      </p:cBhvr>
                                      <p:to>
                                        <p:strVal val="visible"/>
                                      </p:to>
                                    </p:set>
                                    <p:anim calcmode="lin" valueType="num">
                                      <p:cBhvr additive="base">
                                        <p:cTn id="12" dur="2000" fill="hold"/>
                                        <p:tgtEl>
                                          <p:spTgt spid="731141"/>
                                        </p:tgtEl>
                                        <p:attrNameLst>
                                          <p:attrName>ppt_x</p:attrName>
                                        </p:attrNameLst>
                                      </p:cBhvr>
                                      <p:tavLst>
                                        <p:tav tm="0">
                                          <p:val>
                                            <p:strVal val="0-#ppt_w/2"/>
                                          </p:val>
                                        </p:tav>
                                        <p:tav tm="100000">
                                          <p:val>
                                            <p:strVal val="#ppt_x"/>
                                          </p:val>
                                        </p:tav>
                                      </p:tavLst>
                                    </p:anim>
                                    <p:anim calcmode="lin" valueType="num">
                                      <p:cBhvr additive="base">
                                        <p:cTn id="13" dur="2000" fill="hold"/>
                                        <p:tgtEl>
                                          <p:spTgt spid="73114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731142"/>
                                        </p:tgtEl>
                                        <p:attrNameLst>
                                          <p:attrName>style.visibility</p:attrName>
                                        </p:attrNameLst>
                                      </p:cBhvr>
                                      <p:to>
                                        <p:strVal val="visible"/>
                                      </p:to>
                                    </p:set>
                                    <p:animEffect transition="in" filter="checkerboard(across)">
                                      <p:cBhvr>
                                        <p:cTn id="18" dur="1000"/>
                                        <p:tgtEl>
                                          <p:spTgt spid="7311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31143"/>
                                        </p:tgtEl>
                                        <p:attrNameLst>
                                          <p:attrName>style.visibility</p:attrName>
                                        </p:attrNameLst>
                                      </p:cBhvr>
                                      <p:to>
                                        <p:strVal val="visible"/>
                                      </p:to>
                                    </p:set>
                                    <p:animEffect transition="in" filter="checkerboard(across)">
                                      <p:cBhvr>
                                        <p:cTn id="23" dur="1000"/>
                                        <p:tgtEl>
                                          <p:spTgt spid="73114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731144"/>
                                        </p:tgtEl>
                                        <p:attrNameLst>
                                          <p:attrName>style.visibility</p:attrName>
                                        </p:attrNameLst>
                                      </p:cBhvr>
                                      <p:to>
                                        <p:strVal val="visible"/>
                                      </p:to>
                                    </p:set>
                                    <p:animEffect transition="in" filter="checkerboard(across)">
                                      <p:cBhvr>
                                        <p:cTn id="28" dur="1000"/>
                                        <p:tgtEl>
                                          <p:spTgt spid="73114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731145"/>
                                        </p:tgtEl>
                                        <p:attrNameLst>
                                          <p:attrName>style.visibility</p:attrName>
                                        </p:attrNameLst>
                                      </p:cBhvr>
                                      <p:to>
                                        <p:strVal val="visible"/>
                                      </p:to>
                                    </p:set>
                                    <p:animEffect transition="in" filter="checkerboard(across)">
                                      <p:cBhvr>
                                        <p:cTn id="33" dur="1000"/>
                                        <p:tgtEl>
                                          <p:spTgt spid="731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40" grpId="0" animBg="1"/>
      <p:bldP spid="731142" grpId="0" animBg="1"/>
      <p:bldP spid="731143" grpId="0" animBg="1"/>
      <p:bldP spid="731144" grpId="0" animBg="1"/>
      <p:bldP spid="73114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C8E9F5-6219-49CD-8BD2-DAA65FADB29C}" type="slidenum">
              <a:rPr lang="en-US" altLang="vi-VN">
                <a:solidFill>
                  <a:srgbClr val="FFFF00"/>
                </a:solidFill>
              </a:rPr>
              <a:pPr eaLnBrk="1" hangingPunct="1"/>
              <a:t>21</a:t>
            </a:fld>
            <a:endParaRPr lang="en-GB" altLang="vi-VN">
              <a:solidFill>
                <a:srgbClr val="FFFF00"/>
              </a:solidFill>
            </a:endParaRPr>
          </a:p>
        </p:txBody>
      </p:sp>
      <p:sp>
        <p:nvSpPr>
          <p:cNvPr id="24579" name="Text Box 3"/>
          <p:cNvSpPr txBox="1">
            <a:spLocks noChangeArrowheads="1"/>
          </p:cNvSpPr>
          <p:nvPr/>
        </p:nvSpPr>
        <p:spPr bwMode="auto">
          <a:xfrm>
            <a:off x="1676400" y="435429"/>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 </a:t>
            </a:r>
          </a:p>
        </p:txBody>
      </p:sp>
      <p:sp>
        <p:nvSpPr>
          <p:cNvPr id="733188" name="Oval 4"/>
          <p:cNvSpPr>
            <a:spLocks noChangeArrowheads="1"/>
          </p:cNvSpPr>
          <p:nvPr/>
        </p:nvSpPr>
        <p:spPr bwMode="auto">
          <a:xfrm>
            <a:off x="76200" y="1905000"/>
            <a:ext cx="2590800" cy="3429000"/>
          </a:xfrm>
          <a:prstGeom prst="ellipse">
            <a:avLst/>
          </a:prstGeom>
          <a:noFill/>
          <a:ln w="952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Viết </a:t>
            </a:r>
          </a:p>
          <a:p>
            <a:pPr eaLnBrk="1" hangingPunct="1"/>
            <a:r>
              <a:rPr lang="en-US" altLang="vi-VN" sz="2200">
                <a:solidFill>
                  <a:srgbClr val="0000CC"/>
                </a:solidFill>
                <a:latin typeface="Tahoma" panose="020B0604030504040204" pitchFamily="34" charset="0"/>
              </a:rPr>
              <a:t>chương trình </a:t>
            </a:r>
          </a:p>
          <a:p>
            <a:pPr eaLnBrk="1" hangingPunct="1"/>
            <a:r>
              <a:rPr lang="en-US" altLang="vi-VN" sz="2200">
                <a:solidFill>
                  <a:srgbClr val="0000CC"/>
                </a:solidFill>
                <a:latin typeface="Tahoma" panose="020B0604030504040204" pitchFamily="34" charset="0"/>
              </a:rPr>
              <a:t>mở một file text, </a:t>
            </a:r>
          </a:p>
          <a:p>
            <a:pPr eaLnBrk="1" hangingPunct="1"/>
            <a:r>
              <a:rPr lang="en-US" altLang="vi-VN" sz="2200">
                <a:solidFill>
                  <a:srgbClr val="0000CC"/>
                </a:solidFill>
                <a:latin typeface="Tahoma" panose="020B0604030504040204" pitchFamily="34" charset="0"/>
              </a:rPr>
              <a:t>tên file được</a:t>
            </a:r>
          </a:p>
          <a:p>
            <a:pPr eaLnBrk="1" hangingPunct="1"/>
            <a:r>
              <a:rPr lang="en-US" altLang="vi-VN" sz="2200">
                <a:solidFill>
                  <a:srgbClr val="0000CC"/>
                </a:solidFill>
                <a:latin typeface="Tahoma" panose="020B0604030504040204" pitchFamily="34" charset="0"/>
              </a:rPr>
              <a:t>nhập từ bàn </a:t>
            </a:r>
          </a:p>
          <a:p>
            <a:pPr eaLnBrk="1" hangingPunct="1"/>
            <a:r>
              <a:rPr lang="en-US" altLang="vi-VN" sz="2200">
                <a:solidFill>
                  <a:srgbClr val="0000CC"/>
                </a:solidFill>
                <a:latin typeface="Tahoma" panose="020B0604030504040204" pitchFamily="34" charset="0"/>
              </a:rPr>
              <a:t>phím</a:t>
            </a:r>
            <a:endParaRPr lang="vi-VN" altLang="vi-VN" sz="2200">
              <a:solidFill>
                <a:srgbClr val="0000CC"/>
              </a:solidFill>
              <a:latin typeface="Tahoma" panose="020B0604030504040204" pitchFamily="34" charset="0"/>
            </a:endParaRPr>
          </a:p>
        </p:txBody>
      </p:sp>
      <p:pic>
        <p:nvPicPr>
          <p:cNvPr id="7331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125" y="0"/>
            <a:ext cx="623887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0492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733188"/>
                                        </p:tgtEl>
                                        <p:attrNameLst>
                                          <p:attrName>style.visibility</p:attrName>
                                        </p:attrNameLst>
                                      </p:cBhvr>
                                      <p:to>
                                        <p:strVal val="visible"/>
                                      </p:to>
                                    </p:set>
                                    <p:animEffect transition="in" filter="wheel(4)">
                                      <p:cBhvr>
                                        <p:cTn id="7" dur="2000"/>
                                        <p:tgtEl>
                                          <p:spTgt spid="733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733189"/>
                                        </p:tgtEl>
                                        <p:attrNameLst>
                                          <p:attrName>style.visibility</p:attrName>
                                        </p:attrNameLst>
                                      </p:cBhvr>
                                      <p:to>
                                        <p:strVal val="visible"/>
                                      </p:to>
                                    </p:set>
                                    <p:anim calcmode="lin" valueType="num">
                                      <p:cBhvr additive="base">
                                        <p:cTn id="12" dur="2000" fill="hold"/>
                                        <p:tgtEl>
                                          <p:spTgt spid="733189"/>
                                        </p:tgtEl>
                                        <p:attrNameLst>
                                          <p:attrName>ppt_x</p:attrName>
                                        </p:attrNameLst>
                                      </p:cBhvr>
                                      <p:tavLst>
                                        <p:tav tm="0">
                                          <p:val>
                                            <p:strVal val="0-#ppt_w/2"/>
                                          </p:val>
                                        </p:tav>
                                        <p:tav tm="100000">
                                          <p:val>
                                            <p:strVal val="#ppt_x"/>
                                          </p:val>
                                        </p:tav>
                                      </p:tavLst>
                                    </p:anim>
                                    <p:anim calcmode="lin" valueType="num">
                                      <p:cBhvr additive="base">
                                        <p:cTn id="13" dur="2000" fill="hold"/>
                                        <p:tgtEl>
                                          <p:spTgt spid="7331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85EF50-DEA5-4E1B-98CA-4B55CDCD6735}" type="slidenum">
              <a:rPr lang="en-US" altLang="vi-VN">
                <a:solidFill>
                  <a:srgbClr val="FFFF00"/>
                </a:solidFill>
              </a:rPr>
              <a:pPr eaLnBrk="1" hangingPunct="1"/>
              <a:t>22</a:t>
            </a:fld>
            <a:endParaRPr lang="en-GB" altLang="vi-VN">
              <a:solidFill>
                <a:srgbClr val="FFFF00"/>
              </a:solidFill>
            </a:endParaRPr>
          </a:p>
        </p:txBody>
      </p:sp>
      <p:sp>
        <p:nvSpPr>
          <p:cNvPr id="25604" name="Rectangle 4"/>
          <p:cNvSpPr>
            <a:spLocks noChangeArrowheads="1"/>
          </p:cNvSpPr>
          <p:nvPr/>
        </p:nvSpPr>
        <p:spPr bwMode="auto">
          <a:xfrm>
            <a:off x="228600" y="12954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fprintf : ghi dữ liệu theo khuôn dạng</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fprintf(FILE *fp,  char *dk,…) </a:t>
            </a:r>
          </a:p>
          <a:p>
            <a:pPr algn="just" eaLnBrk="1" hangingPunct="1"/>
            <a:r>
              <a:rPr lang="en-US" altLang="vi-VN" sz="2200" i="1">
                <a:solidFill>
                  <a:srgbClr val="0000CC"/>
                </a:solidFill>
                <a:latin typeface="Tahoma" panose="020B0604030504040204" pitchFamily="34" charset="0"/>
              </a:rPr>
              <a:t>	+ fp là con trỏ file</a:t>
            </a:r>
          </a:p>
          <a:p>
            <a:pPr algn="just" eaLnBrk="1" hangingPunct="1"/>
            <a:r>
              <a:rPr lang="en-US" altLang="vi-VN" sz="2200" i="1">
                <a:solidFill>
                  <a:srgbClr val="0000CC"/>
                </a:solidFill>
                <a:latin typeface="Tahoma" panose="020B0604030504040204" pitchFamily="34" charset="0"/>
              </a:rPr>
              <a:t>	+ dk chuỗi điều khiển cần ghi vào file</a:t>
            </a:r>
            <a:endParaRPr lang="en-US" altLang="vi-VN" i="1">
              <a:solidFill>
                <a:srgbClr val="0000CC"/>
              </a:solidFill>
              <a:latin typeface="Tahoma" panose="020B0604030504040204" pitchFamily="34" charset="0"/>
            </a:endParaRPr>
          </a:p>
        </p:txBody>
      </p:sp>
      <p:sp>
        <p:nvSpPr>
          <p:cNvPr id="25605" name="Rectangle 5"/>
          <p:cNvSpPr>
            <a:spLocks noChangeArrowheads="1"/>
          </p:cNvSpPr>
          <p:nvPr/>
        </p:nvSpPr>
        <p:spPr bwMode="auto">
          <a:xfrm>
            <a:off x="228600" y="32004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fscanf : đọc dữ liệu từ file theo khuôn dạng</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fscanf(FILE *fp, char *dk,…) </a:t>
            </a:r>
          </a:p>
          <a:p>
            <a:pPr algn="just" eaLnBrk="1" hangingPunct="1"/>
            <a:r>
              <a:rPr lang="en-US" altLang="vi-VN" sz="2200" i="1">
                <a:solidFill>
                  <a:srgbClr val="0000CC"/>
                </a:solidFill>
                <a:latin typeface="Tahoma" panose="020B0604030504040204" pitchFamily="34" charset="0"/>
              </a:rPr>
              <a:t>	+ fp là con trỏ file</a:t>
            </a:r>
          </a:p>
          <a:p>
            <a:pPr algn="just" eaLnBrk="1" hangingPunct="1"/>
            <a:r>
              <a:rPr lang="en-US" altLang="vi-VN" sz="2200" i="1">
                <a:solidFill>
                  <a:srgbClr val="0000CC"/>
                </a:solidFill>
                <a:latin typeface="Tahoma" panose="020B0604030504040204" pitchFamily="34" charset="0"/>
              </a:rPr>
              <a:t>	+ dk chứa chuỗi điều khiểu đọc từ file</a:t>
            </a:r>
            <a:endParaRPr lang="en-US" altLang="vi-VN" i="1">
              <a:solidFill>
                <a:srgbClr val="0000CC"/>
              </a:solidFill>
              <a:latin typeface="Tahoma" panose="020B0604030504040204" pitchFamily="34" charset="0"/>
            </a:endParaRPr>
          </a:p>
        </p:txBody>
      </p:sp>
      <p:sp>
        <p:nvSpPr>
          <p:cNvPr id="6" name="Rectangle 5"/>
          <p:cNvSpPr>
            <a:spLocks noChangeArrowheads="1"/>
          </p:cNvSpPr>
          <p:nvPr/>
        </p:nvSpPr>
        <p:spPr bwMode="auto">
          <a:xfrm>
            <a:off x="1752600" y="488950"/>
            <a:ext cx="7315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b="1" dirty="0">
                <a:solidFill>
                  <a:srgbClr val="0000CC"/>
                </a:solidFill>
                <a:latin typeface="Tahoma" panose="020B0604030504040204" pitchFamily="34" charset="0"/>
              </a:rPr>
              <a:t>CÁC HÀM NHẬP XUẤT THEO KIỂU VĂN BẢN</a:t>
            </a:r>
          </a:p>
        </p:txBody>
      </p:sp>
    </p:spTree>
    <p:extLst>
      <p:ext uri="{BB962C8B-B14F-4D97-AF65-F5344CB8AC3E}">
        <p14:creationId xmlns:p14="http://schemas.microsoft.com/office/powerpoint/2010/main" val="155772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4C2897-33A9-4B1A-95B3-BE957A18882F}" type="slidenum">
              <a:rPr lang="en-US" altLang="vi-VN">
                <a:solidFill>
                  <a:srgbClr val="FFFF00"/>
                </a:solidFill>
              </a:rPr>
              <a:pPr eaLnBrk="1" hangingPunct="1"/>
              <a:t>23</a:t>
            </a:fld>
            <a:endParaRPr lang="en-GB" altLang="vi-VN">
              <a:solidFill>
                <a:srgbClr val="FFFF00"/>
              </a:solidFill>
            </a:endParaRPr>
          </a:p>
        </p:txBody>
      </p:sp>
      <p:sp>
        <p:nvSpPr>
          <p:cNvPr id="26627" name="Rectangle 3"/>
          <p:cNvSpPr>
            <a:spLocks noChangeArrowheads="1"/>
          </p:cNvSpPr>
          <p:nvPr/>
        </p:nvSpPr>
        <p:spPr bwMode="auto">
          <a:xfrm>
            <a:off x="152400" y="12192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fputs: ghi một chuỗi vào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fputs(char *s, FILE *fp) </a:t>
            </a:r>
          </a:p>
          <a:p>
            <a:pPr algn="just" eaLnBrk="1" hangingPunct="1"/>
            <a:r>
              <a:rPr lang="en-US" altLang="vi-VN" sz="2200" i="1">
                <a:solidFill>
                  <a:srgbClr val="0000CC"/>
                </a:solidFill>
                <a:latin typeface="Tahoma" panose="020B0604030504040204" pitchFamily="34" charset="0"/>
              </a:rPr>
              <a:t>	+ fp là con trỏ của tập tin</a:t>
            </a:r>
          </a:p>
          <a:p>
            <a:pPr algn="just" eaLnBrk="1" hangingPunct="1"/>
            <a:r>
              <a:rPr lang="en-US" altLang="vi-VN" sz="2200" i="1">
                <a:solidFill>
                  <a:srgbClr val="0000CC"/>
                </a:solidFill>
                <a:latin typeface="Tahoma" panose="020B0604030504040204" pitchFamily="34" charset="0"/>
              </a:rPr>
              <a:t>	+ s là chuỗi cần ghi vào file</a:t>
            </a:r>
            <a:endParaRPr lang="en-US" altLang="vi-VN" i="1">
              <a:solidFill>
                <a:srgbClr val="0000CC"/>
              </a:solidFill>
              <a:latin typeface="Tahoma" panose="020B0604030504040204" pitchFamily="34" charset="0"/>
            </a:endParaRPr>
          </a:p>
        </p:txBody>
      </p:sp>
      <p:sp>
        <p:nvSpPr>
          <p:cNvPr id="26628" name="Rectangle 4"/>
          <p:cNvSpPr>
            <a:spLocks noChangeArrowheads="1"/>
          </p:cNvSpPr>
          <p:nvPr/>
        </p:nvSpPr>
        <p:spPr bwMode="auto">
          <a:xfrm>
            <a:off x="228600" y="3505200"/>
            <a:ext cx="8915400" cy="189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fgets : đọc một chuỗi từ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fgets(char *s, int n, FILE *fp) </a:t>
            </a:r>
          </a:p>
          <a:p>
            <a:pPr algn="just" eaLnBrk="1" hangingPunct="1"/>
            <a:r>
              <a:rPr lang="en-US" altLang="vi-VN" sz="2200" i="1">
                <a:solidFill>
                  <a:srgbClr val="0000CC"/>
                </a:solidFill>
                <a:latin typeface="Tahoma" panose="020B0604030504040204" pitchFamily="34" charset="0"/>
              </a:rPr>
              <a:t>	+ fp là con trỏ file</a:t>
            </a:r>
          </a:p>
          <a:p>
            <a:pPr algn="just" eaLnBrk="1" hangingPunct="1"/>
            <a:r>
              <a:rPr lang="en-US" altLang="vi-VN" sz="2200" i="1">
                <a:solidFill>
                  <a:srgbClr val="0000CC"/>
                </a:solidFill>
                <a:latin typeface="Tahoma" panose="020B0604030504040204" pitchFamily="34" charset="0"/>
              </a:rPr>
              <a:t>	+ s là con trỏ trỏ tới địa chỉ vùng nhớ chứa chuỗi ký tự</a:t>
            </a:r>
          </a:p>
          <a:p>
            <a:pPr algn="just" eaLnBrk="1" hangingPunct="1"/>
            <a:r>
              <a:rPr lang="en-US" altLang="vi-VN" sz="2200" i="1">
                <a:solidFill>
                  <a:srgbClr val="0000CC"/>
                </a:solidFill>
                <a:latin typeface="Tahoma" panose="020B0604030504040204" pitchFamily="34" charset="0"/>
              </a:rPr>
              <a:t>	+ n là số nguyên chỉ độ dài cực đại của chuỗi.</a:t>
            </a:r>
            <a:endParaRPr lang="en-US" altLang="vi-VN" i="1">
              <a:solidFill>
                <a:srgbClr val="0000CC"/>
              </a:solidFill>
              <a:latin typeface="Tahoma" panose="020B0604030504040204" pitchFamily="34" charset="0"/>
            </a:endParaRPr>
          </a:p>
        </p:txBody>
      </p:sp>
      <p:sp>
        <p:nvSpPr>
          <p:cNvPr id="26629" name="Rectangle 5"/>
          <p:cNvSpPr>
            <a:spLocks noChangeArrowheads="1"/>
          </p:cNvSpPr>
          <p:nvPr/>
        </p:nvSpPr>
        <p:spPr bwMode="auto">
          <a:xfrm>
            <a:off x="1752600" y="488950"/>
            <a:ext cx="7315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b="1" dirty="0">
                <a:solidFill>
                  <a:srgbClr val="0000CC"/>
                </a:solidFill>
                <a:latin typeface="Tahoma" panose="020B0604030504040204" pitchFamily="34" charset="0"/>
              </a:rPr>
              <a:t>CÁC HÀM NHẬP XUẤT THEO KIỂU VĂN BẢN</a:t>
            </a:r>
          </a:p>
        </p:txBody>
      </p:sp>
    </p:spTree>
    <p:extLst>
      <p:ext uri="{BB962C8B-B14F-4D97-AF65-F5344CB8AC3E}">
        <p14:creationId xmlns:p14="http://schemas.microsoft.com/office/powerpoint/2010/main" val="3520140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3531E5A-265F-49D5-9A1C-0F14CF72C7CC}" type="slidenum">
              <a:rPr lang="en-US" altLang="vi-VN">
                <a:solidFill>
                  <a:srgbClr val="FFFF00"/>
                </a:solidFill>
              </a:rPr>
              <a:pPr eaLnBrk="1" hangingPunct="1"/>
              <a:t>24</a:t>
            </a:fld>
            <a:endParaRPr lang="en-GB" altLang="vi-VN">
              <a:solidFill>
                <a:srgbClr val="FFFF00"/>
              </a:solidFill>
            </a:endParaRPr>
          </a:p>
        </p:txBody>
      </p:sp>
      <p:sp>
        <p:nvSpPr>
          <p:cNvPr id="27651" name="Rectangle 3"/>
          <p:cNvSpPr>
            <a:spLocks noChangeArrowheads="1"/>
          </p:cNvSpPr>
          <p:nvPr/>
        </p:nvSpPr>
        <p:spPr bwMode="auto">
          <a:xfrm>
            <a:off x="228600" y="1600200"/>
            <a:ext cx="830580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3022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200" i="1">
                <a:solidFill>
                  <a:srgbClr val="0000CC"/>
                </a:solidFill>
                <a:latin typeface="Tahoma" panose="020B0604030504040204" pitchFamily="34" charset="0"/>
              </a:rPr>
              <a:t>- Viết chương trình ghi 10 hàng chữ “Dai hoc Hoa Sen” vào file có tên là vanban.txt.</a:t>
            </a:r>
          </a:p>
          <a:p>
            <a:pPr algn="l" eaLnBrk="1" hangingPunct="1"/>
            <a:endParaRPr lang="en-US" altLang="vi-VN" sz="2200" i="1">
              <a:solidFill>
                <a:srgbClr val="0000CC"/>
              </a:solidFill>
              <a:latin typeface="Tahoma" panose="020B0604030504040204" pitchFamily="34" charset="0"/>
            </a:endParaRPr>
          </a:p>
          <a:p>
            <a:pPr algn="l" eaLnBrk="1" hangingPunct="1"/>
            <a:r>
              <a:rPr lang="en-US" altLang="vi-VN" sz="2200" i="1">
                <a:solidFill>
                  <a:srgbClr val="0000CC"/>
                </a:solidFill>
                <a:latin typeface="Tahoma" panose="020B0604030504040204" pitchFamily="34" charset="0"/>
              </a:rPr>
              <a:t>- Viết chương trình đọc nội dung file vanban.txt ra màn hình</a:t>
            </a:r>
          </a:p>
          <a:p>
            <a:pPr algn="l" eaLnBrk="1" hangingPunct="1"/>
            <a:r>
              <a:rPr lang="en-US" altLang="vi-VN" sz="2200" i="1">
                <a:solidFill>
                  <a:srgbClr val="0000CC"/>
                </a:solidFill>
                <a:latin typeface="Tahoma" panose="020B0604030504040204" pitchFamily="34" charset="0"/>
              </a:rPr>
              <a:t> </a:t>
            </a:r>
          </a:p>
          <a:p>
            <a:pPr algn="just" eaLnBrk="1" hangingPunct="1">
              <a:buFontTx/>
              <a:buChar char="-"/>
            </a:pPr>
            <a:endParaRPr lang="en-US" altLang="vi-VN" sz="2200" i="1">
              <a:solidFill>
                <a:srgbClr val="0000CC"/>
              </a:solidFill>
              <a:latin typeface="Tahoma" panose="020B0604030504040204" pitchFamily="34" charset="0"/>
            </a:endParaRPr>
          </a:p>
        </p:txBody>
      </p:sp>
      <p:sp>
        <p:nvSpPr>
          <p:cNvPr id="27652" name="Text Box 4"/>
          <p:cNvSpPr txBox="1">
            <a:spLocks noChangeArrowheads="1"/>
          </p:cNvSpPr>
          <p:nvPr/>
        </p:nvSpPr>
        <p:spPr bwMode="auto">
          <a:xfrm>
            <a:off x="1790700" y="489857"/>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a:solidFill>
                  <a:srgbClr val="0000CC"/>
                </a:solidFill>
                <a:latin typeface="Tahoma" panose="020B0604030504040204" pitchFamily="34" charset="0"/>
              </a:rPr>
              <a:t>VÍ DỤ</a:t>
            </a:r>
          </a:p>
        </p:txBody>
      </p:sp>
    </p:spTree>
    <p:extLst>
      <p:ext uri="{BB962C8B-B14F-4D97-AF65-F5344CB8AC3E}">
        <p14:creationId xmlns:p14="http://schemas.microsoft.com/office/powerpoint/2010/main" val="3014753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1F09B0-A13E-48A6-B09C-FE5F03BAD26F}" type="slidenum">
              <a:rPr lang="en-US" altLang="vi-VN">
                <a:solidFill>
                  <a:srgbClr val="FFFF00"/>
                </a:solidFill>
              </a:rPr>
              <a:pPr eaLnBrk="1" hangingPunct="1"/>
              <a:t>25</a:t>
            </a:fld>
            <a:endParaRPr lang="en-GB" altLang="vi-VN">
              <a:solidFill>
                <a:srgbClr val="FFFF00"/>
              </a:solidFill>
            </a:endParaRPr>
          </a:p>
        </p:txBody>
      </p:sp>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4495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57200"/>
            <a:ext cx="44196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15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1F09B0-A13E-48A6-B09C-FE5F03BAD26F}" type="slidenum">
              <a:rPr lang="en-US" altLang="vi-VN">
                <a:solidFill>
                  <a:srgbClr val="FFFF00"/>
                </a:solidFill>
              </a:rPr>
              <a:pPr eaLnBrk="1" hangingPunct="1"/>
              <a:t>26</a:t>
            </a:fld>
            <a:endParaRPr lang="en-GB" altLang="vi-VN">
              <a:solidFill>
                <a:srgbClr val="FFFF00"/>
              </a:solidFill>
            </a:endParaRPr>
          </a:p>
        </p:txBody>
      </p:sp>
      <p:sp>
        <p:nvSpPr>
          <p:cNvPr id="3" name="Explosion 2 2"/>
          <p:cNvSpPr/>
          <p:nvPr/>
        </p:nvSpPr>
        <p:spPr>
          <a:xfrm>
            <a:off x="468087" y="881743"/>
            <a:ext cx="8196942" cy="4996543"/>
          </a:xfrm>
          <a:prstGeom prst="irregularSeal2">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400" b="1" dirty="0"/>
              <a:t>FILE NHỊ PHÂN</a:t>
            </a:r>
          </a:p>
          <a:p>
            <a:pPr algn="ctr"/>
            <a:r>
              <a:rPr lang="en-US" sz="2400" b="1" dirty="0"/>
              <a:t>(SV TỰ ĐỌC THÊM NẾU MUỐN)</a:t>
            </a:r>
            <a:endParaRPr lang="vi-VN" sz="2400" b="1" dirty="0"/>
          </a:p>
        </p:txBody>
      </p:sp>
    </p:spTree>
    <p:extLst>
      <p:ext uri="{BB962C8B-B14F-4D97-AF65-F5344CB8AC3E}">
        <p14:creationId xmlns:p14="http://schemas.microsoft.com/office/powerpoint/2010/main" val="3594878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A69D4CF-F267-40F7-9C90-6622143933BE}" type="slidenum">
              <a:rPr lang="en-US" altLang="vi-VN">
                <a:solidFill>
                  <a:srgbClr val="FFFF00"/>
                </a:solidFill>
              </a:rPr>
              <a:pPr eaLnBrk="1" hangingPunct="1"/>
              <a:t>27</a:t>
            </a:fld>
            <a:endParaRPr lang="en-GB" altLang="vi-VN">
              <a:solidFill>
                <a:srgbClr val="FFFF00"/>
              </a:solidFill>
            </a:endParaRPr>
          </a:p>
        </p:txBody>
      </p:sp>
      <p:sp>
        <p:nvSpPr>
          <p:cNvPr id="29699" name="Rectangle 3"/>
          <p:cNvSpPr>
            <a:spLocks noChangeArrowheads="1"/>
          </p:cNvSpPr>
          <p:nvPr/>
        </p:nvSpPr>
        <p:spPr bwMode="auto">
          <a:xfrm>
            <a:off x="1752600" y="484485"/>
            <a:ext cx="7391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400" b="1">
                <a:solidFill>
                  <a:srgbClr val="0000CC"/>
                </a:solidFill>
                <a:latin typeface="Tahoma" panose="020B0604030504040204" pitchFamily="34" charset="0"/>
              </a:rPr>
              <a:t>CÁC HÀM NHẬP XUẤT THEO KIỂU NHỊ PHÂN</a:t>
            </a:r>
          </a:p>
        </p:txBody>
      </p:sp>
      <p:sp>
        <p:nvSpPr>
          <p:cNvPr id="29700" name="Rectangle 4"/>
          <p:cNvSpPr>
            <a:spLocks noChangeArrowheads="1"/>
          </p:cNvSpPr>
          <p:nvPr/>
        </p:nvSpPr>
        <p:spPr bwMode="auto">
          <a:xfrm>
            <a:off x="228600" y="12954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putw : ghi một số nguyên vào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putw(int n, FILE *fp) </a:t>
            </a:r>
          </a:p>
          <a:p>
            <a:pPr algn="just" eaLnBrk="1" hangingPunct="1"/>
            <a:r>
              <a:rPr lang="en-US" altLang="vi-VN" sz="2200" i="1">
                <a:solidFill>
                  <a:srgbClr val="0000CC"/>
                </a:solidFill>
                <a:latin typeface="Tahoma" panose="020B0604030504040204" pitchFamily="34" charset="0"/>
              </a:rPr>
              <a:t>	+ fp là con trỏ file</a:t>
            </a:r>
          </a:p>
          <a:p>
            <a:pPr algn="just" eaLnBrk="1" hangingPunct="1"/>
            <a:r>
              <a:rPr lang="en-US" altLang="vi-VN" sz="2200" i="1">
                <a:solidFill>
                  <a:srgbClr val="0000CC"/>
                </a:solidFill>
                <a:latin typeface="Tahoma" panose="020B0604030504040204" pitchFamily="34" charset="0"/>
              </a:rPr>
              <a:t>	+ n là số nguyên cần ghi vào file</a:t>
            </a:r>
            <a:endParaRPr lang="en-US" altLang="vi-VN" i="1">
              <a:solidFill>
                <a:srgbClr val="0000CC"/>
              </a:solidFill>
              <a:latin typeface="Tahoma" panose="020B0604030504040204" pitchFamily="34" charset="0"/>
            </a:endParaRPr>
          </a:p>
        </p:txBody>
      </p:sp>
      <p:sp>
        <p:nvSpPr>
          <p:cNvPr id="29701" name="Rectangle 5"/>
          <p:cNvSpPr>
            <a:spLocks noChangeArrowheads="1"/>
          </p:cNvSpPr>
          <p:nvPr/>
        </p:nvSpPr>
        <p:spPr bwMode="auto">
          <a:xfrm>
            <a:off x="228600" y="32004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getw : đọc số nguyên từ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getw(FILE *fp) </a:t>
            </a:r>
          </a:p>
          <a:p>
            <a:pPr algn="just" eaLnBrk="1" hangingPunct="1"/>
            <a:r>
              <a:rPr lang="en-US" altLang="vi-VN" sz="2200" i="1">
                <a:solidFill>
                  <a:srgbClr val="0000CC"/>
                </a:solidFill>
                <a:latin typeface="Tahoma" panose="020B0604030504040204" pitchFamily="34" charset="0"/>
              </a:rPr>
              <a:t>	+ fp là con trỏ file</a:t>
            </a:r>
          </a:p>
          <a:p>
            <a:pPr algn="just" eaLnBrk="1" hangingPunct="1"/>
            <a:r>
              <a:rPr lang="en-US" altLang="vi-VN" sz="2200" i="1">
                <a:solidFill>
                  <a:srgbClr val="0000CC"/>
                </a:solidFill>
                <a:latin typeface="Tahoma" panose="020B0604030504040204" pitchFamily="34" charset="0"/>
              </a:rPr>
              <a:t>	</a:t>
            </a:r>
            <a:endParaRPr lang="en-US" altLang="vi-VN" i="1">
              <a:solidFill>
                <a:srgbClr val="0000CC"/>
              </a:solidFill>
              <a:latin typeface="Tahoma" panose="020B0604030504040204" pitchFamily="34" charset="0"/>
            </a:endParaRPr>
          </a:p>
        </p:txBody>
      </p:sp>
    </p:spTree>
    <p:extLst>
      <p:ext uri="{BB962C8B-B14F-4D97-AF65-F5344CB8AC3E}">
        <p14:creationId xmlns:p14="http://schemas.microsoft.com/office/powerpoint/2010/main" val="1496278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85F1E6-E902-4950-98B1-F038E8731FF2}" type="slidenum">
              <a:rPr lang="en-US" altLang="vi-VN">
                <a:solidFill>
                  <a:srgbClr val="FFFF00"/>
                </a:solidFill>
              </a:rPr>
              <a:pPr eaLnBrk="1" hangingPunct="1"/>
              <a:t>28</a:t>
            </a:fld>
            <a:endParaRPr lang="en-GB" altLang="vi-VN">
              <a:solidFill>
                <a:srgbClr val="FFFF00"/>
              </a:solidFill>
            </a:endParaRPr>
          </a:p>
        </p:txBody>
      </p:sp>
      <p:sp>
        <p:nvSpPr>
          <p:cNvPr id="30723" name="Text Box 3"/>
          <p:cNvSpPr txBox="1">
            <a:spLocks noChangeArrowheads="1"/>
          </p:cNvSpPr>
          <p:nvPr/>
        </p:nvSpPr>
        <p:spPr bwMode="auto">
          <a:xfrm>
            <a:off x="1861457" y="544286"/>
            <a:ext cx="289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 </a:t>
            </a:r>
          </a:p>
        </p:txBody>
      </p:sp>
      <p:sp>
        <p:nvSpPr>
          <p:cNvPr id="745476" name="Oval 4"/>
          <p:cNvSpPr>
            <a:spLocks noChangeArrowheads="1"/>
          </p:cNvSpPr>
          <p:nvPr/>
        </p:nvSpPr>
        <p:spPr bwMode="auto">
          <a:xfrm>
            <a:off x="609600" y="1676400"/>
            <a:ext cx="3657600" cy="3429000"/>
          </a:xfrm>
          <a:prstGeom prst="ellipse">
            <a:avLst/>
          </a:prstGeom>
          <a:noFill/>
          <a:ln w="952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Viết </a:t>
            </a:r>
          </a:p>
          <a:p>
            <a:pPr eaLnBrk="1" hangingPunct="1"/>
            <a:r>
              <a:rPr lang="en-US" altLang="vi-VN" sz="2200">
                <a:solidFill>
                  <a:srgbClr val="0000CC"/>
                </a:solidFill>
                <a:latin typeface="Tahoma" panose="020B0604030504040204" pitchFamily="34" charset="0"/>
              </a:rPr>
              <a:t>chương trình </a:t>
            </a:r>
          </a:p>
          <a:p>
            <a:pPr eaLnBrk="1" hangingPunct="1"/>
            <a:r>
              <a:rPr lang="en-US" altLang="vi-VN" sz="2200">
                <a:solidFill>
                  <a:srgbClr val="0000CC"/>
                </a:solidFill>
                <a:latin typeface="Tahoma" panose="020B0604030504040204" pitchFamily="34" charset="0"/>
              </a:rPr>
              <a:t>tạo một file nhị phân </a:t>
            </a:r>
          </a:p>
          <a:p>
            <a:pPr eaLnBrk="1" hangingPunct="1"/>
            <a:r>
              <a:rPr lang="en-US" altLang="vi-VN" sz="2200">
                <a:solidFill>
                  <a:srgbClr val="0000CC"/>
                </a:solidFill>
                <a:latin typeface="Tahoma" panose="020B0604030504040204" pitchFamily="34" charset="0"/>
              </a:rPr>
              <a:t>có tên songuyen.dat </a:t>
            </a:r>
          </a:p>
          <a:p>
            <a:pPr eaLnBrk="1" hangingPunct="1"/>
            <a:r>
              <a:rPr lang="en-US" altLang="vi-VN" sz="2200">
                <a:solidFill>
                  <a:srgbClr val="0000CC"/>
                </a:solidFill>
                <a:latin typeface="Tahoma" panose="020B0604030504040204" pitchFamily="34" charset="0"/>
              </a:rPr>
              <a:t>Chứa các số nguyên </a:t>
            </a:r>
          </a:p>
          <a:p>
            <a:pPr eaLnBrk="1" hangingPunct="1"/>
            <a:r>
              <a:rPr lang="en-US" altLang="vi-VN" sz="2200">
                <a:solidFill>
                  <a:srgbClr val="0000CC"/>
                </a:solidFill>
                <a:latin typeface="Tahoma" panose="020B0604030504040204" pitchFamily="34" charset="0"/>
              </a:rPr>
              <a:t>từ 100 đến 200</a:t>
            </a:r>
          </a:p>
          <a:p>
            <a:pPr eaLnBrk="1" hangingPunct="1"/>
            <a:r>
              <a:rPr lang="en-US" altLang="vi-VN" sz="2200">
                <a:solidFill>
                  <a:srgbClr val="0000CC"/>
                </a:solidFill>
                <a:latin typeface="Tahoma" panose="020B0604030504040204" pitchFamily="34" charset="0"/>
              </a:rPr>
              <a:t>lưu trong </a:t>
            </a:r>
          </a:p>
          <a:p>
            <a:pPr eaLnBrk="1" hangingPunct="1"/>
            <a:r>
              <a:rPr lang="en-US" altLang="vi-VN" sz="2200">
                <a:solidFill>
                  <a:srgbClr val="0000CC"/>
                </a:solidFill>
                <a:latin typeface="Tahoma" panose="020B0604030504040204" pitchFamily="34" charset="0"/>
              </a:rPr>
              <a:t>đĩa c</a:t>
            </a:r>
            <a:endParaRPr lang="vi-VN" altLang="vi-VN" sz="2200">
              <a:solidFill>
                <a:srgbClr val="0000CC"/>
              </a:solidFill>
              <a:latin typeface="Tahoma" panose="020B0604030504040204" pitchFamily="34" charset="0"/>
            </a:endParaRPr>
          </a:p>
        </p:txBody>
      </p:sp>
      <p:sp>
        <p:nvSpPr>
          <p:cNvPr id="745477" name="Oval 5"/>
          <p:cNvSpPr>
            <a:spLocks noChangeArrowheads="1"/>
          </p:cNvSpPr>
          <p:nvPr/>
        </p:nvSpPr>
        <p:spPr bwMode="auto">
          <a:xfrm>
            <a:off x="4648200" y="1676400"/>
            <a:ext cx="3657600" cy="3429000"/>
          </a:xfrm>
          <a:prstGeom prst="ellipse">
            <a:avLst/>
          </a:prstGeom>
          <a:noFill/>
          <a:ln w="952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sz="2200">
                <a:solidFill>
                  <a:srgbClr val="0000CC"/>
                </a:solidFill>
                <a:latin typeface="Tahoma" panose="020B0604030504040204" pitchFamily="34" charset="0"/>
              </a:rPr>
              <a:t>Viết </a:t>
            </a:r>
          </a:p>
          <a:p>
            <a:pPr eaLnBrk="1" hangingPunct="1"/>
            <a:r>
              <a:rPr lang="en-US" altLang="vi-VN" sz="2200">
                <a:solidFill>
                  <a:srgbClr val="0000CC"/>
                </a:solidFill>
                <a:latin typeface="Tahoma" panose="020B0604030504040204" pitchFamily="34" charset="0"/>
              </a:rPr>
              <a:t>chương trình </a:t>
            </a:r>
          </a:p>
          <a:p>
            <a:pPr eaLnBrk="1" hangingPunct="1"/>
            <a:r>
              <a:rPr lang="en-US" altLang="vi-VN" sz="2200">
                <a:solidFill>
                  <a:srgbClr val="0000CC"/>
                </a:solidFill>
                <a:latin typeface="Tahoma" panose="020B0604030504040204" pitchFamily="34" charset="0"/>
              </a:rPr>
              <a:t> mở file nhị phân có tên </a:t>
            </a:r>
          </a:p>
          <a:p>
            <a:pPr eaLnBrk="1" hangingPunct="1"/>
            <a:r>
              <a:rPr lang="en-US" altLang="vi-VN" sz="2200">
                <a:solidFill>
                  <a:srgbClr val="0000CC"/>
                </a:solidFill>
                <a:latin typeface="Tahoma" panose="020B0604030504040204" pitchFamily="34" charset="0"/>
              </a:rPr>
              <a:t>songuyen.dat lưu trong </a:t>
            </a:r>
          </a:p>
          <a:p>
            <a:pPr eaLnBrk="1" hangingPunct="1"/>
            <a:r>
              <a:rPr lang="en-US" altLang="vi-VN" sz="2200">
                <a:solidFill>
                  <a:srgbClr val="0000CC"/>
                </a:solidFill>
                <a:latin typeface="Tahoma" panose="020B0604030504040204" pitchFamily="34" charset="0"/>
              </a:rPr>
              <a:t>đĩa c, in nội dung </a:t>
            </a:r>
          </a:p>
          <a:p>
            <a:pPr eaLnBrk="1" hangingPunct="1"/>
            <a:r>
              <a:rPr lang="en-US" altLang="vi-VN" sz="2200">
                <a:solidFill>
                  <a:srgbClr val="0000CC"/>
                </a:solidFill>
                <a:latin typeface="Tahoma" panose="020B0604030504040204" pitchFamily="34" charset="0"/>
              </a:rPr>
              <a:t>file lên màn </a:t>
            </a:r>
          </a:p>
          <a:p>
            <a:pPr eaLnBrk="1" hangingPunct="1"/>
            <a:r>
              <a:rPr lang="en-US" altLang="vi-VN" sz="2200">
                <a:solidFill>
                  <a:srgbClr val="0000CC"/>
                </a:solidFill>
                <a:latin typeface="Tahoma" panose="020B0604030504040204" pitchFamily="34" charset="0"/>
              </a:rPr>
              <a:t>hình</a:t>
            </a:r>
            <a:endParaRPr lang="vi-VN" altLang="vi-VN" sz="2200">
              <a:solidFill>
                <a:srgbClr val="0000CC"/>
              </a:solidFill>
              <a:latin typeface="Tahoma" panose="020B0604030504040204" pitchFamily="34" charset="0"/>
            </a:endParaRPr>
          </a:p>
        </p:txBody>
      </p:sp>
      <p:sp>
        <p:nvSpPr>
          <p:cNvPr id="745478" name="AutoShape 6"/>
          <p:cNvSpPr>
            <a:spLocks noChangeArrowheads="1"/>
          </p:cNvSpPr>
          <p:nvPr/>
        </p:nvSpPr>
        <p:spPr bwMode="auto">
          <a:xfrm>
            <a:off x="3886200" y="4648200"/>
            <a:ext cx="1295400" cy="1676400"/>
          </a:xfrm>
          <a:prstGeom prst="downArrow">
            <a:avLst>
              <a:gd name="adj1" fmla="val 50000"/>
              <a:gd name="adj2" fmla="val 32353"/>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Tree>
    <p:extLst>
      <p:ext uri="{BB962C8B-B14F-4D97-AF65-F5344CB8AC3E}">
        <p14:creationId xmlns:p14="http://schemas.microsoft.com/office/powerpoint/2010/main" val="172860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745476"/>
                                        </p:tgtEl>
                                        <p:attrNameLst>
                                          <p:attrName>style.visibility</p:attrName>
                                        </p:attrNameLst>
                                      </p:cBhvr>
                                      <p:to>
                                        <p:strVal val="visible"/>
                                      </p:to>
                                    </p:set>
                                    <p:animEffect transition="in" filter="wheel(4)">
                                      <p:cBhvr>
                                        <p:cTn id="7" dur="2000"/>
                                        <p:tgtEl>
                                          <p:spTgt spid="7454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745477"/>
                                        </p:tgtEl>
                                        <p:attrNameLst>
                                          <p:attrName>style.visibility</p:attrName>
                                        </p:attrNameLst>
                                      </p:cBhvr>
                                      <p:to>
                                        <p:strVal val="visible"/>
                                      </p:to>
                                    </p:set>
                                    <p:animEffect transition="in" filter="wheel(4)">
                                      <p:cBhvr>
                                        <p:cTn id="12" dur="2000"/>
                                        <p:tgtEl>
                                          <p:spTgt spid="7454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45478"/>
                                        </p:tgtEl>
                                        <p:attrNameLst>
                                          <p:attrName>style.visibility</p:attrName>
                                        </p:attrNameLst>
                                      </p:cBhvr>
                                      <p:to>
                                        <p:strVal val="visible"/>
                                      </p:to>
                                    </p:set>
                                    <p:animEffect transition="in" filter="checkerboard(across)">
                                      <p:cBhvr>
                                        <p:cTn id="17" dur="500"/>
                                        <p:tgtEl>
                                          <p:spTgt spid="74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6" grpId="0" animBg="1"/>
      <p:bldP spid="745477" grpId="0" animBg="1"/>
      <p:bldP spid="74547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4D4F9E-658A-4D2D-8830-B3D83D44DF00}" type="slidenum">
              <a:rPr lang="en-US" altLang="vi-VN">
                <a:solidFill>
                  <a:srgbClr val="FFFF00"/>
                </a:solidFill>
              </a:rPr>
              <a:pPr eaLnBrk="1" hangingPunct="1"/>
              <a:t>29</a:t>
            </a:fld>
            <a:endParaRPr lang="en-GB" altLang="vi-VN">
              <a:solidFill>
                <a:srgbClr val="FFFF00"/>
              </a:solidFill>
            </a:endParaRPr>
          </a:p>
        </p:txBody>
      </p:sp>
      <p:pic>
        <p:nvPicPr>
          <p:cNvPr id="317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46482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990600"/>
            <a:ext cx="43434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9" name="Text Box 5"/>
          <p:cNvSpPr txBox="1">
            <a:spLocks noChangeArrowheads="1"/>
          </p:cNvSpPr>
          <p:nvPr/>
        </p:nvSpPr>
        <p:spPr bwMode="auto">
          <a:xfrm>
            <a:off x="1915886" y="471487"/>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 </a:t>
            </a:r>
          </a:p>
        </p:txBody>
      </p:sp>
    </p:spTree>
    <p:extLst>
      <p:ext uri="{BB962C8B-B14F-4D97-AF65-F5344CB8AC3E}">
        <p14:creationId xmlns:p14="http://schemas.microsoft.com/office/powerpoint/2010/main" val="803504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2F850C-B148-4E1C-8030-6CF7A397A01E}" type="slidenum">
              <a:rPr lang="en-US" altLang="vi-VN">
                <a:solidFill>
                  <a:srgbClr val="FFFF00"/>
                </a:solidFill>
              </a:rPr>
              <a:pPr eaLnBrk="1" hangingPunct="1"/>
              <a:t>30</a:t>
            </a:fld>
            <a:endParaRPr lang="en-GB" altLang="vi-VN">
              <a:solidFill>
                <a:srgbClr val="FFFF00"/>
              </a:solidFill>
            </a:endParaRPr>
          </a:p>
        </p:txBody>
      </p:sp>
      <p:sp>
        <p:nvSpPr>
          <p:cNvPr id="32771" name="Rectangle 3"/>
          <p:cNvSpPr>
            <a:spLocks noChangeArrowheads="1"/>
          </p:cNvSpPr>
          <p:nvPr/>
        </p:nvSpPr>
        <p:spPr bwMode="auto">
          <a:xfrm>
            <a:off x="1850571" y="458440"/>
            <a:ext cx="72934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400" b="1" dirty="0">
                <a:solidFill>
                  <a:srgbClr val="0000CC"/>
                </a:solidFill>
                <a:latin typeface="Tahoma" panose="020B0604030504040204" pitchFamily="34" charset="0"/>
              </a:rPr>
              <a:t>CÁC HÀM NHẬP XUẤT THEO KIỂU NHỊ PHÂN</a:t>
            </a:r>
          </a:p>
        </p:txBody>
      </p:sp>
      <p:sp>
        <p:nvSpPr>
          <p:cNvPr id="32772" name="Rectangle 4"/>
          <p:cNvSpPr>
            <a:spLocks noChangeArrowheads="1"/>
          </p:cNvSpPr>
          <p:nvPr/>
        </p:nvSpPr>
        <p:spPr bwMode="auto">
          <a:xfrm>
            <a:off x="228600" y="1295400"/>
            <a:ext cx="89154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fwrite : ghi các mẫu tin lên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fwrite(void *ptr, int size, int n, FILE *fp) </a:t>
            </a:r>
          </a:p>
          <a:p>
            <a:pPr algn="just" eaLnBrk="1" hangingPunct="1"/>
            <a:r>
              <a:rPr lang="en-US" altLang="vi-VN" sz="2200" i="1">
                <a:solidFill>
                  <a:srgbClr val="0000CC"/>
                </a:solidFill>
                <a:latin typeface="Tahoma" panose="020B0604030504040204" pitchFamily="34" charset="0"/>
              </a:rPr>
              <a:t>	+ ptr chứa dữ liệu cần ghi</a:t>
            </a:r>
          </a:p>
          <a:p>
            <a:pPr algn="just" eaLnBrk="1" hangingPunct="1"/>
            <a:r>
              <a:rPr lang="en-US" altLang="vi-VN" sz="2200" i="1">
                <a:solidFill>
                  <a:srgbClr val="0000CC"/>
                </a:solidFill>
                <a:latin typeface="Tahoma" panose="020B0604030504040204" pitchFamily="34" charset="0"/>
              </a:rPr>
              <a:t>	+ size kích thước của mẫu tin theo byte</a:t>
            </a:r>
          </a:p>
          <a:p>
            <a:pPr algn="just" eaLnBrk="1" hangingPunct="1"/>
            <a:r>
              <a:rPr lang="en-US" altLang="vi-VN" sz="2200" i="1">
                <a:solidFill>
                  <a:srgbClr val="0000CC"/>
                </a:solidFill>
                <a:latin typeface="Tahoma" panose="020B0604030504040204" pitchFamily="34" charset="0"/>
              </a:rPr>
              <a:t>	+ n số mẫu tin cần ghi</a:t>
            </a:r>
          </a:p>
          <a:p>
            <a:pPr algn="just" eaLnBrk="1" hangingPunct="1"/>
            <a:r>
              <a:rPr lang="en-US" altLang="vi-VN" sz="2200" i="1">
                <a:solidFill>
                  <a:srgbClr val="0000CC"/>
                </a:solidFill>
                <a:latin typeface="Tahoma" panose="020B0604030504040204" pitchFamily="34" charset="0"/>
              </a:rPr>
              <a:t>	+ fp là con trỏ file</a:t>
            </a:r>
            <a:endParaRPr lang="en-US" altLang="vi-VN" i="1">
              <a:solidFill>
                <a:srgbClr val="0000CC"/>
              </a:solidFill>
              <a:latin typeface="Tahoma" panose="020B0604030504040204" pitchFamily="34" charset="0"/>
            </a:endParaRPr>
          </a:p>
        </p:txBody>
      </p:sp>
      <p:sp>
        <p:nvSpPr>
          <p:cNvPr id="32773" name="Rectangle 5"/>
          <p:cNvSpPr>
            <a:spLocks noChangeArrowheads="1"/>
          </p:cNvSpPr>
          <p:nvPr/>
        </p:nvSpPr>
        <p:spPr bwMode="auto">
          <a:xfrm>
            <a:off x="228600" y="3810000"/>
            <a:ext cx="89154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Tx/>
              <a:buChar char="-"/>
            </a:pPr>
            <a:r>
              <a:rPr lang="en-US" altLang="vi-VN" sz="2600" b="1">
                <a:solidFill>
                  <a:srgbClr val="0000CC"/>
                </a:solidFill>
                <a:latin typeface="Tahoma" panose="020B0604030504040204" pitchFamily="34" charset="0"/>
              </a:rPr>
              <a:t> Hàm fread : đọc các mẫu tin từ file</a:t>
            </a:r>
            <a:endParaRPr lang="en-US" altLang="vi-VN" sz="1000" b="1">
              <a:solidFill>
                <a:srgbClr val="0000CC"/>
              </a:solidFill>
              <a:latin typeface="Tahoma" panose="020B0604030504040204" pitchFamily="34" charset="0"/>
            </a:endParaRPr>
          </a:p>
          <a:p>
            <a:pPr algn="just" eaLnBrk="1" hangingPunct="1"/>
            <a:r>
              <a:rPr lang="en-US" altLang="vi-VN" sz="2600">
                <a:solidFill>
                  <a:srgbClr val="0000CC"/>
                </a:solidFill>
                <a:latin typeface="Tahoma" panose="020B0604030504040204" pitchFamily="34" charset="0"/>
              </a:rPr>
              <a:t>    fread(void *ptr, int size, int n, FILE *fp) </a:t>
            </a:r>
          </a:p>
          <a:p>
            <a:pPr algn="just" eaLnBrk="1" hangingPunct="1"/>
            <a:r>
              <a:rPr lang="en-US" altLang="vi-VN" sz="2200" i="1">
                <a:solidFill>
                  <a:srgbClr val="0000CC"/>
                </a:solidFill>
                <a:latin typeface="Tahoma" panose="020B0604030504040204" pitchFamily="34" charset="0"/>
              </a:rPr>
              <a:t>	+ ptr chứa dữ liệu cần đọc</a:t>
            </a:r>
          </a:p>
          <a:p>
            <a:pPr algn="just" eaLnBrk="1" hangingPunct="1"/>
            <a:r>
              <a:rPr lang="en-US" altLang="vi-VN" sz="2200" i="1">
                <a:solidFill>
                  <a:srgbClr val="0000CC"/>
                </a:solidFill>
                <a:latin typeface="Tahoma" panose="020B0604030504040204" pitchFamily="34" charset="0"/>
              </a:rPr>
              <a:t>	+ size kích thước của mẫu tin theo byte</a:t>
            </a:r>
          </a:p>
          <a:p>
            <a:pPr algn="just" eaLnBrk="1" hangingPunct="1"/>
            <a:r>
              <a:rPr lang="en-US" altLang="vi-VN" sz="2200" i="1">
                <a:solidFill>
                  <a:srgbClr val="0000CC"/>
                </a:solidFill>
                <a:latin typeface="Tahoma" panose="020B0604030504040204" pitchFamily="34" charset="0"/>
              </a:rPr>
              <a:t>	+ n số mẫu tin cần đọc</a:t>
            </a:r>
          </a:p>
          <a:p>
            <a:pPr algn="just" eaLnBrk="1" hangingPunct="1"/>
            <a:r>
              <a:rPr lang="en-US" altLang="vi-VN" sz="2200" i="1">
                <a:solidFill>
                  <a:srgbClr val="0000CC"/>
                </a:solidFill>
                <a:latin typeface="Tahoma" panose="020B0604030504040204" pitchFamily="34" charset="0"/>
              </a:rPr>
              <a:t>	+ fp là con trỏ file</a:t>
            </a:r>
            <a:endParaRPr lang="en-US" altLang="vi-VN" i="1">
              <a:solidFill>
                <a:srgbClr val="0000CC"/>
              </a:solidFill>
              <a:latin typeface="Tahoma" panose="020B0604030504040204" pitchFamily="34" charset="0"/>
            </a:endParaRPr>
          </a:p>
        </p:txBody>
      </p:sp>
    </p:spTree>
    <p:extLst>
      <p:ext uri="{BB962C8B-B14F-4D97-AF65-F5344CB8AC3E}">
        <p14:creationId xmlns:p14="http://schemas.microsoft.com/office/powerpoint/2010/main" val="1696256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45707D-2F3B-432A-8ABC-9125CF390D7E}" type="slidenum">
              <a:rPr lang="en-US" altLang="vi-VN">
                <a:solidFill>
                  <a:srgbClr val="FFFF00"/>
                </a:solidFill>
              </a:rPr>
              <a:pPr eaLnBrk="1" hangingPunct="1"/>
              <a:t>31</a:t>
            </a:fld>
            <a:endParaRPr lang="en-GB" altLang="vi-VN">
              <a:solidFill>
                <a:srgbClr val="FFFF00"/>
              </a:solidFill>
            </a:endParaRPr>
          </a:p>
        </p:txBody>
      </p:sp>
      <p:sp>
        <p:nvSpPr>
          <p:cNvPr id="33795" name="Rectangle 3"/>
          <p:cNvSpPr>
            <a:spLocks noChangeArrowheads="1"/>
          </p:cNvSpPr>
          <p:nvPr/>
        </p:nvSpPr>
        <p:spPr bwMode="auto">
          <a:xfrm>
            <a:off x="990600" y="1600200"/>
            <a:ext cx="7696200"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3022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600" i="1">
                <a:solidFill>
                  <a:srgbClr val="0000CC"/>
                </a:solidFill>
                <a:latin typeface="Tahoma" panose="020B0604030504040204" pitchFamily="34" charset="0"/>
              </a:rPr>
              <a:t>- Viết chương trình nhập một danh sách sinh viên gồm 2 thông tin là họ tên, tuổi. Lưu danh sách sinh viên này vào 1 file nhị phân tên là data.dat trong đĩa c. Sau đó đọc nội dung file này ra màn hình.</a:t>
            </a:r>
          </a:p>
          <a:p>
            <a:pPr algn="l" eaLnBrk="1" hangingPunct="1"/>
            <a:endParaRPr lang="en-US" altLang="vi-VN" sz="2600" i="1">
              <a:solidFill>
                <a:srgbClr val="0000CC"/>
              </a:solidFill>
              <a:latin typeface="Tahoma" panose="020B0604030504040204" pitchFamily="34" charset="0"/>
            </a:endParaRPr>
          </a:p>
          <a:p>
            <a:pPr algn="just" eaLnBrk="1" hangingPunct="1">
              <a:buFontTx/>
              <a:buChar char="-"/>
            </a:pPr>
            <a:endParaRPr lang="en-US" altLang="vi-VN" sz="2600" i="1">
              <a:solidFill>
                <a:srgbClr val="0000CC"/>
              </a:solidFill>
              <a:latin typeface="Tahoma" panose="020B0604030504040204" pitchFamily="34" charset="0"/>
            </a:endParaRPr>
          </a:p>
        </p:txBody>
      </p:sp>
      <p:sp>
        <p:nvSpPr>
          <p:cNvPr id="33796" name="Text Box 4"/>
          <p:cNvSpPr txBox="1">
            <a:spLocks noChangeArrowheads="1"/>
          </p:cNvSpPr>
          <p:nvPr/>
        </p:nvSpPr>
        <p:spPr bwMode="auto">
          <a:xfrm>
            <a:off x="1894115" y="424543"/>
            <a:ext cx="228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a:t>
            </a:r>
          </a:p>
        </p:txBody>
      </p:sp>
    </p:spTree>
    <p:extLst>
      <p:ext uri="{BB962C8B-B14F-4D97-AF65-F5344CB8AC3E}">
        <p14:creationId xmlns:p14="http://schemas.microsoft.com/office/powerpoint/2010/main" val="2758803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330D40-1EB3-465B-89E0-2291155B7FA7}" type="slidenum">
              <a:rPr lang="en-US" altLang="vi-VN">
                <a:solidFill>
                  <a:srgbClr val="FFFF00"/>
                </a:solidFill>
              </a:rPr>
              <a:pPr eaLnBrk="1" hangingPunct="1"/>
              <a:t>32</a:t>
            </a:fld>
            <a:endParaRPr lang="en-GB" altLang="vi-VN">
              <a:solidFill>
                <a:srgbClr val="FFFF00"/>
              </a:solidFill>
            </a:endParaRPr>
          </a:p>
        </p:txBody>
      </p:sp>
      <p:sp>
        <p:nvSpPr>
          <p:cNvPr id="34819" name="Rectangle 3"/>
          <p:cNvSpPr>
            <a:spLocks noChangeArrowheads="1"/>
          </p:cNvSpPr>
          <p:nvPr/>
        </p:nvSpPr>
        <p:spPr bwMode="auto">
          <a:xfrm>
            <a:off x="42863" y="1247775"/>
            <a:ext cx="4267200" cy="5018088"/>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vi-VN" altLang="vi-VN" sz="1700">
                <a:solidFill>
                  <a:srgbClr val="0000CC"/>
                </a:solidFill>
              </a:rPr>
              <a:t>#include &lt;stdio.h&gt;</a:t>
            </a:r>
          </a:p>
          <a:p>
            <a:pPr algn="l" eaLnBrk="1" hangingPunct="1"/>
            <a:r>
              <a:rPr lang="vi-VN" altLang="vi-VN" sz="1700">
                <a:solidFill>
                  <a:srgbClr val="0000CC"/>
                </a:solidFill>
              </a:rPr>
              <a:t>#include &lt;conio.h&gt;</a:t>
            </a:r>
          </a:p>
          <a:p>
            <a:pPr algn="l" eaLnBrk="1" hangingPunct="1"/>
            <a:r>
              <a:rPr lang="vi-VN" altLang="vi-VN" sz="1700">
                <a:solidFill>
                  <a:srgbClr val="0000CC"/>
                </a:solidFill>
              </a:rPr>
              <a:t>#include &lt;string.h&gt;</a:t>
            </a:r>
          </a:p>
          <a:p>
            <a:pPr algn="l" eaLnBrk="1" hangingPunct="1"/>
            <a:endParaRPr lang="vi-VN" altLang="vi-VN" sz="1700">
              <a:solidFill>
                <a:srgbClr val="0000CC"/>
              </a:solidFill>
            </a:endParaRPr>
          </a:p>
          <a:p>
            <a:pPr algn="l" eaLnBrk="1" hangingPunct="1"/>
            <a:r>
              <a:rPr lang="vi-VN" altLang="vi-VN" sz="1700">
                <a:solidFill>
                  <a:srgbClr val="0000CC"/>
                </a:solidFill>
              </a:rPr>
              <a:t>struct sinhvien</a:t>
            </a:r>
          </a:p>
          <a:p>
            <a:pPr algn="l" eaLnBrk="1" hangingPunct="1"/>
            <a:r>
              <a:rPr lang="vi-VN" altLang="vi-VN" sz="1700">
                <a:solidFill>
                  <a:srgbClr val="0000CC"/>
                </a:solidFill>
              </a:rPr>
              <a:t>{</a:t>
            </a:r>
          </a:p>
          <a:p>
            <a:pPr algn="l" eaLnBrk="1" hangingPunct="1"/>
            <a:r>
              <a:rPr lang="vi-VN" altLang="vi-VN" sz="1700">
                <a:solidFill>
                  <a:srgbClr val="0000CC"/>
                </a:solidFill>
              </a:rPr>
              <a:t>	int tuoi;</a:t>
            </a:r>
          </a:p>
          <a:p>
            <a:pPr algn="l" eaLnBrk="1" hangingPunct="1"/>
            <a:r>
              <a:rPr lang="vi-VN" altLang="vi-VN" sz="1700">
                <a:solidFill>
                  <a:srgbClr val="0000CC"/>
                </a:solidFill>
              </a:rPr>
              <a:t>	char ten[20];</a:t>
            </a:r>
          </a:p>
          <a:p>
            <a:pPr algn="l" eaLnBrk="1" hangingPunct="1"/>
            <a:r>
              <a:rPr lang="vi-VN" altLang="vi-VN" sz="1700">
                <a:solidFill>
                  <a:srgbClr val="0000CC"/>
                </a:solidFill>
              </a:rPr>
              <a:t>};</a:t>
            </a:r>
          </a:p>
          <a:p>
            <a:pPr algn="l" eaLnBrk="1" hangingPunct="1"/>
            <a:endParaRPr lang="vi-VN" altLang="vi-VN" sz="1700">
              <a:solidFill>
                <a:srgbClr val="0000CC"/>
              </a:solidFill>
            </a:endParaRPr>
          </a:p>
          <a:p>
            <a:pPr algn="l" eaLnBrk="1" hangingPunct="1"/>
            <a:r>
              <a:rPr lang="vi-VN" altLang="vi-VN" sz="1700">
                <a:solidFill>
                  <a:srgbClr val="0000CC"/>
                </a:solidFill>
              </a:rPr>
              <a:t>main()</a:t>
            </a:r>
          </a:p>
          <a:p>
            <a:pPr algn="l" eaLnBrk="1" hangingPunct="1"/>
            <a:r>
              <a:rPr lang="vi-VN" altLang="vi-VN" sz="1700">
                <a:solidFill>
                  <a:srgbClr val="0000CC"/>
                </a:solidFill>
              </a:rPr>
              <a:t>{</a:t>
            </a:r>
          </a:p>
          <a:p>
            <a:pPr algn="l" eaLnBrk="1" hangingPunct="1"/>
            <a:r>
              <a:rPr lang="vi-VN" altLang="vi-VN" sz="1700">
                <a:solidFill>
                  <a:srgbClr val="0000CC"/>
                </a:solidFill>
              </a:rPr>
              <a:t>  clrscr();</a:t>
            </a:r>
          </a:p>
          <a:p>
            <a:pPr algn="l" eaLnBrk="1" hangingPunct="1"/>
            <a:r>
              <a:rPr lang="vi-VN" altLang="vi-VN" sz="1700">
                <a:solidFill>
                  <a:srgbClr val="0000CC"/>
                </a:solidFill>
              </a:rPr>
              <a:t>  FILE *fp;</a:t>
            </a:r>
          </a:p>
          <a:p>
            <a:pPr algn="l" eaLnBrk="1" hangingPunct="1"/>
            <a:r>
              <a:rPr lang="vi-VN" altLang="vi-VN" sz="1700">
                <a:solidFill>
                  <a:srgbClr val="0000CC"/>
                </a:solidFill>
              </a:rPr>
              <a:t>  sinhvien sv[20];</a:t>
            </a:r>
          </a:p>
          <a:p>
            <a:pPr algn="l" eaLnBrk="1" hangingPunct="1"/>
            <a:r>
              <a:rPr lang="vi-VN" altLang="vi-VN" sz="1700">
                <a:solidFill>
                  <a:srgbClr val="0000CC"/>
                </a:solidFill>
              </a:rPr>
              <a:t>  int n, k=0;</a:t>
            </a:r>
          </a:p>
          <a:p>
            <a:pPr algn="l" eaLnBrk="1" hangingPunct="1"/>
            <a:r>
              <a:rPr lang="vi-VN" altLang="vi-VN" sz="1700">
                <a:solidFill>
                  <a:srgbClr val="0000CC"/>
                </a:solidFill>
              </a:rPr>
              <a:t>  fp = fopen("c:\\data.dat","wb");</a:t>
            </a:r>
          </a:p>
          <a:p>
            <a:pPr algn="l" eaLnBrk="1" hangingPunct="1"/>
            <a:r>
              <a:rPr lang="vi-VN" altLang="vi-VN" sz="1700">
                <a:solidFill>
                  <a:srgbClr val="0000CC"/>
                </a:solidFill>
              </a:rPr>
              <a:t>  printf("Nhap bao nhieu SV :");</a:t>
            </a:r>
          </a:p>
          <a:p>
            <a:pPr algn="l" eaLnBrk="1" hangingPunct="1"/>
            <a:r>
              <a:rPr lang="vi-VN" altLang="vi-VN" sz="1700">
                <a:solidFill>
                  <a:srgbClr val="0000CC"/>
                </a:solidFill>
              </a:rPr>
              <a:t>  scanf("%d",&amp;n);</a:t>
            </a:r>
          </a:p>
        </p:txBody>
      </p:sp>
      <p:sp>
        <p:nvSpPr>
          <p:cNvPr id="34820" name="Rectangle 4"/>
          <p:cNvSpPr>
            <a:spLocks noChangeArrowheads="1"/>
          </p:cNvSpPr>
          <p:nvPr/>
        </p:nvSpPr>
        <p:spPr bwMode="auto">
          <a:xfrm>
            <a:off x="4467225" y="1238250"/>
            <a:ext cx="4648200" cy="5018088"/>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vi-VN" altLang="vi-VN" sz="1700">
                <a:solidFill>
                  <a:srgbClr val="0000CC"/>
                </a:solidFill>
              </a:rPr>
              <a:t>for (int i=0;i&lt;n;++i)</a:t>
            </a:r>
          </a:p>
          <a:p>
            <a:pPr algn="l" eaLnBrk="1" hangingPunct="1"/>
            <a:r>
              <a:rPr lang="vi-VN" altLang="vi-VN" sz="1700">
                <a:solidFill>
                  <a:srgbClr val="0000CC"/>
                </a:solidFill>
              </a:rPr>
              <a:t>        {</a:t>
            </a:r>
          </a:p>
          <a:p>
            <a:pPr algn="l" eaLnBrk="1" hangingPunct="1"/>
            <a:r>
              <a:rPr lang="vi-VN" altLang="vi-VN" sz="1700">
                <a:solidFill>
                  <a:srgbClr val="0000CC"/>
                </a:solidFill>
              </a:rPr>
              <a:t>            printf("Nhap SV thu %d :\n",i+1);</a:t>
            </a:r>
          </a:p>
          <a:p>
            <a:pPr algn="l" eaLnBrk="1" hangingPunct="1"/>
            <a:r>
              <a:rPr lang="vi-VN" altLang="vi-VN" sz="1700">
                <a:solidFill>
                  <a:srgbClr val="0000CC"/>
                </a:solidFill>
              </a:rPr>
              <a:t>            printf("ten sv : ");</a:t>
            </a:r>
          </a:p>
          <a:p>
            <a:pPr algn="l" eaLnBrk="1" hangingPunct="1"/>
            <a:r>
              <a:rPr lang="vi-VN" altLang="vi-VN" sz="1700">
                <a:solidFill>
                  <a:srgbClr val="0000CC"/>
                </a:solidFill>
              </a:rPr>
              <a:t>            fflush(stdin);</a:t>
            </a:r>
          </a:p>
          <a:p>
            <a:pPr algn="l" eaLnBrk="1" hangingPunct="1"/>
            <a:r>
              <a:rPr lang="vi-VN" altLang="vi-VN" sz="1700">
                <a:solidFill>
                  <a:srgbClr val="0000CC"/>
                </a:solidFill>
              </a:rPr>
              <a:t>            gets(sv[i].ten);</a:t>
            </a:r>
          </a:p>
          <a:p>
            <a:pPr algn="l" eaLnBrk="1" hangingPunct="1"/>
            <a:r>
              <a:rPr lang="vi-VN" altLang="vi-VN" sz="1700">
                <a:solidFill>
                  <a:srgbClr val="0000CC"/>
                </a:solidFill>
              </a:rPr>
              <a:t>            printf("tuoi   : ");</a:t>
            </a:r>
          </a:p>
          <a:p>
            <a:pPr algn="l" eaLnBrk="1" hangingPunct="1"/>
            <a:r>
              <a:rPr lang="vi-VN" altLang="vi-VN" sz="1700">
                <a:solidFill>
                  <a:srgbClr val="0000CC"/>
                </a:solidFill>
              </a:rPr>
              <a:t>            scanf("%d",&amp;sv[i].tuoi);</a:t>
            </a:r>
          </a:p>
          <a:p>
            <a:pPr algn="l" eaLnBrk="1" hangingPunct="1"/>
            <a:r>
              <a:rPr lang="vi-VN" altLang="vi-VN" sz="1700">
                <a:solidFill>
                  <a:srgbClr val="0000CC"/>
                </a:solidFill>
              </a:rPr>
              <a:t>            fwrite(&amp;sv,sizeof(sinhvien),1,fp);</a:t>
            </a:r>
          </a:p>
          <a:p>
            <a:pPr algn="l" eaLnBrk="1" hangingPunct="1"/>
            <a:r>
              <a:rPr lang="vi-VN" altLang="vi-VN" sz="1700">
                <a:solidFill>
                  <a:srgbClr val="0000CC"/>
                </a:solidFill>
              </a:rPr>
              <a:t>         }</a:t>
            </a:r>
          </a:p>
          <a:p>
            <a:pPr algn="l" eaLnBrk="1" hangingPunct="1"/>
            <a:r>
              <a:rPr lang="vi-VN" altLang="vi-VN" sz="1700">
                <a:solidFill>
                  <a:srgbClr val="0000CC"/>
                </a:solidFill>
              </a:rPr>
              <a:t>  fclose (fp);</a:t>
            </a:r>
          </a:p>
          <a:p>
            <a:pPr algn="l" eaLnBrk="1" hangingPunct="1"/>
            <a:r>
              <a:rPr lang="vi-VN" altLang="vi-VN" sz="1700">
                <a:solidFill>
                  <a:srgbClr val="0000CC"/>
                </a:solidFill>
              </a:rPr>
              <a:t>  printf("Xuat noi dung cua file:\n");</a:t>
            </a:r>
          </a:p>
          <a:p>
            <a:pPr algn="l" eaLnBrk="1" hangingPunct="1"/>
            <a:r>
              <a:rPr lang="vi-VN" altLang="vi-VN" sz="1700">
                <a:solidFill>
                  <a:srgbClr val="0000CC"/>
                </a:solidFill>
              </a:rPr>
              <a:t>  fp = fopen("c:\\data.dat","rb"); </a:t>
            </a:r>
          </a:p>
          <a:p>
            <a:pPr algn="l" eaLnBrk="1" hangingPunct="1"/>
            <a:r>
              <a:rPr lang="vi-VN" altLang="vi-VN" sz="1700">
                <a:solidFill>
                  <a:srgbClr val="0000CC"/>
                </a:solidFill>
              </a:rPr>
              <a:t>  while (fread(&amp;sv,sizeof(sinhvien),1,fp)&gt;0)</a:t>
            </a:r>
          </a:p>
          <a:p>
            <a:pPr algn="l" eaLnBrk="1" hangingPunct="1"/>
            <a:r>
              <a:rPr lang="vi-VN" altLang="vi-VN" sz="1700">
                <a:solidFill>
                  <a:srgbClr val="0000CC"/>
                </a:solidFill>
              </a:rPr>
              <a:t>      {printf("%30s%10d\n",sv[k].ten,sv[k].tuoi);</a:t>
            </a:r>
          </a:p>
          <a:p>
            <a:pPr algn="l" eaLnBrk="1" hangingPunct="1"/>
            <a:r>
              <a:rPr lang="vi-VN" altLang="vi-VN" sz="1700">
                <a:solidFill>
                  <a:srgbClr val="0000CC"/>
                </a:solidFill>
              </a:rPr>
              <a:t>       k++;}</a:t>
            </a:r>
          </a:p>
          <a:p>
            <a:pPr algn="l" eaLnBrk="1" hangingPunct="1"/>
            <a:r>
              <a:rPr lang="vi-VN" altLang="vi-VN" sz="1700">
                <a:solidFill>
                  <a:srgbClr val="0000CC"/>
                </a:solidFill>
              </a:rPr>
              <a:t>  fclose(fp);</a:t>
            </a:r>
          </a:p>
          <a:p>
            <a:pPr algn="l" eaLnBrk="1" hangingPunct="1"/>
            <a:r>
              <a:rPr lang="vi-VN" altLang="vi-VN" sz="1700">
                <a:solidFill>
                  <a:srgbClr val="0000CC"/>
                </a:solidFill>
              </a:rPr>
              <a:t>  getch();</a:t>
            </a:r>
          </a:p>
          <a:p>
            <a:pPr algn="l" eaLnBrk="1" hangingPunct="1"/>
            <a:r>
              <a:rPr lang="vi-VN" altLang="vi-VN" sz="1700">
                <a:solidFill>
                  <a:srgbClr val="0000CC"/>
                </a:solidFill>
              </a:rPr>
              <a:t>}</a:t>
            </a:r>
          </a:p>
        </p:txBody>
      </p:sp>
      <p:sp>
        <p:nvSpPr>
          <p:cNvPr id="34821" name="Text Box 5"/>
          <p:cNvSpPr txBox="1">
            <a:spLocks noChangeArrowheads="1"/>
          </p:cNvSpPr>
          <p:nvPr/>
        </p:nvSpPr>
        <p:spPr bwMode="auto">
          <a:xfrm>
            <a:off x="1796143" y="413657"/>
            <a:ext cx="228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VÍ DỤ</a:t>
            </a:r>
          </a:p>
        </p:txBody>
      </p:sp>
    </p:spTree>
    <p:extLst>
      <p:ext uri="{BB962C8B-B14F-4D97-AF65-F5344CB8AC3E}">
        <p14:creationId xmlns:p14="http://schemas.microsoft.com/office/powerpoint/2010/main" val="3892351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4"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0E0AF41-9D2B-47BA-BBE8-654D3F3449C2}" type="slidenum">
              <a:rPr lang="en-US" altLang="vi-VN">
                <a:solidFill>
                  <a:srgbClr val="FFFF00"/>
                </a:solidFill>
              </a:rPr>
              <a:pPr eaLnBrk="1" hangingPunct="1"/>
              <a:t>33</a:t>
            </a:fld>
            <a:endParaRPr lang="en-GB" altLang="vi-VN">
              <a:solidFill>
                <a:srgbClr val="FFFF00"/>
              </a:solidFill>
            </a:endParaRPr>
          </a:p>
        </p:txBody>
      </p:sp>
      <p:sp>
        <p:nvSpPr>
          <p:cNvPr id="35844" name="Rectangle 2"/>
          <p:cNvSpPr>
            <a:spLocks noChangeArrowheads="1"/>
          </p:cNvSpPr>
          <p:nvPr/>
        </p:nvSpPr>
        <p:spPr bwMode="auto">
          <a:xfrm>
            <a:off x="228600" y="2209800"/>
            <a:ext cx="8686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5000"/>
              </a:lnSpc>
              <a:spcBef>
                <a:spcPct val="5000"/>
              </a:spcBef>
              <a:buClr>
                <a:schemeClr val="tx2"/>
              </a:buClr>
              <a:buFont typeface="Wingdings" panose="05000000000000000000" pitchFamily="2" charset="2"/>
              <a:buNone/>
            </a:pPr>
            <a:r>
              <a:rPr lang="en-US" altLang="vi-VN" sz="4400" b="1" dirty="0">
                <a:solidFill>
                  <a:srgbClr val="0000CC"/>
                </a:solidFill>
              </a:rPr>
              <a:t>GIẢI BÀI TẬP FILE MẪU</a:t>
            </a:r>
          </a:p>
          <a:p>
            <a:pPr>
              <a:lnSpc>
                <a:spcPct val="95000"/>
              </a:lnSpc>
              <a:spcBef>
                <a:spcPct val="5000"/>
              </a:spcBef>
              <a:buClr>
                <a:schemeClr val="tx2"/>
              </a:buClr>
              <a:buFont typeface="Wingdings" panose="05000000000000000000" pitchFamily="2" charset="2"/>
              <a:buNone/>
            </a:pPr>
            <a:r>
              <a:rPr lang="en-US" altLang="vi-VN" sz="4400" b="1" dirty="0">
                <a:solidFill>
                  <a:srgbClr val="0000CC"/>
                </a:solidFill>
              </a:rPr>
              <a:t>(</a:t>
            </a:r>
            <a:r>
              <a:rPr lang="en-US" altLang="vi-VN" sz="4400" b="1" dirty="0" err="1">
                <a:solidFill>
                  <a:srgbClr val="0000CC"/>
                </a:solidFill>
              </a:rPr>
              <a:t>Dành</a:t>
            </a:r>
            <a:r>
              <a:rPr lang="en-US" altLang="vi-VN" sz="4400" b="1" dirty="0">
                <a:solidFill>
                  <a:srgbClr val="0000CC"/>
                </a:solidFill>
              </a:rPr>
              <a:t> </a:t>
            </a:r>
            <a:r>
              <a:rPr lang="en-US" altLang="vi-VN" sz="4400" b="1" dirty="0" err="1">
                <a:solidFill>
                  <a:srgbClr val="0000CC"/>
                </a:solidFill>
              </a:rPr>
              <a:t>cho</a:t>
            </a:r>
            <a:r>
              <a:rPr lang="en-US" altLang="vi-VN" sz="4400" b="1" dirty="0">
                <a:solidFill>
                  <a:srgbClr val="0000CC"/>
                </a:solidFill>
              </a:rPr>
              <a:t> SV </a:t>
            </a:r>
            <a:r>
              <a:rPr lang="en-US" altLang="vi-VN" sz="4400" b="1" dirty="0" err="1">
                <a:solidFill>
                  <a:srgbClr val="0000CC"/>
                </a:solidFill>
              </a:rPr>
              <a:t>tham</a:t>
            </a:r>
            <a:r>
              <a:rPr lang="en-US" altLang="vi-VN" sz="4400" b="1" dirty="0">
                <a:solidFill>
                  <a:srgbClr val="0000CC"/>
                </a:solidFill>
              </a:rPr>
              <a:t> </a:t>
            </a:r>
            <a:r>
              <a:rPr lang="en-US" altLang="vi-VN" sz="4400" b="1" dirty="0" err="1">
                <a:solidFill>
                  <a:srgbClr val="0000CC"/>
                </a:solidFill>
              </a:rPr>
              <a:t>khảo</a:t>
            </a:r>
            <a:r>
              <a:rPr lang="en-US" altLang="vi-VN" sz="4400" b="1" dirty="0">
                <a:solidFill>
                  <a:srgbClr val="0000CC"/>
                </a:solidFill>
              </a:rPr>
              <a:t>)</a:t>
            </a:r>
          </a:p>
          <a:p>
            <a:pPr>
              <a:lnSpc>
                <a:spcPct val="95000"/>
              </a:lnSpc>
              <a:spcBef>
                <a:spcPct val="5000"/>
              </a:spcBef>
              <a:buClr>
                <a:schemeClr val="tx2"/>
              </a:buClr>
              <a:buFont typeface="Wingdings" panose="05000000000000000000" pitchFamily="2" charset="2"/>
              <a:buNone/>
            </a:pPr>
            <a:r>
              <a:rPr lang="en-US" altLang="vi-VN" sz="2800" b="1" dirty="0">
                <a:solidFill>
                  <a:srgbClr val="FF0000"/>
                </a:solidFill>
              </a:rPr>
              <a:t>SỬ DỤNG FILE TEXT</a:t>
            </a:r>
            <a:endParaRPr lang="en-US" altLang="vi-VN" sz="4400" b="1" dirty="0">
              <a:solidFill>
                <a:srgbClr val="FF0000"/>
              </a:solidFill>
            </a:endParaRPr>
          </a:p>
        </p:txBody>
      </p:sp>
    </p:spTree>
    <p:extLst>
      <p:ext uri="{BB962C8B-B14F-4D97-AF65-F5344CB8AC3E}">
        <p14:creationId xmlns:p14="http://schemas.microsoft.com/office/powerpoint/2010/main" val="1653865881"/>
      </p:ext>
    </p:extLst>
  </p:cSld>
  <p:clrMapOvr>
    <a:masterClrMapping/>
  </p:clrMapOvr>
  <p:transition>
    <p:push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86C6AC-9C23-4F09-BFA1-C335227AC269}" type="slidenum">
              <a:rPr lang="en-US" altLang="vi-VN">
                <a:solidFill>
                  <a:srgbClr val="FFFF00"/>
                </a:solidFill>
              </a:rPr>
              <a:pPr eaLnBrk="1" hangingPunct="1"/>
              <a:t>34</a:t>
            </a:fld>
            <a:endParaRPr lang="en-GB" altLang="vi-VN">
              <a:solidFill>
                <a:srgbClr val="FFFF00"/>
              </a:solidFill>
            </a:endParaRPr>
          </a:p>
        </p:txBody>
      </p:sp>
      <p:sp>
        <p:nvSpPr>
          <p:cNvPr id="36868" name="Rectangle 2"/>
          <p:cNvSpPr>
            <a:spLocks noGrp="1"/>
          </p:cNvSpPr>
          <p:nvPr>
            <p:ph type="title"/>
          </p:nvPr>
        </p:nvSpPr>
        <p:spPr>
          <a:xfrm>
            <a:off x="1793422" y="435428"/>
            <a:ext cx="6721928" cy="602118"/>
          </a:xfrm>
        </p:spPr>
        <p:txBody>
          <a:bodyPr/>
          <a:lstStyle/>
          <a:p>
            <a:r>
              <a:rPr lang="en-US" altLang="vi-VN" sz="2800" b="1" dirty="0" err="1"/>
              <a:t>Bài</a:t>
            </a:r>
            <a:r>
              <a:rPr lang="en-US" altLang="vi-VN" sz="2800" b="1" dirty="0"/>
              <a:t> 1: </a:t>
            </a:r>
            <a:r>
              <a:rPr lang="en-US" altLang="vi-VN" sz="2800" b="1" dirty="0" err="1"/>
              <a:t>Tạo</a:t>
            </a:r>
            <a:r>
              <a:rPr lang="en-US" altLang="vi-VN" sz="2800" b="1" dirty="0"/>
              <a:t> file </a:t>
            </a:r>
            <a:r>
              <a:rPr lang="en-US" altLang="vi-VN" sz="2800" b="1" dirty="0" err="1"/>
              <a:t>và</a:t>
            </a:r>
            <a:r>
              <a:rPr lang="en-US" altLang="vi-VN" sz="2800" b="1" dirty="0"/>
              <a:t> </a:t>
            </a:r>
            <a:r>
              <a:rPr lang="en-US" altLang="vi-VN" sz="2800" b="1" dirty="0" err="1"/>
              <a:t>lưu</a:t>
            </a:r>
            <a:r>
              <a:rPr lang="en-US" altLang="vi-VN" sz="2800" b="1" dirty="0"/>
              <a:t> </a:t>
            </a:r>
            <a:r>
              <a:rPr lang="en-US" altLang="vi-VN" sz="2800" b="1" dirty="0" err="1"/>
              <a:t>thông</a:t>
            </a:r>
            <a:r>
              <a:rPr lang="en-US" altLang="vi-VN" sz="2800" b="1" dirty="0"/>
              <a:t> tin </a:t>
            </a:r>
            <a:r>
              <a:rPr lang="en-US" altLang="vi-VN" sz="2800" b="1" dirty="0" err="1"/>
              <a:t>vào</a:t>
            </a:r>
            <a:r>
              <a:rPr lang="en-US" altLang="vi-VN" sz="2800" b="1" dirty="0"/>
              <a:t> file</a:t>
            </a:r>
          </a:p>
        </p:txBody>
      </p:sp>
      <p:sp>
        <p:nvSpPr>
          <p:cNvPr id="36869" name="Rectangle 3"/>
          <p:cNvSpPr>
            <a:spLocks noGrp="1" noChangeArrowheads="1"/>
          </p:cNvSpPr>
          <p:nvPr>
            <p:ph type="body" idx="1"/>
          </p:nvPr>
        </p:nvSpPr>
        <p:spPr>
          <a:xfrm>
            <a:off x="0" y="1233488"/>
            <a:ext cx="8686800" cy="3871912"/>
          </a:xfrm>
        </p:spPr>
        <p:txBody>
          <a:bodyPr>
            <a:normAutofit lnSpcReduction="10000"/>
          </a:bodyPr>
          <a:lstStyle/>
          <a:p>
            <a:pPr algn="just" defTabSz="114300">
              <a:lnSpc>
                <a:spcPct val="80000"/>
              </a:lnSpc>
              <a:buFont typeface="Wingdings" panose="05000000000000000000" pitchFamily="2" charset="2"/>
              <a:buNone/>
            </a:pPr>
            <a:r>
              <a:rPr lang="en-US" altLang="vi-VN" sz="2800" dirty="0">
                <a:solidFill>
                  <a:srgbClr val="0000CC"/>
                </a:solidFill>
              </a:rPr>
              <a:t>	</a:t>
            </a:r>
            <a:r>
              <a:rPr lang="en-US" altLang="vi-VN" sz="2800" dirty="0" err="1">
                <a:solidFill>
                  <a:srgbClr val="0000CC"/>
                </a:solidFill>
              </a:rPr>
              <a:t>Viết</a:t>
            </a:r>
            <a:r>
              <a:rPr lang="en-US" altLang="vi-VN" sz="2800" dirty="0">
                <a:solidFill>
                  <a:srgbClr val="0000CC"/>
                </a:solidFill>
              </a:rPr>
              <a:t> </a:t>
            </a:r>
            <a:r>
              <a:rPr lang="en-US" altLang="vi-VN" sz="2800" dirty="0" err="1">
                <a:solidFill>
                  <a:srgbClr val="0000CC"/>
                </a:solidFill>
              </a:rPr>
              <a:t>chương</a:t>
            </a:r>
            <a:r>
              <a:rPr lang="en-US" altLang="vi-VN" sz="2800" dirty="0">
                <a:solidFill>
                  <a:srgbClr val="0000CC"/>
                </a:solidFill>
              </a:rPr>
              <a:t> </a:t>
            </a:r>
            <a:r>
              <a:rPr lang="en-US" altLang="vi-VN" sz="2800" dirty="0" err="1">
                <a:solidFill>
                  <a:srgbClr val="0000CC"/>
                </a:solidFill>
              </a:rPr>
              <a:t>trình</a:t>
            </a:r>
            <a:r>
              <a:rPr lang="en-US" altLang="vi-VN" sz="2800" dirty="0">
                <a:solidFill>
                  <a:srgbClr val="0000CC"/>
                </a:solidFill>
              </a:rPr>
              <a:t> </a:t>
            </a:r>
            <a:r>
              <a:rPr lang="en-US" altLang="vi-VN" sz="2800" dirty="0" err="1">
                <a:solidFill>
                  <a:srgbClr val="0000CC"/>
                </a:solidFill>
              </a:rPr>
              <a:t>tạo</a:t>
            </a:r>
            <a:r>
              <a:rPr lang="en-US" altLang="vi-VN" sz="2800" dirty="0">
                <a:solidFill>
                  <a:srgbClr val="0000CC"/>
                </a:solidFill>
              </a:rPr>
              <a:t> </a:t>
            </a:r>
            <a:r>
              <a:rPr lang="en-US" altLang="vi-VN" sz="2800" dirty="0" err="1">
                <a:solidFill>
                  <a:srgbClr val="0000CC"/>
                </a:solidFill>
              </a:rPr>
              <a:t>một</a:t>
            </a:r>
            <a:r>
              <a:rPr lang="en-US" altLang="vi-VN" sz="2800" dirty="0">
                <a:solidFill>
                  <a:srgbClr val="0000CC"/>
                </a:solidFill>
              </a:rPr>
              <a:t> File Hanghoa.txt </a:t>
            </a:r>
            <a:r>
              <a:rPr lang="en-US" altLang="vi-VN" sz="2800" dirty="0" err="1">
                <a:solidFill>
                  <a:srgbClr val="0000CC"/>
                </a:solidFill>
              </a:rPr>
              <a:t>và</a:t>
            </a:r>
            <a:r>
              <a:rPr lang="en-US" altLang="vi-VN" sz="2800" dirty="0">
                <a:solidFill>
                  <a:srgbClr val="0000CC"/>
                </a:solidFill>
              </a:rPr>
              <a:t> </a:t>
            </a:r>
            <a:r>
              <a:rPr lang="en-US" altLang="vi-VN" sz="2800" dirty="0" err="1">
                <a:solidFill>
                  <a:srgbClr val="0000CC"/>
                </a:solidFill>
              </a:rPr>
              <a:t>cho</a:t>
            </a:r>
            <a:r>
              <a:rPr lang="en-US" altLang="vi-VN" sz="2800" dirty="0">
                <a:solidFill>
                  <a:srgbClr val="0000CC"/>
                </a:solidFill>
              </a:rPr>
              <a:t> </a:t>
            </a:r>
            <a:r>
              <a:rPr lang="en-US" altLang="vi-VN" sz="2800" dirty="0" err="1">
                <a:solidFill>
                  <a:srgbClr val="0000CC"/>
                </a:solidFill>
              </a:rPr>
              <a:t>phép</a:t>
            </a:r>
            <a:r>
              <a:rPr lang="en-US" altLang="vi-VN" sz="2800" dirty="0">
                <a:solidFill>
                  <a:srgbClr val="0000CC"/>
                </a:solidFill>
              </a:rPr>
              <a:t> </a:t>
            </a:r>
            <a:r>
              <a:rPr lang="en-US" altLang="vi-VN" sz="2800" dirty="0" err="1">
                <a:solidFill>
                  <a:srgbClr val="0000CC"/>
                </a:solidFill>
              </a:rPr>
              <a:t>nhập</a:t>
            </a:r>
            <a:r>
              <a:rPr lang="en-US" altLang="vi-VN" sz="2800" dirty="0">
                <a:solidFill>
                  <a:srgbClr val="0000CC"/>
                </a:solidFill>
              </a:rPr>
              <a:t> </a:t>
            </a:r>
            <a:r>
              <a:rPr lang="en-US" altLang="vi-VN" sz="2800" dirty="0" err="1">
                <a:solidFill>
                  <a:srgbClr val="0000CC"/>
                </a:solidFill>
              </a:rPr>
              <a:t>từ</a:t>
            </a:r>
            <a:r>
              <a:rPr lang="en-US" altLang="vi-VN" sz="2800" dirty="0">
                <a:solidFill>
                  <a:srgbClr val="0000CC"/>
                </a:solidFill>
              </a:rPr>
              <a:t> </a:t>
            </a:r>
            <a:r>
              <a:rPr lang="en-US" altLang="vi-VN" sz="2800" dirty="0" err="1">
                <a:solidFill>
                  <a:srgbClr val="0000CC"/>
                </a:solidFill>
              </a:rPr>
              <a:t>bàn</a:t>
            </a:r>
            <a:r>
              <a:rPr lang="en-US" altLang="vi-VN" sz="2800" dirty="0">
                <a:solidFill>
                  <a:srgbClr val="0000CC"/>
                </a:solidFill>
              </a:rPr>
              <a:t> </a:t>
            </a:r>
            <a:r>
              <a:rPr lang="en-US" altLang="vi-VN" sz="2800" dirty="0" err="1">
                <a:solidFill>
                  <a:srgbClr val="0000CC"/>
                </a:solidFill>
              </a:rPr>
              <a:t>phím</a:t>
            </a:r>
            <a:r>
              <a:rPr lang="en-US" altLang="vi-VN" sz="2800" dirty="0">
                <a:solidFill>
                  <a:srgbClr val="0000CC"/>
                </a:solidFill>
              </a:rPr>
              <a:t> </a:t>
            </a:r>
            <a:r>
              <a:rPr lang="en-US" altLang="vi-VN" sz="2800" dirty="0" err="1">
                <a:solidFill>
                  <a:srgbClr val="0000CC"/>
                </a:solidFill>
              </a:rPr>
              <a:t>các</a:t>
            </a:r>
            <a:r>
              <a:rPr lang="en-US" altLang="vi-VN" sz="2800" dirty="0">
                <a:solidFill>
                  <a:srgbClr val="0000CC"/>
                </a:solidFill>
              </a:rPr>
              <a:t> </a:t>
            </a:r>
            <a:r>
              <a:rPr lang="en-US" altLang="vi-VN" sz="2800" dirty="0" err="1">
                <a:solidFill>
                  <a:srgbClr val="0000CC"/>
                </a:solidFill>
              </a:rPr>
              <a:t>thông</a:t>
            </a:r>
            <a:r>
              <a:rPr lang="en-US" altLang="vi-VN" sz="2800" dirty="0">
                <a:solidFill>
                  <a:srgbClr val="0000CC"/>
                </a:solidFill>
              </a:rPr>
              <a:t> tin </a:t>
            </a:r>
            <a:r>
              <a:rPr lang="en-US" altLang="vi-VN" sz="2800" dirty="0" err="1">
                <a:solidFill>
                  <a:srgbClr val="0000CC"/>
                </a:solidFill>
              </a:rPr>
              <a:t>mã</a:t>
            </a:r>
            <a:r>
              <a:rPr lang="en-US" altLang="vi-VN" sz="2800" dirty="0">
                <a:solidFill>
                  <a:srgbClr val="0000CC"/>
                </a:solidFill>
              </a:rPr>
              <a:t> </a:t>
            </a:r>
            <a:r>
              <a:rPr lang="en-US" altLang="vi-VN" sz="2800" dirty="0" err="1">
                <a:solidFill>
                  <a:srgbClr val="0000CC"/>
                </a:solidFill>
              </a:rPr>
              <a:t>hàng</a:t>
            </a:r>
            <a:r>
              <a:rPr lang="en-US" altLang="vi-VN" sz="2800" dirty="0">
                <a:solidFill>
                  <a:srgbClr val="0000CC"/>
                </a:solidFill>
              </a:rPr>
              <a:t>, </a:t>
            </a:r>
            <a:r>
              <a:rPr lang="en-US" altLang="vi-VN" sz="2800" dirty="0" err="1">
                <a:solidFill>
                  <a:srgbClr val="0000CC"/>
                </a:solidFill>
              </a:rPr>
              <a:t>tên</a:t>
            </a:r>
            <a:r>
              <a:rPr lang="en-US" altLang="vi-VN" sz="2800" dirty="0">
                <a:solidFill>
                  <a:srgbClr val="0000CC"/>
                </a:solidFill>
              </a:rPr>
              <a:t> </a:t>
            </a:r>
            <a:r>
              <a:rPr lang="en-US" altLang="vi-VN" sz="2800" dirty="0" err="1">
                <a:solidFill>
                  <a:srgbClr val="0000CC"/>
                </a:solidFill>
              </a:rPr>
              <a:t>hàng</a:t>
            </a:r>
            <a:r>
              <a:rPr lang="en-US" altLang="vi-VN" sz="2800" dirty="0">
                <a:solidFill>
                  <a:srgbClr val="0000CC"/>
                </a:solidFill>
              </a:rPr>
              <a:t>, </a:t>
            </a:r>
            <a:r>
              <a:rPr lang="en-US" altLang="vi-VN" sz="2800" dirty="0" err="1">
                <a:solidFill>
                  <a:srgbClr val="0000CC"/>
                </a:solidFill>
              </a:rPr>
              <a:t>số</a:t>
            </a:r>
            <a:r>
              <a:rPr lang="en-US" altLang="vi-VN" sz="2800" dirty="0">
                <a:solidFill>
                  <a:srgbClr val="0000CC"/>
                </a:solidFill>
              </a:rPr>
              <a:t> </a:t>
            </a:r>
            <a:r>
              <a:rPr lang="en-US" altLang="vi-VN" sz="2800" dirty="0" err="1">
                <a:solidFill>
                  <a:srgbClr val="0000CC"/>
                </a:solidFill>
              </a:rPr>
              <a:t>lượng</a:t>
            </a:r>
            <a:r>
              <a:rPr lang="en-US" altLang="vi-VN" sz="2800" dirty="0">
                <a:solidFill>
                  <a:srgbClr val="0000CC"/>
                </a:solidFill>
              </a:rPr>
              <a:t>, </a:t>
            </a:r>
            <a:r>
              <a:rPr lang="en-US" altLang="vi-VN" sz="2800" dirty="0" err="1">
                <a:solidFill>
                  <a:srgbClr val="0000CC"/>
                </a:solidFill>
              </a:rPr>
              <a:t>đơn</a:t>
            </a:r>
            <a:r>
              <a:rPr lang="en-US" altLang="vi-VN" sz="2800" dirty="0">
                <a:solidFill>
                  <a:srgbClr val="0000CC"/>
                </a:solidFill>
              </a:rPr>
              <a:t> </a:t>
            </a:r>
            <a:r>
              <a:rPr lang="en-US" altLang="vi-VN" sz="2800" dirty="0" err="1">
                <a:solidFill>
                  <a:srgbClr val="0000CC"/>
                </a:solidFill>
              </a:rPr>
              <a:t>giá</a:t>
            </a:r>
            <a:r>
              <a:rPr lang="en-US" altLang="vi-VN" sz="2800" dirty="0">
                <a:solidFill>
                  <a:srgbClr val="0000CC"/>
                </a:solidFill>
              </a:rPr>
              <a:t> </a:t>
            </a:r>
            <a:r>
              <a:rPr lang="en-US" altLang="vi-VN" sz="2800" dirty="0" err="1">
                <a:solidFill>
                  <a:srgbClr val="0000CC"/>
                </a:solidFill>
              </a:rPr>
              <a:t>rồi</a:t>
            </a:r>
            <a:r>
              <a:rPr lang="en-US" altLang="vi-VN" sz="2800" dirty="0">
                <a:solidFill>
                  <a:srgbClr val="0000CC"/>
                </a:solidFill>
              </a:rPr>
              <a:t> </a:t>
            </a:r>
            <a:r>
              <a:rPr lang="en-US" altLang="vi-VN" sz="2800" dirty="0" err="1">
                <a:solidFill>
                  <a:srgbClr val="0000CC"/>
                </a:solidFill>
              </a:rPr>
              <a:t>lưu</a:t>
            </a:r>
            <a:r>
              <a:rPr lang="en-US" altLang="vi-VN" sz="2800" dirty="0">
                <a:solidFill>
                  <a:srgbClr val="0000CC"/>
                </a:solidFill>
              </a:rPr>
              <a:t> </a:t>
            </a:r>
            <a:r>
              <a:rPr lang="en-US" altLang="vi-VN" sz="2800" dirty="0" err="1">
                <a:solidFill>
                  <a:srgbClr val="0000CC"/>
                </a:solidFill>
              </a:rPr>
              <a:t>vào</a:t>
            </a:r>
            <a:r>
              <a:rPr lang="en-US" altLang="vi-VN" sz="2800" dirty="0">
                <a:solidFill>
                  <a:srgbClr val="0000CC"/>
                </a:solidFill>
              </a:rPr>
              <a:t> file. </a:t>
            </a:r>
            <a:r>
              <a:rPr lang="en-US" altLang="vi-VN" sz="2800" dirty="0" err="1">
                <a:solidFill>
                  <a:srgbClr val="0000CC"/>
                </a:solidFill>
              </a:rPr>
              <a:t>Có</a:t>
            </a:r>
            <a:r>
              <a:rPr lang="en-US" altLang="vi-VN" sz="2800" dirty="0">
                <a:solidFill>
                  <a:srgbClr val="0000CC"/>
                </a:solidFill>
              </a:rPr>
              <a:t> </a:t>
            </a:r>
            <a:r>
              <a:rPr lang="en-US" altLang="vi-VN" sz="2800" dirty="0" err="1">
                <a:solidFill>
                  <a:srgbClr val="0000CC"/>
                </a:solidFill>
              </a:rPr>
              <a:t>thể</a:t>
            </a:r>
            <a:r>
              <a:rPr lang="en-US" altLang="vi-VN" sz="2800" dirty="0">
                <a:solidFill>
                  <a:srgbClr val="0000CC"/>
                </a:solidFill>
              </a:rPr>
              <a:t> </a:t>
            </a:r>
            <a:r>
              <a:rPr lang="en-US" altLang="vi-VN" sz="2800" dirty="0" err="1">
                <a:solidFill>
                  <a:srgbClr val="0000CC"/>
                </a:solidFill>
              </a:rPr>
              <a:t>nhập</a:t>
            </a:r>
            <a:r>
              <a:rPr lang="en-US" altLang="vi-VN" sz="2800" dirty="0">
                <a:solidFill>
                  <a:srgbClr val="0000CC"/>
                </a:solidFill>
              </a:rPr>
              <a:t> </a:t>
            </a:r>
            <a:r>
              <a:rPr lang="en-US" altLang="vi-VN" sz="2800" dirty="0" err="1">
                <a:solidFill>
                  <a:srgbClr val="0000CC"/>
                </a:solidFill>
              </a:rPr>
              <a:t>bao</a:t>
            </a:r>
            <a:r>
              <a:rPr lang="en-US" altLang="vi-VN" sz="2800" dirty="0">
                <a:solidFill>
                  <a:srgbClr val="0000CC"/>
                </a:solidFill>
              </a:rPr>
              <a:t> </a:t>
            </a:r>
            <a:r>
              <a:rPr lang="en-US" altLang="vi-VN" sz="2800" dirty="0" err="1">
                <a:solidFill>
                  <a:srgbClr val="0000CC"/>
                </a:solidFill>
              </a:rPr>
              <a:t>nhiêu</a:t>
            </a:r>
            <a:r>
              <a:rPr lang="en-US" altLang="vi-VN" sz="2800" dirty="0">
                <a:solidFill>
                  <a:srgbClr val="0000CC"/>
                </a:solidFill>
              </a:rPr>
              <a:t> </a:t>
            </a:r>
            <a:r>
              <a:rPr lang="en-US" altLang="vi-VN" sz="2800" dirty="0" err="1">
                <a:solidFill>
                  <a:srgbClr val="0000CC"/>
                </a:solidFill>
              </a:rPr>
              <a:t>mặt</a:t>
            </a:r>
            <a:r>
              <a:rPr lang="en-US" altLang="vi-VN" sz="2800" dirty="0">
                <a:solidFill>
                  <a:srgbClr val="0000CC"/>
                </a:solidFill>
              </a:rPr>
              <a:t> </a:t>
            </a:r>
            <a:r>
              <a:rPr lang="en-US" altLang="vi-VN" sz="2800" dirty="0" err="1">
                <a:solidFill>
                  <a:srgbClr val="0000CC"/>
                </a:solidFill>
              </a:rPr>
              <a:t>hàng</a:t>
            </a:r>
            <a:r>
              <a:rPr lang="en-US" altLang="vi-VN" sz="2800" dirty="0">
                <a:solidFill>
                  <a:srgbClr val="0000CC"/>
                </a:solidFill>
              </a:rPr>
              <a:t> </a:t>
            </a:r>
            <a:r>
              <a:rPr lang="en-US" altLang="vi-VN" sz="2800" dirty="0" err="1">
                <a:solidFill>
                  <a:srgbClr val="0000CC"/>
                </a:solidFill>
              </a:rPr>
              <a:t>tùy</a:t>
            </a:r>
            <a:r>
              <a:rPr lang="en-US" altLang="vi-VN" sz="2800" dirty="0">
                <a:solidFill>
                  <a:srgbClr val="0000CC"/>
                </a:solidFill>
              </a:rPr>
              <a:t> ý, </a:t>
            </a:r>
            <a:r>
              <a:rPr lang="en-US" altLang="vi-VN" sz="2800" dirty="0" err="1">
                <a:solidFill>
                  <a:srgbClr val="0000CC"/>
                </a:solidFill>
              </a:rPr>
              <a:t>nhấn</a:t>
            </a:r>
            <a:r>
              <a:rPr lang="en-US" altLang="vi-VN" sz="2800" dirty="0">
                <a:solidFill>
                  <a:srgbClr val="0000CC"/>
                </a:solidFill>
              </a:rPr>
              <a:t> </a:t>
            </a:r>
            <a:r>
              <a:rPr lang="en-US" altLang="vi-VN" sz="2800" dirty="0" err="1">
                <a:solidFill>
                  <a:srgbClr val="0000CC"/>
                </a:solidFill>
              </a:rPr>
              <a:t>phím</a:t>
            </a:r>
            <a:r>
              <a:rPr lang="en-US" altLang="vi-VN" sz="2800" dirty="0">
                <a:solidFill>
                  <a:srgbClr val="0000CC"/>
                </a:solidFill>
              </a:rPr>
              <a:t> ECS </a:t>
            </a:r>
            <a:r>
              <a:rPr lang="en-US" altLang="vi-VN" sz="2800" dirty="0" err="1">
                <a:solidFill>
                  <a:srgbClr val="0000CC"/>
                </a:solidFill>
              </a:rPr>
              <a:t>để</a:t>
            </a:r>
            <a:r>
              <a:rPr lang="en-US" altLang="vi-VN" sz="2800" dirty="0">
                <a:solidFill>
                  <a:srgbClr val="0000CC"/>
                </a:solidFill>
              </a:rPr>
              <a:t> </a:t>
            </a:r>
            <a:r>
              <a:rPr lang="en-US" altLang="vi-VN" sz="2800" dirty="0" err="1">
                <a:solidFill>
                  <a:srgbClr val="0000CC"/>
                </a:solidFill>
              </a:rPr>
              <a:t>kết</a:t>
            </a:r>
            <a:r>
              <a:rPr lang="en-US" altLang="vi-VN" sz="2800" dirty="0">
                <a:solidFill>
                  <a:srgbClr val="0000CC"/>
                </a:solidFill>
              </a:rPr>
              <a:t> </a:t>
            </a:r>
            <a:r>
              <a:rPr lang="en-US" altLang="vi-VN" sz="2800" dirty="0" err="1">
                <a:solidFill>
                  <a:srgbClr val="0000CC"/>
                </a:solidFill>
              </a:rPr>
              <a:t>thúc</a:t>
            </a:r>
            <a:r>
              <a:rPr lang="en-US" altLang="vi-VN" sz="2800" dirty="0">
                <a:solidFill>
                  <a:srgbClr val="0000CC"/>
                </a:solidFill>
              </a:rPr>
              <a:t> </a:t>
            </a:r>
            <a:r>
              <a:rPr lang="en-US" altLang="vi-VN" sz="2800" dirty="0" err="1">
                <a:solidFill>
                  <a:srgbClr val="0000CC"/>
                </a:solidFill>
              </a:rPr>
              <a:t>nhập</a:t>
            </a:r>
            <a:r>
              <a:rPr lang="en-US" altLang="vi-VN" sz="2800" dirty="0">
                <a:solidFill>
                  <a:srgbClr val="0000CC"/>
                </a:solidFill>
              </a:rPr>
              <a:t>.</a:t>
            </a:r>
          </a:p>
          <a:p>
            <a:pPr marL="463550" lvl="1" indent="-6350" algn="just" defTabSz="114300">
              <a:lnSpc>
                <a:spcPct val="80000"/>
              </a:lnSpc>
            </a:pPr>
            <a:r>
              <a:rPr lang="en-US" altLang="vi-VN" sz="2400" dirty="0">
                <a:solidFill>
                  <a:srgbClr val="0000CC"/>
                </a:solidFill>
              </a:rPr>
              <a:t> </a:t>
            </a:r>
            <a:r>
              <a:rPr lang="en-US" altLang="vi-VN" sz="2400" dirty="0" err="1">
                <a:solidFill>
                  <a:srgbClr val="0000CC"/>
                </a:solidFill>
              </a:rPr>
              <a:t>Cột</a:t>
            </a:r>
            <a:r>
              <a:rPr lang="en-US" altLang="vi-VN" sz="2400" dirty="0">
                <a:solidFill>
                  <a:srgbClr val="0000CC"/>
                </a:solidFill>
              </a:rPr>
              <a:t> </a:t>
            </a:r>
            <a:r>
              <a:rPr lang="en-US" altLang="vi-VN" sz="2400" dirty="0" err="1">
                <a:solidFill>
                  <a:srgbClr val="0000CC"/>
                </a:solidFill>
              </a:rPr>
              <a:t>thứ</a:t>
            </a:r>
            <a:r>
              <a:rPr lang="en-US" altLang="vi-VN" sz="2400" dirty="0">
                <a:solidFill>
                  <a:srgbClr val="0000CC"/>
                </a:solidFill>
              </a:rPr>
              <a:t> 1 </a:t>
            </a:r>
            <a:r>
              <a:rPr lang="en-US" altLang="vi-VN" sz="2400" dirty="0" err="1">
                <a:solidFill>
                  <a:srgbClr val="0000CC"/>
                </a:solidFill>
              </a:rPr>
              <a:t>Mã</a:t>
            </a:r>
            <a:r>
              <a:rPr lang="en-US" altLang="vi-VN" sz="2400" dirty="0">
                <a:solidFill>
                  <a:srgbClr val="0000CC"/>
                </a:solidFill>
              </a:rPr>
              <a:t> </a:t>
            </a:r>
            <a:r>
              <a:rPr lang="en-US" altLang="vi-VN" sz="2400" dirty="0" err="1">
                <a:solidFill>
                  <a:srgbClr val="0000CC"/>
                </a:solidFill>
              </a:rPr>
              <a:t>hàng</a:t>
            </a:r>
            <a:endParaRPr lang="en-US" altLang="vi-VN" sz="2400" dirty="0">
              <a:solidFill>
                <a:srgbClr val="0000CC"/>
              </a:solidFill>
            </a:endParaRPr>
          </a:p>
          <a:p>
            <a:pPr marL="463550" lvl="1" indent="-6350" algn="just" defTabSz="114300">
              <a:lnSpc>
                <a:spcPct val="80000"/>
              </a:lnSpc>
            </a:pPr>
            <a:r>
              <a:rPr lang="en-US" altLang="vi-VN" sz="2400" dirty="0">
                <a:solidFill>
                  <a:srgbClr val="0000CC"/>
                </a:solidFill>
              </a:rPr>
              <a:t> </a:t>
            </a:r>
            <a:r>
              <a:rPr lang="en-US" altLang="vi-VN" sz="2400" dirty="0" err="1">
                <a:solidFill>
                  <a:srgbClr val="0000CC"/>
                </a:solidFill>
              </a:rPr>
              <a:t>Cột</a:t>
            </a:r>
            <a:r>
              <a:rPr lang="en-US" altLang="vi-VN" sz="2400" dirty="0">
                <a:solidFill>
                  <a:srgbClr val="0000CC"/>
                </a:solidFill>
              </a:rPr>
              <a:t> </a:t>
            </a:r>
            <a:r>
              <a:rPr lang="en-US" altLang="vi-VN" sz="2400" dirty="0" err="1">
                <a:solidFill>
                  <a:srgbClr val="0000CC"/>
                </a:solidFill>
              </a:rPr>
              <a:t>thứ</a:t>
            </a:r>
            <a:r>
              <a:rPr lang="en-US" altLang="vi-VN" sz="2400" dirty="0">
                <a:solidFill>
                  <a:srgbClr val="0000CC"/>
                </a:solidFill>
              </a:rPr>
              <a:t> 2 </a:t>
            </a:r>
            <a:r>
              <a:rPr lang="en-US" altLang="vi-VN" sz="2400" dirty="0" err="1">
                <a:solidFill>
                  <a:srgbClr val="0000CC"/>
                </a:solidFill>
              </a:rPr>
              <a:t>Tên</a:t>
            </a:r>
            <a:r>
              <a:rPr lang="en-US" altLang="vi-VN" sz="2400" dirty="0">
                <a:solidFill>
                  <a:srgbClr val="0000CC"/>
                </a:solidFill>
              </a:rPr>
              <a:t> </a:t>
            </a:r>
            <a:r>
              <a:rPr lang="en-US" altLang="vi-VN" sz="2400" dirty="0" err="1">
                <a:solidFill>
                  <a:srgbClr val="0000CC"/>
                </a:solidFill>
              </a:rPr>
              <a:t>hàng</a:t>
            </a:r>
            <a:endParaRPr lang="en-US" altLang="vi-VN" sz="2400" dirty="0">
              <a:solidFill>
                <a:srgbClr val="0000CC"/>
              </a:solidFill>
            </a:endParaRPr>
          </a:p>
          <a:p>
            <a:pPr marL="463550" lvl="1" indent="-6350" algn="just" defTabSz="114300">
              <a:lnSpc>
                <a:spcPct val="80000"/>
              </a:lnSpc>
            </a:pPr>
            <a:r>
              <a:rPr lang="en-US" altLang="vi-VN" sz="2400" dirty="0">
                <a:solidFill>
                  <a:srgbClr val="0000CC"/>
                </a:solidFill>
              </a:rPr>
              <a:t> </a:t>
            </a:r>
            <a:r>
              <a:rPr lang="en-US" altLang="vi-VN" sz="2400" dirty="0" err="1">
                <a:solidFill>
                  <a:srgbClr val="0000CC"/>
                </a:solidFill>
              </a:rPr>
              <a:t>Cột</a:t>
            </a:r>
            <a:r>
              <a:rPr lang="en-US" altLang="vi-VN" sz="2400" dirty="0">
                <a:solidFill>
                  <a:srgbClr val="0000CC"/>
                </a:solidFill>
              </a:rPr>
              <a:t> </a:t>
            </a:r>
            <a:r>
              <a:rPr lang="en-US" altLang="vi-VN" sz="2400" dirty="0" err="1">
                <a:solidFill>
                  <a:srgbClr val="0000CC"/>
                </a:solidFill>
              </a:rPr>
              <a:t>thứ</a:t>
            </a:r>
            <a:r>
              <a:rPr lang="en-US" altLang="vi-VN" sz="2400" dirty="0">
                <a:solidFill>
                  <a:srgbClr val="0000CC"/>
                </a:solidFill>
              </a:rPr>
              <a:t> 3 </a:t>
            </a:r>
            <a:r>
              <a:rPr lang="en-US" altLang="vi-VN" sz="2400" dirty="0" err="1">
                <a:solidFill>
                  <a:srgbClr val="0000CC"/>
                </a:solidFill>
              </a:rPr>
              <a:t>Số</a:t>
            </a:r>
            <a:r>
              <a:rPr lang="en-US" altLang="vi-VN" sz="2400" dirty="0">
                <a:solidFill>
                  <a:srgbClr val="0000CC"/>
                </a:solidFill>
              </a:rPr>
              <a:t> </a:t>
            </a:r>
            <a:r>
              <a:rPr lang="en-US" altLang="vi-VN" sz="2400" dirty="0" err="1">
                <a:solidFill>
                  <a:srgbClr val="0000CC"/>
                </a:solidFill>
              </a:rPr>
              <a:t>lượng</a:t>
            </a:r>
            <a:endParaRPr lang="en-US" altLang="vi-VN" sz="2400" dirty="0">
              <a:solidFill>
                <a:srgbClr val="0000CC"/>
              </a:solidFill>
            </a:endParaRPr>
          </a:p>
          <a:p>
            <a:pPr marL="463550" lvl="1" indent="-6350" algn="just" defTabSz="114300">
              <a:lnSpc>
                <a:spcPct val="80000"/>
              </a:lnSpc>
            </a:pPr>
            <a:r>
              <a:rPr lang="en-US" altLang="vi-VN" sz="2400" dirty="0">
                <a:solidFill>
                  <a:srgbClr val="0000CC"/>
                </a:solidFill>
              </a:rPr>
              <a:t> </a:t>
            </a:r>
            <a:r>
              <a:rPr lang="en-US" altLang="vi-VN" sz="2400" dirty="0" err="1">
                <a:solidFill>
                  <a:srgbClr val="0000CC"/>
                </a:solidFill>
              </a:rPr>
              <a:t>Cột</a:t>
            </a:r>
            <a:r>
              <a:rPr lang="en-US" altLang="vi-VN" sz="2400" dirty="0">
                <a:solidFill>
                  <a:srgbClr val="0000CC"/>
                </a:solidFill>
              </a:rPr>
              <a:t> </a:t>
            </a:r>
            <a:r>
              <a:rPr lang="en-US" altLang="vi-VN" sz="2400" dirty="0" err="1">
                <a:solidFill>
                  <a:srgbClr val="0000CC"/>
                </a:solidFill>
              </a:rPr>
              <a:t>thứ</a:t>
            </a:r>
            <a:r>
              <a:rPr lang="en-US" altLang="vi-VN" sz="2400" dirty="0">
                <a:solidFill>
                  <a:srgbClr val="0000CC"/>
                </a:solidFill>
              </a:rPr>
              <a:t> 4 </a:t>
            </a:r>
            <a:r>
              <a:rPr lang="en-US" altLang="vi-VN" sz="2400" dirty="0" err="1">
                <a:solidFill>
                  <a:srgbClr val="0000CC"/>
                </a:solidFill>
              </a:rPr>
              <a:t>Đơn</a:t>
            </a:r>
            <a:r>
              <a:rPr lang="en-US" altLang="vi-VN" sz="2400" dirty="0">
                <a:solidFill>
                  <a:srgbClr val="0000CC"/>
                </a:solidFill>
              </a:rPr>
              <a:t> </a:t>
            </a:r>
            <a:r>
              <a:rPr lang="en-US" altLang="vi-VN" sz="2400" dirty="0" err="1">
                <a:solidFill>
                  <a:srgbClr val="0000CC"/>
                </a:solidFill>
              </a:rPr>
              <a:t>giá</a:t>
            </a:r>
            <a:endParaRPr lang="en-US" altLang="vi-VN" sz="2400" dirty="0">
              <a:solidFill>
                <a:srgbClr val="0000CC"/>
              </a:solidFill>
            </a:endParaRPr>
          </a:p>
          <a:p>
            <a:pPr marL="463550" lvl="1" indent="-6350" algn="just" defTabSz="114300">
              <a:lnSpc>
                <a:spcPct val="80000"/>
              </a:lnSpc>
              <a:buFont typeface="Wingdings" panose="05000000000000000000" pitchFamily="2" charset="2"/>
              <a:buNone/>
            </a:pPr>
            <a:endParaRPr lang="en-US" altLang="vi-VN" sz="2400" dirty="0">
              <a:solidFill>
                <a:srgbClr val="0000CC"/>
              </a:solidFill>
              <a:sym typeface="Wingdings" panose="05000000000000000000" pitchFamily="2" charset="2"/>
            </a:endParaRPr>
          </a:p>
          <a:p>
            <a:pPr marL="463550" lvl="1" indent="-6350" algn="just" defTabSz="114300">
              <a:lnSpc>
                <a:spcPct val="80000"/>
              </a:lnSpc>
              <a:buFont typeface="Wingdings" panose="05000000000000000000" pitchFamily="2" charset="2"/>
              <a:buNone/>
            </a:pPr>
            <a:endParaRPr lang="en-US" altLang="vi-VN" sz="2400" dirty="0">
              <a:solidFill>
                <a:srgbClr val="0000CC"/>
              </a:solidFill>
              <a:sym typeface="Wingdings" panose="05000000000000000000" pitchFamily="2" charset="2"/>
            </a:endParaRPr>
          </a:p>
          <a:p>
            <a:pPr marL="463550" lvl="1" indent="-6350" algn="just" defTabSz="114300">
              <a:lnSpc>
                <a:spcPct val="80000"/>
              </a:lnSpc>
              <a:buFont typeface="Wingdings" panose="05000000000000000000" pitchFamily="2" charset="2"/>
              <a:buNone/>
            </a:pPr>
            <a:endParaRPr lang="en-US" altLang="vi-VN" sz="2400" dirty="0">
              <a:solidFill>
                <a:srgbClr val="0000CC"/>
              </a:solidFill>
              <a:sym typeface="Wingdings" panose="05000000000000000000" pitchFamily="2" charset="2"/>
            </a:endParaRPr>
          </a:p>
          <a:p>
            <a:pPr marL="463550" lvl="1" indent="-6350" algn="just" defTabSz="114300">
              <a:lnSpc>
                <a:spcPct val="80000"/>
              </a:lnSpc>
              <a:buFont typeface="Wingdings" panose="05000000000000000000" pitchFamily="2" charset="2"/>
              <a:buNone/>
            </a:pP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Khi</a:t>
            </a: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lưu</a:t>
            </a: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vào</a:t>
            </a:r>
            <a:r>
              <a:rPr lang="en-US" altLang="vi-VN" sz="2400" dirty="0">
                <a:solidFill>
                  <a:srgbClr val="0000CC"/>
                </a:solidFill>
                <a:sym typeface="Wingdings" panose="05000000000000000000" pitchFamily="2" charset="2"/>
              </a:rPr>
              <a:t> file </a:t>
            </a:r>
            <a:r>
              <a:rPr lang="en-US" altLang="vi-VN" sz="2400" dirty="0" err="1">
                <a:solidFill>
                  <a:srgbClr val="0000CC"/>
                </a:solidFill>
                <a:sym typeface="Wingdings" panose="05000000000000000000" pitchFamily="2" charset="2"/>
              </a:rPr>
              <a:t>mỗi</a:t>
            </a: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cột</a:t>
            </a: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cách</a:t>
            </a:r>
            <a:r>
              <a:rPr lang="en-US" altLang="vi-VN" sz="2400" dirty="0">
                <a:solidFill>
                  <a:srgbClr val="0000CC"/>
                </a:solidFill>
                <a:sym typeface="Wingdings" panose="05000000000000000000" pitchFamily="2" charset="2"/>
              </a:rPr>
              <a:t> </a:t>
            </a:r>
            <a:r>
              <a:rPr lang="en-US" altLang="vi-VN" sz="2400" dirty="0" err="1">
                <a:solidFill>
                  <a:srgbClr val="0000CC"/>
                </a:solidFill>
                <a:sym typeface="Wingdings" panose="05000000000000000000" pitchFamily="2" charset="2"/>
              </a:rPr>
              <a:t>nhau</a:t>
            </a:r>
            <a:r>
              <a:rPr lang="en-US" altLang="vi-VN" sz="2400" dirty="0">
                <a:solidFill>
                  <a:srgbClr val="0000CC"/>
                </a:solidFill>
                <a:sym typeface="Wingdings" panose="05000000000000000000" pitchFamily="2" charset="2"/>
              </a:rPr>
              <a:t> 1 Tab</a:t>
            </a:r>
            <a:endParaRPr lang="en-US" altLang="vi-VN" sz="2400" dirty="0">
              <a:solidFill>
                <a:srgbClr val="0000CC"/>
              </a:solidFill>
            </a:endParaRPr>
          </a:p>
        </p:txBody>
      </p:sp>
      <p:pic>
        <p:nvPicPr>
          <p:cNvPr id="3687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850" y="2547258"/>
            <a:ext cx="4724400" cy="211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7685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E9F4CCA-D02F-4D35-8586-99E5FF72ECEC}" type="slidenum">
              <a:rPr lang="en-US" altLang="vi-VN">
                <a:solidFill>
                  <a:srgbClr val="FFFF00"/>
                </a:solidFill>
              </a:rPr>
              <a:pPr eaLnBrk="1" hangingPunct="1"/>
              <a:t>35</a:t>
            </a:fld>
            <a:endParaRPr lang="en-GB" altLang="vi-VN">
              <a:solidFill>
                <a:srgbClr val="FFFF00"/>
              </a:solidFill>
            </a:endParaRPr>
          </a:p>
        </p:txBody>
      </p:sp>
      <p:sp>
        <p:nvSpPr>
          <p:cNvPr id="37892" name="Rectangle 2"/>
          <p:cNvSpPr>
            <a:spLocks noChangeArrowheads="1"/>
          </p:cNvSpPr>
          <p:nvPr/>
        </p:nvSpPr>
        <p:spPr bwMode="auto">
          <a:xfrm>
            <a:off x="0" y="0"/>
            <a:ext cx="9144000" cy="64484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vi-VN" altLang="vi-VN" sz="1600" noProof="1"/>
              <a:t>#include &lt;stdio.h&gt;</a:t>
            </a:r>
          </a:p>
          <a:p>
            <a:pPr algn="l" eaLnBrk="1" hangingPunct="1"/>
            <a:r>
              <a:rPr lang="vi-VN" altLang="vi-VN" sz="1600" noProof="1"/>
              <a:t>#include &lt;conio.h&gt;</a:t>
            </a:r>
          </a:p>
          <a:p>
            <a:pPr algn="l" eaLnBrk="1" hangingPunct="1"/>
            <a:r>
              <a:rPr lang="vi-VN" altLang="vi-VN" sz="1600" noProof="1"/>
              <a:t>#define ESC '\x1b'</a:t>
            </a:r>
          </a:p>
          <a:p>
            <a:pPr algn="l" eaLnBrk="1" hangingPunct="1"/>
            <a:r>
              <a:rPr lang="vi-VN" altLang="vi-VN" sz="1600" noProof="1"/>
              <a:t>void main()</a:t>
            </a:r>
          </a:p>
          <a:p>
            <a:pPr algn="l" eaLnBrk="1" hangingPunct="1"/>
            <a:r>
              <a:rPr lang="vi-VN" altLang="vi-VN" sz="1600" noProof="1"/>
              <a:t>{	FILE *f;</a:t>
            </a:r>
          </a:p>
          <a:p>
            <a:pPr algn="l" eaLnBrk="1" hangingPunct="1"/>
            <a:r>
              <a:rPr lang="vi-VN" altLang="vi-VN" sz="1600" noProof="1"/>
              <a:t>	char Mahang[5]</a:t>
            </a:r>
            <a:r>
              <a:rPr lang="en-US" altLang="vi-VN" sz="1600"/>
              <a:t>,</a:t>
            </a:r>
            <a:r>
              <a:rPr lang="en-US" altLang="vi-VN" sz="1600" noProof="1"/>
              <a:t> Tenhang[20];</a:t>
            </a:r>
          </a:p>
          <a:p>
            <a:pPr algn="l" eaLnBrk="1" hangingPunct="1"/>
            <a:r>
              <a:rPr lang="en-US" altLang="vi-VN" sz="1600" noProof="1"/>
              <a:t>	int Soluong;</a:t>
            </a:r>
            <a:r>
              <a:rPr lang="en-US" altLang="vi-VN" sz="1600"/>
              <a:t> </a:t>
            </a:r>
            <a:r>
              <a:rPr lang="en-US" altLang="vi-VN" sz="1600" noProof="1"/>
              <a:t>float Dongia;</a:t>
            </a:r>
          </a:p>
          <a:p>
            <a:pPr algn="l" eaLnBrk="1" hangingPunct="1"/>
            <a:r>
              <a:rPr lang="en-US" altLang="vi-VN" sz="1600" noProof="1"/>
              <a:t>	char ch;</a:t>
            </a:r>
          </a:p>
          <a:p>
            <a:pPr algn="l" eaLnBrk="1" hangingPunct="1"/>
            <a:r>
              <a:rPr lang="en-US" altLang="vi-VN" sz="1600" noProof="1"/>
              <a:t>	f = fopen("H:\\Hanghoa.txt","wt");</a:t>
            </a:r>
          </a:p>
          <a:p>
            <a:pPr algn="l" eaLnBrk="1" hangingPunct="1"/>
            <a:r>
              <a:rPr lang="en-US" altLang="vi-VN" sz="1600" noProof="1"/>
              <a:t>	if(f==NULL)</a:t>
            </a:r>
          </a:p>
          <a:p>
            <a:pPr algn="l" eaLnBrk="1" hangingPunct="1"/>
            <a:r>
              <a:rPr lang="en-US" altLang="vi-VN" sz="1600" noProof="1"/>
              <a:t>		printf("Khong tao duoc file");</a:t>
            </a:r>
          </a:p>
          <a:p>
            <a:pPr algn="l" eaLnBrk="1" hangingPunct="1"/>
            <a:r>
              <a:rPr lang="en-US" altLang="vi-VN" sz="1600" noProof="1"/>
              <a:t>	else</a:t>
            </a:r>
          </a:p>
          <a:p>
            <a:pPr algn="l" eaLnBrk="1" hangingPunct="1"/>
            <a:r>
              <a:rPr lang="en-US" altLang="vi-VN" sz="1600" noProof="1"/>
              <a:t>	{</a:t>
            </a:r>
            <a:r>
              <a:rPr lang="en-US" altLang="vi-VN" sz="1600"/>
              <a:t>	</a:t>
            </a:r>
            <a:r>
              <a:rPr lang="en-US" altLang="vi-VN" sz="1600" noProof="1"/>
              <a:t>do</a:t>
            </a:r>
          </a:p>
          <a:p>
            <a:pPr algn="l" eaLnBrk="1" hangingPunct="1"/>
            <a:r>
              <a:rPr lang="en-US" altLang="vi-VN" sz="1600" noProof="1"/>
              <a:t>		{</a:t>
            </a:r>
          </a:p>
          <a:p>
            <a:pPr algn="l" eaLnBrk="1" hangingPunct="1"/>
            <a:r>
              <a:rPr lang="en-US" altLang="vi-VN" sz="1600" noProof="1"/>
              <a:t>			printf("Ma hang:");</a:t>
            </a:r>
            <a:r>
              <a:rPr lang="en-US" altLang="vi-VN" sz="1600"/>
              <a:t>scanf</a:t>
            </a:r>
            <a:r>
              <a:rPr lang="en-US" altLang="vi-VN" sz="1600" noProof="1"/>
              <a:t>(</a:t>
            </a:r>
            <a:r>
              <a:rPr lang="en-US" altLang="vi-VN" sz="1600"/>
              <a:t>“%s”,&amp;</a:t>
            </a:r>
            <a:r>
              <a:rPr lang="en-US" altLang="vi-VN" sz="1600" noProof="1"/>
              <a:t>Mahang);</a:t>
            </a:r>
            <a:r>
              <a:rPr lang="en-US" altLang="vi-VN" sz="1600"/>
              <a:t> </a:t>
            </a:r>
            <a:r>
              <a:rPr lang="en-US" altLang="vi-VN" sz="1600" noProof="1">
                <a:solidFill>
                  <a:srgbClr val="FF0000"/>
                </a:solidFill>
              </a:rPr>
              <a:t>fprintf(f,"%s\t",Mahang);</a:t>
            </a:r>
          </a:p>
          <a:p>
            <a:pPr algn="l" eaLnBrk="1" hangingPunct="1"/>
            <a:r>
              <a:rPr lang="en-US" altLang="vi-VN" sz="1600" noProof="1"/>
              <a:t>			printf("Ten hang:");</a:t>
            </a:r>
            <a:r>
              <a:rPr lang="en-US" altLang="vi-VN" sz="1600"/>
              <a:t>scanf</a:t>
            </a:r>
            <a:r>
              <a:rPr lang="en-US" altLang="vi-VN" sz="1600" noProof="1"/>
              <a:t>(</a:t>
            </a:r>
            <a:r>
              <a:rPr lang="en-US" altLang="vi-VN" sz="1600"/>
              <a:t>“%s”,&amp;</a:t>
            </a:r>
            <a:r>
              <a:rPr lang="en-US" altLang="vi-VN" sz="1600" noProof="1"/>
              <a:t>Tenhang);</a:t>
            </a:r>
            <a:r>
              <a:rPr lang="en-US" altLang="vi-VN" sz="1600"/>
              <a:t> </a:t>
            </a:r>
            <a:r>
              <a:rPr lang="en-US" altLang="vi-VN" sz="1600" noProof="1">
                <a:solidFill>
                  <a:srgbClr val="FF0000"/>
                </a:solidFill>
              </a:rPr>
              <a:t>fprintf(f,"%s\t",Tenhang</a:t>
            </a:r>
            <a:r>
              <a:rPr lang="en-US" altLang="vi-VN" sz="1600" noProof="1"/>
              <a:t>);</a:t>
            </a:r>
          </a:p>
          <a:p>
            <a:pPr algn="l" eaLnBrk="1" hangingPunct="1"/>
            <a:r>
              <a:rPr lang="en-US" altLang="vi-VN" sz="1600" noProof="1"/>
              <a:t>			fflush(stdin); //Tránh bị trôi</a:t>
            </a:r>
            <a:r>
              <a:rPr lang="en-US" altLang="vi-VN" sz="1600"/>
              <a:t> khi nhập</a:t>
            </a:r>
            <a:endParaRPr lang="en-US" altLang="vi-VN" sz="1600" noProof="1"/>
          </a:p>
          <a:p>
            <a:pPr algn="l" eaLnBrk="1" hangingPunct="1"/>
            <a:r>
              <a:rPr lang="en-US" altLang="vi-VN" sz="1600" noProof="1"/>
              <a:t>			printf("So luong:");scanf("%d",&amp;Soluong);</a:t>
            </a:r>
            <a:r>
              <a:rPr lang="en-US" altLang="vi-VN" sz="1600"/>
              <a:t> </a:t>
            </a:r>
            <a:r>
              <a:rPr lang="en-US" altLang="vi-VN" sz="1600" noProof="1">
                <a:solidFill>
                  <a:srgbClr val="FF0000"/>
                </a:solidFill>
              </a:rPr>
              <a:t>fprintf(f,"%d\t",Soluong);</a:t>
            </a:r>
          </a:p>
          <a:p>
            <a:pPr algn="l" eaLnBrk="1" hangingPunct="1"/>
            <a:r>
              <a:rPr lang="en-US" altLang="vi-VN" sz="1600" noProof="1"/>
              <a:t>			printf("Don gia:");scanf("%f",&amp;Dongia);</a:t>
            </a:r>
            <a:r>
              <a:rPr lang="en-US" altLang="vi-VN" sz="1600"/>
              <a:t> </a:t>
            </a:r>
            <a:r>
              <a:rPr lang="en-US" altLang="vi-VN" sz="1600" noProof="1">
                <a:solidFill>
                  <a:srgbClr val="FF0000"/>
                </a:solidFill>
              </a:rPr>
              <a:t>fprintf(f,"%.2f\n",Dongia);</a:t>
            </a:r>
          </a:p>
          <a:p>
            <a:pPr algn="l" eaLnBrk="1" hangingPunct="1"/>
            <a:r>
              <a:rPr lang="en-US" altLang="vi-VN" sz="1600" noProof="1"/>
              <a:t>			ch = getch();</a:t>
            </a:r>
          </a:p>
          <a:p>
            <a:pPr algn="l" eaLnBrk="1" hangingPunct="1"/>
            <a:r>
              <a:rPr lang="en-US" altLang="vi-VN" sz="1600" noProof="1"/>
              <a:t>			fflush(stdin); //Tránh bị trôi</a:t>
            </a:r>
            <a:r>
              <a:rPr lang="en-US" altLang="vi-VN" sz="1600"/>
              <a:t> khi tiếp tục nhập</a:t>
            </a:r>
            <a:endParaRPr lang="en-US" altLang="vi-VN" sz="1600" noProof="1"/>
          </a:p>
          <a:p>
            <a:pPr algn="l" eaLnBrk="1" hangingPunct="1"/>
            <a:r>
              <a:rPr lang="en-US" altLang="vi-VN" sz="1600" noProof="1"/>
              <a:t>		}</a:t>
            </a:r>
          </a:p>
          <a:p>
            <a:pPr algn="l" eaLnBrk="1" hangingPunct="1"/>
            <a:r>
              <a:rPr lang="en-US" altLang="vi-VN" sz="1600" noProof="1"/>
              <a:t>		while (ch!=ESC);	</a:t>
            </a:r>
          </a:p>
          <a:p>
            <a:pPr algn="l" eaLnBrk="1" hangingPunct="1"/>
            <a:r>
              <a:rPr lang="en-US" altLang="vi-VN" sz="1600" noProof="1"/>
              <a:t>		fclose(f);</a:t>
            </a:r>
          </a:p>
          <a:p>
            <a:pPr algn="l" eaLnBrk="1" hangingPunct="1"/>
            <a:r>
              <a:rPr lang="en-US" altLang="vi-VN" sz="1600" noProof="1"/>
              <a:t>	}</a:t>
            </a:r>
          </a:p>
          <a:p>
            <a:pPr algn="l" eaLnBrk="1" hangingPunct="1"/>
            <a:r>
              <a:rPr lang="en-US" altLang="vi-VN" sz="1600" noProof="1"/>
              <a:t>}</a:t>
            </a:r>
            <a:endParaRPr lang="en-US" altLang="vi-VN" sz="1600"/>
          </a:p>
        </p:txBody>
      </p:sp>
    </p:spTree>
    <p:extLst>
      <p:ext uri="{BB962C8B-B14F-4D97-AF65-F5344CB8AC3E}">
        <p14:creationId xmlns:p14="http://schemas.microsoft.com/office/powerpoint/2010/main" val="2242798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17"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A2BCB8-628D-4BB5-83E3-0DB167A0845F}" type="slidenum">
              <a:rPr lang="en-US" altLang="vi-VN">
                <a:solidFill>
                  <a:srgbClr val="FFFF00"/>
                </a:solidFill>
              </a:rPr>
              <a:pPr eaLnBrk="1" hangingPunct="1"/>
              <a:t>36</a:t>
            </a:fld>
            <a:endParaRPr lang="en-GB" altLang="vi-VN">
              <a:solidFill>
                <a:srgbClr val="FFFF00"/>
              </a:solidFill>
            </a:endParaRPr>
          </a:p>
        </p:txBody>
      </p:sp>
      <p:sp>
        <p:nvSpPr>
          <p:cNvPr id="38916" name="Rectangle 3"/>
          <p:cNvSpPr>
            <a:spLocks noGrp="1" noChangeArrowheads="1"/>
          </p:cNvSpPr>
          <p:nvPr>
            <p:ph type="body" idx="1"/>
          </p:nvPr>
        </p:nvSpPr>
        <p:spPr>
          <a:xfrm>
            <a:off x="381000" y="1233488"/>
            <a:ext cx="8305800" cy="2195512"/>
          </a:xfrm>
        </p:spPr>
        <p:txBody>
          <a:bodyPr/>
          <a:lstStyle/>
          <a:p>
            <a:pPr>
              <a:lnSpc>
                <a:spcPct val="80000"/>
              </a:lnSpc>
            </a:pPr>
            <a:r>
              <a:rPr lang="en-US" altLang="vi-VN" sz="2800">
                <a:solidFill>
                  <a:srgbClr val="0000CC"/>
                </a:solidFill>
              </a:rPr>
              <a:t>Từ File Hanghoa.txt chứa danh sách hàng hóa như bài 1. Hãy tính tổng giá trị của tất cả các mặt hàng có trong file (Giá trị = Số lượng * đơn giá). Xuất giá trị đó ra file Giatri.txt.</a:t>
            </a:r>
          </a:p>
        </p:txBody>
      </p:sp>
      <p:sp>
        <p:nvSpPr>
          <p:cNvPr id="772102" name="Rectangle 6"/>
          <p:cNvSpPr>
            <a:spLocks noGrp="1"/>
          </p:cNvSpPr>
          <p:nvPr>
            <p:ph type="title"/>
          </p:nvPr>
        </p:nvSpPr>
        <p:spPr>
          <a:xfrm>
            <a:off x="1807028" y="365126"/>
            <a:ext cx="6708321" cy="708023"/>
          </a:xfrm>
        </p:spPr>
        <p:txBody>
          <a:bodyPr>
            <a:normAutofit fontScale="90000"/>
          </a:bodyPr>
          <a:lstStyle/>
          <a:p>
            <a:pPr>
              <a:defRPr/>
            </a:pPr>
            <a:r>
              <a:rPr lang="en-US" sz="2800" b="1" dirty="0" err="1"/>
              <a:t>Bài</a:t>
            </a:r>
            <a:r>
              <a:rPr lang="en-US" sz="2800" b="1" dirty="0"/>
              <a:t> 2: </a:t>
            </a:r>
            <a:r>
              <a:rPr lang="en-US" sz="2800" b="1" dirty="0" err="1"/>
              <a:t>Mở</a:t>
            </a:r>
            <a:r>
              <a:rPr lang="en-US" sz="2800" b="1" dirty="0"/>
              <a:t> file, </a:t>
            </a:r>
            <a:r>
              <a:rPr lang="en-US" sz="2800" b="1" dirty="0" err="1"/>
              <a:t>đọc</a:t>
            </a:r>
            <a:r>
              <a:rPr lang="en-US" sz="2800" b="1" dirty="0"/>
              <a:t> </a:t>
            </a:r>
            <a:r>
              <a:rPr lang="en-US" sz="2800" b="1" dirty="0" err="1"/>
              <a:t>các</a:t>
            </a:r>
            <a:r>
              <a:rPr lang="en-US" sz="2800" b="1" dirty="0"/>
              <a:t> </a:t>
            </a:r>
            <a:r>
              <a:rPr lang="en-US" sz="2800" b="1" dirty="0" err="1"/>
              <a:t>giá</a:t>
            </a:r>
            <a:r>
              <a:rPr lang="en-US" sz="2800" b="1" dirty="0"/>
              <a:t> </a:t>
            </a:r>
            <a:r>
              <a:rPr lang="en-US" sz="2800" b="1" dirty="0" err="1"/>
              <a:t>trị</a:t>
            </a:r>
            <a:r>
              <a:rPr lang="en-US" sz="2800" b="1" dirty="0"/>
              <a:t>, </a:t>
            </a:r>
            <a:r>
              <a:rPr lang="en-US" sz="2800" b="1" dirty="0" err="1"/>
              <a:t>tính</a:t>
            </a:r>
            <a:r>
              <a:rPr lang="en-US" sz="2800" b="1" dirty="0"/>
              <a:t> </a:t>
            </a:r>
            <a:r>
              <a:rPr lang="en-US" sz="2800" b="1" dirty="0" err="1"/>
              <a:t>toán</a:t>
            </a:r>
            <a:r>
              <a:rPr lang="en-US" sz="2800" b="1" dirty="0"/>
              <a:t>, </a:t>
            </a:r>
            <a:r>
              <a:rPr lang="en-US" sz="2800" b="1" dirty="0" err="1"/>
              <a:t>lưu</a:t>
            </a:r>
            <a:r>
              <a:rPr lang="en-US" sz="2800" b="1" dirty="0"/>
              <a:t> </a:t>
            </a:r>
            <a:r>
              <a:rPr lang="en-US" sz="2800" b="1" dirty="0" err="1"/>
              <a:t>kết</a:t>
            </a:r>
            <a:r>
              <a:rPr lang="en-US" sz="2800" b="1" dirty="0"/>
              <a:t> </a:t>
            </a:r>
            <a:r>
              <a:rPr lang="en-US" sz="2800" b="1" dirty="0" err="1"/>
              <a:t>quả</a:t>
            </a:r>
            <a:r>
              <a:rPr lang="en-US" sz="2800" b="1" dirty="0"/>
              <a:t> </a:t>
            </a:r>
            <a:r>
              <a:rPr lang="en-US" sz="2800" b="1" dirty="0" err="1"/>
              <a:t>vào</a:t>
            </a:r>
            <a:r>
              <a:rPr lang="en-US" sz="2800" b="1" dirty="0"/>
              <a:t> file </a:t>
            </a:r>
            <a:r>
              <a:rPr lang="en-US" sz="2800" b="1" dirty="0" err="1"/>
              <a:t>khác</a:t>
            </a:r>
            <a:r>
              <a:rPr lang="en-US" sz="2800" b="1" dirty="0"/>
              <a:t>. </a:t>
            </a:r>
          </a:p>
        </p:txBody>
      </p:sp>
      <p:sp>
        <p:nvSpPr>
          <p:cNvPr id="772107" name="AutoShape 11"/>
          <p:cNvSpPr>
            <a:spLocks noChangeArrowheads="1"/>
          </p:cNvSpPr>
          <p:nvPr/>
        </p:nvSpPr>
        <p:spPr bwMode="auto">
          <a:xfrm>
            <a:off x="1219200" y="327660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Input</a:t>
            </a:r>
          </a:p>
        </p:txBody>
      </p:sp>
      <p:sp>
        <p:nvSpPr>
          <p:cNvPr id="772108" name="AutoShape 12"/>
          <p:cNvSpPr>
            <a:spLocks noChangeArrowheads="1"/>
          </p:cNvSpPr>
          <p:nvPr/>
        </p:nvSpPr>
        <p:spPr bwMode="auto">
          <a:xfrm>
            <a:off x="6248400" y="3257550"/>
            <a:ext cx="1905000" cy="914400"/>
          </a:xfrm>
          <a:prstGeom prst="flowChartAlternateProcess">
            <a:avLst/>
          </a:prstGeom>
          <a:gradFill rotWithShape="1">
            <a:gsLst>
              <a:gs pos="0">
                <a:srgbClr val="0000CC"/>
              </a:gs>
              <a:gs pos="50000">
                <a:schemeClr val="bg1"/>
              </a:gs>
              <a:gs pos="100000">
                <a:srgbClr val="0000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Output</a:t>
            </a:r>
          </a:p>
        </p:txBody>
      </p:sp>
      <p:sp>
        <p:nvSpPr>
          <p:cNvPr id="772109" name="AutoShape 13"/>
          <p:cNvSpPr>
            <a:spLocks noChangeArrowheads="1"/>
          </p:cNvSpPr>
          <p:nvPr/>
        </p:nvSpPr>
        <p:spPr bwMode="auto">
          <a:xfrm>
            <a:off x="3733800" y="2895600"/>
            <a:ext cx="1905000" cy="1676400"/>
          </a:xfrm>
          <a:prstGeom prst="flowChartAlternateProcess">
            <a:avLst/>
          </a:prstGeom>
          <a:gradFill rotWithShape="1">
            <a:gsLst>
              <a:gs pos="0">
                <a:srgbClr val="990000"/>
              </a:gs>
              <a:gs pos="50000">
                <a:schemeClr val="bg1"/>
              </a:gs>
              <a:gs pos="100000">
                <a:srgbClr val="9900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b="1">
                <a:latin typeface="Arial" charset="0"/>
                <a:cs typeface="Arial" charset="0"/>
              </a:rPr>
              <a:t>Processing</a:t>
            </a:r>
          </a:p>
        </p:txBody>
      </p:sp>
      <p:sp>
        <p:nvSpPr>
          <p:cNvPr id="38921" name="Line 14"/>
          <p:cNvSpPr>
            <a:spLocks noChangeShapeType="1"/>
          </p:cNvSpPr>
          <p:nvPr/>
        </p:nvSpPr>
        <p:spPr bwMode="auto">
          <a:xfrm>
            <a:off x="3124200" y="3733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22" name="Line 15"/>
          <p:cNvSpPr>
            <a:spLocks noChangeShapeType="1"/>
          </p:cNvSpPr>
          <p:nvPr/>
        </p:nvSpPr>
        <p:spPr bwMode="auto">
          <a:xfrm>
            <a:off x="5638800" y="3733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23" name="Line 16"/>
          <p:cNvSpPr>
            <a:spLocks noChangeShapeType="1"/>
          </p:cNvSpPr>
          <p:nvPr/>
        </p:nvSpPr>
        <p:spPr bwMode="auto">
          <a:xfrm>
            <a:off x="3124200" y="37338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24" name="Line 17"/>
          <p:cNvSpPr>
            <a:spLocks noChangeShapeType="1"/>
          </p:cNvSpPr>
          <p:nvPr/>
        </p:nvSpPr>
        <p:spPr bwMode="auto">
          <a:xfrm>
            <a:off x="5638800" y="3733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25" name="Line 18"/>
          <p:cNvSpPr>
            <a:spLocks noChangeShapeType="1"/>
          </p:cNvSpPr>
          <p:nvPr/>
        </p:nvSpPr>
        <p:spPr bwMode="auto">
          <a:xfrm>
            <a:off x="3124200" y="3733800"/>
            <a:ext cx="609600" cy="0"/>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pic>
        <p:nvPicPr>
          <p:cNvPr id="38926"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724400"/>
            <a:ext cx="281940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4953000"/>
            <a:ext cx="2133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28" name="Line 27"/>
          <p:cNvSpPr>
            <a:spLocks noChangeShapeType="1"/>
          </p:cNvSpPr>
          <p:nvPr/>
        </p:nvSpPr>
        <p:spPr bwMode="auto">
          <a:xfrm flipH="1">
            <a:off x="1676400" y="41910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29" name="Line 28"/>
          <p:cNvSpPr>
            <a:spLocks noChangeShapeType="1"/>
          </p:cNvSpPr>
          <p:nvPr/>
        </p:nvSpPr>
        <p:spPr bwMode="auto">
          <a:xfrm>
            <a:off x="7391400" y="41910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Tree>
    <p:extLst>
      <p:ext uri="{BB962C8B-B14F-4D97-AF65-F5344CB8AC3E}">
        <p14:creationId xmlns:p14="http://schemas.microsoft.com/office/powerpoint/2010/main" val="3134852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4"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906653-4BF1-47A0-BB07-D4130C14CCD3}" type="slidenum">
              <a:rPr lang="en-US" altLang="vi-VN">
                <a:solidFill>
                  <a:srgbClr val="FFFF00"/>
                </a:solidFill>
              </a:rPr>
              <a:pPr eaLnBrk="1" hangingPunct="1"/>
              <a:t>37</a:t>
            </a:fld>
            <a:endParaRPr lang="en-GB" altLang="vi-VN">
              <a:solidFill>
                <a:srgbClr val="FFFF00"/>
              </a:solidFill>
            </a:endParaRPr>
          </a:p>
        </p:txBody>
      </p:sp>
      <p:sp>
        <p:nvSpPr>
          <p:cNvPr id="39940" name="Rectangle 2"/>
          <p:cNvSpPr>
            <a:spLocks noChangeArrowheads="1"/>
          </p:cNvSpPr>
          <p:nvPr/>
        </p:nvSpPr>
        <p:spPr bwMode="auto">
          <a:xfrm>
            <a:off x="0" y="0"/>
            <a:ext cx="9144000" cy="64484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vi-VN" altLang="vi-VN" sz="1600" noProof="1"/>
              <a:t>#include &lt;stdio.h&gt;</a:t>
            </a:r>
          </a:p>
          <a:p>
            <a:pPr algn="l" eaLnBrk="1" hangingPunct="1"/>
            <a:r>
              <a:rPr lang="vi-VN" altLang="vi-VN" sz="1600" noProof="1"/>
              <a:t>#include &lt;conio.h&gt;</a:t>
            </a:r>
          </a:p>
          <a:p>
            <a:pPr algn="l" eaLnBrk="1" hangingPunct="1"/>
            <a:r>
              <a:rPr lang="vi-VN" altLang="vi-VN" sz="1600" noProof="1"/>
              <a:t>void main()</a:t>
            </a:r>
          </a:p>
          <a:p>
            <a:pPr algn="l" eaLnBrk="1" hangingPunct="1"/>
            <a:r>
              <a:rPr lang="vi-VN" altLang="vi-VN" sz="1600" noProof="1"/>
              <a:t>{	FILE *f, *f1;</a:t>
            </a:r>
          </a:p>
          <a:p>
            <a:pPr algn="l" eaLnBrk="1" hangingPunct="1"/>
            <a:r>
              <a:rPr lang="vi-VN" altLang="vi-VN" sz="1600" noProof="1"/>
              <a:t>	char Mahang[5]</a:t>
            </a:r>
            <a:r>
              <a:rPr lang="en-US" altLang="vi-VN" sz="1600"/>
              <a:t>,</a:t>
            </a:r>
            <a:r>
              <a:rPr lang="en-US" altLang="vi-VN" sz="1600" noProof="1"/>
              <a:t> Tenhang[20];</a:t>
            </a:r>
          </a:p>
          <a:p>
            <a:pPr algn="l" eaLnBrk="1" hangingPunct="1"/>
            <a:r>
              <a:rPr lang="en-US" altLang="vi-VN" sz="1600" noProof="1"/>
              <a:t>	int Soluong;float Dongia</a:t>
            </a:r>
            <a:r>
              <a:rPr lang="en-US" altLang="vi-VN" sz="1600"/>
              <a:t>, </a:t>
            </a:r>
            <a:r>
              <a:rPr lang="en-US" altLang="vi-VN" sz="1600" noProof="1"/>
              <a:t>float Giatri=0;</a:t>
            </a:r>
          </a:p>
          <a:p>
            <a:pPr algn="l" eaLnBrk="1" hangingPunct="1"/>
            <a:r>
              <a:rPr lang="en-US" altLang="vi-VN" sz="1600" noProof="1"/>
              <a:t>	f = fopen("H:\\Hanghoa.txt","rt");</a:t>
            </a:r>
          </a:p>
          <a:p>
            <a:pPr algn="l" eaLnBrk="1" hangingPunct="1"/>
            <a:r>
              <a:rPr lang="en-US" altLang="vi-VN" sz="1600" noProof="1"/>
              <a:t>	f1 = fopen("H:\\Giatri.txt","wt");</a:t>
            </a:r>
          </a:p>
          <a:p>
            <a:pPr algn="l" eaLnBrk="1" hangingPunct="1"/>
            <a:r>
              <a:rPr lang="en-US" altLang="vi-VN" sz="1600" noProof="1"/>
              <a:t>	if(f==NULL || f1 == NULL)</a:t>
            </a:r>
          </a:p>
          <a:p>
            <a:pPr algn="l" eaLnBrk="1" hangingPunct="1"/>
            <a:r>
              <a:rPr lang="en-US" altLang="vi-VN" sz="1600" noProof="1"/>
              <a:t>		printf("Mo va tao file khong thanh cong!");</a:t>
            </a:r>
          </a:p>
          <a:p>
            <a:pPr algn="l" eaLnBrk="1" hangingPunct="1"/>
            <a:r>
              <a:rPr lang="en-US" altLang="vi-VN" sz="1600" noProof="1"/>
              <a:t>	else</a:t>
            </a:r>
          </a:p>
          <a:p>
            <a:pPr algn="l" eaLnBrk="1" hangingPunct="1"/>
            <a:r>
              <a:rPr lang="en-US" altLang="vi-VN" sz="1600" noProof="1"/>
              <a:t>	{	</a:t>
            </a:r>
          </a:p>
          <a:p>
            <a:pPr algn="l" eaLnBrk="1" hangingPunct="1"/>
            <a:r>
              <a:rPr lang="en-US" altLang="vi-VN" sz="1600" noProof="1"/>
              <a:t>		while (!feof(f))</a:t>
            </a:r>
          </a:p>
          <a:p>
            <a:pPr algn="l" eaLnBrk="1" hangingPunct="1"/>
            <a:r>
              <a:rPr lang="en-US" altLang="vi-VN" sz="1600" noProof="1"/>
              <a:t>		{</a:t>
            </a:r>
          </a:p>
          <a:p>
            <a:pPr algn="l" eaLnBrk="1" hangingPunct="1"/>
            <a:r>
              <a:rPr lang="en-US" altLang="vi-VN" sz="1600" noProof="1"/>
              <a:t>			Soluong = Dongia = 0;</a:t>
            </a:r>
          </a:p>
          <a:p>
            <a:pPr algn="l" eaLnBrk="1" hangingPunct="1"/>
            <a:r>
              <a:rPr lang="en-US" altLang="vi-VN" sz="1600" noProof="1"/>
              <a:t>			fscanf(f,"%s",&amp;Mahang);</a:t>
            </a:r>
          </a:p>
          <a:p>
            <a:pPr algn="l" eaLnBrk="1" hangingPunct="1"/>
            <a:r>
              <a:rPr lang="en-US" altLang="vi-VN" sz="1600" noProof="1"/>
              <a:t>			fscanf(f,"%s",&amp;Tenhang);</a:t>
            </a:r>
          </a:p>
          <a:p>
            <a:pPr algn="l" eaLnBrk="1" hangingPunct="1"/>
            <a:r>
              <a:rPr lang="en-US" altLang="vi-VN" sz="1600" noProof="1"/>
              <a:t>			</a:t>
            </a:r>
            <a:r>
              <a:rPr lang="en-US" altLang="vi-VN" sz="1600" b="1" noProof="1">
                <a:solidFill>
                  <a:srgbClr val="FF0000"/>
                </a:solidFill>
              </a:rPr>
              <a:t>fscanf(f,"%d",&amp;Soluong);</a:t>
            </a:r>
          </a:p>
          <a:p>
            <a:pPr algn="l" eaLnBrk="1" hangingPunct="1"/>
            <a:r>
              <a:rPr lang="en-US" altLang="vi-VN" sz="1600" b="1" noProof="1">
                <a:solidFill>
                  <a:srgbClr val="FF0000"/>
                </a:solidFill>
              </a:rPr>
              <a:t>			fscanf(f,"%f",&amp;Dongia);</a:t>
            </a:r>
          </a:p>
          <a:p>
            <a:pPr algn="l" eaLnBrk="1" hangingPunct="1"/>
            <a:r>
              <a:rPr lang="en-US" altLang="vi-VN" sz="1600" b="1" noProof="1">
                <a:solidFill>
                  <a:srgbClr val="FF0000"/>
                </a:solidFill>
              </a:rPr>
              <a:t>			Giatri = Giatri + (Soluong * Dongia);</a:t>
            </a:r>
          </a:p>
          <a:p>
            <a:pPr algn="l" eaLnBrk="1" hangingPunct="1"/>
            <a:r>
              <a:rPr lang="en-US" altLang="vi-VN" sz="1600" noProof="1"/>
              <a:t>		}</a:t>
            </a:r>
          </a:p>
          <a:p>
            <a:pPr algn="l" eaLnBrk="1" hangingPunct="1"/>
            <a:r>
              <a:rPr lang="en-US" altLang="vi-VN" sz="1600" noProof="1"/>
              <a:t>		fclose(f);</a:t>
            </a:r>
          </a:p>
          <a:p>
            <a:pPr algn="l" eaLnBrk="1" hangingPunct="1"/>
            <a:r>
              <a:rPr lang="en-US" altLang="vi-VN" sz="1600" noProof="1"/>
              <a:t>	}</a:t>
            </a:r>
          </a:p>
          <a:p>
            <a:pPr algn="l" eaLnBrk="1" hangingPunct="1"/>
            <a:r>
              <a:rPr lang="en-US" altLang="vi-VN" sz="1600" noProof="1"/>
              <a:t>	</a:t>
            </a:r>
            <a:r>
              <a:rPr lang="en-US" altLang="vi-VN" sz="1600" b="1" noProof="1">
                <a:solidFill>
                  <a:srgbClr val="FF0000"/>
                </a:solidFill>
              </a:rPr>
              <a:t>fprintf(f1,"%.2f",Giatri);</a:t>
            </a:r>
          </a:p>
          <a:p>
            <a:pPr algn="l" eaLnBrk="1" hangingPunct="1"/>
            <a:r>
              <a:rPr lang="en-US" altLang="vi-VN" sz="1600" noProof="1"/>
              <a:t>	fclose(f1);</a:t>
            </a:r>
          </a:p>
          <a:p>
            <a:pPr algn="l" eaLnBrk="1" hangingPunct="1"/>
            <a:r>
              <a:rPr lang="en-US" altLang="vi-VN" sz="1600" noProof="1"/>
              <a:t>}</a:t>
            </a:r>
          </a:p>
        </p:txBody>
      </p:sp>
    </p:spTree>
    <p:extLst>
      <p:ext uri="{BB962C8B-B14F-4D97-AF65-F5344CB8AC3E}">
        <p14:creationId xmlns:p14="http://schemas.microsoft.com/office/powerpoint/2010/main" val="1435096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6F0A49-F64C-4A25-83F0-4BC2A4B02229}" type="slidenum">
              <a:rPr lang="en-US" altLang="vi-VN">
                <a:solidFill>
                  <a:srgbClr val="FFFF00"/>
                </a:solidFill>
              </a:rPr>
              <a:pPr eaLnBrk="1" hangingPunct="1"/>
              <a:t>38</a:t>
            </a:fld>
            <a:endParaRPr lang="en-GB" altLang="vi-VN">
              <a:solidFill>
                <a:srgbClr val="FFFF00"/>
              </a:solidFill>
            </a:endParaRPr>
          </a:p>
        </p:txBody>
      </p:sp>
      <p:sp>
        <p:nvSpPr>
          <p:cNvPr id="40963" name="Rectangle 3"/>
          <p:cNvSpPr>
            <a:spLocks noChangeArrowheads="1"/>
          </p:cNvSpPr>
          <p:nvPr/>
        </p:nvSpPr>
        <p:spPr bwMode="auto">
          <a:xfrm>
            <a:off x="685800" y="1066800"/>
            <a:ext cx="79248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3022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sz="2200" i="1">
                <a:solidFill>
                  <a:srgbClr val="0000CC"/>
                </a:solidFill>
                <a:latin typeface="Tahoma" panose="020B0604030504040204" pitchFamily="34" charset="0"/>
              </a:rPr>
              <a:t>- Viết chương trình tính lương cho cán bộ công nhân viên. Thông tin bảng lương là 1 file Luong.txt đã có sẵn như mẫu dưới đây. Kết quả tính lương lưu vào file LuongNV.txt.</a:t>
            </a:r>
          </a:p>
        </p:txBody>
      </p:sp>
      <p:graphicFrame>
        <p:nvGraphicFramePr>
          <p:cNvPr id="755777" name="Group 65"/>
          <p:cNvGraphicFramePr>
            <a:graphicFrameLocks noGrp="1"/>
          </p:cNvGraphicFramePr>
          <p:nvPr>
            <p:ph/>
          </p:nvPr>
        </p:nvGraphicFramePr>
        <p:xfrm>
          <a:off x="457200" y="2286000"/>
          <a:ext cx="8323263" cy="2286000"/>
        </p:xfrm>
        <a:graphic>
          <a:graphicData uri="http://schemas.openxmlformats.org/drawingml/2006/table">
            <a:tbl>
              <a:tblPr/>
              <a:tblGrid>
                <a:gridCol w="1039813">
                  <a:extLst>
                    <a:ext uri="{9D8B030D-6E8A-4147-A177-3AD203B41FA5}">
                      <a16:colId xmlns:a16="http://schemas.microsoft.com/office/drawing/2014/main" val="20000"/>
                    </a:ext>
                  </a:extLst>
                </a:gridCol>
                <a:gridCol w="1169987">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gridCol w="1041400">
                  <a:extLst>
                    <a:ext uri="{9D8B030D-6E8A-4147-A177-3AD203B41FA5}">
                      <a16:colId xmlns:a16="http://schemas.microsoft.com/office/drawing/2014/main" val="20003"/>
                    </a:ext>
                  </a:extLst>
                </a:gridCol>
                <a:gridCol w="1039813">
                  <a:extLst>
                    <a:ext uri="{9D8B030D-6E8A-4147-A177-3AD203B41FA5}">
                      <a16:colId xmlns:a16="http://schemas.microsoft.com/office/drawing/2014/main" val="20004"/>
                    </a:ext>
                  </a:extLst>
                </a:gridCol>
                <a:gridCol w="1046162">
                  <a:extLst>
                    <a:ext uri="{9D8B030D-6E8A-4147-A177-3AD203B41FA5}">
                      <a16:colId xmlns:a16="http://schemas.microsoft.com/office/drawing/2014/main" val="20005"/>
                    </a:ext>
                  </a:extLst>
                </a:gridCol>
                <a:gridCol w="1035050">
                  <a:extLst>
                    <a:ext uri="{9D8B030D-6E8A-4147-A177-3AD203B41FA5}">
                      <a16:colId xmlns:a16="http://schemas.microsoft.com/office/drawing/2014/main" val="20006"/>
                    </a:ext>
                  </a:extLst>
                </a:gridCol>
                <a:gridCol w="1039813">
                  <a:extLst>
                    <a:ext uri="{9D8B030D-6E8A-4147-A177-3AD203B41FA5}">
                      <a16:colId xmlns:a16="http://schemas.microsoft.com/office/drawing/2014/main" val="20007"/>
                    </a:ext>
                  </a:extLst>
                </a:gridCol>
              </a:tblGrid>
              <a:tr h="455613">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Mã NV</a:t>
                      </a:r>
                      <a:endParaRPr kumimoji="0" lang="vi-VN" sz="2000" b="1" i="0" u="none" strike="noStrike" cap="none" normalizeH="0" baseline="0">
                        <a:ln>
                          <a:noFill/>
                        </a:ln>
                        <a:solidFill>
                          <a:srgbClr val="0000CC"/>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Họ tên</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LCB</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Ngày công</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Tiền lương</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BHXH</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BHYT</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Thực lãnh</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01</a:t>
                      </a:r>
                      <a:endParaRPr kumimoji="0" lang="vi-VN" sz="2000" b="1" i="0" u="none" strike="noStrike" cap="none" normalizeH="0" baseline="0">
                        <a:ln>
                          <a:noFill/>
                        </a:ln>
                        <a:solidFill>
                          <a:srgbClr val="0000CC"/>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Tran_A</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100</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24</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02</a:t>
                      </a:r>
                      <a:endParaRPr kumimoji="0" lang="vi-VN" sz="2000" b="1" i="0" u="none" strike="noStrike" cap="none" normalizeH="0" baseline="0">
                        <a:ln>
                          <a:noFill/>
                        </a:ln>
                        <a:solidFill>
                          <a:srgbClr val="0000CC"/>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Tran_B</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100</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20</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03</a:t>
                      </a:r>
                      <a:endParaRPr kumimoji="0" lang="vi-VN" sz="2000" b="1" i="0" u="none" strike="noStrike" cap="none" normalizeH="0" baseline="0">
                        <a:ln>
                          <a:noFill/>
                        </a:ln>
                        <a:solidFill>
                          <a:srgbClr val="0000CC"/>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Tran_C</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100</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28</a:t>
                      </a: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r>
                        <a:rPr kumimoji="0" lang="en-US" sz="2000" b="1" i="0" u="none" strike="noStrike" cap="none" normalizeH="0" baseline="0">
                          <a:ln>
                            <a:noFill/>
                          </a:ln>
                          <a:solidFill>
                            <a:srgbClr val="0000CC"/>
                          </a:solidFill>
                          <a:effectLst/>
                          <a:latin typeface="Arial" charset="0"/>
                        </a:rPr>
                        <a:t>…</a:t>
                      </a:r>
                      <a:endParaRPr kumimoji="0" lang="vi-VN" sz="2000" b="1" i="0" u="none" strike="noStrike" cap="none" normalizeH="0" baseline="0">
                        <a:ln>
                          <a:noFill/>
                        </a:ln>
                        <a:solidFill>
                          <a:srgbClr val="0000CC"/>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Tx/>
                        <a:buFont typeface="Wingdings" pitchFamily="2" charset="2"/>
                        <a:buNone/>
                        <a:tabLst/>
                      </a:pPr>
                      <a:endParaRPr kumimoji="0" lang="vi-VN" sz="2000" b="1" i="0" u="none" strike="noStrike" cap="none" normalizeH="0" baseline="0">
                        <a:ln>
                          <a:noFill/>
                        </a:ln>
                        <a:solidFill>
                          <a:srgbClr val="0000CC"/>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1020" name="Rectangle 60"/>
          <p:cNvSpPr>
            <a:spLocks noChangeArrowheads="1"/>
          </p:cNvSpPr>
          <p:nvPr/>
        </p:nvSpPr>
        <p:spPr bwMode="auto">
          <a:xfrm>
            <a:off x="533400" y="4800600"/>
            <a:ext cx="76962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vi-VN" i="1">
                <a:solidFill>
                  <a:srgbClr val="0000CC"/>
                </a:solidFill>
                <a:latin typeface="Tahoma" panose="020B0604030504040204" pitchFamily="34" charset="0"/>
              </a:rPr>
              <a:t>Cách tính:</a:t>
            </a:r>
          </a:p>
          <a:p>
            <a:pPr algn="just" eaLnBrk="1" hangingPunct="1"/>
            <a:r>
              <a:rPr lang="en-US" altLang="vi-VN" i="1">
                <a:solidFill>
                  <a:srgbClr val="0000CC"/>
                </a:solidFill>
                <a:latin typeface="Tahoma" panose="020B0604030504040204" pitchFamily="34" charset="0"/>
              </a:rPr>
              <a:t>	- Tiền lương = (LCB/22) * ngày công</a:t>
            </a:r>
          </a:p>
          <a:p>
            <a:pPr algn="just" eaLnBrk="1" hangingPunct="1"/>
            <a:r>
              <a:rPr lang="en-US" altLang="vi-VN" i="1">
                <a:solidFill>
                  <a:srgbClr val="0000CC"/>
                </a:solidFill>
                <a:latin typeface="Tahoma" panose="020B0604030504040204" pitchFamily="34" charset="0"/>
              </a:rPr>
              <a:t>	- BHXH = Tiền lương * 5%</a:t>
            </a:r>
          </a:p>
          <a:p>
            <a:pPr algn="just" eaLnBrk="1" hangingPunct="1"/>
            <a:r>
              <a:rPr lang="en-US" altLang="vi-VN" i="1">
                <a:solidFill>
                  <a:srgbClr val="0000CC"/>
                </a:solidFill>
                <a:latin typeface="Tahoma" panose="020B0604030504040204" pitchFamily="34" charset="0"/>
              </a:rPr>
              <a:t>	- BHYT = Tiền lương * 1%</a:t>
            </a:r>
          </a:p>
          <a:p>
            <a:pPr algn="just" eaLnBrk="1" hangingPunct="1"/>
            <a:r>
              <a:rPr lang="en-US" altLang="vi-VN" i="1">
                <a:solidFill>
                  <a:srgbClr val="0000CC"/>
                </a:solidFill>
                <a:latin typeface="Tahoma" panose="020B0604030504040204" pitchFamily="34" charset="0"/>
              </a:rPr>
              <a:t>	- Thực lãnh = Tiền lương – BHXH - BHYT</a:t>
            </a:r>
          </a:p>
        </p:txBody>
      </p:sp>
      <p:sp>
        <p:nvSpPr>
          <p:cNvPr id="41021" name="Text Box 61"/>
          <p:cNvSpPr txBox="1">
            <a:spLocks noChangeArrowheads="1"/>
          </p:cNvSpPr>
          <p:nvPr/>
        </p:nvSpPr>
        <p:spPr bwMode="auto">
          <a:xfrm>
            <a:off x="1785255" y="433387"/>
            <a:ext cx="6607629"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50000"/>
              </a:spcBef>
            </a:pPr>
            <a:r>
              <a:rPr lang="en-US" altLang="vi-VN" sz="2800" b="1" dirty="0">
                <a:solidFill>
                  <a:srgbClr val="0000CC"/>
                </a:solidFill>
                <a:latin typeface="Tahoma" panose="020B0604030504040204" pitchFamily="34" charset="0"/>
              </a:rPr>
              <a:t>BÀI TẬP SINH VIÊN TỰ LÀM Ở NHÀ</a:t>
            </a:r>
          </a:p>
        </p:txBody>
      </p:sp>
    </p:spTree>
    <p:extLst>
      <p:ext uri="{BB962C8B-B14F-4D97-AF65-F5344CB8AC3E}">
        <p14:creationId xmlns:p14="http://schemas.microsoft.com/office/powerpoint/2010/main" val="976463640"/>
      </p:ext>
    </p:extLst>
  </p:cSld>
  <p:clrMapOvr>
    <a:masterClrMapping/>
  </p:clrMapOvr>
  <p:transition>
    <p:push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900" y="695459"/>
            <a:ext cx="6841097" cy="454317"/>
          </a:xfrm>
        </p:spPr>
        <p:txBody>
          <a:bodyPr>
            <a:normAutofit fontScale="90000"/>
          </a:bodyPr>
          <a:lstStyle/>
          <a:p>
            <a:r>
              <a:rPr lang="en-US" dirty="0">
                <a:latin typeface="Myriad Pro" panose="020B0503030403020204" pitchFamily="34" charset="0"/>
              </a:rPr>
              <a:t>HỎI ĐÁP</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574" y="1885713"/>
            <a:ext cx="5668166" cy="3391373"/>
          </a:xfrm>
          <a:prstGeom prst="rect">
            <a:avLst/>
          </a:prstGeom>
        </p:spPr>
      </p:pic>
    </p:spTree>
    <p:extLst>
      <p:ext uri="{BB962C8B-B14F-4D97-AF65-F5344CB8AC3E}">
        <p14:creationId xmlns:p14="http://schemas.microsoft.com/office/powerpoint/2010/main" val="2277019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1036</TotalTime>
  <Words>2906</Words>
  <Application>Microsoft Macintosh PowerPoint</Application>
  <PresentationFormat>On-screen Show (4:3)</PresentationFormat>
  <Paragraphs>471</Paragraphs>
  <Slides>39</Slides>
  <Notes>36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Calibri</vt:lpstr>
      <vt:lpstr>Calibri Light</vt:lpstr>
      <vt:lpstr>Myriad Pro</vt:lpstr>
      <vt:lpstr>Tahoma</vt:lpstr>
      <vt:lpstr>Wingdings</vt:lpstr>
      <vt:lpstr>Office Theme</vt:lpstr>
      <vt:lpstr>1_Office Theme</vt:lpstr>
      <vt:lpstr>BÀI GIẢNG TUẦN 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1: Tạo file và lưu thông tin vào file</vt:lpstr>
      <vt:lpstr>PowerPoint Presentation</vt:lpstr>
      <vt:lpstr>Bài 2: Mở file, đọc các giá trị, tính toán, lưu kết quả vào file khác. </vt:lpstr>
      <vt:lpstr>PowerPoint Presentation</vt:lpstr>
      <vt:lpstr>PowerPoint Presentation</vt:lpstr>
      <vt:lpstr>HỎI ĐÁP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Thi Thanh Thanh</dc:creator>
  <cp:lastModifiedBy>Microsoft Office User</cp:lastModifiedBy>
  <cp:revision>346</cp:revision>
  <dcterms:created xsi:type="dcterms:W3CDTF">2017-02-14T04:20:55Z</dcterms:created>
  <dcterms:modified xsi:type="dcterms:W3CDTF">2021-02-19T04:16:54Z</dcterms:modified>
</cp:coreProperties>
</file>