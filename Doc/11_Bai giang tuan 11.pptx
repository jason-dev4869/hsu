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3"/>
  </p:notesMasterIdLst>
  <p:sldIdLst>
    <p:sldId id="256" r:id="rId3"/>
    <p:sldId id="261" r:id="rId4"/>
    <p:sldId id="397" r:id="rId5"/>
    <p:sldId id="398" r:id="rId6"/>
    <p:sldId id="399" r:id="rId7"/>
    <p:sldId id="400" r:id="rId8"/>
    <p:sldId id="401" r:id="rId9"/>
    <p:sldId id="402" r:id="rId10"/>
    <p:sldId id="403" r:id="rId11"/>
    <p:sldId id="404" r:id="rId12"/>
    <p:sldId id="405" r:id="rId13"/>
    <p:sldId id="408" r:id="rId14"/>
    <p:sldId id="409" r:id="rId15"/>
    <p:sldId id="410" r:id="rId16"/>
    <p:sldId id="411" r:id="rId17"/>
    <p:sldId id="412" r:id="rId18"/>
    <p:sldId id="413" r:id="rId19"/>
    <p:sldId id="406" r:id="rId20"/>
    <p:sldId id="407"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8" d="100"/>
          <a:sy n="88" d="100"/>
        </p:scale>
        <p:origin x="100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4C450-71A6-4247-A59B-E04E8B0516FC}" type="datetimeFigureOut">
              <a:rPr lang="vi-VN" smtClean="0"/>
              <a:t>16/02/2019</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C684F-6D70-43DC-AAAB-B6C950FDED51}" type="slidenum">
              <a:rPr lang="vi-VN" smtClean="0"/>
              <a:t>‹#›</a:t>
            </a:fld>
            <a:endParaRPr lang="vi-VN"/>
          </a:p>
        </p:txBody>
      </p:sp>
    </p:spTree>
    <p:extLst>
      <p:ext uri="{BB962C8B-B14F-4D97-AF65-F5344CB8AC3E}">
        <p14:creationId xmlns:p14="http://schemas.microsoft.com/office/powerpoint/2010/main" val="416530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9F5FA4-0121-47C1-A008-7E8E51A9E9A6}" type="slidenum">
              <a:rPr lang="en-US" altLang="vi-VN"/>
              <a:pPr eaLnBrk="1" hangingPunct="1"/>
              <a:t>3</a:t>
            </a:fld>
            <a:endParaRPr lang="en-US" altLang="vi-VN"/>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vi-VN" altLang="vi-VN" smtClean="0">
              <a:latin typeface="Arial" panose="020B0604020202020204" pitchFamily="34" charset="0"/>
            </a:endParaRPr>
          </a:p>
        </p:txBody>
      </p:sp>
    </p:spTree>
    <p:extLst>
      <p:ext uri="{BB962C8B-B14F-4D97-AF65-F5344CB8AC3E}">
        <p14:creationId xmlns:p14="http://schemas.microsoft.com/office/powerpoint/2010/main" val="231936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11</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1417687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12</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1344532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13</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3750768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14</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2692919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15</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3433632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16</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2375642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5C0140-385C-48CE-9FF9-E56468752594}" type="slidenum">
              <a:rPr lang="en-US" altLang="vi-VN"/>
              <a:pPr eaLnBrk="1" hangingPunct="1"/>
              <a:t>17</a:t>
            </a:fld>
            <a:endParaRPr lang="en-US" altLang="vi-V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smtClean="0">
                <a:latin typeface="Arial" panose="020B0604020202020204" pitchFamily="34" charset="0"/>
              </a:rPr>
              <a:t>Giảng viên nên chuẩn bị demo ở nhà trước khi demo tại lớp cho nhanh. </a:t>
            </a:r>
          </a:p>
        </p:txBody>
      </p:sp>
    </p:spTree>
    <p:extLst>
      <p:ext uri="{BB962C8B-B14F-4D97-AF65-F5344CB8AC3E}">
        <p14:creationId xmlns:p14="http://schemas.microsoft.com/office/powerpoint/2010/main" val="3786662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96670133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32103734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A4034B-4B31-483C-B33E-16E724396FEE}" type="datetimeFigureOut">
              <a:rPr lang="en-US" smtClean="0"/>
              <a:t>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44474713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6A4034B-4B31-483C-B33E-16E724396FEE}" type="datetimeFigureOut">
              <a:rPr lang="en-US" smtClean="0"/>
              <a:t>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201340676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6A4034B-4B31-483C-B33E-16E724396FEE}" type="datetimeFigureOut">
              <a:rPr lang="en-US" smtClean="0"/>
              <a:t>2/16/2019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73112940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6A4034B-4B31-483C-B33E-16E724396FEE}" type="datetimeFigureOut">
              <a:rPr lang="en-US" smtClean="0"/>
              <a:t>2/16/2019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18843723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4034B-4B31-483C-B33E-16E724396FEE}" type="datetimeFigureOut">
              <a:rPr lang="en-US" smtClean="0"/>
              <a:t>2/16/2019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403079730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A4034B-4B31-483C-B33E-16E724396FEE}" type="datetimeFigureOut">
              <a:rPr lang="en-US" smtClean="0"/>
              <a:t>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77969495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A4034B-4B31-483C-B33E-16E724396FEE}" type="datetimeFigureOut">
              <a:rPr lang="en-US" smtClean="0"/>
              <a:t>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63519687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416260665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77898372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15051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14402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61276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4551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15897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651883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338236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3092793"/>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456554"/>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9828133"/>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4197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1000" y="168275"/>
            <a:ext cx="8323263" cy="60944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2"/>
          <p:cNvSpPr>
            <a:spLocks noGrp="1" noChangeArrowheads="1"/>
          </p:cNvSpPr>
          <p:nvPr>
            <p:ph type="dt" sz="half" idx="10"/>
          </p:nvPr>
        </p:nvSpPr>
        <p:spPr/>
        <p:txBody>
          <a:bodyPr/>
          <a:lstStyle>
            <a:lvl1pPr>
              <a:defRPr/>
            </a:lvl1pPr>
          </a:lstStyle>
          <a:p>
            <a:pPr>
              <a:defRPr/>
            </a:pPr>
            <a:endParaRPr lang="en-GB"/>
          </a:p>
        </p:txBody>
      </p:sp>
      <p:sp>
        <p:nvSpPr>
          <p:cNvPr id="4" name="Rectangle 3"/>
          <p:cNvSpPr>
            <a:spLocks noGrp="1" noChangeArrowheads="1"/>
          </p:cNvSpPr>
          <p:nvPr>
            <p:ph type="ftr" sz="quarter" idx="11"/>
          </p:nvPr>
        </p:nvSpPr>
        <p:spPr/>
        <p:txBody>
          <a:bodyPr/>
          <a:lstStyle>
            <a:lvl1pPr>
              <a:defRPr/>
            </a:lvl1pPr>
          </a:lstStyle>
          <a:p>
            <a:pPr>
              <a:defRPr/>
            </a:pPr>
            <a:r>
              <a:rPr lang="en-US"/>
              <a:t>www.hoasen.edu.vn</a:t>
            </a:r>
            <a:endParaRPr lang="en-GB"/>
          </a:p>
        </p:txBody>
      </p:sp>
      <p:sp>
        <p:nvSpPr>
          <p:cNvPr id="5" name="Rectangle 4"/>
          <p:cNvSpPr>
            <a:spLocks noGrp="1" noChangeArrowheads="1"/>
          </p:cNvSpPr>
          <p:nvPr>
            <p:ph type="sldNum" sz="quarter" idx="12"/>
          </p:nvPr>
        </p:nvSpPr>
        <p:spPr/>
        <p:txBody>
          <a:bodyPr/>
          <a:lstStyle>
            <a:lvl1pPr>
              <a:defRPr/>
            </a:lvl1pPr>
          </a:lstStyle>
          <a:p>
            <a:fld id="{DA0436A4-A3CA-4BEA-9B48-0B14768C7EE1}" type="slidenum">
              <a:rPr lang="en-US" altLang="vi-VN"/>
              <a:pPr/>
              <a:t>‹#›</a:t>
            </a:fld>
            <a:endParaRPr lang="en-GB" altLang="vi-VN"/>
          </a:p>
        </p:txBody>
      </p:sp>
    </p:spTree>
    <p:extLst>
      <p:ext uri="{BB962C8B-B14F-4D97-AF65-F5344CB8AC3E}">
        <p14:creationId xmlns:p14="http://schemas.microsoft.com/office/powerpoint/2010/main" val="3316329414"/>
      </p:ext>
    </p:extLst>
  </p:cSld>
  <p:clrMapOvr>
    <a:masterClrMapping/>
  </p:clrMapOvr>
  <p:transition>
    <p:push di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152400"/>
            <a:ext cx="7104063" cy="84137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233488"/>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233488"/>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GB"/>
          </a:p>
        </p:txBody>
      </p:sp>
      <p:sp>
        <p:nvSpPr>
          <p:cNvPr id="6" name="Rectangle 5"/>
          <p:cNvSpPr>
            <a:spLocks noGrp="1" noChangeArrowheads="1"/>
          </p:cNvSpPr>
          <p:nvPr>
            <p:ph type="ftr" sz="quarter" idx="11"/>
          </p:nvPr>
        </p:nvSpPr>
        <p:spPr/>
        <p:txBody>
          <a:bodyPr/>
          <a:lstStyle>
            <a:lvl1pPr>
              <a:defRPr/>
            </a:lvl1pPr>
          </a:lstStyle>
          <a:p>
            <a:pPr>
              <a:defRPr/>
            </a:pPr>
            <a:r>
              <a:rPr lang="en-US"/>
              <a:t>www.hoasen.edu.vn</a:t>
            </a:r>
            <a:endParaRPr lang="en-GB"/>
          </a:p>
        </p:txBody>
      </p:sp>
      <p:sp>
        <p:nvSpPr>
          <p:cNvPr id="7" name="Rectangle 6"/>
          <p:cNvSpPr>
            <a:spLocks noGrp="1" noChangeArrowheads="1"/>
          </p:cNvSpPr>
          <p:nvPr>
            <p:ph type="sldNum" sz="quarter" idx="12"/>
          </p:nvPr>
        </p:nvSpPr>
        <p:spPr/>
        <p:txBody>
          <a:bodyPr/>
          <a:lstStyle>
            <a:lvl1pPr>
              <a:defRPr/>
            </a:lvl1pPr>
          </a:lstStyle>
          <a:p>
            <a:fld id="{308E93DA-18E1-408F-83A1-FEC1BFE87B2B}" type="slidenum">
              <a:rPr lang="en-US" altLang="vi-VN"/>
              <a:pPr/>
              <a:t>‹#›</a:t>
            </a:fld>
            <a:endParaRPr lang="en-GB" altLang="vi-VN"/>
          </a:p>
        </p:txBody>
      </p:sp>
    </p:spTree>
    <p:extLst>
      <p:ext uri="{BB962C8B-B14F-4D97-AF65-F5344CB8AC3E}">
        <p14:creationId xmlns:p14="http://schemas.microsoft.com/office/powerpoint/2010/main" val="1122324416"/>
      </p:ext>
    </p:extLst>
  </p:cSld>
  <p:clrMapOvr>
    <a:masterClrMapping/>
  </p:clrMapOvr>
  <p:transition>
    <p:push di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600200" y="152400"/>
            <a:ext cx="7104063" cy="84137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81000" y="1233488"/>
            <a:ext cx="8305800" cy="5029200"/>
          </a:xfrm>
        </p:spPr>
        <p:txBody>
          <a:bodyPr/>
          <a:lstStyle/>
          <a:p>
            <a:pPr lvl="0"/>
            <a:endParaRPr lang="en-US" noProof="0" smtClean="0"/>
          </a:p>
        </p:txBody>
      </p:sp>
      <p:sp>
        <p:nvSpPr>
          <p:cNvPr id="4" name="Rectangle 3"/>
          <p:cNvSpPr>
            <a:spLocks noGrp="1" noChangeArrowheads="1"/>
          </p:cNvSpPr>
          <p:nvPr>
            <p:ph type="dt" sz="half" idx="10"/>
          </p:nvPr>
        </p:nvSpPr>
        <p:spPr/>
        <p:txBody>
          <a:bodyPr/>
          <a:lstStyle>
            <a:lvl1pPr>
              <a:defRPr/>
            </a:lvl1pPr>
          </a:lstStyle>
          <a:p>
            <a:pPr>
              <a:defRPr/>
            </a:pPr>
            <a:endParaRPr lang="en-GB"/>
          </a:p>
        </p:txBody>
      </p:sp>
      <p:sp>
        <p:nvSpPr>
          <p:cNvPr id="5" name="Rectangle 4"/>
          <p:cNvSpPr>
            <a:spLocks noGrp="1" noChangeArrowheads="1"/>
          </p:cNvSpPr>
          <p:nvPr>
            <p:ph type="ftr" sz="quarter" idx="11"/>
          </p:nvPr>
        </p:nvSpPr>
        <p:spPr/>
        <p:txBody>
          <a:bodyPr/>
          <a:lstStyle>
            <a:lvl1pPr>
              <a:defRPr/>
            </a:lvl1pPr>
          </a:lstStyle>
          <a:p>
            <a:pPr>
              <a:defRPr/>
            </a:pPr>
            <a:r>
              <a:rPr lang="en-US"/>
              <a:t>www.hoasen.edu.vn</a:t>
            </a:r>
            <a:endParaRPr lang="en-GB"/>
          </a:p>
        </p:txBody>
      </p:sp>
      <p:sp>
        <p:nvSpPr>
          <p:cNvPr id="6" name="Rectangle 5"/>
          <p:cNvSpPr>
            <a:spLocks noGrp="1" noChangeArrowheads="1"/>
          </p:cNvSpPr>
          <p:nvPr>
            <p:ph type="sldNum" sz="quarter" idx="12"/>
          </p:nvPr>
        </p:nvSpPr>
        <p:spPr/>
        <p:txBody>
          <a:bodyPr/>
          <a:lstStyle>
            <a:lvl1pPr>
              <a:defRPr/>
            </a:lvl1pPr>
          </a:lstStyle>
          <a:p>
            <a:fld id="{BCF6EA2B-0F32-4B1B-ADDA-433515CE9E29}" type="slidenum">
              <a:rPr lang="en-US" altLang="vi-VN"/>
              <a:pPr/>
              <a:t>‹#›</a:t>
            </a:fld>
            <a:endParaRPr lang="en-GB" altLang="vi-VN"/>
          </a:p>
        </p:txBody>
      </p:sp>
    </p:spTree>
    <p:extLst>
      <p:ext uri="{BB962C8B-B14F-4D97-AF65-F5344CB8AC3E}">
        <p14:creationId xmlns:p14="http://schemas.microsoft.com/office/powerpoint/2010/main" val="3168465876"/>
      </p:ext>
    </p:extLst>
  </p:cSld>
  <p:clrMapOvr>
    <a:masterClrMapping/>
  </p:clrMapOvr>
  <p:transition>
    <p:push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4034B-4B31-483C-B33E-16E724396FEE}" type="datetimeFigureOut">
              <a:rPr lang="en-US" smtClean="0"/>
              <a:t>2/16/2019</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6D39CD-9FF8-49B8-B0DF-CC3B27D0E337}" type="slidenum">
              <a:rPr lang="en-US" smtClean="0"/>
              <a:t>‹#›</a:t>
            </a:fld>
            <a:endParaRPr lang="en-US"/>
          </a:p>
        </p:txBody>
      </p:sp>
    </p:spTree>
    <p:extLst>
      <p:ext uri="{BB962C8B-B14F-4D97-AF65-F5344CB8AC3E}">
        <p14:creationId xmlns:p14="http://schemas.microsoft.com/office/powerpoint/2010/main" val="240416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2/16/2019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24665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tm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01333" y="4726547"/>
            <a:ext cx="7772400" cy="689490"/>
          </a:xfrm>
        </p:spPr>
        <p:txBody>
          <a:bodyPr>
            <a:noAutofit/>
          </a:bodyPr>
          <a:lstStyle/>
          <a:p>
            <a:r>
              <a:rPr lang="en-US" sz="3200" dirty="0" smtClean="0">
                <a:solidFill>
                  <a:schemeClr val="bg1"/>
                </a:solidFill>
                <a:latin typeface="Myriad Pro" panose="020B0503030403020204" pitchFamily="34" charset="0"/>
              </a:rPr>
              <a:t>BÀI GIẢNG TUẦN 11</a:t>
            </a:r>
            <a:endParaRPr lang="en-US" sz="3200" dirty="0">
              <a:solidFill>
                <a:schemeClr val="bg1"/>
              </a:solidFill>
              <a:latin typeface="Myriad Pro" panose="020B0503030403020204" pitchFamily="34" charset="0"/>
            </a:endParaRPr>
          </a:p>
        </p:txBody>
      </p:sp>
    </p:spTree>
    <p:extLst>
      <p:ext uri="{BB962C8B-B14F-4D97-AF65-F5344CB8AC3E}">
        <p14:creationId xmlns:p14="http://schemas.microsoft.com/office/powerpoint/2010/main" val="7934427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Callout 6"/>
          <p:cNvSpPr/>
          <p:nvPr/>
        </p:nvSpPr>
        <p:spPr>
          <a:xfrm>
            <a:off x="1230086" y="729343"/>
            <a:ext cx="6955971" cy="3287486"/>
          </a:xfrm>
          <a:prstGeom prst="cloudCallout">
            <a:avLst>
              <a:gd name="adj1" fmla="val -36327"/>
              <a:gd name="adj2" fmla="val 78726"/>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lang="en-US" sz="4800" b="1" dirty="0" smtClean="0"/>
              <a:t>KIỂU CẤU TRÚC</a:t>
            </a:r>
          </a:p>
          <a:p>
            <a:pPr lvl="0" algn="ctr">
              <a:defRPr/>
            </a:pPr>
            <a:r>
              <a:rPr lang="en-US" sz="4800" b="1" dirty="0" smtClean="0"/>
              <a:t>STRUCT</a:t>
            </a:r>
          </a:p>
        </p:txBody>
      </p:sp>
      <p:sp>
        <p:nvSpPr>
          <p:cNvPr id="2" name="TextBox 1"/>
          <p:cNvSpPr txBox="1"/>
          <p:nvPr/>
        </p:nvSpPr>
        <p:spPr>
          <a:xfrm>
            <a:off x="664028" y="5301345"/>
            <a:ext cx="207917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prstClr val="black"/>
                </a:solidFill>
                <a:effectLst/>
                <a:uLnTx/>
                <a:uFillTx/>
                <a:latin typeface="Calibri" panose="020F0502020204030204"/>
                <a:ea typeface="+mn-ea"/>
                <a:cs typeface="+mn-cs"/>
              </a:rPr>
              <a:t>BÀI 11</a:t>
            </a:r>
            <a:endParaRPr kumimoji="0" lang="vi-VN" sz="3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387515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807942-0E43-4518-A0B2-9A4B3DE516D2}" type="slidenum">
              <a:rPr lang="en-US" altLang="vi-VN">
                <a:solidFill>
                  <a:srgbClr val="FFFF00"/>
                </a:solidFill>
              </a:rPr>
              <a:pPr eaLnBrk="1" hangingPunct="1"/>
              <a:t>3</a:t>
            </a:fld>
            <a:endParaRPr lang="en-GB" altLang="vi-VN">
              <a:solidFill>
                <a:srgbClr val="FFFF00"/>
              </a:solidFill>
            </a:endParaRPr>
          </a:p>
        </p:txBody>
      </p:sp>
      <p:sp>
        <p:nvSpPr>
          <p:cNvPr id="5124" name="Text Box 255"/>
          <p:cNvSpPr txBox="1">
            <a:spLocks noChangeArrowheads="1"/>
          </p:cNvSpPr>
          <p:nvPr/>
        </p:nvSpPr>
        <p:spPr bwMode="auto">
          <a:xfrm>
            <a:off x="1828800" y="500743"/>
            <a:ext cx="685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800" b="1">
                <a:solidFill>
                  <a:srgbClr val="0000CC"/>
                </a:solidFill>
                <a:latin typeface="Tahoma" panose="020B0604030504040204" pitchFamily="34" charset="0"/>
              </a:rPr>
              <a:t>NỘI DUNG</a:t>
            </a:r>
          </a:p>
        </p:txBody>
      </p:sp>
      <p:sp>
        <p:nvSpPr>
          <p:cNvPr id="5125" name="Rectangle 256"/>
          <p:cNvSpPr>
            <a:spLocks noChangeArrowheads="1"/>
          </p:cNvSpPr>
          <p:nvPr/>
        </p:nvSpPr>
        <p:spPr bwMode="auto">
          <a:xfrm>
            <a:off x="304800" y="12192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5000"/>
              </a:lnSpc>
              <a:spcBef>
                <a:spcPct val="5000"/>
              </a:spcBef>
              <a:buClr>
                <a:schemeClr val="tx2"/>
              </a:buClr>
              <a:buFont typeface="Wingdings" panose="05000000000000000000" pitchFamily="2" charset="2"/>
              <a:buChar char="§"/>
            </a:pPr>
            <a:r>
              <a:rPr lang="en-US" altLang="vi-VN" sz="2800">
                <a:solidFill>
                  <a:srgbClr val="0000CC"/>
                </a:solidFill>
              </a:rPr>
              <a:t>Khái niệm struct</a:t>
            </a:r>
          </a:p>
          <a:p>
            <a:pPr algn="l">
              <a:lnSpc>
                <a:spcPct val="95000"/>
              </a:lnSpc>
              <a:spcBef>
                <a:spcPct val="5000"/>
              </a:spcBef>
              <a:buClr>
                <a:schemeClr val="tx2"/>
              </a:buClr>
              <a:buFont typeface="Wingdings" panose="05000000000000000000" pitchFamily="2" charset="2"/>
              <a:buChar char="§"/>
            </a:pPr>
            <a:r>
              <a:rPr lang="en-US" altLang="vi-VN" sz="2800">
                <a:solidFill>
                  <a:srgbClr val="0000CC"/>
                </a:solidFill>
              </a:rPr>
              <a:t>Định nghĩa kiểu struct</a:t>
            </a:r>
          </a:p>
          <a:p>
            <a:pPr algn="l">
              <a:lnSpc>
                <a:spcPct val="95000"/>
              </a:lnSpc>
              <a:spcBef>
                <a:spcPct val="5000"/>
              </a:spcBef>
              <a:buClr>
                <a:schemeClr val="tx2"/>
              </a:buClr>
              <a:buFont typeface="Wingdings" panose="05000000000000000000" pitchFamily="2" charset="2"/>
              <a:buChar char="§"/>
            </a:pPr>
            <a:r>
              <a:rPr lang="en-US" altLang="vi-VN" sz="2800">
                <a:solidFill>
                  <a:srgbClr val="0000CC"/>
                </a:solidFill>
              </a:rPr>
              <a:t>Truy xuất các biến thành phần của struct</a:t>
            </a:r>
          </a:p>
          <a:p>
            <a:pPr algn="l">
              <a:lnSpc>
                <a:spcPct val="95000"/>
              </a:lnSpc>
              <a:spcBef>
                <a:spcPct val="5000"/>
              </a:spcBef>
              <a:buClr>
                <a:schemeClr val="tx2"/>
              </a:buClr>
              <a:buFont typeface="Wingdings" panose="05000000000000000000" pitchFamily="2" charset="2"/>
              <a:buChar char="§"/>
            </a:pPr>
            <a:r>
              <a:rPr lang="en-US" altLang="vi-VN" sz="2800">
                <a:solidFill>
                  <a:srgbClr val="0000CC"/>
                </a:solidFill>
              </a:rPr>
              <a:t>Con trỏ struct</a:t>
            </a:r>
          </a:p>
          <a:p>
            <a:pPr algn="l">
              <a:lnSpc>
                <a:spcPct val="95000"/>
              </a:lnSpc>
              <a:spcBef>
                <a:spcPct val="5000"/>
              </a:spcBef>
              <a:buClr>
                <a:schemeClr val="tx2"/>
              </a:buClr>
              <a:buFont typeface="Wingdings" panose="05000000000000000000" pitchFamily="2" charset="2"/>
              <a:buChar char="§"/>
            </a:pPr>
            <a:r>
              <a:rPr lang="en-US" altLang="vi-VN" sz="2800">
                <a:solidFill>
                  <a:srgbClr val="0000CC"/>
                </a:solidFill>
              </a:rPr>
              <a:t>Mảng struct</a:t>
            </a:r>
          </a:p>
          <a:p>
            <a:pPr algn="l">
              <a:lnSpc>
                <a:spcPct val="95000"/>
              </a:lnSpc>
              <a:spcBef>
                <a:spcPct val="5000"/>
              </a:spcBef>
              <a:buClr>
                <a:schemeClr val="tx2"/>
              </a:buClr>
              <a:buFont typeface="Wingdings" panose="05000000000000000000" pitchFamily="2" charset="2"/>
              <a:buChar char="§"/>
            </a:pPr>
            <a:endParaRPr lang="en-US" altLang="vi-VN" sz="2800">
              <a:solidFill>
                <a:srgbClr val="0000CC"/>
              </a:solidFill>
            </a:endParaRPr>
          </a:p>
        </p:txBody>
      </p:sp>
    </p:spTree>
    <p:extLst>
      <p:ext uri="{BB962C8B-B14F-4D97-AF65-F5344CB8AC3E}">
        <p14:creationId xmlns:p14="http://schemas.microsoft.com/office/powerpoint/2010/main" val="1287702562"/>
      </p:ext>
    </p:extLst>
  </p:cSld>
  <p:clrMapOvr>
    <a:masterClrMapping/>
  </p:clrMapOvr>
  <p:transition>
    <p:push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35"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FA8520-3918-45C1-B1C6-B975FEC4D82D}" type="slidenum">
              <a:rPr lang="en-US" altLang="vi-VN">
                <a:solidFill>
                  <a:srgbClr val="FFFF00"/>
                </a:solidFill>
              </a:rPr>
              <a:pPr eaLnBrk="1" hangingPunct="1"/>
              <a:t>4</a:t>
            </a:fld>
            <a:endParaRPr lang="en-GB" altLang="vi-VN">
              <a:solidFill>
                <a:srgbClr val="FFFF00"/>
              </a:solidFill>
            </a:endParaRPr>
          </a:p>
        </p:txBody>
      </p:sp>
      <p:sp>
        <p:nvSpPr>
          <p:cNvPr id="6148" name="Rectangle 4"/>
          <p:cNvSpPr>
            <a:spLocks noGrp="1"/>
          </p:cNvSpPr>
          <p:nvPr>
            <p:ph type="title"/>
          </p:nvPr>
        </p:nvSpPr>
        <p:spPr>
          <a:xfrm>
            <a:off x="1774371" y="298450"/>
            <a:ext cx="6912429" cy="841375"/>
          </a:xfrm>
        </p:spPr>
        <p:txBody>
          <a:bodyPr/>
          <a:lstStyle/>
          <a:p>
            <a:r>
              <a:rPr lang="en-US" altLang="vi-VN" b="1" dirty="0" err="1" smtClean="0">
                <a:solidFill>
                  <a:srgbClr val="0000CC"/>
                </a:solidFill>
              </a:rPr>
              <a:t>Khái</a:t>
            </a:r>
            <a:r>
              <a:rPr lang="en-US" altLang="vi-VN" b="1" dirty="0" smtClean="0">
                <a:solidFill>
                  <a:srgbClr val="0000CC"/>
                </a:solidFill>
              </a:rPr>
              <a:t> </a:t>
            </a:r>
            <a:r>
              <a:rPr lang="en-US" altLang="vi-VN" b="1" dirty="0" err="1" smtClean="0">
                <a:solidFill>
                  <a:srgbClr val="0000CC"/>
                </a:solidFill>
              </a:rPr>
              <a:t>niệm</a:t>
            </a:r>
            <a:endParaRPr lang="en-US" altLang="vi-VN" b="1" dirty="0" smtClean="0">
              <a:solidFill>
                <a:srgbClr val="0000CC"/>
              </a:solidFill>
            </a:endParaRPr>
          </a:p>
        </p:txBody>
      </p:sp>
      <p:sp>
        <p:nvSpPr>
          <p:cNvPr id="6149" name="Rectangle 3"/>
          <p:cNvSpPr>
            <a:spLocks noGrp="1" noChangeArrowheads="1"/>
          </p:cNvSpPr>
          <p:nvPr>
            <p:ph type="body" sz="half" idx="1"/>
          </p:nvPr>
        </p:nvSpPr>
        <p:spPr>
          <a:xfrm>
            <a:off x="381000" y="1233488"/>
            <a:ext cx="8153400" cy="5029200"/>
          </a:xfrm>
        </p:spPr>
        <p:txBody>
          <a:bodyPr/>
          <a:lstStyle/>
          <a:p>
            <a:pPr algn="just" defTabSz="914400"/>
            <a:r>
              <a:rPr lang="en-US" altLang="vi-VN" sz="2400" dirty="0" err="1" smtClean="0">
                <a:solidFill>
                  <a:srgbClr val="0000CC"/>
                </a:solidFill>
              </a:rPr>
              <a:t>Struct</a:t>
            </a:r>
            <a:r>
              <a:rPr lang="en-US" altLang="vi-VN" sz="2400" dirty="0" smtClean="0">
                <a:solidFill>
                  <a:srgbClr val="0000CC"/>
                </a:solidFill>
              </a:rPr>
              <a:t> </a:t>
            </a:r>
            <a:r>
              <a:rPr lang="en-US" altLang="vi-VN" sz="2400" dirty="0" err="1" smtClean="0">
                <a:solidFill>
                  <a:srgbClr val="0000CC"/>
                </a:solidFill>
              </a:rPr>
              <a:t>bao</a:t>
            </a:r>
            <a:r>
              <a:rPr lang="en-US" altLang="vi-VN" sz="2400" dirty="0" smtClean="0">
                <a:solidFill>
                  <a:srgbClr val="0000CC"/>
                </a:solidFill>
              </a:rPr>
              <a:t> </a:t>
            </a:r>
            <a:r>
              <a:rPr lang="en-US" altLang="vi-VN" sz="2400" dirty="0" err="1" smtClean="0">
                <a:solidFill>
                  <a:srgbClr val="0000CC"/>
                </a:solidFill>
              </a:rPr>
              <a:t>gồm</a:t>
            </a:r>
            <a:r>
              <a:rPr lang="en-US" altLang="vi-VN" sz="2400" dirty="0" smtClean="0">
                <a:solidFill>
                  <a:srgbClr val="0000CC"/>
                </a:solidFill>
              </a:rPr>
              <a:t> </a:t>
            </a:r>
            <a:r>
              <a:rPr lang="en-US" altLang="vi-VN" sz="2400" dirty="0" err="1" smtClean="0">
                <a:solidFill>
                  <a:srgbClr val="0000CC"/>
                </a:solidFill>
              </a:rPr>
              <a:t>một</a:t>
            </a:r>
            <a:r>
              <a:rPr lang="en-US" altLang="vi-VN" sz="2400" dirty="0" smtClean="0">
                <a:solidFill>
                  <a:srgbClr val="0000CC"/>
                </a:solidFill>
              </a:rPr>
              <a:t> </a:t>
            </a:r>
            <a:r>
              <a:rPr lang="en-US" altLang="vi-VN" sz="2400" dirty="0" err="1" smtClean="0">
                <a:solidFill>
                  <a:srgbClr val="0000CC"/>
                </a:solidFill>
              </a:rPr>
              <a:t>số</a:t>
            </a:r>
            <a:r>
              <a:rPr lang="en-US" altLang="vi-VN" sz="2400" dirty="0" smtClean="0">
                <a:solidFill>
                  <a:srgbClr val="0000CC"/>
                </a:solidFill>
              </a:rPr>
              <a:t> </a:t>
            </a:r>
            <a:r>
              <a:rPr lang="en-US" altLang="vi-VN" sz="2400" dirty="0" err="1" smtClean="0">
                <a:solidFill>
                  <a:srgbClr val="0000CC"/>
                </a:solidFill>
              </a:rPr>
              <a:t>các</a:t>
            </a:r>
            <a:r>
              <a:rPr lang="en-US" altLang="vi-VN" sz="2400" dirty="0" smtClean="0">
                <a:solidFill>
                  <a:srgbClr val="0000CC"/>
                </a:solidFill>
              </a:rPr>
              <a:t> </a:t>
            </a:r>
            <a:r>
              <a:rPr lang="en-US" altLang="vi-VN" sz="2400" dirty="0" err="1" smtClean="0">
                <a:solidFill>
                  <a:srgbClr val="0000CC"/>
                </a:solidFill>
              </a:rPr>
              <a:t>phần</a:t>
            </a:r>
            <a:r>
              <a:rPr lang="en-US" altLang="vi-VN" sz="2400" dirty="0" smtClean="0">
                <a:solidFill>
                  <a:srgbClr val="0000CC"/>
                </a:solidFill>
              </a:rPr>
              <a:t> </a:t>
            </a:r>
            <a:r>
              <a:rPr lang="en-US" altLang="vi-VN" sz="2400" dirty="0" err="1" smtClean="0">
                <a:solidFill>
                  <a:srgbClr val="0000CC"/>
                </a:solidFill>
              </a:rPr>
              <a:t>tử</a:t>
            </a:r>
            <a:r>
              <a:rPr lang="en-US" altLang="vi-VN" sz="2400" dirty="0" smtClean="0">
                <a:solidFill>
                  <a:srgbClr val="0000CC"/>
                </a:solidFill>
              </a:rPr>
              <a:t> </a:t>
            </a:r>
            <a:r>
              <a:rPr lang="en-US" altLang="vi-VN" sz="2400" dirty="0" err="1" smtClean="0">
                <a:solidFill>
                  <a:srgbClr val="0000CC"/>
                </a:solidFill>
              </a:rPr>
              <a:t>dữ</a:t>
            </a:r>
            <a:r>
              <a:rPr lang="en-US" altLang="vi-VN" sz="2400" dirty="0" smtClean="0">
                <a:solidFill>
                  <a:srgbClr val="0000CC"/>
                </a:solidFill>
              </a:rPr>
              <a:t> </a:t>
            </a:r>
            <a:r>
              <a:rPr lang="en-US" altLang="vi-VN" sz="2400" dirty="0" err="1" smtClean="0">
                <a:solidFill>
                  <a:srgbClr val="0000CC"/>
                </a:solidFill>
              </a:rPr>
              <a:t>liệu</a:t>
            </a:r>
            <a:r>
              <a:rPr lang="en-US" altLang="vi-VN" sz="2400" dirty="0" smtClean="0">
                <a:solidFill>
                  <a:srgbClr val="0000CC"/>
                </a:solidFill>
              </a:rPr>
              <a:t> </a:t>
            </a:r>
            <a:r>
              <a:rPr lang="en-US" altLang="vi-VN" sz="2400" dirty="0" err="1" smtClean="0">
                <a:solidFill>
                  <a:srgbClr val="0000CC"/>
                </a:solidFill>
              </a:rPr>
              <a:t>không</a:t>
            </a:r>
            <a:r>
              <a:rPr lang="en-US" altLang="vi-VN" sz="2400" dirty="0" smtClean="0">
                <a:solidFill>
                  <a:srgbClr val="0000CC"/>
                </a:solidFill>
              </a:rPr>
              <a:t> </a:t>
            </a:r>
            <a:r>
              <a:rPr lang="en-US" altLang="vi-VN" sz="2400" dirty="0" err="1" smtClean="0">
                <a:solidFill>
                  <a:srgbClr val="0000CC"/>
                </a:solidFill>
              </a:rPr>
              <a:t>cùng</a:t>
            </a:r>
            <a:r>
              <a:rPr lang="en-US" altLang="vi-VN" sz="2400" dirty="0" smtClean="0">
                <a:solidFill>
                  <a:srgbClr val="0000CC"/>
                </a:solidFill>
              </a:rPr>
              <a:t> </a:t>
            </a:r>
            <a:r>
              <a:rPr lang="en-US" altLang="vi-VN" sz="2400" dirty="0" err="1" smtClean="0">
                <a:solidFill>
                  <a:srgbClr val="0000CC"/>
                </a:solidFill>
              </a:rPr>
              <a:t>kiểu</a:t>
            </a:r>
            <a:r>
              <a:rPr lang="en-US" altLang="vi-VN" sz="2400" dirty="0" smtClean="0">
                <a:solidFill>
                  <a:srgbClr val="0000CC"/>
                </a:solidFill>
              </a:rPr>
              <a:t>, </a:t>
            </a:r>
            <a:r>
              <a:rPr lang="en-US" altLang="vi-VN" sz="2400" dirty="0" err="1" smtClean="0">
                <a:solidFill>
                  <a:srgbClr val="0000CC"/>
                </a:solidFill>
              </a:rPr>
              <a:t>được</a:t>
            </a:r>
            <a:r>
              <a:rPr lang="en-US" altLang="vi-VN" sz="2400" dirty="0" smtClean="0">
                <a:solidFill>
                  <a:srgbClr val="0000CC"/>
                </a:solidFill>
              </a:rPr>
              <a:t> </a:t>
            </a:r>
            <a:r>
              <a:rPr lang="en-US" altLang="vi-VN" sz="2400" dirty="0" err="1" smtClean="0">
                <a:solidFill>
                  <a:srgbClr val="0000CC"/>
                </a:solidFill>
              </a:rPr>
              <a:t>nhóm</a:t>
            </a:r>
            <a:r>
              <a:rPr lang="en-US" altLang="vi-VN" sz="2400" dirty="0" smtClean="0">
                <a:solidFill>
                  <a:srgbClr val="0000CC"/>
                </a:solidFill>
              </a:rPr>
              <a:t> </a:t>
            </a:r>
            <a:r>
              <a:rPr lang="en-US" altLang="vi-VN" sz="2400" dirty="0" err="1" smtClean="0">
                <a:solidFill>
                  <a:srgbClr val="0000CC"/>
                </a:solidFill>
              </a:rPr>
              <a:t>lại</a:t>
            </a:r>
            <a:r>
              <a:rPr lang="en-US" altLang="vi-VN" sz="2400" dirty="0" smtClean="0">
                <a:solidFill>
                  <a:srgbClr val="0000CC"/>
                </a:solidFill>
              </a:rPr>
              <a:t> </a:t>
            </a:r>
            <a:r>
              <a:rPr lang="en-US" altLang="vi-VN" sz="2400" dirty="0" err="1" smtClean="0">
                <a:solidFill>
                  <a:srgbClr val="0000CC"/>
                </a:solidFill>
              </a:rPr>
              <a:t>với</a:t>
            </a:r>
            <a:r>
              <a:rPr lang="en-US" altLang="vi-VN" sz="2400" dirty="0" smtClean="0">
                <a:solidFill>
                  <a:srgbClr val="0000CC"/>
                </a:solidFill>
              </a:rPr>
              <a:t> </a:t>
            </a:r>
            <a:r>
              <a:rPr lang="en-US" altLang="vi-VN" sz="2400" dirty="0" err="1" smtClean="0">
                <a:solidFill>
                  <a:srgbClr val="0000CC"/>
                </a:solidFill>
              </a:rPr>
              <a:t>nhau</a:t>
            </a:r>
            <a:r>
              <a:rPr lang="en-US" altLang="vi-VN" sz="2400" dirty="0" smtClean="0">
                <a:solidFill>
                  <a:srgbClr val="0000CC"/>
                </a:solidFill>
              </a:rPr>
              <a:t>.</a:t>
            </a:r>
          </a:p>
          <a:p>
            <a:pPr algn="just" defTabSz="914400"/>
            <a:r>
              <a:rPr lang="en-US" altLang="vi-VN" sz="2400" dirty="0" err="1" smtClean="0">
                <a:solidFill>
                  <a:srgbClr val="0000CC"/>
                </a:solidFill>
              </a:rPr>
              <a:t>Quan</a:t>
            </a:r>
            <a:r>
              <a:rPr lang="en-US" altLang="vi-VN" sz="2400" dirty="0" smtClean="0">
                <a:solidFill>
                  <a:srgbClr val="0000CC"/>
                </a:solidFill>
              </a:rPr>
              <a:t> </a:t>
            </a:r>
            <a:r>
              <a:rPr lang="en-US" altLang="vi-VN" sz="2400" dirty="0" err="1" smtClean="0">
                <a:solidFill>
                  <a:srgbClr val="0000CC"/>
                </a:solidFill>
              </a:rPr>
              <a:t>sát</a:t>
            </a:r>
            <a:r>
              <a:rPr lang="en-US" altLang="vi-VN" sz="2400" dirty="0" smtClean="0">
                <a:solidFill>
                  <a:srgbClr val="0000CC"/>
                </a:solidFill>
              </a:rPr>
              <a:t> </a:t>
            </a:r>
            <a:r>
              <a:rPr lang="en-US" altLang="vi-VN" sz="2400" dirty="0" err="1" smtClean="0">
                <a:solidFill>
                  <a:srgbClr val="0000CC"/>
                </a:solidFill>
              </a:rPr>
              <a:t>danh</a:t>
            </a:r>
            <a:r>
              <a:rPr lang="en-US" altLang="vi-VN" sz="2400" dirty="0" smtClean="0">
                <a:solidFill>
                  <a:srgbClr val="0000CC"/>
                </a:solidFill>
              </a:rPr>
              <a:t> </a:t>
            </a:r>
            <a:r>
              <a:rPr lang="en-US" altLang="vi-VN" sz="2400" dirty="0" err="1" smtClean="0">
                <a:solidFill>
                  <a:srgbClr val="0000CC"/>
                </a:solidFill>
              </a:rPr>
              <a:t>sách</a:t>
            </a:r>
            <a:r>
              <a:rPr lang="en-US" altLang="vi-VN" sz="2400" dirty="0" smtClean="0">
                <a:solidFill>
                  <a:srgbClr val="0000CC"/>
                </a:solidFill>
              </a:rPr>
              <a:t> </a:t>
            </a:r>
            <a:r>
              <a:rPr lang="en-US" altLang="vi-VN" sz="2400" dirty="0" err="1" smtClean="0">
                <a:solidFill>
                  <a:srgbClr val="0000CC"/>
                </a:solidFill>
              </a:rPr>
              <a:t>sinh</a:t>
            </a:r>
            <a:r>
              <a:rPr lang="en-US" altLang="vi-VN" sz="2400" dirty="0" smtClean="0">
                <a:solidFill>
                  <a:srgbClr val="0000CC"/>
                </a:solidFill>
              </a:rPr>
              <a:t> </a:t>
            </a:r>
            <a:r>
              <a:rPr lang="en-US" altLang="vi-VN" sz="2400" dirty="0" err="1" smtClean="0">
                <a:solidFill>
                  <a:srgbClr val="0000CC"/>
                </a:solidFill>
              </a:rPr>
              <a:t>viên</a:t>
            </a:r>
            <a:r>
              <a:rPr lang="en-US" altLang="vi-VN" sz="2400" dirty="0" smtClean="0">
                <a:solidFill>
                  <a:srgbClr val="0000CC"/>
                </a:solidFill>
              </a:rPr>
              <a:t> </a:t>
            </a:r>
            <a:r>
              <a:rPr lang="en-US" altLang="vi-VN" sz="2400" dirty="0" err="1" smtClean="0">
                <a:solidFill>
                  <a:srgbClr val="0000CC"/>
                </a:solidFill>
              </a:rPr>
              <a:t>sau</a:t>
            </a:r>
            <a:r>
              <a:rPr lang="en-US" altLang="vi-VN" sz="2400" dirty="0" smtClean="0">
                <a:solidFill>
                  <a:srgbClr val="0000CC"/>
                </a:solidFill>
              </a:rPr>
              <a:t>:</a:t>
            </a:r>
          </a:p>
        </p:txBody>
      </p:sp>
      <p:graphicFrame>
        <p:nvGraphicFramePr>
          <p:cNvPr id="684070" name="Group 38"/>
          <p:cNvGraphicFramePr>
            <a:graphicFrameLocks noGrp="1"/>
          </p:cNvGraphicFramePr>
          <p:nvPr>
            <p:ph sz="half" idx="2"/>
          </p:nvPr>
        </p:nvGraphicFramePr>
        <p:xfrm>
          <a:off x="609600" y="2667000"/>
          <a:ext cx="7848600" cy="3276600"/>
        </p:xfrm>
        <a:graphic>
          <a:graphicData uri="http://schemas.openxmlformats.org/drawingml/2006/table">
            <a:tbl>
              <a:tblPr/>
              <a:tblGrid>
                <a:gridCol w="4059238">
                  <a:extLst>
                    <a:ext uri="{9D8B030D-6E8A-4147-A177-3AD203B41FA5}">
                      <a16:colId xmlns:a16="http://schemas.microsoft.com/office/drawing/2014/main" val="20000"/>
                    </a:ext>
                  </a:extLst>
                </a:gridCol>
                <a:gridCol w="2074862">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68580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Họ và tên</a:t>
                      </a:r>
                      <a:endParaRPr kumimoji="0" lang="vi-VN"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800" b="0" i="0" u="none" strike="noStrike" cap="none" normalizeH="0" baseline="0" smtClean="0">
                          <a:ln>
                            <a:noFill/>
                          </a:ln>
                          <a:solidFill>
                            <a:schemeClr val="tx1"/>
                          </a:solidFill>
                          <a:effectLst/>
                          <a:latin typeface="Arial" charset="0"/>
                        </a:rPr>
                        <a:t>Tuổi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800" b="0" i="0" u="none" strike="noStrike" cap="none" normalizeH="0" baseline="0" smtClean="0">
                          <a:ln>
                            <a:noFill/>
                          </a:ln>
                          <a:solidFill>
                            <a:schemeClr val="tx1"/>
                          </a:solidFill>
                          <a:effectLst/>
                          <a:latin typeface="Arial" charset="0"/>
                        </a:rPr>
                        <a:t>Điểm 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48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Nguyễn Văn A</a:t>
                      </a:r>
                      <a:endParaRPr kumimoji="0" lang="vi-VN"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18</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7.3</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Nguyễn Văn B</a:t>
                      </a:r>
                      <a:endParaRPr kumimoji="0" lang="vi-VN"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20</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7.0</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307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Nguyễn Văn C</a:t>
                      </a:r>
                      <a:endParaRPr kumimoji="0" lang="vi-VN"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21</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9.2</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1488">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Nguyễn Văn D</a:t>
                      </a:r>
                      <a:endParaRPr kumimoji="0" lang="vi-VN"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18</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5.6</a:t>
                      </a: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800" b="0" i="0" u="none" strike="noStrike" cap="none" normalizeH="0" baseline="0" smtClean="0">
                          <a:ln>
                            <a:noFill/>
                          </a:ln>
                          <a:solidFill>
                            <a:schemeClr val="tx1"/>
                          </a:solidFill>
                          <a:effectLst/>
                          <a:latin typeface="Arial" charset="0"/>
                        </a:rPr>
                        <a:t>…</a:t>
                      </a:r>
                      <a:endParaRPr kumimoji="0" lang="vi-VN"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29818051"/>
      </p:ext>
    </p:extLst>
  </p:cSld>
  <p:clrMapOvr>
    <a:masterClrMapping/>
  </p:clrMapOvr>
  <p:transition>
    <p:push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10"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6C7688A-29F0-42DC-9ABC-45217E30CEBC}" type="slidenum">
              <a:rPr lang="en-US" altLang="vi-VN">
                <a:solidFill>
                  <a:srgbClr val="FFFF00"/>
                </a:solidFill>
              </a:rPr>
              <a:pPr eaLnBrk="1" hangingPunct="1"/>
              <a:t>5</a:t>
            </a:fld>
            <a:endParaRPr lang="en-GB" altLang="vi-VN">
              <a:solidFill>
                <a:srgbClr val="FFFF00"/>
              </a:solidFill>
            </a:endParaRPr>
          </a:p>
        </p:txBody>
      </p:sp>
      <p:sp>
        <p:nvSpPr>
          <p:cNvPr id="7172" name="Rectangle 3"/>
          <p:cNvSpPr>
            <a:spLocks noGrp="1" noChangeArrowheads="1"/>
          </p:cNvSpPr>
          <p:nvPr>
            <p:ph type="body" idx="1"/>
          </p:nvPr>
        </p:nvSpPr>
        <p:spPr>
          <a:xfrm>
            <a:off x="609600" y="1143000"/>
            <a:ext cx="5691188" cy="2117725"/>
          </a:xfrm>
          <a:solidFill>
            <a:srgbClr val="CCFF99"/>
          </a:solidFill>
          <a:ln>
            <a:solidFill>
              <a:srgbClr val="FF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buFont typeface="Wingdings" panose="05000000000000000000" pitchFamily="2" charset="2"/>
              <a:buNone/>
            </a:pPr>
            <a:r>
              <a:rPr lang="en-US" altLang="vi-VN" sz="2400" b="1" smtClean="0">
                <a:solidFill>
                  <a:srgbClr val="0000CC"/>
                </a:solidFill>
              </a:rPr>
              <a:t>struct  StructureName</a:t>
            </a:r>
          </a:p>
          <a:p>
            <a:pPr defTabSz="914400">
              <a:buFont typeface="Wingdings" panose="05000000000000000000" pitchFamily="2" charset="2"/>
              <a:buNone/>
            </a:pPr>
            <a:r>
              <a:rPr lang="en-US" altLang="vi-VN" sz="2400" b="1" smtClean="0">
                <a:solidFill>
                  <a:srgbClr val="0000CC"/>
                </a:solidFill>
              </a:rPr>
              <a:t>{  </a:t>
            </a:r>
          </a:p>
          <a:p>
            <a:pPr defTabSz="914400">
              <a:buFont typeface="Wingdings" panose="05000000000000000000" pitchFamily="2" charset="2"/>
              <a:buNone/>
            </a:pPr>
            <a:r>
              <a:rPr lang="en-US" altLang="vi-VN" sz="2400" b="1" smtClean="0">
                <a:solidFill>
                  <a:srgbClr val="0000CC"/>
                </a:solidFill>
              </a:rPr>
              <a:t>   Khai báo các biến thành phần;</a:t>
            </a:r>
          </a:p>
          <a:p>
            <a:pPr defTabSz="914400">
              <a:buFont typeface="Wingdings" panose="05000000000000000000" pitchFamily="2" charset="2"/>
              <a:buNone/>
            </a:pPr>
            <a:r>
              <a:rPr lang="en-US" altLang="vi-VN" sz="2400" b="1" smtClean="0">
                <a:solidFill>
                  <a:srgbClr val="0000CC"/>
                </a:solidFill>
              </a:rPr>
              <a:t>};</a:t>
            </a:r>
          </a:p>
        </p:txBody>
      </p:sp>
      <p:sp>
        <p:nvSpPr>
          <p:cNvPr id="686084" name="Rectangle 4"/>
          <p:cNvSpPr>
            <a:spLocks noChangeArrowheads="1"/>
          </p:cNvSpPr>
          <p:nvPr/>
        </p:nvSpPr>
        <p:spPr bwMode="auto">
          <a:xfrm>
            <a:off x="609600" y="3276600"/>
            <a:ext cx="44196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2400" b="1" u="sng" dirty="0" err="1">
                <a:solidFill>
                  <a:srgbClr val="0000CC"/>
                </a:solidFill>
              </a:rPr>
              <a:t>Ví</a:t>
            </a:r>
            <a:r>
              <a:rPr lang="en-US" altLang="vi-VN" sz="2400" b="1" u="sng" dirty="0">
                <a:solidFill>
                  <a:srgbClr val="0000CC"/>
                </a:solidFill>
              </a:rPr>
              <a:t> </a:t>
            </a:r>
            <a:r>
              <a:rPr lang="en-US" altLang="vi-VN" sz="2400" b="1" u="sng" dirty="0" err="1">
                <a:solidFill>
                  <a:srgbClr val="0000CC"/>
                </a:solidFill>
              </a:rPr>
              <a:t>dụ</a:t>
            </a:r>
            <a:r>
              <a:rPr lang="en-US" altLang="vi-VN" sz="2400" b="1" u="sng" dirty="0">
                <a:solidFill>
                  <a:srgbClr val="0000CC"/>
                </a:solidFill>
              </a:rPr>
              <a:t>:</a:t>
            </a:r>
          </a:p>
          <a:p>
            <a:pPr algn="l">
              <a:spcBef>
                <a:spcPct val="20000"/>
              </a:spcBef>
              <a:buClr>
                <a:schemeClr val="tx2"/>
              </a:buClr>
              <a:buFont typeface="Wingdings" panose="05000000000000000000" pitchFamily="2" charset="2"/>
              <a:buNone/>
            </a:pPr>
            <a:r>
              <a:rPr lang="en-US" altLang="vi-VN" sz="2400" b="1" dirty="0" err="1">
                <a:solidFill>
                  <a:srgbClr val="0000CC"/>
                </a:solidFill>
              </a:rPr>
              <a:t>struct</a:t>
            </a:r>
            <a:r>
              <a:rPr lang="en-US" altLang="vi-VN" sz="2400" b="1" dirty="0">
                <a:solidFill>
                  <a:srgbClr val="0000CC"/>
                </a:solidFill>
              </a:rPr>
              <a:t>  </a:t>
            </a:r>
            <a:r>
              <a:rPr lang="en-US" altLang="vi-VN" sz="2400" b="1" dirty="0" smtClean="0">
                <a:solidFill>
                  <a:srgbClr val="0000CC"/>
                </a:solidFill>
              </a:rPr>
              <a:t>Student</a:t>
            </a:r>
            <a:endParaRPr lang="en-US" altLang="vi-VN" sz="2400" b="1" dirty="0">
              <a:solidFill>
                <a:srgbClr val="0000CC"/>
              </a:solidFill>
            </a:endParaRPr>
          </a:p>
          <a:p>
            <a:pPr algn="l">
              <a:spcBef>
                <a:spcPct val="20000"/>
              </a:spcBef>
              <a:buClr>
                <a:schemeClr val="tx2"/>
              </a:buClr>
              <a:buFont typeface="Wingdings" panose="05000000000000000000" pitchFamily="2" charset="2"/>
              <a:buNone/>
            </a:pPr>
            <a:r>
              <a:rPr lang="en-US" altLang="vi-VN" sz="2400" b="1" dirty="0">
                <a:solidFill>
                  <a:srgbClr val="0000CC"/>
                </a:solidFill>
              </a:rPr>
              <a:t>{  char </a:t>
            </a:r>
            <a:r>
              <a:rPr lang="en-US" altLang="vi-VN" sz="2400" b="1" dirty="0" smtClean="0">
                <a:solidFill>
                  <a:srgbClr val="0000CC"/>
                </a:solidFill>
              </a:rPr>
              <a:t>Name[30</a:t>
            </a:r>
            <a:r>
              <a:rPr lang="en-US" altLang="vi-VN" sz="2400" b="1" dirty="0">
                <a:solidFill>
                  <a:srgbClr val="0000CC"/>
                </a:solidFill>
              </a:rPr>
              <a:t>];</a:t>
            </a:r>
          </a:p>
          <a:p>
            <a:pPr algn="l">
              <a:spcBef>
                <a:spcPct val="20000"/>
              </a:spcBef>
              <a:buClr>
                <a:schemeClr val="tx2"/>
              </a:buClr>
              <a:buFont typeface="Wingdings" panose="05000000000000000000" pitchFamily="2" charset="2"/>
              <a:buNone/>
            </a:pPr>
            <a:r>
              <a:rPr lang="en-US" altLang="vi-VN" sz="2400" b="1" dirty="0">
                <a:solidFill>
                  <a:srgbClr val="0000CC"/>
                </a:solidFill>
              </a:rPr>
              <a:t>    </a:t>
            </a:r>
            <a:r>
              <a:rPr lang="en-US" altLang="vi-VN" sz="2400" b="1" dirty="0" err="1">
                <a:solidFill>
                  <a:srgbClr val="0000CC"/>
                </a:solidFill>
              </a:rPr>
              <a:t>int</a:t>
            </a:r>
            <a:r>
              <a:rPr lang="en-US" altLang="vi-VN" sz="2400" b="1" dirty="0">
                <a:solidFill>
                  <a:srgbClr val="0000CC"/>
                </a:solidFill>
              </a:rPr>
              <a:t>  </a:t>
            </a:r>
            <a:r>
              <a:rPr lang="en-US" altLang="vi-VN" sz="2400" b="1" dirty="0" smtClean="0">
                <a:solidFill>
                  <a:srgbClr val="0000CC"/>
                </a:solidFill>
              </a:rPr>
              <a:t>Age;</a:t>
            </a:r>
            <a:endParaRPr lang="en-US" altLang="vi-VN" sz="2400" b="1" dirty="0">
              <a:solidFill>
                <a:srgbClr val="0000CC"/>
              </a:solidFill>
            </a:endParaRPr>
          </a:p>
          <a:p>
            <a:pPr algn="l">
              <a:spcBef>
                <a:spcPct val="20000"/>
              </a:spcBef>
              <a:buClr>
                <a:schemeClr val="tx2"/>
              </a:buClr>
              <a:buFont typeface="Wingdings" panose="05000000000000000000" pitchFamily="2" charset="2"/>
              <a:buNone/>
            </a:pPr>
            <a:r>
              <a:rPr lang="en-US" altLang="vi-VN" sz="2400" b="1" dirty="0">
                <a:solidFill>
                  <a:srgbClr val="0000CC"/>
                </a:solidFill>
              </a:rPr>
              <a:t>    float </a:t>
            </a:r>
            <a:r>
              <a:rPr lang="en-US" altLang="vi-VN" sz="2400" b="1" dirty="0" smtClean="0">
                <a:solidFill>
                  <a:srgbClr val="0000CC"/>
                </a:solidFill>
              </a:rPr>
              <a:t>Grade;</a:t>
            </a:r>
            <a:endParaRPr lang="en-US" altLang="vi-VN" sz="2400" b="1" dirty="0">
              <a:solidFill>
                <a:srgbClr val="0000CC"/>
              </a:solidFill>
            </a:endParaRPr>
          </a:p>
          <a:p>
            <a:pPr algn="l">
              <a:spcBef>
                <a:spcPct val="20000"/>
              </a:spcBef>
              <a:buClr>
                <a:schemeClr val="tx2"/>
              </a:buClr>
              <a:buFont typeface="Wingdings" panose="05000000000000000000" pitchFamily="2" charset="2"/>
              <a:buNone/>
            </a:pPr>
            <a:r>
              <a:rPr lang="en-US" altLang="vi-VN" sz="2400" b="1" dirty="0">
                <a:solidFill>
                  <a:srgbClr val="0000CC"/>
                </a:solidFill>
              </a:rPr>
              <a:t>} ;</a:t>
            </a:r>
          </a:p>
        </p:txBody>
      </p:sp>
      <p:sp>
        <p:nvSpPr>
          <p:cNvPr id="686085" name="AutoShape 5"/>
          <p:cNvSpPr>
            <a:spLocks noChangeArrowheads="1"/>
          </p:cNvSpPr>
          <p:nvPr/>
        </p:nvSpPr>
        <p:spPr bwMode="auto">
          <a:xfrm>
            <a:off x="6781800" y="2438400"/>
            <a:ext cx="1600200" cy="1600200"/>
          </a:xfrm>
          <a:prstGeom prst="wedgeEllipseCallout">
            <a:avLst>
              <a:gd name="adj1" fmla="val -267458"/>
              <a:gd name="adj2" fmla="val 39287"/>
            </a:avLst>
          </a:prstGeom>
          <a:solidFill>
            <a:schemeClr val="bg2"/>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Tên struct</a:t>
            </a:r>
            <a:endParaRPr lang="vi-VN" altLang="vi-VN" sz="2200">
              <a:solidFill>
                <a:srgbClr val="0000CC"/>
              </a:solidFill>
              <a:latin typeface="Tahoma" panose="020B0604030504040204" pitchFamily="34" charset="0"/>
            </a:endParaRPr>
          </a:p>
        </p:txBody>
      </p:sp>
      <p:grpSp>
        <p:nvGrpSpPr>
          <p:cNvPr id="686092" name="Group 12"/>
          <p:cNvGrpSpPr>
            <a:grpSpLocks/>
          </p:cNvGrpSpPr>
          <p:nvPr/>
        </p:nvGrpSpPr>
        <p:grpSpPr bwMode="auto">
          <a:xfrm>
            <a:off x="3657600" y="4191000"/>
            <a:ext cx="4876800" cy="1285875"/>
            <a:chOff x="2304" y="2628"/>
            <a:chExt cx="3072" cy="810"/>
          </a:xfrm>
        </p:grpSpPr>
        <p:sp>
          <p:nvSpPr>
            <p:cNvPr id="7177" name="AutoShape 7"/>
            <p:cNvSpPr>
              <a:spLocks noChangeArrowheads="1"/>
            </p:cNvSpPr>
            <p:nvPr/>
          </p:nvSpPr>
          <p:spPr bwMode="auto">
            <a:xfrm>
              <a:off x="3498" y="2628"/>
              <a:ext cx="1878" cy="570"/>
            </a:xfrm>
            <a:prstGeom prst="wedgeRectCallout">
              <a:avLst>
                <a:gd name="adj1" fmla="val -98616"/>
                <a:gd name="adj2" fmla="val 29125"/>
              </a:avLst>
            </a:prstGeom>
            <a:solidFill>
              <a:schemeClr val="bg2"/>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Các biến thành phần</a:t>
              </a:r>
              <a:r>
                <a:rPr lang="vi-VN" altLang="vi-VN" sz="2200">
                  <a:solidFill>
                    <a:srgbClr val="0000CC"/>
                  </a:solidFill>
                </a:rPr>
                <a:t>, có thể khác kiểu</a:t>
              </a:r>
            </a:p>
          </p:txBody>
        </p:sp>
        <p:sp>
          <p:nvSpPr>
            <p:cNvPr id="7178" name="AutoShape 8"/>
            <p:cNvSpPr>
              <a:spLocks/>
            </p:cNvSpPr>
            <p:nvPr/>
          </p:nvSpPr>
          <p:spPr bwMode="auto">
            <a:xfrm>
              <a:off x="2304" y="2640"/>
              <a:ext cx="258" cy="798"/>
            </a:xfrm>
            <a:prstGeom prst="rightBrace">
              <a:avLst>
                <a:gd name="adj1" fmla="val 25775"/>
                <a:gd name="adj2" fmla="val 55505"/>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grpSp>
      <p:sp>
        <p:nvSpPr>
          <p:cNvPr id="7176" name="Rectangle 13"/>
          <p:cNvSpPr>
            <a:spLocks noGrp="1"/>
          </p:cNvSpPr>
          <p:nvPr>
            <p:ph type="title"/>
          </p:nvPr>
        </p:nvSpPr>
        <p:spPr>
          <a:xfrm>
            <a:off x="1760763" y="361157"/>
            <a:ext cx="6131379" cy="781843"/>
          </a:xfrm>
        </p:spPr>
        <p:txBody>
          <a:bodyPr/>
          <a:lstStyle/>
          <a:p>
            <a:r>
              <a:rPr lang="en-US" altLang="vi-VN" b="1" dirty="0" err="1" smtClean="0">
                <a:solidFill>
                  <a:srgbClr val="0000CC"/>
                </a:solidFill>
              </a:rPr>
              <a:t>Định</a:t>
            </a:r>
            <a:r>
              <a:rPr lang="en-US" altLang="vi-VN" b="1" dirty="0" smtClean="0">
                <a:solidFill>
                  <a:srgbClr val="0000CC"/>
                </a:solidFill>
              </a:rPr>
              <a:t> </a:t>
            </a:r>
            <a:r>
              <a:rPr lang="en-US" altLang="vi-VN" b="1" dirty="0" err="1" smtClean="0">
                <a:solidFill>
                  <a:srgbClr val="0000CC"/>
                </a:solidFill>
              </a:rPr>
              <a:t>nghĩa</a:t>
            </a:r>
            <a:r>
              <a:rPr lang="en-US" altLang="vi-VN" b="1" dirty="0" smtClean="0">
                <a:solidFill>
                  <a:srgbClr val="0000CC"/>
                </a:solidFill>
              </a:rPr>
              <a:t> </a:t>
            </a:r>
            <a:r>
              <a:rPr lang="en-US" altLang="vi-VN" b="1" dirty="0" err="1" smtClean="0">
                <a:solidFill>
                  <a:srgbClr val="0000CC"/>
                </a:solidFill>
              </a:rPr>
              <a:t>kiểu</a:t>
            </a:r>
            <a:r>
              <a:rPr lang="en-US" altLang="vi-VN" b="1" dirty="0" smtClean="0">
                <a:solidFill>
                  <a:srgbClr val="0000CC"/>
                </a:solidFill>
              </a:rPr>
              <a:t> </a:t>
            </a:r>
            <a:r>
              <a:rPr lang="en-US" altLang="vi-VN" b="1" dirty="0" err="1" smtClean="0">
                <a:solidFill>
                  <a:srgbClr val="0000CC"/>
                </a:solidFill>
              </a:rPr>
              <a:t>struct</a:t>
            </a:r>
            <a:endParaRPr lang="en-US" altLang="vi-VN" b="1" dirty="0" smtClean="0">
              <a:solidFill>
                <a:srgbClr val="0000CC"/>
              </a:solidFill>
            </a:endParaRPr>
          </a:p>
        </p:txBody>
      </p:sp>
    </p:spTree>
    <p:extLst>
      <p:ext uri="{BB962C8B-B14F-4D97-AF65-F5344CB8AC3E}">
        <p14:creationId xmlns:p14="http://schemas.microsoft.com/office/powerpoint/2010/main" val="4237864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084"/>
                                        </p:tgtEl>
                                        <p:attrNameLst>
                                          <p:attrName>style.visibility</p:attrName>
                                        </p:attrNameLst>
                                      </p:cBhvr>
                                      <p:to>
                                        <p:strVal val="visible"/>
                                      </p:to>
                                    </p:set>
                                    <p:anim calcmode="lin" valueType="num">
                                      <p:cBhvr additive="base">
                                        <p:cTn id="7" dur="2000" fill="hold"/>
                                        <p:tgtEl>
                                          <p:spTgt spid="686084"/>
                                        </p:tgtEl>
                                        <p:attrNameLst>
                                          <p:attrName>ppt_x</p:attrName>
                                        </p:attrNameLst>
                                      </p:cBhvr>
                                      <p:tavLst>
                                        <p:tav tm="0">
                                          <p:val>
                                            <p:strVal val="#ppt_x"/>
                                          </p:val>
                                        </p:tav>
                                        <p:tav tm="100000">
                                          <p:val>
                                            <p:strVal val="#ppt_x"/>
                                          </p:val>
                                        </p:tav>
                                      </p:tavLst>
                                    </p:anim>
                                    <p:anim calcmode="lin" valueType="num">
                                      <p:cBhvr additive="base">
                                        <p:cTn id="8" dur="2000" fill="hold"/>
                                        <p:tgtEl>
                                          <p:spTgt spid="6860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686085"/>
                                        </p:tgtEl>
                                        <p:attrNameLst>
                                          <p:attrName>style.visibility</p:attrName>
                                        </p:attrNameLst>
                                      </p:cBhvr>
                                      <p:to>
                                        <p:strVal val="visible"/>
                                      </p:to>
                                    </p:set>
                                    <p:animEffect transition="in" filter="checkerboard(across)">
                                      <p:cBhvr>
                                        <p:cTn id="13" dur="2000"/>
                                        <p:tgtEl>
                                          <p:spTgt spid="68608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686092"/>
                                        </p:tgtEl>
                                        <p:attrNameLst>
                                          <p:attrName>style.visibility</p:attrName>
                                        </p:attrNameLst>
                                      </p:cBhvr>
                                      <p:to>
                                        <p:strVal val="visible"/>
                                      </p:to>
                                    </p:set>
                                    <p:anim calcmode="lin" valueType="num">
                                      <p:cBhvr additive="base">
                                        <p:cTn id="18" dur="500" fill="hold"/>
                                        <p:tgtEl>
                                          <p:spTgt spid="686092"/>
                                        </p:tgtEl>
                                        <p:attrNameLst>
                                          <p:attrName>ppt_x</p:attrName>
                                        </p:attrNameLst>
                                      </p:cBhvr>
                                      <p:tavLst>
                                        <p:tav tm="0">
                                          <p:val>
                                            <p:strVal val="#ppt_x"/>
                                          </p:val>
                                        </p:tav>
                                        <p:tav tm="100000">
                                          <p:val>
                                            <p:strVal val="#ppt_x"/>
                                          </p:val>
                                        </p:tav>
                                      </p:tavLst>
                                    </p:anim>
                                    <p:anim calcmode="lin" valueType="num">
                                      <p:cBhvr additive="base">
                                        <p:cTn id="19" dur="500" fill="hold"/>
                                        <p:tgtEl>
                                          <p:spTgt spid="6860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84" grpId="0"/>
      <p:bldP spid="68608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8711F4-97F6-41E1-A7BE-A278F3607836}" type="slidenum">
              <a:rPr lang="en-US" altLang="vi-VN">
                <a:solidFill>
                  <a:srgbClr val="FFFF00"/>
                </a:solidFill>
              </a:rPr>
              <a:pPr eaLnBrk="1" hangingPunct="1"/>
              <a:t>6</a:t>
            </a:fld>
            <a:endParaRPr lang="en-GB" altLang="vi-VN">
              <a:solidFill>
                <a:srgbClr val="FFFF00"/>
              </a:solidFill>
            </a:endParaRPr>
          </a:p>
        </p:txBody>
      </p:sp>
      <p:sp>
        <p:nvSpPr>
          <p:cNvPr id="688131" name="Rectangle 3"/>
          <p:cNvSpPr>
            <a:spLocks noGrp="1" noChangeArrowheads="1"/>
          </p:cNvSpPr>
          <p:nvPr>
            <p:ph type="body" idx="1"/>
          </p:nvPr>
        </p:nvSpPr>
        <p:spPr>
          <a:xfrm>
            <a:off x="533400" y="1600200"/>
            <a:ext cx="8305800" cy="1387475"/>
          </a:xfrm>
          <a:solidFill>
            <a:srgbClr val="DDDDDD"/>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914400" eaLnBrk="1" hangingPunct="1">
              <a:spcBef>
                <a:spcPct val="0"/>
              </a:spcBef>
              <a:buClrTx/>
              <a:buFontTx/>
              <a:buNone/>
            </a:pPr>
            <a:endParaRPr lang="en-US" altLang="vi-VN" smtClean="0">
              <a:solidFill>
                <a:srgbClr val="0000CC"/>
              </a:solidFill>
            </a:endParaRPr>
          </a:p>
          <a:p>
            <a:pPr algn="ctr" defTabSz="914400" eaLnBrk="1" hangingPunct="1">
              <a:spcBef>
                <a:spcPct val="0"/>
              </a:spcBef>
              <a:buClrTx/>
              <a:buFontTx/>
              <a:buNone/>
            </a:pPr>
            <a:r>
              <a:rPr lang="en-US" altLang="vi-VN" smtClean="0">
                <a:solidFill>
                  <a:srgbClr val="0000CC"/>
                </a:solidFill>
              </a:rPr>
              <a:t>Tênstruct.Tênbiếnthànhphần</a:t>
            </a:r>
          </a:p>
        </p:txBody>
      </p:sp>
      <p:sp>
        <p:nvSpPr>
          <p:cNvPr id="688132" name="Rectangle 4"/>
          <p:cNvSpPr>
            <a:spLocks noChangeArrowheads="1"/>
          </p:cNvSpPr>
          <p:nvPr/>
        </p:nvSpPr>
        <p:spPr bwMode="auto">
          <a:xfrm>
            <a:off x="2667000" y="3276600"/>
            <a:ext cx="4038600" cy="17526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3200" u="sng" dirty="0" err="1">
                <a:solidFill>
                  <a:srgbClr val="0000CC"/>
                </a:solidFill>
              </a:rPr>
              <a:t>Ví</a:t>
            </a:r>
            <a:r>
              <a:rPr lang="en-US" altLang="vi-VN" sz="3200" u="sng" dirty="0">
                <a:solidFill>
                  <a:srgbClr val="0000CC"/>
                </a:solidFill>
              </a:rPr>
              <a:t> </a:t>
            </a:r>
            <a:r>
              <a:rPr lang="en-US" altLang="vi-VN" sz="3200" u="sng" dirty="0" err="1">
                <a:solidFill>
                  <a:srgbClr val="0000CC"/>
                </a:solidFill>
              </a:rPr>
              <a:t>dụ</a:t>
            </a:r>
            <a:r>
              <a:rPr lang="en-US" altLang="vi-VN" sz="3200" dirty="0">
                <a:solidFill>
                  <a:srgbClr val="0000CC"/>
                </a:solidFill>
              </a:rPr>
              <a:t>:</a:t>
            </a:r>
          </a:p>
          <a:p>
            <a:pPr algn="l">
              <a:spcBef>
                <a:spcPct val="20000"/>
              </a:spcBef>
              <a:buClr>
                <a:schemeClr val="tx2"/>
              </a:buClr>
              <a:buFont typeface="Wingdings" panose="05000000000000000000" pitchFamily="2" charset="2"/>
              <a:buNone/>
            </a:pPr>
            <a:r>
              <a:rPr lang="en-US" altLang="vi-VN" sz="3200" dirty="0" err="1" smtClean="0">
                <a:solidFill>
                  <a:srgbClr val="0000CC"/>
                </a:solidFill>
              </a:rPr>
              <a:t>Student.Name</a:t>
            </a:r>
            <a:endParaRPr lang="en-US" altLang="vi-VN" sz="3200" dirty="0">
              <a:solidFill>
                <a:srgbClr val="0000CC"/>
              </a:solidFill>
            </a:endParaRPr>
          </a:p>
          <a:p>
            <a:pPr algn="l">
              <a:spcBef>
                <a:spcPct val="20000"/>
              </a:spcBef>
              <a:buClr>
                <a:schemeClr val="tx2"/>
              </a:buClr>
              <a:buFont typeface="Wingdings" panose="05000000000000000000" pitchFamily="2" charset="2"/>
              <a:buNone/>
            </a:pPr>
            <a:r>
              <a:rPr lang="en-US" altLang="vi-VN" sz="3200" dirty="0" err="1" smtClean="0">
                <a:solidFill>
                  <a:srgbClr val="0000CC"/>
                </a:solidFill>
              </a:rPr>
              <a:t>Student.Age</a:t>
            </a:r>
            <a:endParaRPr lang="en-US" altLang="vi-VN" sz="3200" dirty="0">
              <a:solidFill>
                <a:srgbClr val="0000CC"/>
              </a:solidFill>
            </a:endParaRPr>
          </a:p>
        </p:txBody>
      </p:sp>
      <p:sp>
        <p:nvSpPr>
          <p:cNvPr id="8198" name="Rectangle 5"/>
          <p:cNvSpPr>
            <a:spLocks noGrp="1"/>
          </p:cNvSpPr>
          <p:nvPr>
            <p:ph type="title"/>
          </p:nvPr>
        </p:nvSpPr>
        <p:spPr>
          <a:xfrm>
            <a:off x="1894114" y="468086"/>
            <a:ext cx="6621236" cy="547689"/>
          </a:xfrm>
        </p:spPr>
        <p:txBody>
          <a:bodyPr>
            <a:normAutofit fontScale="90000"/>
          </a:bodyPr>
          <a:lstStyle/>
          <a:p>
            <a:r>
              <a:rPr lang="en-US" altLang="vi-VN" b="1" dirty="0" err="1" smtClean="0">
                <a:solidFill>
                  <a:srgbClr val="0000CC"/>
                </a:solidFill>
              </a:rPr>
              <a:t>Truy</a:t>
            </a:r>
            <a:r>
              <a:rPr lang="en-US" altLang="vi-VN" b="1" dirty="0" smtClean="0">
                <a:solidFill>
                  <a:srgbClr val="0000CC"/>
                </a:solidFill>
              </a:rPr>
              <a:t> </a:t>
            </a:r>
            <a:r>
              <a:rPr lang="en-US" altLang="vi-VN" b="1" dirty="0" err="1" smtClean="0">
                <a:solidFill>
                  <a:srgbClr val="0000CC"/>
                </a:solidFill>
              </a:rPr>
              <a:t>xuất</a:t>
            </a:r>
            <a:r>
              <a:rPr lang="en-US" altLang="vi-VN" b="1" dirty="0" smtClean="0">
                <a:solidFill>
                  <a:srgbClr val="0000CC"/>
                </a:solidFill>
              </a:rPr>
              <a:t> </a:t>
            </a:r>
            <a:r>
              <a:rPr lang="en-US" altLang="vi-VN" b="1" dirty="0" err="1" smtClean="0">
                <a:solidFill>
                  <a:srgbClr val="0000CC"/>
                </a:solidFill>
              </a:rPr>
              <a:t>các</a:t>
            </a:r>
            <a:r>
              <a:rPr lang="en-US" altLang="vi-VN" b="1" dirty="0" smtClean="0">
                <a:solidFill>
                  <a:srgbClr val="0000CC"/>
                </a:solidFill>
              </a:rPr>
              <a:t> </a:t>
            </a:r>
            <a:r>
              <a:rPr lang="en-US" altLang="vi-VN" b="1" dirty="0" err="1" smtClean="0">
                <a:solidFill>
                  <a:srgbClr val="0000CC"/>
                </a:solidFill>
              </a:rPr>
              <a:t>phần</a:t>
            </a:r>
            <a:r>
              <a:rPr lang="en-US" altLang="vi-VN" b="1" dirty="0" smtClean="0">
                <a:solidFill>
                  <a:srgbClr val="0000CC"/>
                </a:solidFill>
              </a:rPr>
              <a:t> </a:t>
            </a:r>
            <a:r>
              <a:rPr lang="en-US" altLang="vi-VN" b="1" dirty="0" err="1" smtClean="0">
                <a:solidFill>
                  <a:srgbClr val="0000CC"/>
                </a:solidFill>
              </a:rPr>
              <a:t>tử</a:t>
            </a:r>
            <a:r>
              <a:rPr lang="en-US" altLang="vi-VN" b="1" dirty="0" smtClean="0">
                <a:solidFill>
                  <a:srgbClr val="0000CC"/>
                </a:solidFill>
              </a:rPr>
              <a:t> </a:t>
            </a:r>
            <a:r>
              <a:rPr lang="en-US" altLang="vi-VN" b="1" dirty="0" err="1" smtClean="0">
                <a:solidFill>
                  <a:srgbClr val="0000CC"/>
                </a:solidFill>
              </a:rPr>
              <a:t>struct</a:t>
            </a:r>
            <a:endParaRPr lang="en-US" altLang="vi-VN" b="1" dirty="0" smtClean="0">
              <a:solidFill>
                <a:srgbClr val="0000CC"/>
              </a:solidFill>
            </a:endParaRPr>
          </a:p>
        </p:txBody>
      </p:sp>
    </p:spTree>
    <p:extLst>
      <p:ext uri="{BB962C8B-B14F-4D97-AF65-F5344CB8AC3E}">
        <p14:creationId xmlns:p14="http://schemas.microsoft.com/office/powerpoint/2010/main" val="301820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8131">
                                            <p:bg/>
                                          </p:spTgt>
                                        </p:tgtEl>
                                        <p:attrNameLst>
                                          <p:attrName>style.visibility</p:attrName>
                                        </p:attrNameLst>
                                      </p:cBhvr>
                                      <p:to>
                                        <p:strVal val="visible"/>
                                      </p:to>
                                    </p:set>
                                    <p:anim calcmode="lin" valueType="num">
                                      <p:cBhvr additive="base">
                                        <p:cTn id="7" dur="500" fill="hold"/>
                                        <p:tgtEl>
                                          <p:spTgt spid="688131">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88131">
                                            <p:bg/>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1" presetClass="entr" presetSubtype="0" fill="hold" grpId="0" nodeType="clickEffect">
                                  <p:stCondLst>
                                    <p:cond delay="0"/>
                                  </p:stCondLst>
                                  <p:iterate type="lt">
                                    <p:tmPct val="5000"/>
                                  </p:iterate>
                                  <p:childTnLst>
                                    <p:set>
                                      <p:cBhvr>
                                        <p:cTn id="12" dur="1" fill="hold">
                                          <p:stCondLst>
                                            <p:cond delay="0"/>
                                          </p:stCondLst>
                                        </p:cTn>
                                        <p:tgtEl>
                                          <p:spTgt spid="688132"/>
                                        </p:tgtEl>
                                        <p:attrNameLst>
                                          <p:attrName>style.visibility</p:attrName>
                                        </p:attrNameLst>
                                      </p:cBhvr>
                                      <p:to>
                                        <p:strVal val="visible"/>
                                      </p:to>
                                    </p:set>
                                    <p:anim calcmode="lin" valueType="num">
                                      <p:cBhvr>
                                        <p:cTn id="13" dur="1000" fill="hold"/>
                                        <p:tgtEl>
                                          <p:spTgt spid="688132"/>
                                        </p:tgtEl>
                                        <p:attrNameLst>
                                          <p:attrName>ppt_w</p:attrName>
                                        </p:attrNameLst>
                                      </p:cBhvr>
                                      <p:tavLst>
                                        <p:tav tm="0">
                                          <p:val>
                                            <p:fltVal val="0"/>
                                          </p:val>
                                        </p:tav>
                                        <p:tav tm="100000">
                                          <p:val>
                                            <p:strVal val="#ppt_w"/>
                                          </p:val>
                                        </p:tav>
                                      </p:tavLst>
                                    </p:anim>
                                    <p:anim calcmode="lin" valueType="num">
                                      <p:cBhvr>
                                        <p:cTn id="14" dur="1000" fill="hold"/>
                                        <p:tgtEl>
                                          <p:spTgt spid="688132"/>
                                        </p:tgtEl>
                                        <p:attrNameLst>
                                          <p:attrName>ppt_h</p:attrName>
                                        </p:attrNameLst>
                                      </p:cBhvr>
                                      <p:tavLst>
                                        <p:tav tm="0">
                                          <p:val>
                                            <p:fltVal val="0"/>
                                          </p:val>
                                        </p:tav>
                                        <p:tav tm="100000">
                                          <p:val>
                                            <p:strVal val="#ppt_h"/>
                                          </p:val>
                                        </p:tav>
                                      </p:tavLst>
                                    </p:anim>
                                    <p:anim calcmode="lin" valueType="num">
                                      <p:cBhvr>
                                        <p:cTn id="15" dur="1000" fill="hold"/>
                                        <p:tgtEl>
                                          <p:spTgt spid="688132"/>
                                        </p:tgtEl>
                                        <p:attrNameLst>
                                          <p:attrName>style.rotation</p:attrName>
                                        </p:attrNameLst>
                                      </p:cBhvr>
                                      <p:tavLst>
                                        <p:tav tm="0">
                                          <p:val>
                                            <p:fltVal val="90"/>
                                          </p:val>
                                        </p:tav>
                                        <p:tav tm="100000">
                                          <p:val>
                                            <p:fltVal val="0"/>
                                          </p:val>
                                        </p:tav>
                                      </p:tavLst>
                                    </p:anim>
                                    <p:animEffect transition="in" filter="fade">
                                      <p:cBhvr>
                                        <p:cTn id="16" dur="1000"/>
                                        <p:tgtEl>
                                          <p:spTgt spid="68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1" grpId="0" build="p" animBg="1"/>
      <p:bldP spid="6881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05B382-9A66-4B20-9E30-736D7DA69D88}" type="slidenum">
              <a:rPr lang="en-US" altLang="vi-VN">
                <a:solidFill>
                  <a:srgbClr val="FFFF00"/>
                </a:solidFill>
              </a:rPr>
              <a:pPr eaLnBrk="1" hangingPunct="1"/>
              <a:t>7</a:t>
            </a:fld>
            <a:endParaRPr lang="en-GB" altLang="vi-VN">
              <a:solidFill>
                <a:srgbClr val="FFFF00"/>
              </a:solidFill>
            </a:endParaRPr>
          </a:p>
        </p:txBody>
      </p:sp>
      <p:sp>
        <p:nvSpPr>
          <p:cNvPr id="9220" name="Rectangle 3"/>
          <p:cNvSpPr>
            <a:spLocks noGrp="1" noChangeArrowheads="1"/>
          </p:cNvSpPr>
          <p:nvPr>
            <p:ph type="body" idx="1"/>
          </p:nvPr>
        </p:nvSpPr>
        <p:spPr>
          <a:xfrm>
            <a:off x="3439886" y="1147763"/>
            <a:ext cx="4822371" cy="5253037"/>
          </a:xfrm>
          <a:solidFill>
            <a:srgbClr val="CCFF99"/>
          </a:solidFill>
          <a:ln>
            <a:solidFill>
              <a:srgbClr val="0000CC"/>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fontScale="92500" lnSpcReduction="20000"/>
          </a:bodyPr>
          <a:lstStyle/>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#include &lt;</a:t>
            </a:r>
            <a:r>
              <a:rPr lang="en-US" altLang="vi-VN" sz="2000" dirty="0" err="1" smtClean="0">
                <a:solidFill>
                  <a:srgbClr val="0000CC"/>
                </a:solidFill>
                <a:latin typeface="Tahoma" panose="020B0604030504040204" pitchFamily="34" charset="0"/>
              </a:rPr>
              <a:t>conio.h</a:t>
            </a:r>
            <a:r>
              <a:rPr lang="en-US" altLang="vi-VN" sz="2000" dirty="0" smtClean="0">
                <a:solidFill>
                  <a:srgbClr val="0000CC"/>
                </a:solidFill>
                <a:latin typeface="Tahoma" panose="020B0604030504040204" pitchFamily="34" charset="0"/>
              </a:rPr>
              <a:t>&gt;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#include &lt;</a:t>
            </a:r>
            <a:r>
              <a:rPr lang="en-US" altLang="vi-VN" sz="2000" dirty="0" err="1" smtClean="0">
                <a:solidFill>
                  <a:srgbClr val="0000CC"/>
                </a:solidFill>
                <a:latin typeface="Tahoma" panose="020B0604030504040204" pitchFamily="34" charset="0"/>
              </a:rPr>
              <a:t>stdio.h</a:t>
            </a:r>
            <a:r>
              <a:rPr lang="en-US" altLang="vi-VN" sz="2000" dirty="0" smtClean="0">
                <a:solidFill>
                  <a:srgbClr val="0000CC"/>
                </a:solidFill>
                <a:latin typeface="Tahoma" panose="020B0604030504040204" pitchFamily="34" charset="0"/>
              </a:rPr>
              <a:t>&gt;</a:t>
            </a:r>
          </a:p>
          <a:p>
            <a:pPr defTabSz="914400">
              <a:lnSpc>
                <a:spcPct val="80000"/>
              </a:lnSpc>
              <a:buFont typeface="Wingdings" panose="05000000000000000000" pitchFamily="2" charset="2"/>
              <a:buNone/>
            </a:pPr>
            <a:r>
              <a:rPr lang="en-US" altLang="vi-VN" sz="2000" dirty="0" err="1" smtClean="0">
                <a:solidFill>
                  <a:srgbClr val="0000CC"/>
                </a:solidFill>
                <a:latin typeface="Tahoma" panose="020B0604030504040204" pitchFamily="34" charset="0"/>
              </a:rPr>
              <a:t>struct</a:t>
            </a:r>
            <a:r>
              <a:rPr lang="en-US" altLang="vi-VN" sz="2000" dirty="0" smtClean="0">
                <a:solidFill>
                  <a:srgbClr val="0000CC"/>
                </a:solidFill>
                <a:latin typeface="Tahoma" panose="020B0604030504040204" pitchFamily="34" charset="0"/>
              </a:rPr>
              <a:t>  Student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char Name[15];</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int</a:t>
            </a:r>
            <a:r>
              <a:rPr lang="en-US" altLang="vi-VN" sz="2000" dirty="0" smtClean="0">
                <a:solidFill>
                  <a:srgbClr val="0000CC"/>
                </a:solidFill>
                <a:latin typeface="Tahoma" panose="020B0604030504040204" pitchFamily="34" charset="0"/>
              </a:rPr>
              <a:t> Age;</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void main()</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Student </a:t>
            </a:r>
            <a:r>
              <a:rPr lang="en-US" altLang="vi-VN" sz="2000" dirty="0" err="1" smtClean="0">
                <a:solidFill>
                  <a:srgbClr val="0000CC"/>
                </a:solidFill>
                <a:latin typeface="Tahoma" panose="020B0604030504040204" pitchFamily="34" charset="0"/>
              </a:rPr>
              <a:t>st</a:t>
            </a: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printf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err="1" smtClean="0">
                <a:solidFill>
                  <a:srgbClr val="0000CC"/>
                </a:solidFill>
                <a:latin typeface="Tahoma" panose="020B0604030504040204" pitchFamily="34" charset="0"/>
              </a:rPr>
              <a:t>Nhap</a:t>
            </a:r>
            <a:r>
              <a:rPr lang="en-US" altLang="vi-VN" sz="2000" dirty="0" smtClean="0">
                <a:solidFill>
                  <a:srgbClr val="0000CC"/>
                </a:solidFill>
                <a:latin typeface="Tahoma" panose="020B0604030504040204" pitchFamily="34" charset="0"/>
              </a:rPr>
              <a:t> ho ten:</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gets(</a:t>
            </a:r>
            <a:r>
              <a:rPr lang="en-US" altLang="vi-VN" sz="2000" dirty="0" err="1" smtClean="0">
                <a:solidFill>
                  <a:srgbClr val="0000CC"/>
                </a:solidFill>
                <a:latin typeface="Tahoma" panose="020B0604030504040204" pitchFamily="34" charset="0"/>
              </a:rPr>
              <a:t>st.Hoten</a:t>
            </a: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printf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err="1" smtClean="0">
                <a:solidFill>
                  <a:srgbClr val="0000CC"/>
                </a:solidFill>
                <a:latin typeface="Tahoma" panose="020B0604030504040204" pitchFamily="34" charset="0"/>
              </a:rPr>
              <a:t>Nhap</a:t>
            </a: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tuoi</a:t>
            </a:r>
            <a:r>
              <a:rPr lang="en-US" altLang="vi-VN" sz="2000" dirty="0" smtClean="0">
                <a:solidFill>
                  <a:srgbClr val="0000CC"/>
                </a:solidFill>
                <a:latin typeface="Tahoma" panose="020B0604030504040204" pitchFamily="34" charset="0"/>
              </a:rPr>
              <a:t>: </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scanf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%d</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&amp;</a:t>
            </a:r>
            <a:r>
              <a:rPr lang="en-US" altLang="vi-VN" sz="2000" dirty="0" err="1" smtClean="0">
                <a:solidFill>
                  <a:srgbClr val="0000CC"/>
                </a:solidFill>
                <a:latin typeface="Tahoma" panose="020B0604030504040204" pitchFamily="34" charset="0"/>
              </a:rPr>
              <a:t>st.Age</a:t>
            </a:r>
            <a:r>
              <a:rPr lang="en-US" altLang="vi-VN" sz="2000" dirty="0" smtClean="0">
                <a:solidFill>
                  <a:srgbClr val="0000CC"/>
                </a:solidFill>
                <a:latin typeface="Tahoma" panose="020B0604030504040204" pitchFamily="34" charset="0"/>
              </a:rPr>
              <a:t>);</a:t>
            </a:r>
            <a:endParaRPr lang="en-US" altLang="vi-VN" sz="2000" dirty="0">
              <a:solidFill>
                <a:srgbClr val="0000CC"/>
              </a:solidFill>
              <a:latin typeface="Tahoma" panose="020B0604030504040204" pitchFamily="34" charset="0"/>
            </a:endParaRPr>
          </a:p>
          <a:p>
            <a:pPr defTabSz="914400">
              <a:lnSpc>
                <a:spcPct val="80000"/>
              </a:lnSpc>
              <a:buFont typeface="Wingdings" panose="05000000000000000000" pitchFamily="2" charset="2"/>
              <a:buNone/>
            </a:pPr>
            <a:endParaRPr lang="en-US" altLang="vi-VN" sz="2000" dirty="0" smtClean="0">
              <a:solidFill>
                <a:srgbClr val="0000CC"/>
              </a:solidFill>
              <a:latin typeface="Tahoma" panose="020B0604030504040204" pitchFamily="34" charset="0"/>
            </a:endParaRP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printf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%20s %3d</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st.Name</a:t>
            </a: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sv.Age</a:t>
            </a: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getch</a:t>
            </a: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a:t>
            </a:r>
          </a:p>
        </p:txBody>
      </p:sp>
      <p:sp>
        <p:nvSpPr>
          <p:cNvPr id="9221" name="Rectangle 5"/>
          <p:cNvSpPr>
            <a:spLocks noGrp="1"/>
          </p:cNvSpPr>
          <p:nvPr>
            <p:ph type="title"/>
          </p:nvPr>
        </p:nvSpPr>
        <p:spPr>
          <a:xfrm>
            <a:off x="1872342" y="365126"/>
            <a:ext cx="6643007" cy="782637"/>
          </a:xfrm>
        </p:spPr>
        <p:txBody>
          <a:bodyPr/>
          <a:lstStyle/>
          <a:p>
            <a:r>
              <a:rPr lang="en-US" altLang="vi-VN" b="1" dirty="0" err="1" smtClean="0">
                <a:solidFill>
                  <a:srgbClr val="0000CC"/>
                </a:solidFill>
              </a:rPr>
              <a:t>Truy</a:t>
            </a:r>
            <a:r>
              <a:rPr lang="en-US" altLang="vi-VN" b="1" dirty="0" smtClean="0">
                <a:solidFill>
                  <a:srgbClr val="0000CC"/>
                </a:solidFill>
              </a:rPr>
              <a:t> </a:t>
            </a:r>
            <a:r>
              <a:rPr lang="en-US" altLang="vi-VN" b="1" dirty="0" err="1" smtClean="0">
                <a:solidFill>
                  <a:srgbClr val="0000CC"/>
                </a:solidFill>
              </a:rPr>
              <a:t>xuất</a:t>
            </a:r>
            <a:r>
              <a:rPr lang="en-US" altLang="vi-VN" b="1" dirty="0" smtClean="0">
                <a:solidFill>
                  <a:srgbClr val="0000CC"/>
                </a:solidFill>
              </a:rPr>
              <a:t> </a:t>
            </a:r>
            <a:r>
              <a:rPr lang="en-US" altLang="vi-VN" b="1" dirty="0" err="1" smtClean="0">
                <a:solidFill>
                  <a:srgbClr val="0000CC"/>
                </a:solidFill>
              </a:rPr>
              <a:t>các</a:t>
            </a:r>
            <a:r>
              <a:rPr lang="en-US" altLang="vi-VN" b="1" dirty="0" smtClean="0">
                <a:solidFill>
                  <a:srgbClr val="0000CC"/>
                </a:solidFill>
              </a:rPr>
              <a:t> </a:t>
            </a:r>
            <a:r>
              <a:rPr lang="en-US" altLang="vi-VN" b="1" dirty="0" err="1" smtClean="0">
                <a:solidFill>
                  <a:srgbClr val="0000CC"/>
                </a:solidFill>
              </a:rPr>
              <a:t>phần</a:t>
            </a:r>
            <a:r>
              <a:rPr lang="en-US" altLang="vi-VN" b="1" dirty="0" smtClean="0">
                <a:solidFill>
                  <a:srgbClr val="0000CC"/>
                </a:solidFill>
              </a:rPr>
              <a:t> </a:t>
            </a:r>
            <a:r>
              <a:rPr lang="en-US" altLang="vi-VN" b="1" dirty="0" err="1" smtClean="0">
                <a:solidFill>
                  <a:srgbClr val="0000CC"/>
                </a:solidFill>
              </a:rPr>
              <a:t>tử</a:t>
            </a:r>
            <a:r>
              <a:rPr lang="en-US" altLang="vi-VN" b="1" dirty="0" smtClean="0">
                <a:solidFill>
                  <a:srgbClr val="0000CC"/>
                </a:solidFill>
              </a:rPr>
              <a:t> </a:t>
            </a:r>
            <a:r>
              <a:rPr lang="en-US" altLang="vi-VN" b="1" dirty="0" err="1" smtClean="0">
                <a:solidFill>
                  <a:srgbClr val="0000CC"/>
                </a:solidFill>
              </a:rPr>
              <a:t>struct</a:t>
            </a:r>
            <a:endParaRPr lang="en-US" altLang="vi-VN" b="1" dirty="0" smtClean="0">
              <a:solidFill>
                <a:srgbClr val="0000CC"/>
              </a:solidFill>
            </a:endParaRPr>
          </a:p>
        </p:txBody>
      </p:sp>
      <p:sp>
        <p:nvSpPr>
          <p:cNvPr id="2" name="Flowchart: Sequential Access Storage 1"/>
          <p:cNvSpPr/>
          <p:nvPr/>
        </p:nvSpPr>
        <p:spPr>
          <a:xfrm>
            <a:off x="443593" y="1894115"/>
            <a:ext cx="2212521" cy="3200400"/>
          </a:xfrm>
          <a:prstGeom prst="flowChartMagneticTap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err="1" smtClean="0"/>
              <a:t>Đọc</a:t>
            </a:r>
            <a:r>
              <a:rPr lang="en-US" sz="2400" b="1" dirty="0" smtClean="0"/>
              <a:t> code</a:t>
            </a:r>
            <a:endParaRPr lang="vi-VN" sz="2400" b="1" dirty="0"/>
          </a:p>
        </p:txBody>
      </p:sp>
    </p:spTree>
    <p:extLst>
      <p:ext uri="{BB962C8B-B14F-4D97-AF65-F5344CB8AC3E}">
        <p14:creationId xmlns:p14="http://schemas.microsoft.com/office/powerpoint/2010/main" val="38361668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409D09-87A3-4559-80C8-F26DB3484E0B}" type="slidenum">
              <a:rPr lang="en-US" altLang="vi-VN">
                <a:solidFill>
                  <a:srgbClr val="FFFF00"/>
                </a:solidFill>
              </a:rPr>
              <a:pPr eaLnBrk="1" hangingPunct="1"/>
              <a:t>8</a:t>
            </a:fld>
            <a:endParaRPr lang="en-GB" altLang="vi-VN">
              <a:solidFill>
                <a:srgbClr val="FFFF00"/>
              </a:solidFill>
            </a:endParaRPr>
          </a:p>
        </p:txBody>
      </p:sp>
      <p:sp>
        <p:nvSpPr>
          <p:cNvPr id="10244" name="Rectangle 3"/>
          <p:cNvSpPr>
            <a:spLocks noGrp="1" noChangeArrowheads="1"/>
          </p:cNvSpPr>
          <p:nvPr>
            <p:ph type="body" idx="1"/>
          </p:nvPr>
        </p:nvSpPr>
        <p:spPr>
          <a:xfrm>
            <a:off x="609600" y="1295400"/>
            <a:ext cx="8229600" cy="2133600"/>
          </a:xfrm>
        </p:spPr>
        <p:txBody>
          <a:bodyPr/>
          <a:lstStyle/>
          <a:p>
            <a:pPr defTabSz="914400">
              <a:lnSpc>
                <a:spcPct val="80000"/>
              </a:lnSpc>
            </a:pP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Chúng</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ta </a:t>
            </a:r>
            <a:r>
              <a:rPr lang="en-US" altLang="vi-VN"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có</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thể</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truy</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xuất</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struct</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bằng</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cách</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sử</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dụng</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con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trỏ</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chỉ</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đến</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struct</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đó</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a:t>
            </a:r>
          </a:p>
          <a:p>
            <a:pPr defTabSz="914400">
              <a:lnSpc>
                <a:spcPct val="80000"/>
              </a:lnSpc>
            </a:pPr>
            <a:endPar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endParaRPr>
          </a:p>
          <a:p>
            <a:pPr defTabSz="914400">
              <a:lnSpc>
                <a:spcPct val="80000"/>
              </a:lnSpc>
            </a:pP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Truy</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xuất</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đến</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phần</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tử</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của</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con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trỏ</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struct</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bằng</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toán</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dirty="0" err="1" smtClean="0">
                <a:solidFill>
                  <a:srgbClr val="0000CC"/>
                </a:solidFill>
                <a:latin typeface="Tahoma" panose="020B0604030504040204" pitchFamily="34" charset="0"/>
                <a:ea typeface="Tahoma" panose="020B0604030504040204" pitchFamily="34" charset="0"/>
                <a:cs typeface="Tahoma" panose="020B0604030504040204" pitchFamily="34" charset="0"/>
              </a:rPr>
              <a:t>tử</a:t>
            </a:r>
            <a:r>
              <a:rPr lang="en-US" altLang="vi-VN" sz="2800" dirty="0" smtClean="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vi-VN"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-&gt;</a:t>
            </a:r>
          </a:p>
        </p:txBody>
      </p:sp>
      <p:sp>
        <p:nvSpPr>
          <p:cNvPr id="10245" name="Rectangle 6"/>
          <p:cNvSpPr>
            <a:spLocks noGrp="1"/>
          </p:cNvSpPr>
          <p:nvPr>
            <p:ph type="title"/>
          </p:nvPr>
        </p:nvSpPr>
        <p:spPr>
          <a:xfrm>
            <a:off x="1839686" y="365126"/>
            <a:ext cx="6675664" cy="799645"/>
          </a:xfrm>
        </p:spPr>
        <p:txBody>
          <a:bodyPr/>
          <a:lstStyle/>
          <a:p>
            <a:r>
              <a:rPr lang="en-US" altLang="vi-VN" b="1" dirty="0" smtClean="0">
                <a:solidFill>
                  <a:srgbClr val="0000CC"/>
                </a:solidFill>
              </a:rPr>
              <a:t>Con </a:t>
            </a:r>
            <a:r>
              <a:rPr lang="en-US" altLang="vi-VN" b="1" dirty="0" err="1" smtClean="0">
                <a:solidFill>
                  <a:srgbClr val="0000CC"/>
                </a:solidFill>
              </a:rPr>
              <a:t>trỏ</a:t>
            </a:r>
            <a:r>
              <a:rPr lang="en-US" altLang="vi-VN" b="1" dirty="0" smtClean="0">
                <a:solidFill>
                  <a:srgbClr val="0000CC"/>
                </a:solidFill>
              </a:rPr>
              <a:t> </a:t>
            </a:r>
            <a:r>
              <a:rPr lang="en-US" altLang="vi-VN" b="1" dirty="0" err="1" smtClean="0">
                <a:solidFill>
                  <a:srgbClr val="0000CC"/>
                </a:solidFill>
              </a:rPr>
              <a:t>struct</a:t>
            </a:r>
            <a:endParaRPr lang="en-US" altLang="vi-VN" b="1" dirty="0" smtClean="0">
              <a:solidFill>
                <a:srgbClr val="0000CC"/>
              </a:solidFill>
            </a:endParaRPr>
          </a:p>
        </p:txBody>
      </p:sp>
    </p:spTree>
    <p:extLst>
      <p:ext uri="{BB962C8B-B14F-4D97-AF65-F5344CB8AC3E}">
        <p14:creationId xmlns:p14="http://schemas.microsoft.com/office/powerpoint/2010/main" val="780474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DE29320-91B7-4802-B5A3-04214656C734}" type="slidenum">
              <a:rPr lang="en-US" altLang="vi-VN">
                <a:solidFill>
                  <a:srgbClr val="FFFF00"/>
                </a:solidFill>
              </a:rPr>
              <a:pPr eaLnBrk="1" hangingPunct="1"/>
              <a:t>9</a:t>
            </a:fld>
            <a:endParaRPr lang="en-GB" altLang="vi-VN">
              <a:solidFill>
                <a:srgbClr val="FFFF00"/>
              </a:solidFill>
            </a:endParaRPr>
          </a:p>
        </p:txBody>
      </p:sp>
      <p:sp>
        <p:nvSpPr>
          <p:cNvPr id="11268" name="Rectangle 2"/>
          <p:cNvSpPr>
            <a:spLocks noGrp="1" noChangeArrowheads="1"/>
          </p:cNvSpPr>
          <p:nvPr>
            <p:ph type="body" idx="1"/>
          </p:nvPr>
        </p:nvSpPr>
        <p:spPr>
          <a:xfrm>
            <a:off x="304800" y="1147763"/>
            <a:ext cx="8305800" cy="5253037"/>
          </a:xfrm>
          <a:solidFill>
            <a:srgbClr val="CCFF99"/>
          </a:solidFill>
          <a:ln>
            <a:solidFill>
              <a:srgbClr val="0000CC"/>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fontScale="92500" lnSpcReduction="20000"/>
          </a:bodyPr>
          <a:lstStyle/>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#include &lt;</a:t>
            </a:r>
            <a:r>
              <a:rPr lang="en-US" altLang="vi-VN" sz="2000" dirty="0" err="1" smtClean="0">
                <a:solidFill>
                  <a:srgbClr val="0000CC"/>
                </a:solidFill>
                <a:latin typeface="Tahoma" panose="020B0604030504040204" pitchFamily="34" charset="0"/>
              </a:rPr>
              <a:t>conio.h</a:t>
            </a:r>
            <a:r>
              <a:rPr lang="en-US" altLang="vi-VN" sz="2000" dirty="0" smtClean="0">
                <a:solidFill>
                  <a:srgbClr val="0000CC"/>
                </a:solidFill>
                <a:latin typeface="Tahoma" panose="020B0604030504040204" pitchFamily="34" charset="0"/>
              </a:rPr>
              <a:t>&gt;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#include &lt;</a:t>
            </a:r>
            <a:r>
              <a:rPr lang="en-US" altLang="vi-VN" sz="2000" dirty="0" err="1" smtClean="0">
                <a:solidFill>
                  <a:srgbClr val="0000CC"/>
                </a:solidFill>
                <a:latin typeface="Tahoma" panose="020B0604030504040204" pitchFamily="34" charset="0"/>
              </a:rPr>
              <a:t>stdio.h</a:t>
            </a:r>
            <a:r>
              <a:rPr lang="en-US" altLang="vi-VN" sz="2000" dirty="0" smtClean="0">
                <a:solidFill>
                  <a:srgbClr val="0000CC"/>
                </a:solidFill>
                <a:latin typeface="Tahoma" panose="020B0604030504040204" pitchFamily="34" charset="0"/>
              </a:rPr>
              <a:t>&gt;</a:t>
            </a:r>
          </a:p>
          <a:p>
            <a:pPr defTabSz="914400">
              <a:lnSpc>
                <a:spcPct val="80000"/>
              </a:lnSpc>
              <a:buFont typeface="Wingdings" panose="05000000000000000000" pitchFamily="2" charset="2"/>
              <a:buNone/>
            </a:pPr>
            <a:r>
              <a:rPr lang="en-US" altLang="vi-VN" sz="2000" dirty="0" err="1" smtClean="0">
                <a:solidFill>
                  <a:srgbClr val="0000CC"/>
                </a:solidFill>
                <a:latin typeface="Tahoma" panose="020B0604030504040204" pitchFamily="34" charset="0"/>
              </a:rPr>
              <a:t>struct</a:t>
            </a:r>
            <a:r>
              <a:rPr lang="en-US" altLang="vi-VN" sz="2000" dirty="0" smtClean="0">
                <a:solidFill>
                  <a:srgbClr val="0000CC"/>
                </a:solidFill>
                <a:latin typeface="Tahoma" panose="020B0604030504040204" pitchFamily="34" charset="0"/>
              </a:rPr>
              <a:t>  Student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char Name[15];</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int</a:t>
            </a:r>
            <a:r>
              <a:rPr lang="en-US" altLang="vi-VN" sz="2000" dirty="0" smtClean="0">
                <a:solidFill>
                  <a:srgbClr val="0000CC"/>
                </a:solidFill>
                <a:latin typeface="Tahoma" panose="020B0604030504040204" pitchFamily="34" charset="0"/>
              </a:rPr>
              <a:t> Age;</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void main()</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Student *</a:t>
            </a:r>
            <a:r>
              <a:rPr lang="en-US" altLang="vi-VN" sz="2000" dirty="0" err="1" smtClean="0">
                <a:solidFill>
                  <a:srgbClr val="0000CC"/>
                </a:solidFill>
                <a:latin typeface="Tahoma" panose="020B0604030504040204" pitchFamily="34" charset="0"/>
              </a:rPr>
              <a:t>st</a:t>
            </a:r>
            <a:r>
              <a:rPr lang="en-US" altLang="vi-VN" sz="2000" dirty="0" smtClean="0">
                <a:solidFill>
                  <a:srgbClr val="0000CC"/>
                </a:solidFill>
                <a:latin typeface="Tahoma" panose="020B0604030504040204" pitchFamily="34" charset="0"/>
              </a:rPr>
              <a:t> = new Student;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printf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err="1" smtClean="0">
                <a:solidFill>
                  <a:srgbClr val="0000CC"/>
                </a:solidFill>
                <a:latin typeface="Tahoma" panose="020B0604030504040204" pitchFamily="34" charset="0"/>
              </a:rPr>
              <a:t>Nhap</a:t>
            </a:r>
            <a:r>
              <a:rPr lang="en-US" altLang="vi-VN" sz="2000" dirty="0" smtClean="0">
                <a:solidFill>
                  <a:srgbClr val="0000CC"/>
                </a:solidFill>
                <a:latin typeface="Tahoma" panose="020B0604030504040204" pitchFamily="34" charset="0"/>
              </a:rPr>
              <a:t> ho ten:</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gets(</a:t>
            </a:r>
            <a:r>
              <a:rPr lang="en-US" altLang="vi-VN" sz="2000" dirty="0" err="1" smtClean="0">
                <a:solidFill>
                  <a:srgbClr val="0000CC"/>
                </a:solidFill>
                <a:latin typeface="Tahoma" panose="020B0604030504040204" pitchFamily="34" charset="0"/>
              </a:rPr>
              <a:t>st</a:t>
            </a:r>
            <a:r>
              <a:rPr lang="en-US" altLang="vi-VN" sz="2000" dirty="0" smtClean="0">
                <a:solidFill>
                  <a:srgbClr val="FF0000"/>
                </a:solidFill>
                <a:latin typeface="Tahoma" panose="020B0604030504040204" pitchFamily="34" charset="0"/>
              </a:rPr>
              <a:t>-&gt;</a:t>
            </a:r>
            <a:r>
              <a:rPr lang="en-US" altLang="vi-VN" sz="2000" dirty="0" smtClean="0">
                <a:solidFill>
                  <a:srgbClr val="0000CC"/>
                </a:solidFill>
                <a:latin typeface="Tahoma" panose="020B0604030504040204" pitchFamily="34" charset="0"/>
              </a:rPr>
              <a:t>Name);</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printf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err="1" smtClean="0">
                <a:solidFill>
                  <a:srgbClr val="0000CC"/>
                </a:solidFill>
                <a:latin typeface="Tahoma" panose="020B0604030504040204" pitchFamily="34" charset="0"/>
              </a:rPr>
              <a:t>Nhap</a:t>
            </a: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tuoi</a:t>
            </a:r>
            <a:r>
              <a:rPr lang="en-US" altLang="vi-VN" sz="2000" dirty="0" smtClean="0">
                <a:solidFill>
                  <a:srgbClr val="0000CC"/>
                </a:solidFill>
                <a:latin typeface="Tahoma" panose="020B0604030504040204" pitchFamily="34" charset="0"/>
              </a:rPr>
              <a:t>: </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scanf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%d</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&amp;</a:t>
            </a:r>
            <a:r>
              <a:rPr lang="en-US" altLang="vi-VN" sz="2000" dirty="0" err="1" smtClean="0">
                <a:solidFill>
                  <a:srgbClr val="0000CC"/>
                </a:solidFill>
                <a:latin typeface="Tahoma" panose="020B0604030504040204" pitchFamily="34" charset="0"/>
              </a:rPr>
              <a:t>st</a:t>
            </a:r>
            <a:r>
              <a:rPr lang="en-US" altLang="vi-VN" sz="2000" dirty="0" smtClean="0">
                <a:solidFill>
                  <a:srgbClr val="FF0000"/>
                </a:solidFill>
                <a:latin typeface="Tahoma" panose="020B0604030504040204" pitchFamily="34" charset="0"/>
              </a:rPr>
              <a:t>-&gt;</a:t>
            </a:r>
            <a:r>
              <a:rPr lang="en-US" altLang="vi-VN" sz="2000" dirty="0" smtClean="0">
                <a:solidFill>
                  <a:srgbClr val="0000CC"/>
                </a:solidFill>
                <a:latin typeface="Tahoma" panose="020B0604030504040204" pitchFamily="34" charset="0"/>
              </a:rPr>
              <a:t>Age);</a:t>
            </a:r>
          </a:p>
          <a:p>
            <a:pPr defTabSz="914400">
              <a:lnSpc>
                <a:spcPct val="80000"/>
              </a:lnSpc>
              <a:buFont typeface="Wingdings" panose="05000000000000000000" pitchFamily="2" charset="2"/>
              <a:buNone/>
            </a:pPr>
            <a:endParaRPr lang="en-US" altLang="vi-VN" sz="2000" dirty="0" smtClean="0">
              <a:solidFill>
                <a:srgbClr val="0000CC"/>
              </a:solidFill>
              <a:latin typeface="Tahoma" panose="020B0604030504040204" pitchFamily="34" charset="0"/>
            </a:endParaRP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printf</a:t>
            </a:r>
            <a:r>
              <a:rPr lang="en-US" altLang="vi-VN" sz="2000" dirty="0" smtClean="0">
                <a:solidFill>
                  <a:srgbClr val="0000CC"/>
                </a:solidFill>
                <a:latin typeface="Tahoma" panose="020B0604030504040204" pitchFamily="34" charset="0"/>
              </a:rPr>
              <a:t>(</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%20s %3d</a:t>
            </a:r>
            <a:r>
              <a:rPr lang="en-US" altLang="vi-VN" sz="2000" dirty="0" smtClean="0">
                <a:solidFill>
                  <a:srgbClr val="0000CC"/>
                </a:solidFill>
              </a:rPr>
              <a:t>”</a:t>
            </a: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st</a:t>
            </a:r>
            <a:r>
              <a:rPr lang="en-US" altLang="vi-VN" sz="2000" dirty="0" smtClean="0">
                <a:solidFill>
                  <a:srgbClr val="FF0000"/>
                </a:solidFill>
                <a:latin typeface="Tahoma" panose="020B0604030504040204" pitchFamily="34" charset="0"/>
              </a:rPr>
              <a:t>-&gt;</a:t>
            </a:r>
            <a:r>
              <a:rPr lang="en-US" altLang="vi-VN" sz="2000" dirty="0" smtClean="0">
                <a:solidFill>
                  <a:srgbClr val="0000CC"/>
                </a:solidFill>
                <a:latin typeface="Tahoma" panose="020B0604030504040204" pitchFamily="34" charset="0"/>
              </a:rPr>
              <a:t>Name, </a:t>
            </a:r>
            <a:r>
              <a:rPr lang="en-US" altLang="vi-VN" sz="2000" dirty="0" err="1" smtClean="0">
                <a:solidFill>
                  <a:srgbClr val="0000CC"/>
                </a:solidFill>
                <a:latin typeface="Tahoma" panose="020B0604030504040204" pitchFamily="34" charset="0"/>
              </a:rPr>
              <a:t>sv</a:t>
            </a:r>
            <a:r>
              <a:rPr lang="en-US" altLang="vi-VN" sz="2000" dirty="0" smtClean="0">
                <a:solidFill>
                  <a:srgbClr val="FF0000"/>
                </a:solidFill>
                <a:latin typeface="Tahoma" panose="020B0604030504040204" pitchFamily="34" charset="0"/>
              </a:rPr>
              <a:t>-&gt;</a:t>
            </a:r>
            <a:r>
              <a:rPr lang="en-US" altLang="vi-VN" sz="2000" dirty="0" smtClean="0">
                <a:solidFill>
                  <a:srgbClr val="0000CC"/>
                </a:solidFill>
                <a:latin typeface="Tahoma" panose="020B0604030504040204" pitchFamily="34" charset="0"/>
              </a:rPr>
              <a:t>Age);</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	</a:t>
            </a:r>
            <a:r>
              <a:rPr lang="en-US" altLang="vi-VN" sz="2000" dirty="0" err="1" smtClean="0">
                <a:solidFill>
                  <a:srgbClr val="0000CC"/>
                </a:solidFill>
                <a:latin typeface="Tahoma" panose="020B0604030504040204" pitchFamily="34" charset="0"/>
              </a:rPr>
              <a:t>getch</a:t>
            </a:r>
            <a:r>
              <a:rPr lang="en-US" altLang="vi-VN" sz="2000" dirty="0" smtClean="0">
                <a:solidFill>
                  <a:srgbClr val="0000CC"/>
                </a:solidFill>
                <a:latin typeface="Tahoma" panose="020B0604030504040204" pitchFamily="34" charset="0"/>
              </a:rPr>
              <a:t>();</a:t>
            </a:r>
          </a:p>
          <a:p>
            <a:pPr defTabSz="914400">
              <a:lnSpc>
                <a:spcPct val="80000"/>
              </a:lnSpc>
              <a:buFont typeface="Wingdings" panose="05000000000000000000" pitchFamily="2" charset="2"/>
              <a:buNone/>
            </a:pPr>
            <a:r>
              <a:rPr lang="en-US" altLang="vi-VN" sz="2000" dirty="0" smtClean="0">
                <a:solidFill>
                  <a:srgbClr val="0000CC"/>
                </a:solidFill>
                <a:latin typeface="Tahoma" panose="020B0604030504040204" pitchFamily="34" charset="0"/>
              </a:rPr>
              <a:t>}</a:t>
            </a:r>
          </a:p>
        </p:txBody>
      </p:sp>
      <p:sp>
        <p:nvSpPr>
          <p:cNvPr id="11269" name="Rectangle 5"/>
          <p:cNvSpPr>
            <a:spLocks noGrp="1"/>
          </p:cNvSpPr>
          <p:nvPr>
            <p:ph type="title"/>
          </p:nvPr>
        </p:nvSpPr>
        <p:spPr>
          <a:xfrm>
            <a:off x="1926770" y="365127"/>
            <a:ext cx="6588579" cy="701674"/>
          </a:xfrm>
        </p:spPr>
        <p:txBody>
          <a:bodyPr/>
          <a:lstStyle/>
          <a:p>
            <a:r>
              <a:rPr lang="en-US" altLang="vi-VN" b="1" dirty="0" smtClean="0">
                <a:solidFill>
                  <a:srgbClr val="0000CC"/>
                </a:solidFill>
              </a:rPr>
              <a:t>Con </a:t>
            </a:r>
            <a:r>
              <a:rPr lang="en-US" altLang="vi-VN" b="1" dirty="0" err="1" smtClean="0">
                <a:solidFill>
                  <a:srgbClr val="0000CC"/>
                </a:solidFill>
              </a:rPr>
              <a:t>trỏ</a:t>
            </a:r>
            <a:r>
              <a:rPr lang="en-US" altLang="vi-VN" b="1" dirty="0" smtClean="0">
                <a:solidFill>
                  <a:srgbClr val="0000CC"/>
                </a:solidFill>
              </a:rPr>
              <a:t> </a:t>
            </a:r>
            <a:r>
              <a:rPr lang="en-US" altLang="vi-VN" b="1" dirty="0" err="1" smtClean="0">
                <a:solidFill>
                  <a:srgbClr val="0000CC"/>
                </a:solidFill>
              </a:rPr>
              <a:t>struct</a:t>
            </a:r>
            <a:endParaRPr lang="en-US" altLang="vi-VN" b="1" dirty="0" smtClean="0">
              <a:solidFill>
                <a:srgbClr val="0000CC"/>
              </a:solidFill>
            </a:endParaRPr>
          </a:p>
        </p:txBody>
      </p:sp>
      <p:sp>
        <p:nvSpPr>
          <p:cNvPr id="6" name="Flowchart: Sequential Access Storage 5"/>
          <p:cNvSpPr/>
          <p:nvPr/>
        </p:nvSpPr>
        <p:spPr>
          <a:xfrm flipH="1">
            <a:off x="5519058" y="1273629"/>
            <a:ext cx="2065565" cy="3200400"/>
          </a:xfrm>
          <a:prstGeom prst="flowChartMagneticTap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err="1" smtClean="0"/>
              <a:t>Đọc</a:t>
            </a:r>
            <a:r>
              <a:rPr lang="en-US" sz="2400" b="1" dirty="0" smtClean="0"/>
              <a:t> code</a:t>
            </a:r>
            <a:endParaRPr lang="vi-VN" sz="2400" b="1" dirty="0"/>
          </a:p>
        </p:txBody>
      </p:sp>
    </p:spTree>
    <p:extLst>
      <p:ext uri="{BB962C8B-B14F-4D97-AF65-F5344CB8AC3E}">
        <p14:creationId xmlns:p14="http://schemas.microsoft.com/office/powerpoint/2010/main" val="35434551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4A5E34D-40E2-4109-AA2A-E1E1D8ACA8E9}" type="slidenum">
              <a:rPr lang="en-US" altLang="vi-VN">
                <a:solidFill>
                  <a:srgbClr val="FFFF00"/>
                </a:solidFill>
              </a:rPr>
              <a:pPr eaLnBrk="1" hangingPunct="1"/>
              <a:t>10</a:t>
            </a:fld>
            <a:endParaRPr lang="en-GB" altLang="vi-VN">
              <a:solidFill>
                <a:srgbClr val="FFFF00"/>
              </a:solidFill>
            </a:endParaRPr>
          </a:p>
        </p:txBody>
      </p:sp>
      <p:sp>
        <p:nvSpPr>
          <p:cNvPr id="12292" name="Rectangle 3"/>
          <p:cNvSpPr>
            <a:spLocks noChangeArrowheads="1"/>
          </p:cNvSpPr>
          <p:nvPr/>
        </p:nvSpPr>
        <p:spPr bwMode="auto">
          <a:xfrm>
            <a:off x="609600" y="1371600"/>
            <a:ext cx="7543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en-US" altLang="vi-VN" sz="2800" dirty="0" err="1">
                <a:solidFill>
                  <a:srgbClr val="0000CC"/>
                </a:solidFill>
                <a:latin typeface="Tahoma" panose="020B0604030504040204" pitchFamily="34" charset="0"/>
              </a:rPr>
              <a:t>struct</a:t>
            </a:r>
            <a:r>
              <a:rPr lang="en-US" altLang="vi-VN" sz="2800" dirty="0">
                <a:solidFill>
                  <a:srgbClr val="0000CC"/>
                </a:solidFill>
                <a:latin typeface="Tahoma" panose="020B0604030504040204" pitchFamily="34" charset="0"/>
              </a:rPr>
              <a:t> </a:t>
            </a:r>
            <a:r>
              <a:rPr lang="en-US" altLang="vi-VN" sz="2800" dirty="0" smtClean="0">
                <a:solidFill>
                  <a:srgbClr val="0000CC"/>
                </a:solidFill>
                <a:latin typeface="Tahoma" panose="020B0604030504040204" pitchFamily="34" charset="0"/>
              </a:rPr>
              <a:t>Student</a:t>
            </a:r>
            <a:endParaRPr lang="en-US" altLang="vi-VN" sz="2800" dirty="0">
              <a:solidFill>
                <a:srgbClr val="0000CC"/>
              </a:solidFill>
              <a:latin typeface="Tahoma" panose="020B0604030504040204" pitchFamily="34" charset="0"/>
            </a:endParaRPr>
          </a:p>
          <a:p>
            <a:pPr algn="l" eaLnBrk="1" hangingPunct="1"/>
            <a:r>
              <a:rPr lang="en-US" altLang="vi-VN" sz="2800" dirty="0">
                <a:solidFill>
                  <a:srgbClr val="0000CC"/>
                </a:solidFill>
                <a:latin typeface="Tahoma" panose="020B0604030504040204" pitchFamily="34" charset="0"/>
              </a:rPr>
              <a:t>{</a:t>
            </a:r>
          </a:p>
          <a:p>
            <a:pPr eaLnBrk="1" hangingPunct="1"/>
            <a:r>
              <a:rPr lang="en-US" altLang="vi-VN" sz="2800" dirty="0">
                <a:solidFill>
                  <a:srgbClr val="0000CC"/>
                </a:solidFill>
                <a:latin typeface="Tahoma" panose="020B0604030504040204" pitchFamily="34" charset="0"/>
              </a:rPr>
              <a:t>	</a:t>
            </a:r>
            <a:r>
              <a:rPr lang="en-US" altLang="vi-VN" sz="2800" dirty="0" smtClean="0">
                <a:solidFill>
                  <a:srgbClr val="0000CC"/>
                </a:solidFill>
                <a:latin typeface="Tahoma" panose="020B0604030504040204" pitchFamily="34" charset="0"/>
              </a:rPr>
              <a:t>char </a:t>
            </a:r>
            <a:r>
              <a:rPr lang="en-US" altLang="vi-VN" sz="2800" dirty="0">
                <a:solidFill>
                  <a:srgbClr val="0000CC"/>
                </a:solidFill>
                <a:latin typeface="Tahoma" panose="020B0604030504040204" pitchFamily="34" charset="0"/>
              </a:rPr>
              <a:t>Name[20];</a:t>
            </a:r>
            <a:endParaRPr lang="en-US" altLang="vi-VN" sz="2800" dirty="0" smtClean="0">
              <a:solidFill>
                <a:srgbClr val="0000CC"/>
              </a:solidFill>
              <a:latin typeface="Tahoma" panose="020B0604030504040204" pitchFamily="34" charset="0"/>
            </a:endParaRPr>
          </a:p>
          <a:p>
            <a:pPr algn="l" eaLnBrk="1" hangingPunct="1"/>
            <a:r>
              <a:rPr lang="en-US" altLang="vi-VN" sz="2800" dirty="0">
                <a:solidFill>
                  <a:srgbClr val="0000CC"/>
                </a:solidFill>
                <a:latin typeface="Tahoma" panose="020B0604030504040204" pitchFamily="34" charset="0"/>
              </a:rPr>
              <a:t>	</a:t>
            </a:r>
            <a:r>
              <a:rPr lang="en-US" altLang="vi-VN" sz="2800" dirty="0" err="1" smtClean="0">
                <a:solidFill>
                  <a:srgbClr val="0000CC"/>
                </a:solidFill>
                <a:latin typeface="Tahoma" panose="020B0604030504040204" pitchFamily="34" charset="0"/>
              </a:rPr>
              <a:t>int</a:t>
            </a:r>
            <a:r>
              <a:rPr lang="en-US" altLang="vi-VN" sz="2800" dirty="0" smtClean="0">
                <a:solidFill>
                  <a:srgbClr val="0000CC"/>
                </a:solidFill>
                <a:latin typeface="Tahoma" panose="020B0604030504040204" pitchFamily="34" charset="0"/>
              </a:rPr>
              <a:t> Age;</a:t>
            </a:r>
            <a:endParaRPr lang="en-US" altLang="vi-VN" sz="2800" dirty="0">
              <a:solidFill>
                <a:srgbClr val="0000CC"/>
              </a:solidFill>
              <a:latin typeface="Tahoma" panose="020B0604030504040204" pitchFamily="34" charset="0"/>
            </a:endParaRPr>
          </a:p>
          <a:p>
            <a:pPr algn="l" eaLnBrk="1" hangingPunct="1"/>
            <a:r>
              <a:rPr lang="en-US" altLang="vi-VN" sz="2800" dirty="0">
                <a:solidFill>
                  <a:srgbClr val="0000CC"/>
                </a:solidFill>
                <a:latin typeface="Tahoma" panose="020B0604030504040204" pitchFamily="34" charset="0"/>
              </a:rPr>
              <a:t>};</a:t>
            </a:r>
          </a:p>
          <a:p>
            <a:pPr algn="l" eaLnBrk="1" hangingPunct="1"/>
            <a:r>
              <a:rPr lang="en-US" altLang="vi-VN" sz="2800" dirty="0" err="1">
                <a:solidFill>
                  <a:srgbClr val="0000CC"/>
                </a:solidFill>
                <a:latin typeface="Tahoma" panose="020B0604030504040204" pitchFamily="34" charset="0"/>
              </a:rPr>
              <a:t>struct</a:t>
            </a:r>
            <a:r>
              <a:rPr lang="en-US" altLang="vi-VN" sz="2800" dirty="0">
                <a:solidFill>
                  <a:srgbClr val="0000CC"/>
                </a:solidFill>
                <a:latin typeface="Tahoma" panose="020B0604030504040204" pitchFamily="34" charset="0"/>
              </a:rPr>
              <a:t> </a:t>
            </a:r>
            <a:r>
              <a:rPr lang="en-US" altLang="vi-VN" sz="2800" dirty="0" smtClean="0">
                <a:solidFill>
                  <a:srgbClr val="0000CC"/>
                </a:solidFill>
                <a:latin typeface="Tahoma" panose="020B0604030504040204" pitchFamily="34" charset="0"/>
              </a:rPr>
              <a:t>Student list[50</a:t>
            </a:r>
            <a:r>
              <a:rPr lang="en-US" altLang="vi-VN" sz="2800" dirty="0">
                <a:solidFill>
                  <a:srgbClr val="0000CC"/>
                </a:solidFill>
                <a:latin typeface="Tahoma" panose="020B0604030504040204" pitchFamily="34" charset="0"/>
              </a:rPr>
              <a:t>];</a:t>
            </a:r>
          </a:p>
          <a:p>
            <a:pPr algn="l" eaLnBrk="1" hangingPunct="1"/>
            <a:endParaRPr lang="en-US" altLang="vi-VN" sz="2800" dirty="0">
              <a:solidFill>
                <a:srgbClr val="0000CC"/>
              </a:solidFill>
              <a:latin typeface="Tahoma" panose="020B0604030504040204" pitchFamily="34" charset="0"/>
            </a:endParaRPr>
          </a:p>
        </p:txBody>
      </p:sp>
      <p:sp>
        <p:nvSpPr>
          <p:cNvPr id="12293" name="Rectangle 4"/>
          <p:cNvSpPr>
            <a:spLocks noGrp="1"/>
          </p:cNvSpPr>
          <p:nvPr>
            <p:ph type="title"/>
          </p:nvPr>
        </p:nvSpPr>
        <p:spPr>
          <a:xfrm>
            <a:off x="1861456" y="365126"/>
            <a:ext cx="6653893" cy="734331"/>
          </a:xfrm>
        </p:spPr>
        <p:txBody>
          <a:bodyPr/>
          <a:lstStyle/>
          <a:p>
            <a:r>
              <a:rPr lang="en-US" altLang="vi-VN" b="1" dirty="0" err="1" smtClean="0">
                <a:solidFill>
                  <a:srgbClr val="0000CC"/>
                </a:solidFill>
              </a:rPr>
              <a:t>Mảng</a:t>
            </a:r>
            <a:r>
              <a:rPr lang="en-US" altLang="vi-VN" b="1" dirty="0" smtClean="0">
                <a:solidFill>
                  <a:srgbClr val="0000CC"/>
                </a:solidFill>
              </a:rPr>
              <a:t> </a:t>
            </a:r>
            <a:r>
              <a:rPr lang="en-US" altLang="vi-VN" b="1" dirty="0" err="1" smtClean="0">
                <a:solidFill>
                  <a:srgbClr val="0000CC"/>
                </a:solidFill>
              </a:rPr>
              <a:t>struct</a:t>
            </a:r>
            <a:endParaRPr lang="en-US" altLang="vi-VN" b="1" dirty="0" smtClean="0">
              <a:solidFill>
                <a:srgbClr val="0000CC"/>
              </a:solidFill>
            </a:endParaRPr>
          </a:p>
        </p:txBody>
      </p:sp>
      <p:sp>
        <p:nvSpPr>
          <p:cNvPr id="693253" name="AutoShape 5"/>
          <p:cNvSpPr>
            <a:spLocks noChangeArrowheads="1"/>
          </p:cNvSpPr>
          <p:nvPr/>
        </p:nvSpPr>
        <p:spPr bwMode="auto">
          <a:xfrm>
            <a:off x="6248400" y="1371600"/>
            <a:ext cx="2667000" cy="1600200"/>
          </a:xfrm>
          <a:prstGeom prst="wedgeEllipseCallout">
            <a:avLst>
              <a:gd name="adj1" fmla="val -121069"/>
              <a:gd name="adj2" fmla="val 91370"/>
            </a:avLst>
          </a:prstGeom>
          <a:solidFill>
            <a:schemeClr val="bg2"/>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Khai báo mảng struct</a:t>
            </a:r>
            <a:endParaRPr lang="vi-VN" altLang="vi-VN" sz="2200">
              <a:solidFill>
                <a:srgbClr val="0000CC"/>
              </a:solidFill>
              <a:latin typeface="Tahoma" panose="020B0604030504040204" pitchFamily="34" charset="0"/>
            </a:endParaRPr>
          </a:p>
        </p:txBody>
      </p:sp>
    </p:spTree>
    <p:extLst>
      <p:ext uri="{BB962C8B-B14F-4D97-AF65-F5344CB8AC3E}">
        <p14:creationId xmlns:p14="http://schemas.microsoft.com/office/powerpoint/2010/main" val="35633006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93253"/>
                                        </p:tgtEl>
                                        <p:attrNameLst>
                                          <p:attrName>style.visibility</p:attrName>
                                        </p:attrNameLst>
                                      </p:cBhvr>
                                      <p:to>
                                        <p:strVal val="visible"/>
                                      </p:to>
                                    </p:set>
                                    <p:animEffect transition="in" filter="checkerboard(across)">
                                      <p:cBhvr>
                                        <p:cTn id="7" dur="2000"/>
                                        <p:tgtEl>
                                          <p:spTgt spid="69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2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11</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sp>
        <p:nvSpPr>
          <p:cNvPr id="13318" name="Rectangle 6"/>
          <p:cNvSpPr>
            <a:spLocks noChangeArrowheads="1"/>
          </p:cNvSpPr>
          <p:nvPr/>
        </p:nvSpPr>
        <p:spPr bwMode="auto">
          <a:xfrm>
            <a:off x="489858" y="1447800"/>
            <a:ext cx="7543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en-US" altLang="vi-VN" sz="2800" i="1" dirty="0">
                <a:solidFill>
                  <a:srgbClr val="0000CC"/>
                </a:solidFill>
                <a:latin typeface="Tahoma" panose="020B0604030504040204" pitchFamily="34" charset="0"/>
              </a:rPr>
              <a:t>Demo </a:t>
            </a:r>
            <a:r>
              <a:rPr lang="en-US" altLang="vi-VN" sz="2800" i="1" dirty="0" err="1">
                <a:solidFill>
                  <a:srgbClr val="0000CC"/>
                </a:solidFill>
                <a:latin typeface="Tahoma" panose="020B0604030504040204" pitchFamily="34" charset="0"/>
              </a:rPr>
              <a:t>chương</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trình</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nhập</a:t>
            </a:r>
            <a:r>
              <a:rPr lang="en-US" altLang="vi-VN" sz="2800" i="1" dirty="0">
                <a:solidFill>
                  <a:srgbClr val="0000CC"/>
                </a:solidFill>
                <a:latin typeface="Tahoma" panose="020B0604030504040204" pitchFamily="34" charset="0"/>
              </a:rPr>
              <a:t> N </a:t>
            </a:r>
            <a:r>
              <a:rPr lang="en-US" altLang="vi-VN" sz="2800" i="1" dirty="0" err="1">
                <a:solidFill>
                  <a:srgbClr val="0000CC"/>
                </a:solidFill>
                <a:latin typeface="Tahoma" panose="020B0604030504040204" pitchFamily="34" charset="0"/>
              </a:rPr>
              <a:t>quyển</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sách</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gồm</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các</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thông</a:t>
            </a:r>
            <a:r>
              <a:rPr lang="en-US" altLang="vi-VN" sz="2800" i="1" dirty="0">
                <a:solidFill>
                  <a:srgbClr val="0000CC"/>
                </a:solidFill>
                <a:latin typeface="Tahoma" panose="020B0604030504040204" pitchFamily="34" charset="0"/>
              </a:rPr>
              <a:t> tin: </a:t>
            </a:r>
            <a:r>
              <a:rPr lang="en-US" altLang="vi-VN" sz="2800" i="1" dirty="0" err="1">
                <a:solidFill>
                  <a:srgbClr val="0000CC"/>
                </a:solidFill>
                <a:latin typeface="Tahoma" panose="020B0604030504040204" pitchFamily="34" charset="0"/>
              </a:rPr>
              <a:t>Tên</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sách</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số</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lượng</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Xuất</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danh</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mục</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sách</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ra</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màn</a:t>
            </a:r>
            <a:r>
              <a:rPr lang="en-US" altLang="vi-VN" sz="2800" i="1" dirty="0">
                <a:solidFill>
                  <a:srgbClr val="0000CC"/>
                </a:solidFill>
                <a:latin typeface="Tahoma" panose="020B0604030504040204" pitchFamily="34" charset="0"/>
              </a:rPr>
              <a:t> </a:t>
            </a:r>
            <a:r>
              <a:rPr lang="en-US" altLang="vi-VN" sz="2800" i="1" dirty="0" err="1">
                <a:solidFill>
                  <a:srgbClr val="0000CC"/>
                </a:solidFill>
                <a:latin typeface="Tahoma" panose="020B0604030504040204" pitchFamily="34" charset="0"/>
              </a:rPr>
              <a:t>hình</a:t>
            </a:r>
            <a:r>
              <a:rPr lang="en-US" altLang="vi-VN" sz="2800" i="1" dirty="0" smtClean="0">
                <a:solidFill>
                  <a:srgbClr val="0000CC"/>
                </a:solidFill>
                <a:latin typeface="Tahoma" panose="020B0604030504040204" pitchFamily="34" charset="0"/>
              </a:rPr>
              <a:t>.</a:t>
            </a:r>
          </a:p>
          <a:p>
            <a:pPr algn="l" eaLnBrk="1" hangingPunct="1"/>
            <a:endParaRPr lang="en-US" altLang="vi-VN" sz="2800" i="1" dirty="0">
              <a:solidFill>
                <a:srgbClr val="0000CC"/>
              </a:solidFill>
              <a:latin typeface="Tahoma" panose="020B0604030504040204" pitchFamily="34" charset="0"/>
            </a:endParaRPr>
          </a:p>
          <a:p>
            <a:pPr algn="l" eaLnBrk="1" hangingPunct="1"/>
            <a:r>
              <a:rPr lang="en-US" altLang="vi-VN" sz="2800" i="1" dirty="0" err="1" smtClean="0">
                <a:solidFill>
                  <a:srgbClr val="0000CC"/>
                </a:solidFill>
                <a:latin typeface="Tahoma" panose="020B0604030504040204" pitchFamily="34" charset="0"/>
              </a:rPr>
              <a:t>Xem</a:t>
            </a:r>
            <a:r>
              <a:rPr lang="en-US" altLang="vi-VN" sz="2800" i="1" dirty="0" smtClean="0">
                <a:solidFill>
                  <a:srgbClr val="0000CC"/>
                </a:solidFill>
                <a:latin typeface="Tahoma" panose="020B0604030504040204" pitchFamily="34" charset="0"/>
              </a:rPr>
              <a:t> code ở slide </a:t>
            </a:r>
            <a:r>
              <a:rPr lang="en-US" altLang="vi-VN" sz="2800" i="1" dirty="0" err="1" smtClean="0">
                <a:solidFill>
                  <a:srgbClr val="0000CC"/>
                </a:solidFill>
                <a:latin typeface="Tahoma" panose="020B0604030504040204" pitchFamily="34" charset="0"/>
              </a:rPr>
              <a:t>sau</a:t>
            </a:r>
            <a:r>
              <a:rPr lang="en-US" altLang="vi-VN" sz="2800" i="1" dirty="0" smtClean="0">
                <a:solidFill>
                  <a:srgbClr val="0000CC"/>
                </a:solidFill>
                <a:latin typeface="Tahoma" panose="020B0604030504040204" pitchFamily="34" charset="0"/>
              </a:rPr>
              <a:t>:</a:t>
            </a:r>
            <a:endParaRPr lang="en-US" altLang="vi-VN" sz="2800" i="1" dirty="0">
              <a:solidFill>
                <a:srgbClr val="0000CC"/>
              </a:solidFill>
              <a:latin typeface="Tahoma" panose="020B0604030504040204" pitchFamily="34" charset="0"/>
            </a:endParaRPr>
          </a:p>
          <a:p>
            <a:pPr algn="l" eaLnBrk="1" hangingPunct="1"/>
            <a:endParaRPr lang="en-US" altLang="vi-VN" sz="2800" i="1" dirty="0">
              <a:solidFill>
                <a:srgbClr val="0000CC"/>
              </a:solidFill>
              <a:latin typeface="Tahoma" panose="020B0604030504040204" pitchFamily="34" charset="0"/>
            </a:endParaRPr>
          </a:p>
          <a:p>
            <a:pPr algn="l" eaLnBrk="1" hangingPunct="1"/>
            <a:r>
              <a:rPr lang="en-US" altLang="vi-VN" sz="2800" i="1" dirty="0">
                <a:solidFill>
                  <a:srgbClr val="0000CC"/>
                </a:solidFill>
                <a:latin typeface="Tahoma" panose="020B0604030504040204" pitchFamily="34" charset="0"/>
              </a:rPr>
              <a:t> </a:t>
            </a:r>
          </a:p>
        </p:txBody>
      </p:sp>
    </p:spTree>
    <p:extLst>
      <p:ext uri="{BB962C8B-B14F-4D97-AF65-F5344CB8AC3E}">
        <p14:creationId xmlns:p14="http://schemas.microsoft.com/office/powerpoint/2010/main" val="20015636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12</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01" y="1150485"/>
            <a:ext cx="3978050" cy="5388428"/>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1" y="1516979"/>
            <a:ext cx="4800600" cy="4839372"/>
          </a:xfrm>
          <a:prstGeom prst="rect">
            <a:avLst/>
          </a:prstGeom>
        </p:spPr>
      </p:pic>
    </p:spTree>
    <p:extLst>
      <p:ext uri="{BB962C8B-B14F-4D97-AF65-F5344CB8AC3E}">
        <p14:creationId xmlns:p14="http://schemas.microsoft.com/office/powerpoint/2010/main" val="3479791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13</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sp>
        <p:nvSpPr>
          <p:cNvPr id="13318" name="Rectangle 6"/>
          <p:cNvSpPr>
            <a:spLocks noChangeArrowheads="1"/>
          </p:cNvSpPr>
          <p:nvPr/>
        </p:nvSpPr>
        <p:spPr bwMode="auto">
          <a:xfrm>
            <a:off x="489858" y="1447800"/>
            <a:ext cx="789214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en-US" altLang="vi-VN" sz="2800" i="1" dirty="0" err="1" smtClean="0">
                <a:solidFill>
                  <a:srgbClr val="0000CC"/>
                </a:solidFill>
                <a:latin typeface="Tahoma" panose="020B0604030504040204" pitchFamily="34" charset="0"/>
              </a:rPr>
              <a:t>Cũng</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như</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bài</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trước</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nhưng</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thiết</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kế</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chương</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trình</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thành</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các</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chức</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năng</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như</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sau</a:t>
            </a:r>
            <a:r>
              <a:rPr lang="en-US" altLang="vi-VN" sz="2800" i="1" dirty="0" smtClean="0">
                <a:solidFill>
                  <a:srgbClr val="0000CC"/>
                </a:solidFill>
                <a:latin typeface="Tahoma" panose="020B0604030504040204" pitchFamily="34" charset="0"/>
              </a:rPr>
              <a:t>:</a:t>
            </a:r>
          </a:p>
          <a:p>
            <a:pPr marL="457200" indent="-457200" algn="l" eaLnBrk="1" hangingPunct="1">
              <a:buFontTx/>
              <a:buChar char="-"/>
            </a:pPr>
            <a:r>
              <a:rPr lang="en-US" altLang="vi-VN" sz="2800" i="1" dirty="0" err="1" smtClean="0">
                <a:solidFill>
                  <a:srgbClr val="0000CC"/>
                </a:solidFill>
                <a:latin typeface="Tahoma" panose="020B0604030504040204" pitchFamily="34" charset="0"/>
              </a:rPr>
              <a:t>Nhập</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sách</a:t>
            </a:r>
            <a:endParaRPr lang="en-US" altLang="vi-VN" sz="2800" i="1" dirty="0" smtClean="0">
              <a:solidFill>
                <a:srgbClr val="0000CC"/>
              </a:solidFill>
              <a:latin typeface="Tahoma" panose="020B0604030504040204" pitchFamily="34" charset="0"/>
            </a:endParaRPr>
          </a:p>
          <a:p>
            <a:pPr marL="457200" indent="-457200" algn="l" eaLnBrk="1" hangingPunct="1">
              <a:buFontTx/>
              <a:buChar char="-"/>
            </a:pPr>
            <a:r>
              <a:rPr lang="en-US" altLang="vi-VN" sz="2800" i="1" dirty="0" smtClean="0">
                <a:solidFill>
                  <a:srgbClr val="0000CC"/>
                </a:solidFill>
                <a:latin typeface="Tahoma" panose="020B0604030504040204" pitchFamily="34" charset="0"/>
              </a:rPr>
              <a:t>In </a:t>
            </a:r>
            <a:r>
              <a:rPr lang="en-US" altLang="vi-VN" sz="2800" i="1" dirty="0" err="1" smtClean="0">
                <a:solidFill>
                  <a:srgbClr val="0000CC"/>
                </a:solidFill>
                <a:latin typeface="Tahoma" panose="020B0604030504040204" pitchFamily="34" charset="0"/>
              </a:rPr>
              <a:t>danh</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mục</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sách</a:t>
            </a:r>
            <a:endParaRPr lang="en-US" altLang="vi-VN" sz="2800" i="1" dirty="0" smtClean="0">
              <a:solidFill>
                <a:srgbClr val="0000CC"/>
              </a:solidFill>
              <a:latin typeface="Tahoma" panose="020B0604030504040204" pitchFamily="34" charset="0"/>
            </a:endParaRPr>
          </a:p>
          <a:p>
            <a:pPr marL="457200" indent="-457200" algn="l" eaLnBrk="1" hangingPunct="1">
              <a:buFontTx/>
              <a:buChar char="-"/>
            </a:pPr>
            <a:r>
              <a:rPr lang="en-US" altLang="vi-VN" sz="2800" i="1" dirty="0" err="1" smtClean="0">
                <a:solidFill>
                  <a:srgbClr val="0000CC"/>
                </a:solidFill>
                <a:latin typeface="Tahoma" panose="020B0604030504040204" pitchFamily="34" charset="0"/>
              </a:rPr>
              <a:t>Sắp</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xếp</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sách</a:t>
            </a:r>
            <a:r>
              <a:rPr lang="en-US" altLang="vi-VN" sz="2800" i="1" dirty="0" smtClean="0">
                <a:solidFill>
                  <a:srgbClr val="0000CC"/>
                </a:solidFill>
                <a:latin typeface="Tahoma" panose="020B0604030504040204" pitchFamily="34" charset="0"/>
              </a:rPr>
              <a:t> tang </a:t>
            </a:r>
            <a:r>
              <a:rPr lang="en-US" altLang="vi-VN" sz="2800" i="1" dirty="0" err="1" smtClean="0">
                <a:solidFill>
                  <a:srgbClr val="0000CC"/>
                </a:solidFill>
                <a:latin typeface="Tahoma" panose="020B0604030504040204" pitchFamily="34" charset="0"/>
              </a:rPr>
              <a:t>dần</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theo</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tên</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sách</a:t>
            </a:r>
            <a:endParaRPr lang="en-US" altLang="vi-VN" sz="2800" i="1" dirty="0" smtClean="0">
              <a:solidFill>
                <a:srgbClr val="0000CC"/>
              </a:solidFill>
              <a:latin typeface="Tahoma" panose="020B0604030504040204" pitchFamily="34" charset="0"/>
            </a:endParaRPr>
          </a:p>
          <a:p>
            <a:pPr marL="457200" indent="-457200" algn="l" eaLnBrk="1" hangingPunct="1">
              <a:buFontTx/>
              <a:buChar char="-"/>
            </a:pPr>
            <a:r>
              <a:rPr lang="en-US" altLang="vi-VN" sz="2800" i="1" dirty="0" err="1" smtClean="0">
                <a:solidFill>
                  <a:srgbClr val="0000CC"/>
                </a:solidFill>
                <a:latin typeface="Tahoma" panose="020B0604030504040204" pitchFamily="34" charset="0"/>
              </a:rPr>
              <a:t>Thoát</a:t>
            </a:r>
            <a:r>
              <a:rPr lang="en-US" altLang="vi-VN" sz="2800" i="1" dirty="0" smtClean="0">
                <a:solidFill>
                  <a:srgbClr val="0000CC"/>
                </a:solidFill>
                <a:latin typeface="Tahoma" panose="020B0604030504040204" pitchFamily="34" charset="0"/>
              </a:rPr>
              <a:t> </a:t>
            </a:r>
          </a:p>
          <a:p>
            <a:pPr algn="l" eaLnBrk="1" hangingPunct="1"/>
            <a:r>
              <a:rPr lang="en-US" altLang="vi-VN" sz="2800" i="1" dirty="0" err="1" smtClean="0">
                <a:solidFill>
                  <a:srgbClr val="0000CC"/>
                </a:solidFill>
                <a:latin typeface="Tahoma" panose="020B0604030504040204" pitchFamily="34" charset="0"/>
              </a:rPr>
              <a:t>Chương</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trình</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thiết</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kế</a:t>
            </a:r>
            <a:r>
              <a:rPr lang="en-US" altLang="vi-VN" sz="2800" i="1" dirty="0" smtClean="0">
                <a:solidFill>
                  <a:srgbClr val="0000CC"/>
                </a:solidFill>
                <a:latin typeface="Tahoma" panose="020B0604030504040204" pitchFamily="34" charset="0"/>
              </a:rPr>
              <a:t> </a:t>
            </a:r>
            <a:r>
              <a:rPr lang="en-US" altLang="vi-VN" sz="2800" i="1" dirty="0" err="1" smtClean="0">
                <a:solidFill>
                  <a:srgbClr val="0000CC"/>
                </a:solidFill>
                <a:latin typeface="Tahoma" panose="020B0604030504040204" pitchFamily="34" charset="0"/>
              </a:rPr>
              <a:t>có</a:t>
            </a:r>
            <a:r>
              <a:rPr lang="en-US" altLang="vi-VN" sz="2800" i="1" dirty="0" smtClean="0">
                <a:solidFill>
                  <a:srgbClr val="0000CC"/>
                </a:solidFill>
                <a:latin typeface="Tahoma" panose="020B0604030504040204" pitchFamily="34" charset="0"/>
              </a:rPr>
              <a:t> menu</a:t>
            </a:r>
            <a:endParaRPr lang="en-US" altLang="vi-VN" sz="2800" i="1" dirty="0">
              <a:solidFill>
                <a:srgbClr val="0000CC"/>
              </a:solidFill>
              <a:latin typeface="Tahoma" panose="020B0604030504040204" pitchFamily="34" charset="0"/>
            </a:endParaRPr>
          </a:p>
          <a:p>
            <a:pPr algn="l" eaLnBrk="1" hangingPunct="1"/>
            <a:r>
              <a:rPr lang="en-US" altLang="vi-VN" sz="2800" i="1" dirty="0">
                <a:solidFill>
                  <a:srgbClr val="0000CC"/>
                </a:solidFill>
                <a:latin typeface="Tahoma" panose="020B0604030504040204" pitchFamily="34" charset="0"/>
              </a:rPr>
              <a:t> </a:t>
            </a:r>
          </a:p>
        </p:txBody>
      </p:sp>
    </p:spTree>
    <p:extLst>
      <p:ext uri="{BB962C8B-B14F-4D97-AF65-F5344CB8AC3E}">
        <p14:creationId xmlns:p14="http://schemas.microsoft.com/office/powerpoint/2010/main" val="8657848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14</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156" y="1393371"/>
            <a:ext cx="3934374" cy="5118390"/>
          </a:xfrm>
          <a:prstGeom prst="rect">
            <a:avLst/>
          </a:prstGeom>
        </p:spPr>
      </p:pic>
      <p:sp>
        <p:nvSpPr>
          <p:cNvPr id="5" name="Rectangular Callout 4"/>
          <p:cNvSpPr/>
          <p:nvPr/>
        </p:nvSpPr>
        <p:spPr>
          <a:xfrm>
            <a:off x="5301343" y="1175657"/>
            <a:ext cx="3080657" cy="892628"/>
          </a:xfrm>
          <a:prstGeom prst="wedgeRectCallout">
            <a:avLst>
              <a:gd name="adj1" fmla="val -93796"/>
              <a:gd name="adj2" fmla="val 12762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smtClean="0"/>
              <a:t>Khai</a:t>
            </a:r>
            <a:r>
              <a:rPr lang="en-US" dirty="0" smtClean="0"/>
              <a:t> </a:t>
            </a:r>
            <a:r>
              <a:rPr lang="en-US" dirty="0" err="1" smtClean="0"/>
              <a:t>báo</a:t>
            </a:r>
            <a:r>
              <a:rPr lang="en-US" dirty="0" smtClean="0"/>
              <a:t> </a:t>
            </a:r>
            <a:r>
              <a:rPr lang="en-US" dirty="0" err="1" smtClean="0"/>
              <a:t>hàm</a:t>
            </a:r>
            <a:r>
              <a:rPr lang="en-US" dirty="0" smtClean="0"/>
              <a:t> </a:t>
            </a:r>
            <a:r>
              <a:rPr lang="en-US" dirty="0" err="1" smtClean="0"/>
              <a:t>nguyê</a:t>
            </a:r>
            <a:r>
              <a:rPr lang="en-US" dirty="0" smtClean="0"/>
              <a:t> </a:t>
            </a:r>
            <a:r>
              <a:rPr lang="en-US" dirty="0" err="1" smtClean="0"/>
              <a:t>mẫu</a:t>
            </a:r>
            <a:endParaRPr lang="vi-VN" dirty="0"/>
          </a:p>
        </p:txBody>
      </p:sp>
      <p:sp>
        <p:nvSpPr>
          <p:cNvPr id="9" name="Rectangular Callout 8"/>
          <p:cNvSpPr/>
          <p:nvPr/>
        </p:nvSpPr>
        <p:spPr>
          <a:xfrm>
            <a:off x="5301343" y="2982233"/>
            <a:ext cx="3080657" cy="892628"/>
          </a:xfrm>
          <a:prstGeom prst="wedgeRectCallout">
            <a:avLst>
              <a:gd name="adj1" fmla="val -104397"/>
              <a:gd name="adj2" fmla="val 6054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smtClean="0"/>
              <a:t>Khai</a:t>
            </a:r>
            <a:r>
              <a:rPr lang="en-US" dirty="0" smtClean="0"/>
              <a:t> </a:t>
            </a:r>
            <a:r>
              <a:rPr lang="en-US" dirty="0" err="1" smtClean="0"/>
              <a:t>báo</a:t>
            </a:r>
            <a:r>
              <a:rPr lang="en-US" dirty="0" smtClean="0"/>
              <a:t> </a:t>
            </a:r>
            <a:r>
              <a:rPr lang="en-US" dirty="0" err="1" smtClean="0"/>
              <a:t>struct</a:t>
            </a:r>
            <a:endParaRPr lang="vi-VN" dirty="0"/>
          </a:p>
        </p:txBody>
      </p:sp>
      <p:sp>
        <p:nvSpPr>
          <p:cNvPr id="10" name="Rectangular Callout 9"/>
          <p:cNvSpPr/>
          <p:nvPr/>
        </p:nvSpPr>
        <p:spPr>
          <a:xfrm>
            <a:off x="5301342" y="4103461"/>
            <a:ext cx="3080657" cy="892628"/>
          </a:xfrm>
          <a:prstGeom prst="wedgeRectCallout">
            <a:avLst>
              <a:gd name="adj1" fmla="val -108637"/>
              <a:gd name="adj2" fmla="val 4103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smtClean="0"/>
              <a:t>Khai</a:t>
            </a:r>
            <a:r>
              <a:rPr lang="en-US" dirty="0" smtClean="0"/>
              <a:t> </a:t>
            </a:r>
            <a:r>
              <a:rPr lang="en-US" dirty="0" err="1" smtClean="0"/>
              <a:t>báo</a:t>
            </a:r>
            <a:r>
              <a:rPr lang="en-US" dirty="0" smtClean="0"/>
              <a:t> </a:t>
            </a:r>
            <a:r>
              <a:rPr lang="en-US" dirty="0" err="1" smtClean="0"/>
              <a:t>mảng</a:t>
            </a:r>
            <a:r>
              <a:rPr lang="en-US" dirty="0" smtClean="0"/>
              <a:t> </a:t>
            </a:r>
            <a:r>
              <a:rPr lang="en-US" dirty="0" err="1" smtClean="0"/>
              <a:t>struct</a:t>
            </a:r>
            <a:endParaRPr lang="vi-VN" dirty="0"/>
          </a:p>
        </p:txBody>
      </p:sp>
    </p:spTree>
    <p:extLst>
      <p:ext uri="{BB962C8B-B14F-4D97-AF65-F5344CB8AC3E}">
        <p14:creationId xmlns:p14="http://schemas.microsoft.com/office/powerpoint/2010/main" val="4005665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15</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496" y="1427111"/>
            <a:ext cx="6377189" cy="4630088"/>
          </a:xfrm>
          <a:prstGeom prst="rect">
            <a:avLst/>
          </a:prstGeom>
        </p:spPr>
      </p:pic>
      <p:sp>
        <p:nvSpPr>
          <p:cNvPr id="5" name="Explosion 1 4"/>
          <p:cNvSpPr/>
          <p:nvPr/>
        </p:nvSpPr>
        <p:spPr>
          <a:xfrm>
            <a:off x="5665334" y="1621971"/>
            <a:ext cx="3642632" cy="321128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smtClean="0"/>
              <a:t>Xây</a:t>
            </a:r>
            <a:r>
              <a:rPr lang="en-US" sz="2800" b="1" dirty="0" smtClean="0"/>
              <a:t> </a:t>
            </a:r>
            <a:r>
              <a:rPr lang="en-US" sz="2800" b="1" dirty="0" err="1" smtClean="0"/>
              <a:t>dựng</a:t>
            </a:r>
            <a:r>
              <a:rPr lang="en-US" sz="2800" b="1" dirty="0" smtClean="0"/>
              <a:t> </a:t>
            </a:r>
            <a:r>
              <a:rPr lang="en-US" sz="2800" b="1" dirty="0" err="1" smtClean="0"/>
              <a:t>các</a:t>
            </a:r>
            <a:r>
              <a:rPr lang="en-US" sz="2800" b="1" dirty="0" smtClean="0"/>
              <a:t> </a:t>
            </a:r>
            <a:r>
              <a:rPr lang="en-US" sz="2800" b="1" dirty="0" err="1" smtClean="0"/>
              <a:t>hàm</a:t>
            </a:r>
            <a:endParaRPr lang="vi-VN" sz="2800" b="1" dirty="0"/>
          </a:p>
        </p:txBody>
      </p:sp>
      <p:sp>
        <p:nvSpPr>
          <p:cNvPr id="3" name="Rectangular Callout 2"/>
          <p:cNvSpPr/>
          <p:nvPr/>
        </p:nvSpPr>
        <p:spPr>
          <a:xfrm>
            <a:off x="4572000" y="1621971"/>
            <a:ext cx="664027" cy="609600"/>
          </a:xfrm>
          <a:prstGeom prst="wedgeRectCallout">
            <a:avLst>
              <a:gd name="adj1" fmla="val -244329"/>
              <a:gd name="adj2" fmla="val 25531"/>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b="1" dirty="0" smtClean="0">
                <a:solidFill>
                  <a:srgbClr val="FFFF00"/>
                </a:solidFill>
              </a:rPr>
              <a:t>???</a:t>
            </a:r>
            <a:endParaRPr lang="vi-VN" sz="2000" b="1" dirty="0">
              <a:solidFill>
                <a:srgbClr val="FFFF00"/>
              </a:solidFill>
            </a:endParaRPr>
          </a:p>
        </p:txBody>
      </p:sp>
    </p:spTree>
    <p:extLst>
      <p:ext uri="{BB962C8B-B14F-4D97-AF65-F5344CB8AC3E}">
        <p14:creationId xmlns:p14="http://schemas.microsoft.com/office/powerpoint/2010/main" val="1579003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16</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334" y="1415142"/>
            <a:ext cx="6477904" cy="3461658"/>
          </a:xfrm>
          <a:prstGeom prst="rect">
            <a:avLst/>
          </a:prstGeom>
        </p:spPr>
      </p:pic>
      <p:sp>
        <p:nvSpPr>
          <p:cNvPr id="8" name="Explosion 1 7"/>
          <p:cNvSpPr/>
          <p:nvPr/>
        </p:nvSpPr>
        <p:spPr>
          <a:xfrm>
            <a:off x="5399314" y="3461657"/>
            <a:ext cx="3363686" cy="252548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smtClean="0"/>
              <a:t>Sắp</a:t>
            </a:r>
            <a:r>
              <a:rPr lang="en-US" sz="2000" b="1" dirty="0" smtClean="0"/>
              <a:t> </a:t>
            </a:r>
            <a:r>
              <a:rPr lang="en-US" sz="2000" b="1" dirty="0" err="1" smtClean="0"/>
              <a:t>xếp</a:t>
            </a:r>
            <a:r>
              <a:rPr lang="en-US" sz="2000" b="1" dirty="0" smtClean="0"/>
              <a:t> </a:t>
            </a:r>
            <a:r>
              <a:rPr lang="en-US" sz="2000" b="1" dirty="0" err="1" smtClean="0"/>
              <a:t>theo</a:t>
            </a:r>
            <a:r>
              <a:rPr lang="en-US" sz="2000" b="1" dirty="0" smtClean="0"/>
              <a:t> </a:t>
            </a:r>
            <a:r>
              <a:rPr lang="en-US" sz="2000" b="1" dirty="0" err="1" smtClean="0"/>
              <a:t>tên</a:t>
            </a:r>
            <a:r>
              <a:rPr lang="en-US" sz="2000" b="1" dirty="0" smtClean="0"/>
              <a:t> </a:t>
            </a:r>
            <a:r>
              <a:rPr lang="en-US" sz="2000" b="1" dirty="0" err="1" smtClean="0"/>
              <a:t>tăng</a:t>
            </a:r>
            <a:r>
              <a:rPr lang="en-US" sz="2000" b="1" dirty="0" smtClean="0"/>
              <a:t> </a:t>
            </a:r>
            <a:r>
              <a:rPr lang="en-US" sz="2000" b="1" dirty="0" err="1" smtClean="0"/>
              <a:t>dần</a:t>
            </a:r>
            <a:endParaRPr lang="vi-VN" sz="2000" b="1" dirty="0"/>
          </a:p>
        </p:txBody>
      </p:sp>
      <p:cxnSp>
        <p:nvCxnSpPr>
          <p:cNvPr id="7" name="Straight Connector 6"/>
          <p:cNvCxnSpPr/>
          <p:nvPr/>
        </p:nvCxnSpPr>
        <p:spPr>
          <a:xfrm flipV="1">
            <a:off x="3028950" y="3156858"/>
            <a:ext cx="3643993" cy="32657"/>
          </a:xfrm>
          <a:prstGeom prst="line">
            <a:avLst/>
          </a:prstGeom>
          <a:ln w="38100">
            <a:solidFill>
              <a:srgbClr val="FF0000"/>
            </a:solidFill>
            <a:prstDash val="dash"/>
          </a:ln>
        </p:spPr>
        <p:style>
          <a:lnRef idx="3">
            <a:schemeClr val="accent2"/>
          </a:lnRef>
          <a:fillRef idx="0">
            <a:schemeClr val="accent2"/>
          </a:fillRef>
          <a:effectRef idx="2">
            <a:schemeClr val="accent2"/>
          </a:effectRef>
          <a:fontRef idx="minor">
            <a:schemeClr val="tx1"/>
          </a:fontRef>
        </p:style>
      </p:cxnSp>
      <p:sp>
        <p:nvSpPr>
          <p:cNvPr id="9" name="Rectangular Callout 8"/>
          <p:cNvSpPr/>
          <p:nvPr/>
        </p:nvSpPr>
        <p:spPr>
          <a:xfrm>
            <a:off x="734334" y="5028973"/>
            <a:ext cx="854529" cy="805996"/>
          </a:xfrm>
          <a:prstGeom prst="wedgeRectCallout">
            <a:avLst>
              <a:gd name="adj1" fmla="val 220012"/>
              <a:gd name="adj2" fmla="val -283161"/>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b="1" dirty="0" smtClean="0">
                <a:solidFill>
                  <a:srgbClr val="FFFF00"/>
                </a:solidFill>
              </a:rPr>
              <a:t>???</a:t>
            </a:r>
            <a:endParaRPr lang="vi-VN" sz="2000" b="1" dirty="0">
              <a:solidFill>
                <a:srgbClr val="FFFF00"/>
              </a:solidFill>
            </a:endParaRPr>
          </a:p>
        </p:txBody>
      </p:sp>
    </p:spTree>
    <p:extLst>
      <p:ext uri="{BB962C8B-B14F-4D97-AF65-F5344CB8AC3E}">
        <p14:creationId xmlns:p14="http://schemas.microsoft.com/office/powerpoint/2010/main" val="7614377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EAC19F-405B-4A7A-AFF3-9D79C15F3DE3}" type="slidenum">
              <a:rPr lang="en-US" altLang="vi-VN">
                <a:solidFill>
                  <a:srgbClr val="FFFF00"/>
                </a:solidFill>
              </a:rPr>
              <a:pPr eaLnBrk="1" hangingPunct="1"/>
              <a:t>17</a:t>
            </a:fld>
            <a:endParaRPr lang="en-GB" altLang="vi-VN">
              <a:solidFill>
                <a:srgbClr val="FFFF00"/>
              </a:solidFill>
            </a:endParaRPr>
          </a:p>
        </p:txBody>
      </p:sp>
      <p:sp>
        <p:nvSpPr>
          <p:cNvPr id="13316" name="Rectangle 3"/>
          <p:cNvSpPr>
            <a:spLocks noGrp="1"/>
          </p:cNvSpPr>
          <p:nvPr>
            <p:ph type="title"/>
          </p:nvPr>
        </p:nvSpPr>
        <p:spPr>
          <a:xfrm>
            <a:off x="1749879" y="370115"/>
            <a:ext cx="6632121" cy="816428"/>
          </a:xfrm>
        </p:spPr>
        <p:txBody>
          <a:bodyPr>
            <a:normAutofit/>
          </a:bodyPr>
          <a:lstStyle/>
          <a:p>
            <a:r>
              <a:rPr lang="en-US" altLang="vi-VN" sz="4000" b="1" dirty="0" smtClean="0">
                <a:solidFill>
                  <a:srgbClr val="0000CC"/>
                </a:solidFill>
              </a:rPr>
              <a:t>Demo </a:t>
            </a:r>
            <a:r>
              <a:rPr lang="en-US" altLang="vi-VN" sz="4000" b="1" dirty="0" err="1" smtClean="0">
                <a:solidFill>
                  <a:srgbClr val="0000CC"/>
                </a:solidFill>
              </a:rPr>
              <a:t>mảng</a:t>
            </a:r>
            <a:r>
              <a:rPr lang="en-US" altLang="vi-VN" sz="4000" b="1" dirty="0" smtClean="0">
                <a:solidFill>
                  <a:srgbClr val="0000CC"/>
                </a:solidFill>
              </a:rPr>
              <a:t> </a:t>
            </a:r>
            <a:r>
              <a:rPr lang="en-US" altLang="vi-VN" sz="4000" b="1" dirty="0" err="1" smtClean="0">
                <a:solidFill>
                  <a:srgbClr val="0000CC"/>
                </a:solidFill>
              </a:rPr>
              <a:t>struct</a:t>
            </a:r>
            <a:endParaRPr lang="en-US" altLang="vi-VN" sz="4000" b="1" dirty="0" smtClean="0">
              <a:solidFill>
                <a:srgbClr val="0000CC"/>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625" y="1186543"/>
            <a:ext cx="6472192" cy="5388428"/>
          </a:xfrm>
          <a:prstGeom prst="rect">
            <a:avLst/>
          </a:prstGeom>
        </p:spPr>
      </p:pic>
      <p:sp>
        <p:nvSpPr>
          <p:cNvPr id="7" name="Explosion 1 6"/>
          <p:cNvSpPr/>
          <p:nvPr/>
        </p:nvSpPr>
        <p:spPr>
          <a:xfrm>
            <a:off x="6006766" y="511627"/>
            <a:ext cx="2908634" cy="2057401"/>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Menu</a:t>
            </a:r>
            <a:endParaRPr lang="vi-VN" sz="2000" b="1" dirty="0"/>
          </a:p>
        </p:txBody>
      </p:sp>
    </p:spTree>
    <p:extLst>
      <p:ext uri="{BB962C8B-B14F-4D97-AF65-F5344CB8AC3E}">
        <p14:creationId xmlns:p14="http://schemas.microsoft.com/office/powerpoint/2010/main" val="3853899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9A088A-8B87-43C2-BEAC-F22F24671AA2}" type="slidenum">
              <a:rPr lang="en-US" altLang="vi-VN">
                <a:solidFill>
                  <a:srgbClr val="FFFF00"/>
                </a:solidFill>
              </a:rPr>
              <a:pPr eaLnBrk="1" hangingPunct="1"/>
              <a:t>18</a:t>
            </a:fld>
            <a:endParaRPr lang="en-GB" altLang="vi-VN">
              <a:solidFill>
                <a:srgbClr val="FFFF00"/>
              </a:solidFill>
            </a:endParaRPr>
          </a:p>
        </p:txBody>
      </p:sp>
      <p:sp>
        <p:nvSpPr>
          <p:cNvPr id="14340" name="Rectangle 2"/>
          <p:cNvSpPr>
            <a:spLocks noChangeArrowheads="1"/>
          </p:cNvSpPr>
          <p:nvPr/>
        </p:nvSpPr>
        <p:spPr bwMode="auto">
          <a:xfrm>
            <a:off x="228600" y="1295400"/>
            <a:ext cx="86868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400">
                <a:solidFill>
                  <a:srgbClr val="0000CC"/>
                </a:solidFill>
                <a:latin typeface="Tahoma" panose="020B0604030504040204" pitchFamily="34" charset="0"/>
              </a:rPr>
              <a:t>1/ Viết chương trình quản lý sinh viên gồm các thông tin:mã sv, họ và tên, ngày sinh, nơi sinh, lớp học, điểm thi toán, điểm thi triết, điểm thi anh văn, điểm trung bình là điểm bình quân của các môn học, xếp loại dựa vào điểm trung bình. Chương trình cho phép thực hiện các chức năng sau:</a:t>
            </a:r>
          </a:p>
          <a:p>
            <a:pPr algn="just" eaLnBrk="1" hangingPunct="1">
              <a:buFontTx/>
              <a:buChar char="-"/>
            </a:pPr>
            <a:r>
              <a:rPr lang="en-US" altLang="vi-VN" sz="2400">
                <a:solidFill>
                  <a:srgbClr val="0000CC"/>
                </a:solidFill>
                <a:latin typeface="Tahoma" panose="020B0604030504040204" pitchFamily="34" charset="0"/>
              </a:rPr>
              <a:t> Nhập thông tin của sinh viên.</a:t>
            </a:r>
          </a:p>
          <a:p>
            <a:pPr algn="just" eaLnBrk="1" hangingPunct="1">
              <a:buFontTx/>
              <a:buChar char="-"/>
            </a:pPr>
            <a:r>
              <a:rPr lang="en-US" altLang="vi-VN" sz="2400">
                <a:solidFill>
                  <a:srgbClr val="0000CC"/>
                </a:solidFill>
                <a:latin typeface="Tahoma" panose="020B0604030504040204" pitchFamily="34" charset="0"/>
              </a:rPr>
              <a:t> In danh sách sinh viên</a:t>
            </a:r>
          </a:p>
          <a:p>
            <a:pPr algn="just" eaLnBrk="1" hangingPunct="1">
              <a:buFontTx/>
              <a:buChar char="-"/>
            </a:pPr>
            <a:r>
              <a:rPr lang="en-US" altLang="vi-VN" sz="2400">
                <a:solidFill>
                  <a:srgbClr val="0000CC"/>
                </a:solidFill>
                <a:latin typeface="Tahoma" panose="020B0604030504040204" pitchFamily="34" charset="0"/>
              </a:rPr>
              <a:t> Xem thông tin của 1 sinh viên (dựa vào mã SV)</a:t>
            </a:r>
          </a:p>
          <a:p>
            <a:pPr algn="just" eaLnBrk="1" hangingPunct="1">
              <a:buFontTx/>
              <a:buChar char="-"/>
            </a:pPr>
            <a:r>
              <a:rPr lang="en-US" altLang="vi-VN" sz="2400">
                <a:solidFill>
                  <a:srgbClr val="0000CC"/>
                </a:solidFill>
                <a:latin typeface="Tahoma" panose="020B0604030504040204" pitchFamily="34" charset="0"/>
              </a:rPr>
              <a:t> Xem thông tin trích ngang của 1 lớp bất kỳ</a:t>
            </a:r>
          </a:p>
          <a:p>
            <a:pPr algn="just" eaLnBrk="1" hangingPunct="1">
              <a:buFontTx/>
              <a:buChar char="-"/>
            </a:pPr>
            <a:r>
              <a:rPr lang="en-US" altLang="vi-VN" sz="2400">
                <a:solidFill>
                  <a:srgbClr val="0000CC"/>
                </a:solidFill>
                <a:latin typeface="Tahoma" panose="020B0604030504040204" pitchFamily="34" charset="0"/>
              </a:rPr>
              <a:t> Xem danh sách sv theo xếp loại (ví dụ nhập loại trungbinh thì in danh sach SV xếp loại trungbinh).</a:t>
            </a:r>
          </a:p>
          <a:p>
            <a:pPr algn="just" eaLnBrk="1" hangingPunct="1"/>
            <a:endParaRPr lang="en-US" altLang="vi-VN" sz="2400">
              <a:solidFill>
                <a:srgbClr val="0000CC"/>
              </a:solidFill>
              <a:latin typeface="Tahoma" panose="020B0604030504040204" pitchFamily="34" charset="0"/>
            </a:endParaRPr>
          </a:p>
        </p:txBody>
      </p:sp>
      <p:sp>
        <p:nvSpPr>
          <p:cNvPr id="14341" name="Rectangle 4"/>
          <p:cNvSpPr>
            <a:spLocks noGrp="1"/>
          </p:cNvSpPr>
          <p:nvPr>
            <p:ph type="title"/>
          </p:nvPr>
        </p:nvSpPr>
        <p:spPr>
          <a:xfrm>
            <a:off x="1807029" y="155801"/>
            <a:ext cx="6708321" cy="1104445"/>
          </a:xfrm>
        </p:spPr>
        <p:txBody>
          <a:bodyPr/>
          <a:lstStyle/>
          <a:p>
            <a:r>
              <a:rPr lang="en-US" altLang="vi-VN" b="1" dirty="0" err="1" smtClean="0">
                <a:solidFill>
                  <a:srgbClr val="0000CC"/>
                </a:solidFill>
              </a:rPr>
              <a:t>Bài</a:t>
            </a:r>
            <a:r>
              <a:rPr lang="en-US" altLang="vi-VN" b="1" dirty="0" smtClean="0">
                <a:solidFill>
                  <a:srgbClr val="0000CC"/>
                </a:solidFill>
              </a:rPr>
              <a:t> </a:t>
            </a:r>
            <a:r>
              <a:rPr lang="en-US" altLang="vi-VN" b="1" dirty="0" err="1" smtClean="0">
                <a:solidFill>
                  <a:srgbClr val="0000CC"/>
                </a:solidFill>
              </a:rPr>
              <a:t>tập</a:t>
            </a:r>
            <a:endParaRPr lang="en-US" altLang="vi-VN" b="1" dirty="0" smtClean="0">
              <a:solidFill>
                <a:srgbClr val="0000CC"/>
              </a:solidFill>
            </a:endParaRPr>
          </a:p>
        </p:txBody>
      </p:sp>
    </p:spTree>
    <p:extLst>
      <p:ext uri="{BB962C8B-B14F-4D97-AF65-F5344CB8AC3E}">
        <p14:creationId xmlns:p14="http://schemas.microsoft.com/office/powerpoint/2010/main" val="27728431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22"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9A7F06-BC4E-4260-9FBD-597C0B1655AF}" type="slidenum">
              <a:rPr lang="en-US" altLang="vi-VN">
                <a:solidFill>
                  <a:srgbClr val="FFFF00"/>
                </a:solidFill>
              </a:rPr>
              <a:pPr eaLnBrk="1" hangingPunct="1"/>
              <a:t>19</a:t>
            </a:fld>
            <a:endParaRPr lang="en-GB" altLang="vi-VN">
              <a:solidFill>
                <a:srgbClr val="FFFF00"/>
              </a:solidFill>
            </a:endParaRPr>
          </a:p>
        </p:txBody>
      </p:sp>
      <p:sp>
        <p:nvSpPr>
          <p:cNvPr id="15364" name="Rectangle 2"/>
          <p:cNvSpPr>
            <a:spLocks noChangeArrowheads="1"/>
          </p:cNvSpPr>
          <p:nvPr/>
        </p:nvSpPr>
        <p:spPr bwMode="auto">
          <a:xfrm>
            <a:off x="228600" y="990600"/>
            <a:ext cx="8686800" cy="377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200">
                <a:solidFill>
                  <a:srgbClr val="0000CC"/>
                </a:solidFill>
                <a:latin typeface="Tahoma" panose="020B0604030504040204" pitchFamily="34" charset="0"/>
              </a:rPr>
              <a:t>2/ Viết chương trình quản lý bán hàng gồm các thông tin sau: mã hàng, tên hàng, đơn vị tính, số lượng, đơn giá bán, thành tiền=số lượng * đơn giá, chiết khấu = 5% * thành tiền, doanh thu = thành tiền – chiết khấu. Chương trình cho phép thực hiện các công việc sau:</a:t>
            </a:r>
          </a:p>
          <a:p>
            <a:pPr algn="just" eaLnBrk="1" hangingPunct="1">
              <a:buFontTx/>
              <a:buChar char="-"/>
            </a:pPr>
            <a:r>
              <a:rPr lang="en-US" altLang="vi-VN" sz="2200">
                <a:solidFill>
                  <a:srgbClr val="0000CC"/>
                </a:solidFill>
                <a:latin typeface="Tahoma" panose="020B0604030504040204" pitchFamily="34" charset="0"/>
              </a:rPr>
              <a:t> Nhập thông tin bán hàng (gồm các thông tin trên)</a:t>
            </a:r>
          </a:p>
          <a:p>
            <a:pPr algn="just" eaLnBrk="1" hangingPunct="1">
              <a:buFontTx/>
              <a:buChar char="-"/>
            </a:pPr>
            <a:r>
              <a:rPr lang="en-US" altLang="vi-VN" sz="2200">
                <a:solidFill>
                  <a:srgbClr val="0000CC"/>
                </a:solidFill>
                <a:latin typeface="Tahoma" panose="020B0604030504040204" pitchFamily="34" charset="0"/>
              </a:rPr>
              <a:t> In liệt kê chi tiết bán hàng</a:t>
            </a:r>
          </a:p>
          <a:p>
            <a:pPr algn="just" eaLnBrk="1" hangingPunct="1">
              <a:buFontTx/>
              <a:buChar char="-"/>
            </a:pPr>
            <a:r>
              <a:rPr lang="en-US" altLang="vi-VN" sz="2200">
                <a:solidFill>
                  <a:srgbClr val="0000CC"/>
                </a:solidFill>
                <a:latin typeface="Tahoma" panose="020B0604030504040204" pitchFamily="34" charset="0"/>
              </a:rPr>
              <a:t> In ra 2 mặt hàng có số lượng bán lớn nhất</a:t>
            </a:r>
          </a:p>
          <a:p>
            <a:pPr algn="just" eaLnBrk="1" hangingPunct="1">
              <a:buFontTx/>
              <a:buChar char="-"/>
            </a:pPr>
            <a:r>
              <a:rPr lang="en-US" altLang="vi-VN" sz="2200">
                <a:solidFill>
                  <a:srgbClr val="0000CC"/>
                </a:solidFill>
                <a:latin typeface="Tahoma" panose="020B0604030504040204" pitchFamily="34" charset="0"/>
              </a:rPr>
              <a:t> In ra 2 mặt hàng có doanh thu bán nhỏ nhất</a:t>
            </a:r>
          </a:p>
          <a:p>
            <a:pPr algn="just" eaLnBrk="1" hangingPunct="1">
              <a:buFontTx/>
              <a:buChar char="-"/>
            </a:pPr>
            <a:r>
              <a:rPr lang="en-US" altLang="vi-VN" sz="2200">
                <a:solidFill>
                  <a:srgbClr val="0000CC"/>
                </a:solidFill>
                <a:latin typeface="Tahoma" panose="020B0604030504040204" pitchFamily="34" charset="0"/>
              </a:rPr>
              <a:t> Sắp xếp thứ tự giảm dần theo doanh thu bán hàng</a:t>
            </a:r>
          </a:p>
          <a:p>
            <a:pPr algn="just" eaLnBrk="1" hangingPunct="1">
              <a:buFontTx/>
              <a:buChar char="-"/>
            </a:pPr>
            <a:r>
              <a:rPr lang="en-US" altLang="vi-VN" sz="2200">
                <a:solidFill>
                  <a:srgbClr val="0000CC"/>
                </a:solidFill>
                <a:latin typeface="Tahoma" panose="020B0604030504040204" pitchFamily="34" charset="0"/>
              </a:rPr>
              <a:t> Hãy lập bảng thống kê doanh thu bán hàng như bảng sau:</a:t>
            </a:r>
          </a:p>
        </p:txBody>
      </p:sp>
      <p:graphicFrame>
        <p:nvGraphicFramePr>
          <p:cNvPr id="699396" name="Group 4"/>
          <p:cNvGraphicFramePr>
            <a:graphicFrameLocks noGrp="1"/>
          </p:cNvGraphicFramePr>
          <p:nvPr>
            <p:ph idx="1"/>
            <p:extLst>
              <p:ext uri="{D42A27DB-BD31-4B8C-83A1-F6EECF244321}">
                <p14:modId xmlns:p14="http://schemas.microsoft.com/office/powerpoint/2010/main" val="2399923965"/>
              </p:ext>
            </p:extLst>
          </p:nvPr>
        </p:nvGraphicFramePr>
        <p:xfrm>
          <a:off x="1919288" y="4875213"/>
          <a:ext cx="4152900" cy="1584816"/>
        </p:xfrm>
        <a:graphic>
          <a:graphicData uri="http://schemas.openxmlformats.org/drawingml/2006/table">
            <a:tbl>
              <a:tblPr/>
              <a:tblGrid>
                <a:gridCol w="2076450">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tblGrid>
              <a:tr h="396081">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0" i="0" u="none" strike="noStrike" cap="none" normalizeH="0" baseline="0" dirty="0" err="1" smtClean="0">
                          <a:ln>
                            <a:noFill/>
                          </a:ln>
                          <a:solidFill>
                            <a:srgbClr val="0000CC"/>
                          </a:solidFill>
                          <a:effectLst/>
                          <a:latin typeface="Arial" charset="0"/>
                        </a:rPr>
                        <a:t>Tên</a:t>
                      </a:r>
                      <a:r>
                        <a:rPr kumimoji="0" lang="en-US" sz="2000" b="0" i="0" u="none" strike="noStrike" cap="none" normalizeH="0" baseline="0" dirty="0" smtClean="0">
                          <a:ln>
                            <a:noFill/>
                          </a:ln>
                          <a:solidFill>
                            <a:srgbClr val="0000CC"/>
                          </a:solidFill>
                          <a:effectLst/>
                          <a:latin typeface="Arial" charset="0"/>
                        </a:rPr>
                        <a:t> </a:t>
                      </a:r>
                      <a:r>
                        <a:rPr kumimoji="0" lang="en-US" sz="2000" b="0" i="0" u="none" strike="noStrike" cap="none" normalizeH="0" baseline="0" dirty="0" err="1" smtClean="0">
                          <a:ln>
                            <a:noFill/>
                          </a:ln>
                          <a:solidFill>
                            <a:srgbClr val="0000CC"/>
                          </a:solidFill>
                          <a:effectLst/>
                          <a:latin typeface="Arial" charset="0"/>
                        </a:rPr>
                        <a:t>hàng</a:t>
                      </a:r>
                      <a:endParaRPr kumimoji="0" lang="vi-VN" sz="2000" b="0" i="0" u="none" strike="noStrike" cap="none" normalizeH="0" baseline="0" dirty="0" smtClean="0">
                        <a:ln>
                          <a:noFill/>
                        </a:ln>
                        <a:solidFill>
                          <a:srgbClr val="0000CC"/>
                        </a:solidFill>
                        <a:effectLst/>
                        <a:latin typeface="Arial" charset="0"/>
                      </a:endParaRPr>
                    </a:p>
                  </a:txBody>
                  <a:tcPr marT="45702" marB="4570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0" i="0" u="none" strike="noStrike" cap="none" normalizeH="0" baseline="0" smtClean="0">
                          <a:ln>
                            <a:noFill/>
                          </a:ln>
                          <a:solidFill>
                            <a:srgbClr val="0000CC"/>
                          </a:solidFill>
                          <a:effectLst/>
                          <a:latin typeface="Arial" charset="0"/>
                        </a:rPr>
                        <a:t>Doanh thu</a:t>
                      </a:r>
                      <a:endParaRPr kumimoji="0" lang="vi-VN" sz="2000" b="0" i="0" u="none" strike="noStrike" cap="none" normalizeH="0" baseline="0" smtClean="0">
                        <a:ln>
                          <a:noFill/>
                        </a:ln>
                        <a:solidFill>
                          <a:srgbClr val="0000CC"/>
                        </a:solidFill>
                        <a:effectLst/>
                        <a:latin typeface="Arial" charset="0"/>
                      </a:endParaRPr>
                    </a:p>
                  </a:txBody>
                  <a:tcPr marT="45702" marB="4570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000" b="0" i="0" u="none" strike="noStrike" cap="none" normalizeH="0" baseline="0" dirty="0" smtClean="0">
                          <a:ln>
                            <a:noFill/>
                          </a:ln>
                          <a:solidFill>
                            <a:srgbClr val="0000CC"/>
                          </a:solidFill>
                          <a:effectLst/>
                          <a:latin typeface="Arial" charset="0"/>
                        </a:rPr>
                        <a:t>Mặt hàng A</a:t>
                      </a:r>
                    </a:p>
                  </a:txBody>
                  <a:tcPr marT="45702" marB="4570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000" b="0" i="0" u="none" strike="noStrike" cap="none" normalizeH="0" baseline="0" dirty="0" smtClean="0">
                          <a:ln>
                            <a:noFill/>
                          </a:ln>
                          <a:solidFill>
                            <a:srgbClr val="0000CC"/>
                          </a:solidFill>
                          <a:effectLst/>
                          <a:latin typeface="Arial" charset="0"/>
                        </a:rPr>
                        <a:t>?</a:t>
                      </a:r>
                    </a:p>
                  </a:txBody>
                  <a:tcPr marT="45702" marB="4570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000" b="0" i="0" u="none" strike="noStrike" cap="none" normalizeH="0" baseline="0" smtClean="0">
                          <a:ln>
                            <a:noFill/>
                          </a:ln>
                          <a:solidFill>
                            <a:srgbClr val="0000CC"/>
                          </a:solidFill>
                          <a:effectLst/>
                          <a:latin typeface="Arial" charset="0"/>
                        </a:rPr>
                        <a:t>Mặt hàng B</a:t>
                      </a:r>
                    </a:p>
                  </a:txBody>
                  <a:tcPr marT="45702" marB="4570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000" b="0" i="0" u="none" strike="noStrike" cap="none" normalizeH="0" baseline="0" dirty="0" smtClean="0">
                          <a:ln>
                            <a:noFill/>
                          </a:ln>
                          <a:solidFill>
                            <a:srgbClr val="0000CC"/>
                          </a:solidFill>
                          <a:effectLst/>
                          <a:latin typeface="Arial" charset="0"/>
                        </a:rPr>
                        <a:t>?</a:t>
                      </a:r>
                    </a:p>
                  </a:txBody>
                  <a:tcPr marT="45702" marB="4570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000" b="1" i="0" u="none" strike="noStrike" cap="none" normalizeH="0" baseline="0" dirty="0" smtClean="0">
                          <a:ln>
                            <a:noFill/>
                          </a:ln>
                          <a:solidFill>
                            <a:srgbClr val="0000CC"/>
                          </a:solidFill>
                          <a:effectLst/>
                          <a:latin typeface="Arial" charset="0"/>
                        </a:rPr>
                        <a:t>Tổng cộng</a:t>
                      </a:r>
                    </a:p>
                  </a:txBody>
                  <a:tcPr marT="45702" marB="4570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2000" b="0" i="0" u="none" strike="noStrike" cap="none" normalizeH="0" baseline="0" dirty="0" smtClean="0">
                          <a:ln>
                            <a:noFill/>
                          </a:ln>
                          <a:solidFill>
                            <a:srgbClr val="0000CC"/>
                          </a:solidFill>
                          <a:effectLst/>
                          <a:latin typeface="Arial" charset="0"/>
                        </a:rPr>
                        <a:t>?</a:t>
                      </a:r>
                    </a:p>
                  </a:txBody>
                  <a:tcPr marT="45702" marB="4570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382" name="Rectangle 21"/>
          <p:cNvSpPr>
            <a:spLocks noGrp="1"/>
          </p:cNvSpPr>
          <p:nvPr>
            <p:ph type="title"/>
          </p:nvPr>
        </p:nvSpPr>
        <p:spPr>
          <a:xfrm>
            <a:off x="1828800" y="152400"/>
            <a:ext cx="6875463" cy="841375"/>
          </a:xfrm>
        </p:spPr>
        <p:txBody>
          <a:bodyPr/>
          <a:lstStyle/>
          <a:p>
            <a:r>
              <a:rPr lang="en-US" altLang="vi-VN" b="1" dirty="0" err="1" smtClean="0">
                <a:solidFill>
                  <a:srgbClr val="0000CC"/>
                </a:solidFill>
              </a:rPr>
              <a:t>Bài</a:t>
            </a:r>
            <a:r>
              <a:rPr lang="en-US" altLang="vi-VN" b="1" dirty="0" smtClean="0">
                <a:solidFill>
                  <a:srgbClr val="0000CC"/>
                </a:solidFill>
              </a:rPr>
              <a:t> </a:t>
            </a:r>
            <a:r>
              <a:rPr lang="en-US" altLang="vi-VN" b="1" dirty="0" err="1" smtClean="0">
                <a:solidFill>
                  <a:srgbClr val="0000CC"/>
                </a:solidFill>
              </a:rPr>
              <a:t>tập</a:t>
            </a:r>
            <a:endParaRPr lang="en-US" altLang="vi-VN" b="1" dirty="0" smtClean="0">
              <a:solidFill>
                <a:srgbClr val="0000CC"/>
              </a:solidFill>
            </a:endParaRPr>
          </a:p>
        </p:txBody>
      </p:sp>
    </p:spTree>
    <p:extLst>
      <p:ext uri="{BB962C8B-B14F-4D97-AF65-F5344CB8AC3E}">
        <p14:creationId xmlns:p14="http://schemas.microsoft.com/office/powerpoint/2010/main" val="3723321615"/>
      </p:ext>
    </p:extLst>
  </p:cSld>
  <p:clrMapOvr>
    <a:masterClrMapping/>
  </p:clrMapOvr>
  <p:transition>
    <p:push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900" y="695459"/>
            <a:ext cx="6841097" cy="454317"/>
          </a:xfrm>
        </p:spPr>
        <p:txBody>
          <a:bodyPr>
            <a:normAutofit fontScale="90000"/>
          </a:bodyPr>
          <a:lstStyle/>
          <a:p>
            <a:r>
              <a:rPr lang="en-US" dirty="0" smtClean="0">
                <a:latin typeface="Myriad Pro" panose="020B0503030403020204" pitchFamily="34" charset="0"/>
              </a:rPr>
              <a:t>HỎI ĐÁP</a:t>
            </a:r>
            <a:endParaRPr lang="en-US" dirty="0">
              <a:latin typeface="Myriad Pro" panose="020B0503030403020204" pitchFamily="34" charset="0"/>
            </a:endParaRP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574" y="1885713"/>
            <a:ext cx="5668166" cy="3391373"/>
          </a:xfrm>
          <a:prstGeom prst="rect">
            <a:avLst/>
          </a:prstGeom>
        </p:spPr>
      </p:pic>
    </p:spTree>
    <p:extLst>
      <p:ext uri="{BB962C8B-B14F-4D97-AF65-F5344CB8AC3E}">
        <p14:creationId xmlns:p14="http://schemas.microsoft.com/office/powerpoint/2010/main" val="22770195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754</TotalTime>
  <Words>818</Words>
  <Application>Microsoft Office PowerPoint</Application>
  <PresentationFormat>On-screen Show (4:3)</PresentationFormat>
  <Paragraphs>198</Paragraphs>
  <Slides>20</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Calibri Light</vt:lpstr>
      <vt:lpstr>Myriad Pro</vt:lpstr>
      <vt:lpstr>Tahoma</vt:lpstr>
      <vt:lpstr>Wingdings</vt:lpstr>
      <vt:lpstr>Office Theme</vt:lpstr>
      <vt:lpstr>1_Office Theme</vt:lpstr>
      <vt:lpstr>BÀI GIẢNG TUẦN 11</vt:lpstr>
      <vt:lpstr>PowerPoint Presentation</vt:lpstr>
      <vt:lpstr>PowerPoint Presentation</vt:lpstr>
      <vt:lpstr>Khái niệm</vt:lpstr>
      <vt:lpstr>Định nghĩa kiểu struct</vt:lpstr>
      <vt:lpstr>Truy xuất các phần tử struct</vt:lpstr>
      <vt:lpstr>Truy xuất các phần tử struct</vt:lpstr>
      <vt:lpstr>Con trỏ struct</vt:lpstr>
      <vt:lpstr>Con trỏ struct</vt:lpstr>
      <vt:lpstr>Mảng struct</vt:lpstr>
      <vt:lpstr>Demo mảng struct</vt:lpstr>
      <vt:lpstr>Demo mảng struct</vt:lpstr>
      <vt:lpstr>Demo mảng struct</vt:lpstr>
      <vt:lpstr>Demo mảng struct</vt:lpstr>
      <vt:lpstr>Demo mảng struct</vt:lpstr>
      <vt:lpstr>Demo mảng struct</vt:lpstr>
      <vt:lpstr>Demo mảng struct</vt:lpstr>
      <vt:lpstr>Bài tập</vt:lpstr>
      <vt:lpstr>Bài tập</vt:lpstr>
      <vt:lpstr>HỎI ĐÁP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Truong Thi Thanh Thanh</dc:creator>
  <cp:lastModifiedBy>BillGates</cp:lastModifiedBy>
  <cp:revision>323</cp:revision>
  <dcterms:created xsi:type="dcterms:W3CDTF">2017-02-14T04:20:55Z</dcterms:created>
  <dcterms:modified xsi:type="dcterms:W3CDTF">2019-02-16T04:31:50Z</dcterms:modified>
</cp:coreProperties>
</file>