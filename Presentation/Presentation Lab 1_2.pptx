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14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018053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67765603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5101541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650603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160311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675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8753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5271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045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5558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802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EDCCC-F766-945E-8E75-6E8E955905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360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8956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335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0D3BF-3D4C-3496-1994-9D2BF5FE17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243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769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211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1A677A-442F-D8EF-5B56-84F9DAE409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946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1744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336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30DA40-E557-E4E9-4D0E-907DFAF36D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932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1312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57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D24BE4-A44D-5274-291A-EEAC19A783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3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095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836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44F4BC-74D2-1C96-47EC-8789E1CC17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110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702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770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EA744C-9750-1C68-30DC-8976ACD3C6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2733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7842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725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713126-F829-D91D-4EFF-543E63E126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BBCFC3-A4E2-5072-94E7-F298016615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776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1853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023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401937-2A80-02E5-EAAA-C853F11470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300114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70302088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77461717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2654557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94243299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71505757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8491829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743748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1689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416230657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088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543478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131352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411511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840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546058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021551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343888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494216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9802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391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7872128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665217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220590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284511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3889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3686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350932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5602911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2760195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3982915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9957700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9175419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43011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4923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4323675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2328098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72987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855646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110270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1576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615022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11386343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466886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4851983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550002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336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339462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7521494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45597514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64669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570963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5977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2880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308948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769098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897604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8135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36072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5993293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139200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172268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659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772665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65961812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56812008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44979766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0619476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9196681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9579817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693436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161575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4319935" y="1390048"/>
            <a:ext cx="6996644" cy="110929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1">
                <a:solidFill>
                  <a:schemeClr val="tx2">
                    <a:lumMod val="60000"/>
                    <a:lumOff val="40000"/>
                  </a:schemeClr>
                </a:solidFill>
                <a:latin typeface="IBM Plex Serif"/>
                <a:ea typeface="IBM Plex Serif"/>
                <a:cs typeface="IBM Plex Serif"/>
              </a:rPr>
              <a:t>Trình </a:t>
            </a:r>
            <a:r>
              <a:rPr lang="en-US" sz="4800" b="1">
                <a:solidFill>
                  <a:schemeClr val="tx2">
                    <a:lumMod val="60000"/>
                    <a:lumOff val="40000"/>
                  </a:schemeClr>
                </a:solidFill>
                <a:latin typeface="IBM Plex Serif"/>
                <a:ea typeface="IBM Plex Serif"/>
                <a:cs typeface="IBM Plex Serif"/>
              </a:rPr>
              <a:t>Bày Bài Làm</a:t>
            </a:r>
            <a:endParaRPr sz="4800" b="1">
              <a:solidFill>
                <a:schemeClr val="tx2">
                  <a:lumMod val="60000"/>
                  <a:lumOff val="40000"/>
                </a:schemeClr>
              </a:solidFill>
              <a:latin typeface="IBM Plex Serif"/>
              <a:cs typeface="IBM Plex Serif"/>
            </a:endParaRPr>
          </a:p>
        </p:txBody>
      </p:sp>
      <p:sp>
        <p:nvSpPr>
          <p:cNvPr id="25329248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3980747" y="2499339"/>
            <a:ext cx="7335832" cy="1109291"/>
          </a:xfrm>
        </p:spPr>
        <p:txBody>
          <a:bodyPr/>
          <a:lstStyle/>
          <a:p>
            <a:pPr>
              <a:defRPr/>
            </a:pPr>
            <a:r>
              <a:rPr lang="en-US" sz="3200" b="1" i="0" u="none" strike="noStrike" cap="none" spc="0">
                <a:solidFill>
                  <a:schemeClr val="accent1">
                    <a:lumMod val="60000"/>
                    <a:lumOff val="40000"/>
                  </a:schemeClr>
                </a:solidFill>
                <a:latin typeface="IBM Plex Serif"/>
                <a:ea typeface="IBM Plex Serif"/>
                <a:cs typeface="IBM Plex Serif"/>
              </a:rPr>
              <a:t>Artificial Intelligence</a:t>
            </a:r>
            <a:endParaRPr sz="3200" b="1" i="0" u="none" strike="noStrike" cap="none" spc="0">
              <a:solidFill>
                <a:schemeClr val="accent1">
                  <a:lumMod val="60000"/>
                  <a:lumOff val="40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3200" b="1" i="0" u="none" strike="noStrike" cap="none" spc="0">
                <a:solidFill>
                  <a:schemeClr val="accent1">
                    <a:lumMod val="60000"/>
                    <a:lumOff val="40000"/>
                  </a:schemeClr>
                </a:solidFill>
                <a:latin typeface="IBM Plex Serif"/>
                <a:ea typeface="IBM Plex Serif"/>
                <a:cs typeface="IBM Plex Serif"/>
              </a:rPr>
              <a:t>Lab 01 &amp; Lab 02</a:t>
            </a:r>
            <a:endParaRPr b="1">
              <a:solidFill>
                <a:schemeClr val="accent1">
                  <a:lumMod val="60000"/>
                  <a:lumOff val="40000"/>
                </a:schemeClr>
              </a:solidFill>
              <a:latin typeface="IBM Plex Serif"/>
              <a:ea typeface="IBM Plex Serif"/>
              <a:cs typeface="IBM Plex Serif"/>
            </a:endParaRPr>
          </a:p>
        </p:txBody>
      </p:sp>
      <p:sp>
        <p:nvSpPr>
          <p:cNvPr id="189335897" name=""/>
          <p:cNvSpPr txBox="1"/>
          <p:nvPr/>
        </p:nvSpPr>
        <p:spPr bwMode="auto">
          <a:xfrm rot="0" flipH="0" flipV="0">
            <a:off x="795862" y="5246995"/>
            <a:ext cx="554580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chemeClr val="accent1">
                    <a:lumMod val="75000"/>
                  </a:schemeClr>
                </a:solidFill>
                <a:latin typeface="IBM Plex Serif"/>
                <a:ea typeface="IBM Plex Serif"/>
                <a:cs typeface="IBM Plex Serif"/>
              </a:rPr>
              <a:t>22205801 - Huỳnh Thế Bảo (Lab 01)</a:t>
            </a:r>
            <a:endParaRPr b="1">
              <a:solidFill>
                <a:schemeClr val="accent1">
                  <a:lumMod val="75000"/>
                </a:schemeClr>
              </a:solidFill>
              <a:latin typeface="IBM Plex Serif"/>
              <a:cs typeface="IBM Plex Serif"/>
            </a:endParaRPr>
          </a:p>
          <a:p>
            <a:pPr algn="l">
              <a:defRPr/>
            </a:pPr>
            <a:r>
              <a:rPr b="1">
                <a:solidFill>
                  <a:schemeClr val="accent1">
                    <a:lumMod val="75000"/>
                  </a:schemeClr>
                </a:solidFill>
                <a:latin typeface="IBM Plex Serif"/>
                <a:ea typeface="IBM Plex Serif"/>
                <a:cs typeface="IBM Plex Serif"/>
              </a:rPr>
              <a:t>22302421 - Nguyễn Phúc Minh Châu (Lab 02) </a:t>
            </a:r>
            <a:endParaRPr b="1">
              <a:solidFill>
                <a:schemeClr val="accent1">
                  <a:lumMod val="75000"/>
                </a:schemeClr>
              </a:solidFill>
              <a:latin typeface="IBM Plex Serif"/>
              <a:cs typeface="IBM Plex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646997" name="Title 1"/>
          <p:cNvSpPr>
            <a:spLocks noGrp="1"/>
          </p:cNvSpPr>
          <p:nvPr>
            <p:ph type="title"/>
          </p:nvPr>
        </p:nvSpPr>
        <p:spPr bwMode="auto">
          <a:xfrm>
            <a:off x="2389716" y="686786"/>
            <a:ext cx="7315200" cy="56673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>
            <a:lvl1pPr algn="l">
              <a:defRPr sz="2000" b="1"/>
            </a:lvl1pPr>
          </a:lstStyle>
          <a:p>
            <a:pPr algn="ctr">
              <a:defRPr/>
            </a:pPr>
            <a:r>
              <a:rPr sz="4400">
                <a:solidFill>
                  <a:schemeClr val="tx2">
                    <a:lumMod val="60000"/>
                    <a:lumOff val="40000"/>
                  </a:schemeClr>
                </a:solidFill>
                <a:latin typeface="IBM Plex Serif"/>
                <a:ea typeface="IBM Plex Serif"/>
                <a:cs typeface="IBM Plex Serif"/>
              </a:rPr>
              <a:t>Lab 01</a:t>
            </a:r>
            <a:endParaRPr sz="4400">
              <a:solidFill>
                <a:schemeClr val="tx2">
                  <a:lumMod val="60000"/>
                  <a:lumOff val="40000"/>
                </a:schemeClr>
              </a:solidFill>
              <a:latin typeface="IBM Plex Serif"/>
              <a:cs typeface="IBM Plex Serif"/>
            </a:endParaRPr>
          </a:p>
        </p:txBody>
      </p:sp>
      <p:pic>
        <p:nvPicPr>
          <p:cNvPr id="18521341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389716" y="1330056"/>
            <a:ext cx="7315200" cy="5056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2319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b="1">
                <a:solidFill>
                  <a:schemeClr val="tx2">
                    <a:lumMod val="60000"/>
                    <a:lumOff val="40000"/>
                  </a:schemeClr>
                </a:solidFill>
                <a:latin typeface="IBM Plex Serif"/>
                <a:ea typeface="IBM Plex Serif"/>
                <a:cs typeface="IBM Plex Serif"/>
              </a:rPr>
              <a:t>Lab </a:t>
            </a:r>
            <a:r>
              <a:rPr b="1">
                <a:solidFill>
                  <a:schemeClr val="tx2">
                    <a:lumMod val="60000"/>
                    <a:lumOff val="40000"/>
                  </a:schemeClr>
                </a:solidFill>
              </a:rPr>
              <a:t>01</a:t>
            </a:r>
            <a:endParaRPr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183407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0049" y="1417638"/>
            <a:ext cx="3562349" cy="5105399"/>
          </a:xfrm>
          <a:prstGeom prst="rect">
            <a:avLst/>
          </a:prstGeom>
        </p:spPr>
      </p:pic>
      <p:pic>
        <p:nvPicPr>
          <p:cNvPr id="20699914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9599" y="1997978"/>
            <a:ext cx="7210848" cy="1160680"/>
          </a:xfrm>
          <a:prstGeom prst="rect">
            <a:avLst/>
          </a:prstGeom>
        </p:spPr>
      </p:pic>
      <p:pic>
        <p:nvPicPr>
          <p:cNvPr id="208730309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19894" y="3664553"/>
            <a:ext cx="7190258" cy="2253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7582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840775" y="668776"/>
            <a:ext cx="3895869" cy="1143000"/>
          </a:xfrm>
        </p:spPr>
        <p:txBody>
          <a:bodyPr/>
          <a:lstStyle/>
          <a:p>
            <a:pPr algn="ctr">
              <a:defRPr/>
            </a:pPr>
            <a:r>
              <a:rPr b="1">
                <a:solidFill>
                  <a:schemeClr val="tx2">
                    <a:lumMod val="60000"/>
                    <a:lumOff val="40000"/>
                  </a:schemeClr>
                </a:solidFill>
                <a:latin typeface="IBM Plex Serif"/>
                <a:ea typeface="IBM Plex Serif"/>
                <a:cs typeface="IBM Plex Serif"/>
              </a:rPr>
              <a:t>Lab 01</a:t>
            </a:r>
            <a:endParaRPr b="1">
              <a:solidFill>
                <a:schemeClr val="tx2">
                  <a:lumMod val="60000"/>
                  <a:lumOff val="40000"/>
                </a:schemeClr>
              </a:solidFill>
              <a:latin typeface="IBM Plex Serif"/>
              <a:cs typeface="IBM Plex Serif"/>
            </a:endParaRPr>
          </a:p>
        </p:txBody>
      </p:sp>
      <p:pic>
        <p:nvPicPr>
          <p:cNvPr id="133670123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74922" y="846138"/>
            <a:ext cx="5021076" cy="5602177"/>
          </a:xfrm>
          <a:prstGeom prst="rect">
            <a:avLst/>
          </a:prstGeom>
        </p:spPr>
      </p:pic>
      <p:pic>
        <p:nvPicPr>
          <p:cNvPr id="182716103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675784" y="2009338"/>
            <a:ext cx="7677149" cy="3905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85900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504681" y="274638"/>
            <a:ext cx="2549231" cy="1143000"/>
          </a:xfrm>
        </p:spPr>
        <p:txBody>
          <a:bodyPr/>
          <a:lstStyle/>
          <a:p>
            <a:pPr algn="ctr">
              <a:defRPr/>
            </a:pPr>
            <a:r>
              <a:rPr b="1">
                <a:solidFill>
                  <a:schemeClr val="tx2">
                    <a:lumMod val="60000"/>
                    <a:lumOff val="40000"/>
                  </a:schemeClr>
                </a:solidFill>
                <a:latin typeface="IBM Plex Serif"/>
                <a:ea typeface="IBM Plex Serif"/>
                <a:cs typeface="IBM Plex Serif"/>
              </a:rPr>
              <a:t>Lab 01</a:t>
            </a:r>
            <a:endParaRPr b="1">
              <a:solidFill>
                <a:schemeClr val="tx2">
                  <a:lumMod val="60000"/>
                  <a:lumOff val="40000"/>
                </a:schemeClr>
              </a:solidFill>
              <a:latin typeface="IBM Plex Serif"/>
              <a:cs typeface="IBM Plex Serif"/>
            </a:endParaRPr>
          </a:p>
        </p:txBody>
      </p:sp>
      <p:pic>
        <p:nvPicPr>
          <p:cNvPr id="11828534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03725" y="857250"/>
            <a:ext cx="4029075" cy="5143500"/>
          </a:xfrm>
          <a:prstGeom prst="rect">
            <a:avLst/>
          </a:prstGeom>
        </p:spPr>
      </p:pic>
      <p:pic>
        <p:nvPicPr>
          <p:cNvPr id="55797548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12222" y="1620563"/>
            <a:ext cx="6534149" cy="38957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156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b="1">
                <a:solidFill>
                  <a:schemeClr val="tx2">
                    <a:lumMod val="60000"/>
                    <a:lumOff val="40000"/>
                  </a:schemeClr>
                </a:solidFill>
                <a:latin typeface="IBM Plex Serif"/>
                <a:ea typeface="IBM Plex Serif"/>
                <a:cs typeface="IBM Plex Serif"/>
              </a:rPr>
              <a:t>Lab 01</a:t>
            </a:r>
            <a:endParaRPr b="1">
              <a:solidFill>
                <a:schemeClr val="tx2">
                  <a:lumMod val="60000"/>
                  <a:lumOff val="40000"/>
                </a:schemeClr>
              </a:solidFill>
              <a:latin typeface="IBM Plex Serif"/>
              <a:cs typeface="IBM Plex Serif"/>
            </a:endParaRPr>
          </a:p>
        </p:txBody>
      </p:sp>
      <p:pic>
        <p:nvPicPr>
          <p:cNvPr id="10769501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02670" y="2321143"/>
            <a:ext cx="10586657" cy="2572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3712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b="1">
                <a:solidFill>
                  <a:schemeClr val="tx2">
                    <a:lumMod val="60000"/>
                    <a:lumOff val="40000"/>
                  </a:schemeClr>
                </a:solidFill>
                <a:latin typeface="IBM Plex Serif"/>
                <a:ea typeface="IBM Plex Serif"/>
                <a:cs typeface="IBM Plex Serif"/>
              </a:rPr>
              <a:t>Lab 02</a:t>
            </a:r>
            <a:endParaRPr b="1">
              <a:solidFill>
                <a:schemeClr val="tx2">
                  <a:lumMod val="60000"/>
                  <a:lumOff val="40000"/>
                </a:schemeClr>
              </a:solidFill>
              <a:latin typeface="IBM Plex Serif"/>
              <a:cs typeface="IBM Plex Serif"/>
            </a:endParaRPr>
          </a:p>
        </p:txBody>
      </p:sp>
      <p:pic>
        <p:nvPicPr>
          <p:cNvPr id="16472156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097779" y="1417638"/>
            <a:ext cx="5996441" cy="51954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5102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b="1">
                <a:solidFill>
                  <a:schemeClr val="tx2">
                    <a:lumMod val="60000"/>
                    <a:lumOff val="40000"/>
                  </a:schemeClr>
                </a:solidFill>
                <a:latin typeface="IBM Plex Serif"/>
                <a:ea typeface="IBM Plex Serif"/>
                <a:cs typeface="IBM Plex Serif"/>
              </a:rPr>
              <a:t>Lab 02</a:t>
            </a:r>
            <a:endParaRPr b="1">
              <a:solidFill>
                <a:schemeClr val="tx2">
                  <a:lumMod val="60000"/>
                  <a:lumOff val="40000"/>
                </a:schemeClr>
              </a:solidFill>
              <a:latin typeface="IBM Plex Serif"/>
              <a:cs typeface="IBM Plex Serif"/>
            </a:endParaRPr>
          </a:p>
        </p:txBody>
      </p:sp>
      <p:pic>
        <p:nvPicPr>
          <p:cNvPr id="139932900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7486" y="1417637"/>
            <a:ext cx="6183183" cy="4962469"/>
          </a:xfrm>
          <a:prstGeom prst="rect">
            <a:avLst/>
          </a:prstGeom>
        </p:spPr>
      </p:pic>
      <p:pic>
        <p:nvPicPr>
          <p:cNvPr id="112401150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782621" y="2011088"/>
            <a:ext cx="4867274" cy="3295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729524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lang="en-US" sz="4400" b="1" i="0" u="none" strike="noStrike" cap="none" spc="0">
                <a:solidFill>
                  <a:schemeClr val="tx2">
                    <a:lumMod val="60000"/>
                    <a:lumOff val="40000"/>
                  </a:schemeClr>
                </a:solidFill>
                <a:latin typeface="IBM Plex Serif"/>
                <a:ea typeface="IBM Plex Serif"/>
                <a:cs typeface="IBM Plex Serif"/>
              </a:rPr>
              <a:t>Lab 02</a:t>
            </a:r>
            <a:endParaRPr sz="4400" b="1">
              <a:solidFill>
                <a:schemeClr val="tx2">
                  <a:lumMod val="60000"/>
                  <a:lumOff val="40000"/>
                </a:schemeClr>
              </a:solidFill>
              <a:latin typeface="IBM Plex Serif"/>
              <a:cs typeface="IBM Plex Serif"/>
            </a:endParaRPr>
          </a:p>
        </p:txBody>
      </p:sp>
      <p:sp>
        <p:nvSpPr>
          <p:cNvPr id="248048425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609598" y="1698734"/>
            <a:ext cx="5384799" cy="22629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 algn="ctr">
              <a:buFont typeface="Arial"/>
              <a:buNone/>
              <a:defRPr/>
            </a:pPr>
            <a:r>
              <a:rPr b="1">
                <a:solidFill>
                  <a:schemeClr val="accent1">
                    <a:lumMod val="75000"/>
                  </a:schemeClr>
                </a:solidFill>
                <a:latin typeface="IBM Plex Serif"/>
                <a:cs typeface="IBM Plex Serif"/>
              </a:rPr>
              <a:t>Liner Regression</a:t>
            </a:r>
            <a:endParaRPr b="1">
              <a:solidFill>
                <a:schemeClr val="accent1">
                  <a:lumMod val="75000"/>
                </a:schemeClr>
              </a:solidFill>
              <a:latin typeface="IBM Plex Serif"/>
              <a:cs typeface="IBM Plex Serif"/>
            </a:endParaRPr>
          </a:p>
        </p:txBody>
      </p:sp>
      <p:sp>
        <p:nvSpPr>
          <p:cNvPr id="513673446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342055" y="3831661"/>
            <a:ext cx="5384799" cy="22629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 algn="ctr">
              <a:buFont typeface="Arial"/>
              <a:buNone/>
              <a:defRPr/>
            </a:pPr>
            <a:r>
              <a:rPr b="1">
                <a:solidFill>
                  <a:schemeClr val="accent1">
                    <a:lumMod val="75000"/>
                  </a:schemeClr>
                </a:solidFill>
                <a:latin typeface="IBM Plex Serif"/>
                <a:ea typeface="IBM Plex Serif"/>
                <a:cs typeface="IBM Plex Serif"/>
              </a:rPr>
              <a:t>MinMaxScaler</a:t>
            </a:r>
            <a:endParaRPr b="1">
              <a:solidFill>
                <a:schemeClr val="accent1">
                  <a:lumMod val="75000"/>
                </a:schemeClr>
              </a:solidFill>
              <a:latin typeface="IBM Plex Serif"/>
              <a:ea typeface="IBM Plex Serif"/>
              <a:cs typeface="IBM Plex Serif"/>
            </a:endParaRPr>
          </a:p>
          <a:p>
            <a:pPr marL="0" indent="0" algn="ctr">
              <a:buFont typeface="Arial"/>
              <a:buNone/>
              <a:defRPr/>
            </a:pPr>
            <a:endParaRPr b="1">
              <a:solidFill>
                <a:schemeClr val="accent1">
                  <a:lumMod val="75000"/>
                </a:schemeClr>
              </a:solidFill>
              <a:latin typeface="IBM Plex Serif"/>
              <a:cs typeface="IBM Plex Serif"/>
            </a:endParaRPr>
          </a:p>
        </p:txBody>
      </p:sp>
      <p:pic>
        <p:nvPicPr>
          <p:cNvPr id="7661736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69405" y="2519096"/>
            <a:ext cx="5065185" cy="622256"/>
          </a:xfrm>
          <a:prstGeom prst="rect">
            <a:avLst/>
          </a:prstGeom>
        </p:spPr>
      </p:pic>
      <p:pic>
        <p:nvPicPr>
          <p:cNvPr id="53213810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026288" y="4452677"/>
            <a:ext cx="3754965" cy="807458"/>
          </a:xfrm>
          <a:prstGeom prst="rect">
            <a:avLst/>
          </a:prstGeom>
        </p:spPr>
      </p:pic>
      <p:pic>
        <p:nvPicPr>
          <p:cNvPr id="19911016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69405" y="4243932"/>
            <a:ext cx="5572649" cy="1224947"/>
          </a:xfrm>
          <a:prstGeom prst="rect">
            <a:avLst/>
          </a:prstGeom>
        </p:spPr>
      </p:pic>
      <p:pic>
        <p:nvPicPr>
          <p:cNvPr id="162582636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290440" y="1857601"/>
            <a:ext cx="5291957" cy="13229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862600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lang="en-US" sz="4400" b="1" i="0" u="none" strike="noStrike" cap="none" spc="0">
                <a:solidFill>
                  <a:schemeClr val="tx2">
                    <a:lumMod val="60000"/>
                    <a:lumOff val="40000"/>
                  </a:schemeClr>
                </a:solidFill>
                <a:latin typeface="IBM Plex Serif"/>
                <a:ea typeface="IBM Plex Serif"/>
                <a:cs typeface="IBM Plex Serif"/>
              </a:rPr>
              <a:t>Lab 02</a:t>
            </a:r>
            <a:endParaRPr sz="4400" b="1">
              <a:solidFill>
                <a:schemeClr val="tx2">
                  <a:lumMod val="60000"/>
                  <a:lumOff val="40000"/>
                </a:schemeClr>
              </a:solidFill>
              <a:latin typeface="IBM Plex Serif"/>
              <a:cs typeface="IBM Plex Serif"/>
            </a:endParaRPr>
          </a:p>
        </p:txBody>
      </p:sp>
      <p:pic>
        <p:nvPicPr>
          <p:cNvPr id="21348301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09737" y="1851134"/>
            <a:ext cx="8772525" cy="4305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98691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lang="en-US" sz="4400" b="1" i="0" u="none" strike="noStrike" cap="none" spc="0">
                <a:solidFill>
                  <a:schemeClr val="tx2">
                    <a:lumMod val="60000"/>
                    <a:lumOff val="40000"/>
                  </a:schemeClr>
                </a:solidFill>
                <a:latin typeface="IBM Plex Serif"/>
                <a:ea typeface="IBM Plex Serif"/>
                <a:cs typeface="IBM Plex Serif"/>
              </a:rPr>
              <a:t>Lab 02</a:t>
            </a:r>
            <a:endParaRPr sz="4400" b="1">
              <a:solidFill>
                <a:schemeClr val="tx2">
                  <a:lumMod val="60000"/>
                  <a:lumOff val="40000"/>
                </a:schemeClr>
              </a:solidFill>
              <a:latin typeface="IBM Plex Serif"/>
              <a:cs typeface="IBM Plex Serif"/>
            </a:endParaRPr>
          </a:p>
        </p:txBody>
      </p:sp>
      <p:sp>
        <p:nvSpPr>
          <p:cNvPr id="67089024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8" y="1353863"/>
            <a:ext cx="5384799" cy="45259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 algn="ctr">
              <a:buFont typeface="Arial"/>
              <a:buNone/>
              <a:defRPr/>
            </a:pPr>
            <a:r>
              <a:rPr b="1">
                <a:solidFill>
                  <a:schemeClr val="accent1">
                    <a:lumMod val="75000"/>
                  </a:schemeClr>
                </a:solidFill>
                <a:latin typeface="IBM Plex Serif"/>
                <a:ea typeface="IBM Plex Serif"/>
                <a:cs typeface="IBM Plex Serif"/>
              </a:rPr>
              <a:t>MSE</a:t>
            </a:r>
            <a:endParaRPr b="1">
              <a:solidFill>
                <a:schemeClr val="accent1">
                  <a:lumMod val="75000"/>
                </a:schemeClr>
              </a:solidFill>
              <a:latin typeface="IBM Plex Serif"/>
              <a:cs typeface="IBM Plex Serif"/>
            </a:endParaRPr>
          </a:p>
        </p:txBody>
      </p:sp>
      <p:sp>
        <p:nvSpPr>
          <p:cNvPr id="179844541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353863"/>
            <a:ext cx="5384799" cy="452596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 algn="ctr">
              <a:buFont typeface="Arial"/>
              <a:buNone/>
              <a:defRPr/>
            </a:pPr>
            <a:r>
              <a:rPr b="1">
                <a:solidFill>
                  <a:schemeClr val="accent1">
                    <a:lumMod val="75000"/>
                  </a:schemeClr>
                </a:solidFill>
                <a:latin typeface="IBM Plex Serif"/>
                <a:ea typeface="IBM Plex Serif"/>
                <a:cs typeface="IBM Plex Serif"/>
              </a:rPr>
              <a:t>R</a:t>
            </a:r>
            <a:r>
              <a:rPr b="1" baseline="30000">
                <a:solidFill>
                  <a:schemeClr val="accent1">
                    <a:lumMod val="75000"/>
                  </a:schemeClr>
                </a:solidFill>
                <a:latin typeface="IBM Plex Serif"/>
                <a:ea typeface="IBM Plex Serif"/>
                <a:cs typeface="IBM Plex Serif"/>
              </a:rPr>
              <a:t>2</a:t>
            </a:r>
            <a:r>
              <a:rPr b="1">
                <a:solidFill>
                  <a:schemeClr val="accent1">
                    <a:lumMod val="75000"/>
                  </a:schemeClr>
                </a:solidFill>
                <a:latin typeface="IBM Plex Serif"/>
                <a:ea typeface="IBM Plex Serif"/>
                <a:cs typeface="IBM Plex Serif"/>
              </a:rPr>
              <a:t> Score</a:t>
            </a:r>
            <a:endParaRPr b="1">
              <a:solidFill>
                <a:schemeClr val="accent1">
                  <a:lumMod val="75000"/>
                </a:schemeClr>
              </a:solidFill>
              <a:latin typeface="IBM Plex Serif"/>
              <a:cs typeface="IBM Plex Serif"/>
            </a:endParaRPr>
          </a:p>
        </p:txBody>
      </p:sp>
      <p:pic>
        <p:nvPicPr>
          <p:cNvPr id="48860609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32900" y="2067025"/>
            <a:ext cx="4338194" cy="1144641"/>
          </a:xfrm>
          <a:prstGeom prst="rect">
            <a:avLst/>
          </a:prstGeom>
        </p:spPr>
      </p:pic>
      <p:pic>
        <p:nvPicPr>
          <p:cNvPr id="149081060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720900" y="2234169"/>
            <a:ext cx="4338194" cy="810354"/>
          </a:xfrm>
          <a:prstGeom prst="rect">
            <a:avLst/>
          </a:prstGeom>
        </p:spPr>
      </p:pic>
      <p:sp>
        <p:nvSpPr>
          <p:cNvPr id="1971664389" name=""/>
          <p:cNvSpPr txBox="1"/>
          <p:nvPr/>
        </p:nvSpPr>
        <p:spPr bwMode="auto">
          <a:xfrm rot="0" flipH="0" flipV="0">
            <a:off x="1132900" y="3514395"/>
            <a:ext cx="4707323" cy="28350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–"/>
              <a:defRPr/>
            </a:pPr>
            <a:r>
              <a:rPr sz="1800">
                <a:latin typeface="IBM Plex Serif"/>
                <a:ea typeface="IBM Plex Serif"/>
                <a:cs typeface="IBM Plex Serif"/>
              </a:rPr>
              <a:t>MSE </a:t>
            </a:r>
            <a:r>
              <a:rPr sz="1800" b="0" i="0" u="none">
                <a:solidFill>
                  <a:srgbClr val="000000"/>
                </a:solidFill>
                <a:latin typeface="IBM Plex Serif"/>
                <a:ea typeface="IBM Plex Serif"/>
                <a:cs typeface="IBM Plex Serif"/>
              </a:rPr>
              <a:t>đo </a:t>
            </a:r>
            <a:r>
              <a:rPr sz="1800" b="1" i="0" u="none">
                <a:solidFill>
                  <a:srgbClr val="000000"/>
                </a:solidFill>
                <a:latin typeface="IBM Plex Serif"/>
                <a:ea typeface="IBM Plex Serif"/>
                <a:cs typeface="IBM Plex Serif"/>
              </a:rPr>
              <a:t>độ lệch trung bình</a:t>
            </a:r>
            <a:r>
              <a:rPr sz="1800" b="0" i="0" u="none">
                <a:solidFill>
                  <a:srgbClr val="000000"/>
                </a:solidFill>
                <a:latin typeface="IBM Plex Serif"/>
                <a:ea typeface="IBM Plex Serif"/>
                <a:cs typeface="IBM Plex Serif"/>
              </a:rPr>
              <a:t> giữa giá trị thực và giá trị dự đoán, tính theo đơn vị </a:t>
            </a:r>
            <a:r>
              <a:rPr sz="1800" b="1" i="0" u="none">
                <a:solidFill>
                  <a:srgbClr val="000000"/>
                </a:solidFill>
                <a:latin typeface="IBM Plex Serif"/>
                <a:ea typeface="IBM Plex Serif"/>
                <a:cs typeface="IBM Plex Serif"/>
              </a:rPr>
              <a:t>bình phương của target (price)</a:t>
            </a:r>
            <a:r>
              <a:rPr sz="1800" b="0" i="0" u="none">
                <a:solidFill>
                  <a:srgbClr val="000000"/>
                </a:solidFill>
                <a:latin typeface="IBM Plex Serif"/>
                <a:ea typeface="IBM Plex Serif"/>
                <a:cs typeface="IBM Plex Serif"/>
              </a:rPr>
              <a:t>.</a:t>
            </a:r>
            <a:endParaRPr sz="1800" b="0" i="0" u="none">
              <a:solidFill>
                <a:srgbClr val="000000"/>
              </a:solidFill>
              <a:latin typeface="IBM Plex Serif"/>
              <a:ea typeface="IBM Plex Serif"/>
              <a:cs typeface="IBM Plex Serif"/>
            </a:endParaRPr>
          </a:p>
          <a:p>
            <a:pPr>
              <a:defRPr/>
            </a:pPr>
            <a:endParaRPr sz="1800" b="0" i="0" u="none">
              <a:solidFill>
                <a:srgbClr val="000000"/>
              </a:solidFill>
              <a:latin typeface="IBM Plex Serif"/>
              <a:ea typeface="IBM Plex Serif"/>
              <a:cs typeface="IBM Plex Serif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sz="1800" b="0" i="0" u="none">
                <a:solidFill>
                  <a:srgbClr val="000000"/>
                </a:solidFill>
                <a:latin typeface="IBM Plex Serif"/>
                <a:ea typeface="IBM Plex Serif"/>
                <a:cs typeface="IBM Plex Serif"/>
              </a:rPr>
              <a:t>Được coi là hàm đánh giá mất mát (loss function) của mô hình Linear Regression</a:t>
            </a:r>
            <a:endParaRPr sz="1800" b="0" i="0" u="none">
              <a:solidFill>
                <a:srgbClr val="000000"/>
              </a:solidFill>
              <a:latin typeface="IBM Plex Serif"/>
              <a:ea typeface="IBM Plex Serif"/>
              <a:cs typeface="IBM Plex Serif"/>
            </a:endParaRPr>
          </a:p>
          <a:p>
            <a:pPr marL="239821" indent="-239821">
              <a:buFont typeface="Arial"/>
              <a:buChar char="–"/>
              <a:defRPr/>
            </a:pPr>
            <a:endParaRPr sz="1800">
              <a:latin typeface="IBM Plex Serif"/>
              <a:cs typeface="IBM Plex Serif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sz="1800" b="0" i="0" u="none">
                <a:solidFill>
                  <a:srgbClr val="000000"/>
                </a:solidFill>
                <a:latin typeface="IBM Plex Serif"/>
                <a:ea typeface="IBM Plex Serif"/>
                <a:cs typeface="IBM Plex Serif"/>
              </a:rPr>
              <a:t>MSE càng giảm mô hình dự đoán càng sát với dữ liệu thực tế</a:t>
            </a:r>
            <a:endParaRPr sz="1800" b="0" i="0" u="none">
              <a:solidFill>
                <a:srgbClr val="000000"/>
              </a:solidFill>
              <a:latin typeface="IBM Plex Serif"/>
              <a:ea typeface="IBM Plex Serif"/>
              <a:cs typeface="IBM Plex Serif"/>
            </a:endParaRPr>
          </a:p>
        </p:txBody>
      </p:sp>
      <p:sp>
        <p:nvSpPr>
          <p:cNvPr id="1377518971" name=""/>
          <p:cNvSpPr txBox="1"/>
          <p:nvPr/>
        </p:nvSpPr>
        <p:spPr bwMode="auto">
          <a:xfrm rot="0" flipH="0" flipV="0">
            <a:off x="6720900" y="3342344"/>
            <a:ext cx="4467074" cy="230480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>
              <a:buFont typeface="Arial"/>
              <a:buChar char="–"/>
              <a:defRPr/>
            </a:pPr>
            <a:r>
              <a:rPr sz="1800" b="0" i="0" u="none">
                <a:solidFill>
                  <a:srgbClr val="000000"/>
                </a:solidFill>
                <a:latin typeface="IBM Plex Serif"/>
                <a:ea typeface="IBM Plex Serif"/>
                <a:cs typeface="IBM Plex Serif"/>
              </a:rPr>
              <a:t>R² là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IBM Plex Serif"/>
                <a:ea typeface="IBM Plex Serif"/>
                <a:cs typeface="IBM Plex Serif"/>
              </a:rPr>
              <a:t>hệ số xác định</a:t>
            </a:r>
            <a:r>
              <a:rPr sz="1800" b="0" i="0" u="none">
                <a:solidFill>
                  <a:srgbClr val="000000"/>
                </a:solidFill>
                <a:latin typeface="IBM Plex Serif"/>
                <a:ea typeface="IBM Plex Serif"/>
                <a:cs typeface="IBM Plex Serif"/>
              </a:rPr>
              <a:t> đo </a:t>
            </a:r>
            <a:r>
              <a:rPr lang="en-US" sz="1800" b="1" i="0" u="none" strike="noStrike" cap="none" spc="0">
                <a:solidFill>
                  <a:srgbClr val="000000"/>
                </a:solidFill>
                <a:latin typeface="IBM Plex Serif"/>
                <a:ea typeface="IBM Plex Serif"/>
                <a:cs typeface="IBM Plex Serif"/>
              </a:rPr>
              <a:t> tỷ lệ phương sai trong biến phụ thuộc y được giải thích bởi mô hình</a:t>
            </a:r>
            <a:r>
              <a:rPr sz="1800" b="0" i="0" u="none">
                <a:solidFill>
                  <a:srgbClr val="000000"/>
                </a:solidFill>
                <a:latin typeface="IBM Plex Serif"/>
                <a:ea typeface="IBM Plex Serif"/>
                <a:cs typeface="IBM Plex Serif"/>
              </a:rPr>
              <a:t>, không phụ thuộc đơn vị, luôn nằm trong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[</m:t>
                      </m:r>
                      <m:r>
                        <m:rPr/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/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m:rPr/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/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]</m:t>
                      </m:r>
                    </m:oMath>
                  </m:oMathPara>
                </a14:m>
              </mc:Choice>
              <mc:Fallback/>
            </mc:AlternateContent>
            <a:r>
              <a:rPr sz="1800" b="0" i="0" u="none">
                <a:solidFill>
                  <a:srgbClr val="000000"/>
                </a:solidFill>
                <a:latin typeface="IBM Plex Serif"/>
                <a:ea typeface="IBM Plex Serif"/>
                <a:cs typeface="IBM Plex Serif"/>
              </a:rPr>
              <a:t> với mô hình.</a:t>
            </a:r>
            <a:endParaRPr sz="1800">
              <a:latin typeface="IBM Plex Serif"/>
              <a:ea typeface="IBM Plex Serif"/>
              <a:cs typeface="IBM Plex Serif"/>
            </a:endParaRPr>
          </a:p>
          <a:p>
            <a:pPr marL="283878" indent="-283878">
              <a:buFont typeface="Arial"/>
              <a:buChar char="–"/>
              <a:defRPr/>
            </a:pPr>
            <a:endParaRPr sz="1800">
              <a:latin typeface="IBM Plex Serif"/>
              <a:cs typeface="IBM Plex Serif"/>
            </a:endParaRPr>
          </a:p>
          <a:p>
            <a:pPr marL="283878" indent="-283878">
              <a:buFont typeface="Arial"/>
              <a:buChar char="–"/>
              <a:defRPr/>
            </a:pPr>
            <a:r>
              <a:rPr sz="1800">
                <a:latin typeface="IBM Plex Serif"/>
                <a:ea typeface="IBM Plex Serif"/>
                <a:cs typeface="IBM Plex Serif"/>
              </a:rPr>
              <a:t>Với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IBM Plex Serif"/>
                <a:ea typeface="IBM Plex Serif"/>
                <a:cs typeface="IBM Plex Serif"/>
              </a:rPr>
              <a:t>R²</a:t>
            </a:r>
            <a:r>
              <a:rPr sz="1800">
                <a:latin typeface="IBM Plex Serif"/>
                <a:ea typeface="IBM Plex Serif"/>
                <a:cs typeface="IBM Plex Serif"/>
              </a:rPr>
              <a:t> </a:t>
            </a:r>
            <a:r>
              <a:rPr sz="1800">
                <a:latin typeface="IBM Plex Serif"/>
                <a:ea typeface="IBM Plex Serif"/>
                <a:cs typeface="IBM Plex Serif"/>
              </a:rPr>
              <a:t>càng tăng thì mô hình càng dự đoán đúng với dữ liệu</a:t>
            </a:r>
            <a:endParaRPr sz="1800">
              <a:latin typeface="IBM Plex Serif"/>
              <a:cs typeface="IBM Plex Serif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2026-05-15T09:19:05Z</dcterms:modified>
</cp:coreProperties>
</file>